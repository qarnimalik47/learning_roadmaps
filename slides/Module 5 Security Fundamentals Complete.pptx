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39"/>
  </p:notesMasterIdLst>
  <p:sldIdLst>
    <p:sldId id="256" r:id="rId2"/>
    <p:sldId id="299" r:id="rId3"/>
    <p:sldId id="300" r:id="rId4"/>
    <p:sldId id="301" r:id="rId5"/>
    <p:sldId id="329" r:id="rId6"/>
    <p:sldId id="398" r:id="rId7"/>
    <p:sldId id="403" r:id="rId8"/>
    <p:sldId id="399" r:id="rId9"/>
    <p:sldId id="401" r:id="rId10"/>
    <p:sldId id="400" r:id="rId11"/>
    <p:sldId id="402" r:id="rId12"/>
    <p:sldId id="404" r:id="rId13"/>
    <p:sldId id="405" r:id="rId14"/>
    <p:sldId id="406" r:id="rId15"/>
    <p:sldId id="407" r:id="rId16"/>
    <p:sldId id="408" r:id="rId17"/>
    <p:sldId id="409" r:id="rId18"/>
    <p:sldId id="411" r:id="rId19"/>
    <p:sldId id="413" r:id="rId20"/>
    <p:sldId id="412" r:id="rId21"/>
    <p:sldId id="414" r:id="rId22"/>
    <p:sldId id="415" r:id="rId23"/>
    <p:sldId id="416" r:id="rId24"/>
    <p:sldId id="417" r:id="rId25"/>
    <p:sldId id="418" r:id="rId26"/>
    <p:sldId id="419" r:id="rId27"/>
    <p:sldId id="420" r:id="rId28"/>
    <p:sldId id="421" r:id="rId29"/>
    <p:sldId id="422" r:id="rId30"/>
    <p:sldId id="423" r:id="rId31"/>
    <p:sldId id="425" r:id="rId32"/>
    <p:sldId id="429" r:id="rId33"/>
    <p:sldId id="430" r:id="rId34"/>
    <p:sldId id="428" r:id="rId35"/>
    <p:sldId id="427" r:id="rId36"/>
    <p:sldId id="431" r:id="rId37"/>
    <p:sldId id="432" r:id="rId38"/>
  </p:sldIdLst>
  <p:sldSz cx="9144000" cy="5143500" type="screen16x9"/>
  <p:notesSz cx="6858000" cy="9144000"/>
  <p:embeddedFontLst>
    <p:embeddedFont>
      <p:font typeface="Doppio One" panose="020B0604020202020204" charset="0"/>
      <p:regular r:id="rId40"/>
    </p:embeddedFont>
    <p:embeddedFont>
      <p:font typeface="Encode Sans" panose="020B0604020202020204" charset="0"/>
      <p:regular r:id="rId41"/>
      <p:bold r:id="rId42"/>
    </p:embeddedFont>
    <p:embeddedFont>
      <p:font typeface="Encode Sans Condensed" panose="020B0604020202020204" charset="0"/>
      <p:regular r:id="rId43"/>
      <p:bold r:id="rId44"/>
    </p:embeddedFont>
    <p:embeddedFont>
      <p:font typeface="Georama" panose="020B0604020202020204" charset="0"/>
      <p:regular r:id="rId45"/>
      <p:bold r:id="rId46"/>
      <p:italic r:id="rId47"/>
      <p:boldItalic r:id="rId48"/>
    </p:embeddedFont>
    <p:embeddedFont>
      <p:font typeface="Libre Baskerville" panose="02000000000000000000" pitchFamily="2" charset="0"/>
      <p:regular r:id="rId49"/>
      <p:bold r:id="rId50"/>
      <p: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a Ullah" initials="SU" lastIdx="1" clrIdx="0">
    <p:extLst>
      <p:ext uri="{19B8F6BF-5375-455C-9EA6-DF929625EA0E}">
        <p15:presenceInfo xmlns:p15="http://schemas.microsoft.com/office/powerpoint/2012/main" userId="472a63953c55904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343FFC-C285-48B6-A5F1-531E15585DCF}">
  <a:tblStyle styleId="{17343FFC-C285-48B6-A5F1-531E15585DC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A1F22B5-B5E0-49D3-970D-E05F3AAD8E8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502afc7aa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502afc7aa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955A9-8800-89CF-5B72-E2265D3E1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3FF3E-A6E9-4B0E-9016-350D48C8F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2EAC3-4751-B68C-68CB-B6E19FA33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9E748-F492-6506-B60B-D8C09D6328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178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FD010-9D09-1247-C27E-8374A5C0D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C8537C-89A6-EEF2-FF16-CB28EDDC7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8A8A49-707C-74DC-CF2F-82485744A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70C99-BFE5-27C6-E188-614B56070C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227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AB094-D519-0E23-18CD-5625F5CBB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55AC85-1D8F-60B5-3ABC-4108BEDCC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AEF75C-F52A-E01C-C208-83379A911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8A7FD-D9AA-EE59-BD57-DD5AFDBA11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94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700B3-4305-6E57-C6DE-3DA06778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76CC3A-49AC-25EF-BB97-3B1F04F026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B03B33-2891-4A01-9E89-9FD3EA734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37700-84FE-C542-ED27-D306C64BD6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117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9A6C0-085E-45E5-82DF-9816E45B2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3F2839-4A72-F66E-2AB9-02EAF6F2E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DC7F4D-5949-A36D-8FB1-AF99D5F1C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77775-C225-F470-E1E4-B1917D394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118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E7377-DAC5-7072-B8ED-F7284DFFF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27C979-601E-B6F4-18DD-8B1C2446C8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0CB2B0-9C37-B270-12A3-FC5E9A82B2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7E13B-1ABD-A4F6-8490-839DEF5A28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999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6B5D2-97D2-B30D-64FC-9212ABB9C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713A6-B675-C798-D230-8F3D90DD39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DB466B-D3F1-ADA1-B667-2CA2CB7CA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78A01-2A1D-CAFA-5513-B3A19825E8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1916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961B9-4542-6945-1894-5A69AD2A1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73069-FBE6-1E0F-BDAC-E607334A8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64AE58-C881-AFD5-DAA0-0150F4558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38862-1AE2-AF7D-FBF1-B9C4BF176B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543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E2E15-4DCB-184E-A379-ABA384502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DE1AF4-F730-FF57-5636-7C4A2EB18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BE2A04-FC70-33A0-DAA8-2D003B2A0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7DCFD-35A1-6295-FE6A-46E5ECCEF2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9865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2F0A0-2F5C-4114-90F6-23B19B6D4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E1B3D4-4FAE-3FB0-B984-1128F044C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FB778D-6F6C-C250-198D-14E03B0E2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53DAC-9DAF-3D87-3031-3FE9BD2CE2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4756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24BB8-13A1-5685-ACA6-95D6AF88B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189D4F-7B6B-7411-E63C-760E04220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A3D8F7-3433-3926-1125-0E4FA3D1E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B7318-DF99-AC99-CF97-C2DB7B0052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657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B6AC6-99DB-2075-C3AE-E79301EE0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ADF3E3-1406-BE96-F7E8-AA866A5945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AD049-2CA2-CF20-F809-88D97CC9A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2DBDA-4BD0-DF34-B2CA-B076988B1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2497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F217C-6FB8-321E-4AD1-13CA61EF7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9E4F7D-3288-476E-8B7E-DA0860C7E1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FA0525-559D-05FA-80EF-508EE9660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75BDA-E2FE-A33C-F0B6-41BBBC21FD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399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2A10E-98CD-614C-BA18-DD589DF4E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027A85-B073-D8C6-506E-501E950224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21C09A-BBBE-CD2F-E9A2-B41430BBA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50F8E-04DB-22B3-4BAE-7879003E67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173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3D49C-19CE-1B7D-1F99-4AFFB3843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649355-0DC5-B9A7-C580-F9CE8E192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EF0BFE-134E-B62D-64D4-4B59F22506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10DCA-5A30-15DA-F616-14966D75A2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67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59C6D-0F8A-3DB2-B37A-CE289AF4E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214D20-68F6-10FF-68EE-B2E615A11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9B82E9-E9A3-1E92-FB15-A219D31B6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DBFBE-EF3A-32CA-C3A7-4615CB6406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976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1EA8C-D803-2142-CF3B-AFEE9DC6B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8D7436-4303-E96C-5EA8-7582AF529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8FAB39-A94F-389D-5375-DC9F55F54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77C9E-2A8E-770D-B0B2-5ED13F97AF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21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27DFE-D617-9C70-B8B6-14968B7DE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D585E-AFA9-90A4-9AD9-1A9DFE066B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7FDB07-4ED0-99DB-AC90-F7B94D5D1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481F9-A4B2-D8C2-2BB7-4D2A07D7D4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5463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952AD-4BFB-F0B5-FE25-B692A7E25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FC0AD-3309-8078-E845-7CD8332B0C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918BFA-D6D1-20E8-5503-0E426F3BE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63CC6-198B-87DE-76D8-F21451F13E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5138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A0DCB-43CB-B866-6443-A68DA0CD8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85391-B833-4282-3416-DEAA4C386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ED1926-3A8A-847D-0FAD-A8A2D822D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28161-7BD2-73B8-A632-8B624EF3F1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2851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89ADC-41E2-AFF9-0D2F-6339DF321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F1B0A1-C0D9-0664-3DC6-B567AA1AE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33FF71-2262-8FA4-EC85-40EC57C9D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30C7B-915F-C16B-8B25-A5416C42BA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8259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F203C-B4CD-5B07-9680-12650D889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AD4531-F75E-95A3-1B7E-D9936591D5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42AD65-DD39-00A8-4610-82BDF3223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E54A8-C9EE-8595-B507-1FF5AE645D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6215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65021-B6B0-DEE0-DF81-AD8C494D0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175D15-EE5B-1369-8BCA-E083005E70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C863F8-479B-9973-C4D4-F7DB2A682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92A84-15A3-9BA9-65CF-3059496804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6622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94629-0931-6406-AFA3-FF61049F8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407B0-0337-07A9-487C-B5F6D591C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E82979-DC19-907D-EBE7-EA28C77CD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5ACB9-FA92-040A-03D7-DBB1EB3535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372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BBD41-A4B5-988B-B0CD-AAED442BF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002B3-1CFD-CFF3-E403-03A8F59A7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E05141-AC9C-AA1D-FD83-2C0EC6691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4015C-F894-4850-4402-3A8EAC1F0B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0742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3BB7C-5ABC-E467-C37E-D7572F471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09F86C-788D-81C5-9534-600C104F9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ACFB87-BFF8-E31A-1F16-55D7E55777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6E679-8AA6-0780-3538-9BA79B20EC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9184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EB39F-F738-E4E5-BE3C-9204521B0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72C753-5DD5-D6CF-30CF-C0B4AAB72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39C7BE-B6F2-E00E-DB8D-51C0DDB77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4095C-412A-73D1-675B-C38C6662C9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4879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66138-A155-22C8-154C-A84870F8E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0E12CF-15C6-FE78-1D35-008A49E0F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99DD67-98E4-DE6E-5763-A75794589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54B83-F2EF-CB0C-B15D-FBF77C0D78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097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EB6D7-E463-99EA-C848-324F801D0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6C5234-F3EF-73D0-0F52-FB90ECF6A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99B879-2339-0F9E-B570-4040C543A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CFD35-5833-9E38-6125-52555584BF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2774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70862-BE70-D199-9AA5-86276B9D0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938A62-5314-F162-6F3D-252402719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D83DAD-7E26-2873-1003-C64387A28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515A8-25A9-2E8C-C0B7-4C62B50017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147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AFDEE-102E-8685-0AF9-E049917C7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14041D-4E45-DCC6-2E28-BEFE315F3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BE361C-72E5-4470-A261-C9B88AA1DA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5373D-F22B-64AF-7902-B2525ABFC8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6286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F5F00-54D7-BABB-F801-995ACD66C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AF2C5C-25D6-5873-3D6F-5C29A0DB52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B968C-B593-F0DC-798C-99E284F0C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D2410-DD53-ADC8-31FA-8A572230F8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651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28000"/>
          </a:blip>
          <a:srcRect l="3955" t="33705" r="57710" b="5922"/>
          <a:stretch/>
        </p:blipFill>
        <p:spPr>
          <a:xfrm>
            <a:off x="0" y="2133600"/>
            <a:ext cx="3505200" cy="3105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28000"/>
          </a:blip>
          <a:srcRect l="40405" t="33702" r="30010" b="6752"/>
          <a:stretch/>
        </p:blipFill>
        <p:spPr>
          <a:xfrm>
            <a:off x="6438900" y="2176200"/>
            <a:ext cx="2705098" cy="30625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73525" y="2562750"/>
            <a:ext cx="6196800" cy="1512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200">
                <a:latin typeface="Doppio One"/>
                <a:ea typeface="Doppio One"/>
                <a:cs typeface="Doppio One"/>
                <a:sym typeface="Doppio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473675" y="4056400"/>
            <a:ext cx="6196800" cy="5280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  <a:sym typeface="Encode Sans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2176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8"/>
          <p:cNvPicPr preferRelativeResize="0"/>
          <p:nvPr/>
        </p:nvPicPr>
        <p:blipFill rotWithShape="1">
          <a:blip r:embed="rId2">
            <a:alphaModFix amt="28000"/>
          </a:blip>
          <a:srcRect l="-10" r="10"/>
          <a:stretch/>
        </p:blipFill>
        <p:spPr>
          <a:xfrm flipH="1">
            <a:off x="-975" y="-60220"/>
            <a:ext cx="9144000" cy="52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1388100" y="1275900"/>
            <a:ext cx="6367800" cy="2591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>
            <a:spLocks noGrp="1"/>
          </p:cNvSpPr>
          <p:nvPr>
            <p:ph type="pic" idx="2"/>
          </p:nvPr>
        </p:nvSpPr>
        <p:spPr>
          <a:xfrm>
            <a:off x="-8500" y="0"/>
            <a:ext cx="9152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6"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8"/>
          <p:cNvPicPr preferRelativeResize="0"/>
          <p:nvPr/>
        </p:nvPicPr>
        <p:blipFill rotWithShape="1">
          <a:blip r:embed="rId2">
            <a:alphaModFix amt="28000"/>
          </a:blip>
          <a:srcRect l="-10" r="10"/>
          <a:stretch/>
        </p:blipFill>
        <p:spPr>
          <a:xfrm rot="10800000">
            <a:off x="-975" y="-60220"/>
            <a:ext cx="9144000" cy="52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/>
          <p:nvPr/>
        </p:nvSpPr>
        <p:spPr>
          <a:xfrm>
            <a:off x="447750" y="381000"/>
            <a:ext cx="8248500" cy="438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1"/>
          </p:nvPr>
        </p:nvSpPr>
        <p:spPr>
          <a:xfrm>
            <a:off x="803400" y="1442900"/>
            <a:ext cx="3574800" cy="31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Georama"/>
              <a:buChar char="●"/>
              <a:defRPr sz="12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○"/>
              <a:defRPr sz="12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■"/>
              <a:defRPr sz="12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●"/>
              <a:defRPr sz="12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○"/>
              <a:defRPr sz="12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■"/>
              <a:defRPr sz="12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●"/>
              <a:defRPr sz="12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○"/>
              <a:defRPr sz="12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■"/>
              <a:defRPr sz="1200"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body" idx="2"/>
          </p:nvPr>
        </p:nvSpPr>
        <p:spPr>
          <a:xfrm>
            <a:off x="4765800" y="1442900"/>
            <a:ext cx="3574800" cy="31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Georama"/>
              <a:buChar char="●"/>
              <a:defRPr sz="12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○"/>
              <a:defRPr sz="12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■"/>
              <a:defRPr sz="12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●"/>
              <a:defRPr sz="12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○"/>
              <a:defRPr sz="12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■"/>
              <a:defRPr sz="12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●"/>
              <a:defRPr sz="12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○"/>
              <a:defRPr sz="12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3"/>
          <p:cNvPicPr preferRelativeResize="0"/>
          <p:nvPr/>
        </p:nvPicPr>
        <p:blipFill rotWithShape="1">
          <a:blip r:embed="rId2">
            <a:alphaModFix amt="28000"/>
          </a:blip>
          <a:srcRect l="3953" r="60529"/>
          <a:stretch/>
        </p:blipFill>
        <p:spPr>
          <a:xfrm>
            <a:off x="0" y="0"/>
            <a:ext cx="32476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7_1">
    <p:bg>
      <p:bgPr>
        <a:solidFill>
          <a:schemeClr val="lt2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4"/>
          <p:cNvPicPr preferRelativeResize="0"/>
          <p:nvPr/>
        </p:nvPicPr>
        <p:blipFill rotWithShape="1">
          <a:blip r:embed="rId2">
            <a:alphaModFix amt="28000"/>
          </a:blip>
          <a:srcRect l="43587" r="26256" b="-10"/>
          <a:stretch/>
        </p:blipFill>
        <p:spPr>
          <a:xfrm>
            <a:off x="6347800" y="0"/>
            <a:ext cx="27573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7_1_1">
    <p:bg>
      <p:bgPr>
        <a:solidFill>
          <a:schemeClr val="dk2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5"/>
          <p:cNvPicPr preferRelativeResize="0"/>
          <p:nvPr/>
        </p:nvPicPr>
        <p:blipFill rotWithShape="1">
          <a:blip r:embed="rId2">
            <a:alphaModFix amt="28000"/>
          </a:blip>
          <a:srcRect l="43587" r="26256" b="-10"/>
          <a:stretch/>
        </p:blipFill>
        <p:spPr>
          <a:xfrm flipH="1">
            <a:off x="-21813" y="0"/>
            <a:ext cx="27573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5"/>
          <p:cNvPicPr preferRelativeResize="0"/>
          <p:nvPr/>
        </p:nvPicPr>
        <p:blipFill rotWithShape="1">
          <a:blip r:embed="rId2">
            <a:alphaModFix amt="28000"/>
          </a:blip>
          <a:srcRect l="3954" r="60452"/>
          <a:stretch/>
        </p:blipFill>
        <p:spPr>
          <a:xfrm flipH="1">
            <a:off x="5889374" y="0"/>
            <a:ext cx="325462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044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ncode Sans"/>
              <a:buChar char="●"/>
              <a:defRPr sz="180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6" r:id="rId3"/>
    <p:sldLayoutId id="2147483658" r:id="rId4"/>
    <p:sldLayoutId id="2147483664" r:id="rId5"/>
    <p:sldLayoutId id="2147483669" r:id="rId6"/>
    <p:sldLayoutId id="2147483670" r:id="rId7"/>
    <p:sldLayoutId id="2147483671" r:id="rId8"/>
    <p:sldLayoutId id="2147483675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27000">
              <a:schemeClr val="dk2"/>
            </a:gs>
            <a:gs pos="100000">
              <a:schemeClr val="lt1"/>
            </a:gs>
          </a:gsLst>
          <a:lin ang="8100019" scaled="0"/>
        </a:gra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>
            <a:spLocks noGrp="1"/>
          </p:cNvSpPr>
          <p:nvPr>
            <p:ph type="ctrTitle"/>
          </p:nvPr>
        </p:nvSpPr>
        <p:spPr>
          <a:xfrm>
            <a:off x="1473525" y="2562750"/>
            <a:ext cx="6196800" cy="151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Computer Networking</a:t>
            </a:r>
            <a:r>
              <a:rPr lang="en" dirty="0"/>
              <a:t> </a:t>
            </a:r>
            <a:r>
              <a:rPr lang="en" b="1" dirty="0">
                <a:solidFill>
                  <a:schemeClr val="accent2"/>
                </a:solidFill>
              </a:rPr>
              <a:t>CCNA 200-301</a:t>
            </a:r>
            <a:endParaRPr b="1" dirty="0"/>
          </a:p>
        </p:txBody>
      </p:sp>
      <p:pic>
        <p:nvPicPr>
          <p:cNvPr id="173" name="Google Shape;173;p2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40896" b="23395"/>
          <a:stretch/>
        </p:blipFill>
        <p:spPr>
          <a:xfrm>
            <a:off x="0" y="0"/>
            <a:ext cx="9144003" cy="21761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3AD8B-9C89-45E6-9229-24F01EDE1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866" y="398317"/>
            <a:ext cx="7704000" cy="572700"/>
          </a:xfrm>
        </p:spPr>
        <p:txBody>
          <a:bodyPr/>
          <a:lstStyle/>
          <a:p>
            <a:r>
              <a:rPr lang="en-US" dirty="0"/>
              <a:t>Course Outline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795C4-3D8C-584A-7E90-CFF5EA566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08750"/>
            <a:ext cx="3574800" cy="3126000"/>
          </a:xfrm>
        </p:spPr>
        <p:txBody>
          <a:bodyPr/>
          <a:lstStyle/>
          <a:p>
            <a:pPr marL="139700" indent="0">
              <a:buNone/>
            </a:pPr>
            <a:r>
              <a:rPr lang="en-US" b="1" dirty="0"/>
              <a:t>         </a:t>
            </a:r>
            <a:r>
              <a:rPr lang="en-US" b="1" u="sng" dirty="0"/>
              <a:t>Module 1 Network Fundamentals</a:t>
            </a:r>
          </a:p>
          <a:p>
            <a:pPr marL="139700" indent="0">
              <a:buNone/>
            </a:pPr>
            <a:endParaRPr lang="en-US" b="1" dirty="0"/>
          </a:p>
          <a:p>
            <a:pPr marL="139700" indent="0">
              <a:buNone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dirty="0"/>
              <a:t>Explain Role and Function of Network Components : Routers, Switches, Firewall, IPs, WLC, AP, Endpoints, Servers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OSI Reference Model and TCP/ IP Model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IPv4 Addressing and Subnetting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IPv6 Addressing and IPv6 address Types</a:t>
            </a:r>
          </a:p>
          <a:p>
            <a:endParaRPr lang="en-P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B6BE5-6ECB-F1EB-08BA-92F5BF3F34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49202" y="1008750"/>
            <a:ext cx="3574800" cy="3126000"/>
          </a:xfrm>
        </p:spPr>
        <p:txBody>
          <a:bodyPr/>
          <a:lstStyle/>
          <a:p>
            <a:pPr marL="139700" indent="0">
              <a:buNone/>
            </a:pPr>
            <a:r>
              <a:rPr lang="en-US" b="1" u="sng" dirty="0"/>
              <a:t>Module 2 Basic Configuration of Router and Lan Switching</a:t>
            </a:r>
          </a:p>
          <a:p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Modes of Router</a:t>
            </a:r>
          </a:p>
          <a:p>
            <a:pPr>
              <a:buFont typeface="+mj-lt"/>
              <a:buAutoNum type="arabicPeriod"/>
            </a:pPr>
            <a:r>
              <a:rPr lang="en-US" dirty="0"/>
              <a:t>Basic Security of Router (Passwords) and Configuration of IP on Router</a:t>
            </a:r>
          </a:p>
          <a:p>
            <a:pPr>
              <a:buFont typeface="+mj-lt"/>
              <a:buAutoNum type="arabicPeriod"/>
            </a:pPr>
            <a:r>
              <a:rPr lang="en-US" dirty="0"/>
              <a:t>Point to Point connectivity of Routers</a:t>
            </a:r>
          </a:p>
          <a:p>
            <a:pPr>
              <a:buFont typeface="+mj-lt"/>
              <a:buAutoNum type="arabicPeriod"/>
            </a:pPr>
            <a:r>
              <a:rPr lang="en-US" dirty="0"/>
              <a:t>Configure and Verify Layer2 Discovery Protocols (CDP and LLDP)</a:t>
            </a:r>
          </a:p>
          <a:p>
            <a:pPr>
              <a:buFont typeface="+mj-lt"/>
              <a:buAutoNum type="arabicPeriod"/>
            </a:pPr>
            <a:r>
              <a:rPr lang="en-US" dirty="0"/>
              <a:t>Basic Operation of Switch (Collision Domain and Broadcast Domain)</a:t>
            </a:r>
          </a:p>
          <a:p>
            <a:pPr>
              <a:buFont typeface="+mj-lt"/>
              <a:buAutoNum type="arabicPeriod"/>
            </a:pPr>
            <a:r>
              <a:rPr lang="en-US" dirty="0"/>
              <a:t>Spanning-tree Protocol (PVST, RSTP), Port states and Port fast</a:t>
            </a:r>
          </a:p>
          <a:p>
            <a:pPr>
              <a:buFont typeface="+mj-lt"/>
              <a:buAutoNum type="arabicPeriod"/>
            </a:pPr>
            <a:r>
              <a:rPr lang="en-US" dirty="0"/>
              <a:t>Configure and Verify VLANS and Inter-switch Connectivity (Trunk ports, 802.Iq)</a:t>
            </a:r>
          </a:p>
          <a:p>
            <a:pPr>
              <a:buFont typeface="+mj-lt"/>
              <a:buAutoNum type="arabicPeriod"/>
            </a:pPr>
            <a:r>
              <a:rPr lang="en-US" dirty="0"/>
              <a:t>Ether-channel</a:t>
            </a:r>
          </a:p>
          <a:p>
            <a:pPr>
              <a:buFont typeface="+mj-lt"/>
              <a:buAutoNum type="arabicPeriod"/>
            </a:pPr>
            <a:r>
              <a:rPr lang="en-US" dirty="0"/>
              <a:t>Cisco Wireless Architecture and AP modes</a:t>
            </a:r>
          </a:p>
          <a:p>
            <a:pPr>
              <a:buFont typeface="+mj-lt"/>
              <a:buAutoNum type="arabicPeriod"/>
            </a:pPr>
            <a:r>
              <a:rPr lang="en-US" dirty="0"/>
              <a:t>Configuration of Wireless Lan Controller and AP Using GUI (WPA, WPA2, PSK)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20441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623FD-A352-CF20-8EA0-DB2B00333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Outline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907DA-D133-76D8-1CC0-D7C36E682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 u="sng" dirty="0"/>
              <a:t>Module 3 IP Routing</a:t>
            </a:r>
          </a:p>
          <a:p>
            <a:pPr marL="139700" indent="0">
              <a:buNone/>
            </a:pPr>
            <a:endParaRPr lang="en-US" b="1" u="sng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Static Routing with IPv4 and IPv6, floating static route and Default route</a:t>
            </a:r>
          </a:p>
          <a:p>
            <a:pPr marL="368300" indent="-228600">
              <a:buFont typeface="+mj-lt"/>
              <a:buAutoNum type="arabicPeriod"/>
            </a:pPr>
            <a:endParaRPr lang="en-US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Configure and Verify Single area OSPF</a:t>
            </a:r>
          </a:p>
          <a:p>
            <a:pPr marL="368300" indent="-228600">
              <a:buFont typeface="+mj-lt"/>
              <a:buAutoNum type="arabicPeriod"/>
            </a:pPr>
            <a:endParaRPr lang="en-US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DR and BDR election. Point to point, Concept of Router-ID</a:t>
            </a:r>
          </a:p>
          <a:p>
            <a:endParaRPr lang="en-P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845EB-6CB3-C181-C3BC-1392C51E3DB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 u="sng" dirty="0"/>
              <a:t>Module 4 IP Services</a:t>
            </a:r>
          </a:p>
          <a:p>
            <a:pPr marL="139700" indent="0">
              <a:buNone/>
            </a:pPr>
            <a:endParaRPr lang="en-US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NAT</a:t>
            </a:r>
          </a:p>
          <a:p>
            <a:pPr marL="368300" indent="-228600">
              <a:buFont typeface="+mj-lt"/>
              <a:buAutoNum type="arabicPeriod"/>
            </a:pPr>
            <a:endParaRPr lang="en-US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Configure and Verify NTP</a:t>
            </a:r>
          </a:p>
          <a:p>
            <a:pPr marL="368300" indent="-228600">
              <a:buFont typeface="+mj-lt"/>
              <a:buAutoNum type="arabicPeriod"/>
            </a:pPr>
            <a:endParaRPr lang="en-US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Describe DNS, SNMP, Syslog, QOS, Function of FTP and TFPF in network</a:t>
            </a:r>
          </a:p>
          <a:p>
            <a:pPr marL="368300" indent="-228600">
              <a:buFont typeface="+mj-lt"/>
              <a:buAutoNum type="arabicPeriod"/>
            </a:pPr>
            <a:endParaRPr lang="en-US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Configuration of DHCP, telnet and SSH</a:t>
            </a:r>
          </a:p>
          <a:p>
            <a:pPr marL="368300" indent="-228600">
              <a:buFont typeface="+mj-lt"/>
              <a:buAutoNum type="arabicPeriod"/>
            </a:pPr>
            <a:endParaRPr lang="en-US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Describe the function of First hop redundancy protocol (HSRP, VRRP, GLBP)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128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EE969-00E8-7A11-69BD-BDDBC850D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Outline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FA2C1-3BF8-0943-2EEC-DF30B67DE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 u="sng" dirty="0"/>
              <a:t>Module 5 Security Fundamentals</a:t>
            </a:r>
          </a:p>
          <a:p>
            <a:pPr marL="139700" indent="0">
              <a:buNone/>
            </a:pPr>
            <a:endParaRPr lang="en-US" b="1" u="sng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Configure and Verify Access control List</a:t>
            </a:r>
          </a:p>
          <a:p>
            <a:pPr marL="368300" indent="-228600">
              <a:buFont typeface="+mj-lt"/>
              <a:buAutoNum type="arabicPeriod"/>
            </a:pPr>
            <a:endParaRPr lang="en-US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Describe VPN Technologies (Site-to-site VPN and Remote access VPN)</a:t>
            </a:r>
          </a:p>
          <a:p>
            <a:pPr marL="368300" indent="-228600">
              <a:buFont typeface="+mj-lt"/>
              <a:buAutoNum type="arabicPeriod"/>
            </a:pPr>
            <a:endParaRPr lang="en-US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Describe Authentication, Authorization and Accounting (AAA)</a:t>
            </a:r>
          </a:p>
          <a:p>
            <a:pPr marL="368300" indent="-228600">
              <a:buFont typeface="+mj-lt"/>
              <a:buAutoNum type="arabicPeriod"/>
            </a:pPr>
            <a:endParaRPr lang="en-US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Configure Port Security, DHCP Snooping and Dynamic ARP Inspection</a:t>
            </a:r>
          </a:p>
          <a:p>
            <a:endParaRPr lang="en-P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641281-3B19-5473-AF2C-C151D36D501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 u="sng" dirty="0"/>
              <a:t>Module 6 Automation and Programmability</a:t>
            </a:r>
          </a:p>
          <a:p>
            <a:pPr marL="139700" indent="0">
              <a:buNone/>
            </a:pPr>
            <a:endParaRPr lang="en-US" b="1" u="sng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Explain how automation impacts network management</a:t>
            </a:r>
          </a:p>
          <a:p>
            <a:pPr marL="368300" indent="-228600">
              <a:buFont typeface="+mj-lt"/>
              <a:buAutoNum type="arabicPeriod"/>
            </a:pPr>
            <a:endParaRPr lang="en-US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Compare traditional network with controller-based networking</a:t>
            </a:r>
          </a:p>
          <a:p>
            <a:pPr marL="368300" indent="-228600">
              <a:buFont typeface="+mj-lt"/>
              <a:buAutoNum type="arabicPeriod"/>
            </a:pPr>
            <a:endParaRPr lang="en-US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Compare traditional campus device management with Cisco DNA Center enabled device Management.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81105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083BC-3DF6-3F58-625C-8848C10A2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 5 Security Fundamentals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5B719-97A5-6915-1D6C-F1BE14E70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1934" y="1248166"/>
            <a:ext cx="7502066" cy="3002101"/>
          </a:xfrm>
        </p:spPr>
        <p:txBody>
          <a:bodyPr/>
          <a:lstStyle/>
          <a:p>
            <a:pPr marL="368300" indent="-228600">
              <a:buFont typeface="+mj-lt"/>
              <a:buAutoNum type="arabicPeriod"/>
            </a:pPr>
            <a:r>
              <a:rPr lang="en-US" sz="1600" dirty="0"/>
              <a:t>Configure and Verify Access control List</a:t>
            </a:r>
          </a:p>
          <a:p>
            <a:pPr marL="368300" indent="-228600">
              <a:buFont typeface="+mj-lt"/>
              <a:buAutoNum type="arabicPeriod"/>
            </a:pPr>
            <a:endParaRPr lang="en-US" sz="1600" dirty="0"/>
          </a:p>
          <a:p>
            <a:pPr marL="368300" indent="-228600">
              <a:buFont typeface="+mj-lt"/>
              <a:buAutoNum type="arabicPeriod"/>
            </a:pPr>
            <a:r>
              <a:rPr lang="en-US" sz="1600" dirty="0"/>
              <a:t>Describe VPN Technologies (Site-to-site VPN and Remote access VPN)</a:t>
            </a:r>
          </a:p>
          <a:p>
            <a:pPr marL="368300" indent="-228600">
              <a:buFont typeface="+mj-lt"/>
              <a:buAutoNum type="arabicPeriod"/>
            </a:pPr>
            <a:endParaRPr lang="en-US" sz="1600" dirty="0"/>
          </a:p>
          <a:p>
            <a:pPr marL="368300" indent="-228600">
              <a:buFont typeface="+mj-lt"/>
              <a:buAutoNum type="arabicPeriod"/>
            </a:pPr>
            <a:r>
              <a:rPr lang="en-US" sz="1600" dirty="0"/>
              <a:t>Describe Authentication, Authorization and Accounting (AAA)</a:t>
            </a:r>
          </a:p>
          <a:p>
            <a:pPr marL="368300" indent="-228600">
              <a:buFont typeface="+mj-lt"/>
              <a:buAutoNum type="arabicPeriod"/>
            </a:pPr>
            <a:endParaRPr lang="en-US" sz="1600" dirty="0"/>
          </a:p>
          <a:p>
            <a:pPr marL="368300" indent="-228600">
              <a:buFont typeface="+mj-lt"/>
              <a:buAutoNum type="arabicPeriod"/>
            </a:pPr>
            <a:r>
              <a:rPr lang="en-US" sz="1600" dirty="0"/>
              <a:t>Configure Port Security, DHCP Snooping and Dynamic ARP Inspection</a:t>
            </a:r>
          </a:p>
          <a:p>
            <a:pPr marL="139700" indent="0">
              <a:buNone/>
            </a:pPr>
            <a:endParaRPr lang="en-US" sz="1600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096257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4A8F1-373B-A874-52E9-26F088BE2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368D49C-9B6D-EFCB-63CB-9B57A4174B24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F7B6047-706C-EBDD-DBA3-999296F84B73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DC65164-A1C9-E809-6969-35E8540B6965}"/>
              </a:ext>
            </a:extLst>
          </p:cNvPr>
          <p:cNvSpPr/>
          <p:nvPr/>
        </p:nvSpPr>
        <p:spPr>
          <a:xfrm>
            <a:off x="496119" y="2748037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634FA5-9F8D-5B82-AFD8-7F9602E5AD64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69A3D7-CE9C-479C-49FA-B14A467E4C59}"/>
              </a:ext>
            </a:extLst>
          </p:cNvPr>
          <p:cNvSpPr txBox="1"/>
          <p:nvPr/>
        </p:nvSpPr>
        <p:spPr>
          <a:xfrm>
            <a:off x="2726413" y="63307"/>
            <a:ext cx="28023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ACL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00CAA8-78FF-A2B6-D0A1-01A166A64F2A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D4DD31-BA44-1A5F-3931-39DD243FC1AD}"/>
              </a:ext>
            </a:extLst>
          </p:cNvPr>
          <p:cNvSpPr txBox="1"/>
          <p:nvPr/>
        </p:nvSpPr>
        <p:spPr>
          <a:xfrm>
            <a:off x="220279" y="831877"/>
            <a:ext cx="87034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algn="just"/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E7A396-94AD-46C4-227A-AD62A2775C81}"/>
              </a:ext>
            </a:extLst>
          </p:cNvPr>
          <p:cNvSpPr txBox="1"/>
          <p:nvPr/>
        </p:nvSpPr>
        <p:spPr>
          <a:xfrm>
            <a:off x="228396" y="710637"/>
            <a:ext cx="819593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What is ACL?</a:t>
            </a:r>
          </a:p>
          <a:p>
            <a:endParaRPr lang="en-US" sz="1600" b="1" dirty="0">
              <a:solidFill>
                <a:srgbClr val="403CCF"/>
              </a:solidFill>
              <a:latin typeface="Libre Baskerville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ACL stands for Access Control List.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It is used in routers to filter traffic based on rules.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ACLs control which packets are allowed or denied through a network interface.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60548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050A0-8E65-8BFA-267A-C335FA2EB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E51468A-7BC7-F327-AC91-267A381D4D3A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B15CE6-76F6-137F-3291-770F77E9BBFB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5EBCCE0-EC01-28EE-0CD1-BD9ECDA013AB}"/>
              </a:ext>
            </a:extLst>
          </p:cNvPr>
          <p:cNvSpPr/>
          <p:nvPr/>
        </p:nvSpPr>
        <p:spPr>
          <a:xfrm>
            <a:off x="496119" y="2748037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CABBBD-439E-07D8-0901-6377CF68CE3A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AF15AB-DCAC-7E94-521D-6E681E378C6B}"/>
              </a:ext>
            </a:extLst>
          </p:cNvPr>
          <p:cNvSpPr txBox="1"/>
          <p:nvPr/>
        </p:nvSpPr>
        <p:spPr>
          <a:xfrm>
            <a:off x="2726413" y="63307"/>
            <a:ext cx="28023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ACL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D0B582-E64E-BA9A-07A7-5B724E0EE129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46E7C6-6043-4240-00EE-E973B98261E0}"/>
              </a:ext>
            </a:extLst>
          </p:cNvPr>
          <p:cNvSpPr txBox="1"/>
          <p:nvPr/>
        </p:nvSpPr>
        <p:spPr>
          <a:xfrm>
            <a:off x="220279" y="831877"/>
            <a:ext cx="87034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algn="just"/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2CF491-F223-1790-F1B2-EBA62F6748BC}"/>
              </a:ext>
            </a:extLst>
          </p:cNvPr>
          <p:cNvSpPr txBox="1"/>
          <p:nvPr/>
        </p:nvSpPr>
        <p:spPr>
          <a:xfrm>
            <a:off x="228396" y="710637"/>
            <a:ext cx="8195937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Why Use ACLs?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To enhance security by controlling traffic.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To permit or deny specific traffic.</a:t>
            </a:r>
          </a:p>
          <a:p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To monitor and manage traffic flow.</a:t>
            </a:r>
          </a:p>
          <a:p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Used for network security and access control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Restricts access to devices or certain parts of the network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Filters incoming and outgoing traffic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Controls access to specific websites and services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Can block internet access for selected devices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Helps in efficient traffic routing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208995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14E36-12FF-FC24-9870-006179004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E1B45A-B9A9-53E3-4407-B9AAC7D95421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584A45F-B246-2808-1E64-5389B54410F6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D73B720-7851-6B8F-6D44-C8A6607AC19A}"/>
              </a:ext>
            </a:extLst>
          </p:cNvPr>
          <p:cNvSpPr/>
          <p:nvPr/>
        </p:nvSpPr>
        <p:spPr>
          <a:xfrm>
            <a:off x="496119" y="2748037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F75574-5641-0074-7EF1-57B99D818BA1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3816BB-1EA5-D792-FDC8-A767BB210A32}"/>
              </a:ext>
            </a:extLst>
          </p:cNvPr>
          <p:cNvSpPr txBox="1"/>
          <p:nvPr/>
        </p:nvSpPr>
        <p:spPr>
          <a:xfrm>
            <a:off x="2726413" y="63307"/>
            <a:ext cx="28023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ACL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BD7AAC-1FA9-B4D7-B601-38534382C69F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F0661-C80F-3E6D-5F4A-6FCFC255C7AF}"/>
              </a:ext>
            </a:extLst>
          </p:cNvPr>
          <p:cNvSpPr txBox="1"/>
          <p:nvPr/>
        </p:nvSpPr>
        <p:spPr>
          <a:xfrm>
            <a:off x="220279" y="831877"/>
            <a:ext cx="87034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algn="just"/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22BED3-84C9-804E-27EE-5C89CA6E7320}"/>
              </a:ext>
            </a:extLst>
          </p:cNvPr>
          <p:cNvSpPr txBox="1"/>
          <p:nvPr/>
        </p:nvSpPr>
        <p:spPr>
          <a:xfrm>
            <a:off x="228396" y="710637"/>
            <a:ext cx="819593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Types of ACLs</a:t>
            </a:r>
          </a:p>
          <a:p>
            <a:endParaRPr lang="en-US" sz="1600" b="1" dirty="0">
              <a:solidFill>
                <a:srgbClr val="403CCF"/>
              </a:solidFill>
              <a:latin typeface="Libre Baskerville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800" b="1" dirty="0"/>
              <a:t>Standard ACL (Simple version)</a:t>
            </a:r>
          </a:p>
          <a:p>
            <a:pPr marL="228600" indent="-228600">
              <a:buFont typeface="+mj-lt"/>
              <a:buAutoNum type="arabicPeriod"/>
            </a:pPr>
            <a:endParaRPr lang="en-US" sz="1800" b="1" dirty="0"/>
          </a:p>
          <a:p>
            <a:pPr marL="228600" indent="-228600">
              <a:buFont typeface="+mj-lt"/>
              <a:buAutoNum type="arabicPeriod"/>
            </a:pPr>
            <a:r>
              <a:rPr lang="en-US" sz="1800" b="1" dirty="0"/>
              <a:t>Extended ACL (More Detailed)</a:t>
            </a:r>
          </a:p>
          <a:p>
            <a:pPr marL="228600" indent="-228600">
              <a:buFont typeface="+mj-lt"/>
              <a:buAutoNum type="arabicPeriod"/>
            </a:pP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48767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3E7B0-CF1F-D27D-4BA4-2CAD0D655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CC4F8D-183E-106D-E99E-D44608D5458A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A87463E-1B1A-869C-2AFC-D86D8B32D340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72D4BE4-AA93-6A02-4A52-64145B4BDB9B}"/>
              </a:ext>
            </a:extLst>
          </p:cNvPr>
          <p:cNvSpPr/>
          <p:nvPr/>
        </p:nvSpPr>
        <p:spPr>
          <a:xfrm>
            <a:off x="496119" y="2748037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880228-F77B-05EA-38AE-1B4A795BB3EA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E18010-EB9E-A50A-81F7-A770408DE4ED}"/>
              </a:ext>
            </a:extLst>
          </p:cNvPr>
          <p:cNvSpPr txBox="1"/>
          <p:nvPr/>
        </p:nvSpPr>
        <p:spPr>
          <a:xfrm>
            <a:off x="2726413" y="63307"/>
            <a:ext cx="28023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ACL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062937-C9CB-998E-CC38-AC064D88ABD2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1494E0-7822-B7D6-8B1F-04D08996D7CB}"/>
              </a:ext>
            </a:extLst>
          </p:cNvPr>
          <p:cNvSpPr txBox="1"/>
          <p:nvPr/>
        </p:nvSpPr>
        <p:spPr>
          <a:xfrm>
            <a:off x="220279" y="831877"/>
            <a:ext cx="87034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algn="just"/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C8A691-D09F-DCAB-753B-FC971D179844}"/>
              </a:ext>
            </a:extLst>
          </p:cNvPr>
          <p:cNvSpPr txBox="1"/>
          <p:nvPr/>
        </p:nvSpPr>
        <p:spPr>
          <a:xfrm>
            <a:off x="228396" y="710637"/>
            <a:ext cx="8195937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Types of ACLs</a:t>
            </a:r>
          </a:p>
          <a:p>
            <a:endParaRPr lang="en-US" sz="1600" b="1" dirty="0">
              <a:solidFill>
                <a:srgbClr val="403CCF"/>
              </a:solidFill>
              <a:latin typeface="Libre Baskerville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800" b="1" dirty="0"/>
              <a:t>Standard ACL (Simple version)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Filters traffic based only on source IP address.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Only looks at the sender's IP address (source).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It does NOT care about what type of data it is or where it's going.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Standard ACLs: Range from 1 to 99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🧠 Think of it like:</a:t>
            </a:r>
          </a:p>
          <a:p>
            <a:r>
              <a:rPr lang="en-US" sz="1200" dirty="0"/>
              <a:t>If this person (IP address) is talking, allow or block them.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Example:</a:t>
            </a:r>
          </a:p>
          <a:p>
            <a:r>
              <a:rPr lang="en-US" sz="1200" dirty="0"/>
              <a:t>access-list 10 deny 192.168.1.5</a:t>
            </a:r>
          </a:p>
          <a:p>
            <a:endParaRPr lang="en-US" sz="1200" dirty="0"/>
          </a:p>
          <a:p>
            <a:r>
              <a:rPr lang="en-US" sz="1200" dirty="0"/>
              <a:t>This says:❌ Block anything that comes from IP 192.168.1.5</a:t>
            </a:r>
          </a:p>
        </p:txBody>
      </p:sp>
    </p:spTree>
    <p:extLst>
      <p:ext uri="{BB962C8B-B14F-4D97-AF65-F5344CB8AC3E}">
        <p14:creationId xmlns:p14="http://schemas.microsoft.com/office/powerpoint/2010/main" val="3379051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DD4F9-9E62-15F4-AD00-564CB2276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B4F83A7-EE57-E3E7-7F02-0780BE168EE1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91AE97-C7A7-A7AB-E0C7-9B4FC3ED64CF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541D505-A39D-379F-71EB-1E4404BF994C}"/>
              </a:ext>
            </a:extLst>
          </p:cNvPr>
          <p:cNvSpPr/>
          <p:nvPr/>
        </p:nvSpPr>
        <p:spPr>
          <a:xfrm>
            <a:off x="496119" y="2748037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C6FCEB-262F-EF8D-6BF8-065E4754F2EF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A280F3-6802-5114-5BDA-788100CCB084}"/>
              </a:ext>
            </a:extLst>
          </p:cNvPr>
          <p:cNvSpPr txBox="1"/>
          <p:nvPr/>
        </p:nvSpPr>
        <p:spPr>
          <a:xfrm>
            <a:off x="2726413" y="63307"/>
            <a:ext cx="28023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ACL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AE82DC-FCEB-ABEA-59B6-1D007148146C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E9E597-81A3-A225-71DB-5D2C03B7FFEF}"/>
              </a:ext>
            </a:extLst>
          </p:cNvPr>
          <p:cNvSpPr txBox="1"/>
          <p:nvPr/>
        </p:nvSpPr>
        <p:spPr>
          <a:xfrm>
            <a:off x="220279" y="831877"/>
            <a:ext cx="87034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algn="just"/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9C1EBC-F823-CC5F-A844-B25002F61BA3}"/>
              </a:ext>
            </a:extLst>
          </p:cNvPr>
          <p:cNvSpPr txBox="1"/>
          <p:nvPr/>
        </p:nvSpPr>
        <p:spPr>
          <a:xfrm>
            <a:off x="228396" y="710637"/>
            <a:ext cx="8195937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Types of ACLs</a:t>
            </a:r>
          </a:p>
          <a:p>
            <a:endParaRPr lang="en-US" sz="1600" b="1" dirty="0">
              <a:solidFill>
                <a:srgbClr val="403CCF"/>
              </a:solidFill>
              <a:latin typeface="Libre Baskerville" pitchFamily="34" charset="0"/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en-US" sz="1800" b="1" dirty="0"/>
              <a:t>Extended ACL (More Detailed)</a:t>
            </a:r>
          </a:p>
          <a:p>
            <a:pPr marL="342900" indent="-342900">
              <a:buFont typeface="+mj-lt"/>
              <a:buAutoNum type="arabicPeriod" startAt="2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fr-FR" sz="1200" dirty="0" err="1"/>
              <a:t>Filters</a:t>
            </a:r>
            <a:r>
              <a:rPr lang="fr-FR" sz="1200" dirty="0"/>
              <a:t> Traffic base on source &amp; destination IP, Protocol, port Numbers, etc.</a:t>
            </a: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Looks at who is sending, who is receiving, and what type of data it is (like web, email, FTP).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Gives you more control.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Extended ACLs: Range from 100 to 199.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🧠 Think of it like:</a:t>
            </a:r>
          </a:p>
          <a:p>
            <a:r>
              <a:rPr lang="en-US" sz="1200" dirty="0"/>
              <a:t>If this person (source IP) is talking to that person (destination IP) using this app (like HTTP), allow or block.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Example:</a:t>
            </a:r>
          </a:p>
          <a:p>
            <a:r>
              <a:rPr lang="en-US" sz="1200" dirty="0"/>
              <a:t>access-list 101 deny </a:t>
            </a:r>
            <a:r>
              <a:rPr lang="en-US" sz="1200" dirty="0" err="1"/>
              <a:t>tcp</a:t>
            </a:r>
            <a:r>
              <a:rPr lang="en-US" sz="1200" dirty="0"/>
              <a:t> 192.168.1.5 any eq 80</a:t>
            </a:r>
          </a:p>
          <a:p>
            <a:endParaRPr lang="en-US" sz="1200" dirty="0"/>
          </a:p>
          <a:p>
            <a:r>
              <a:rPr lang="en-US" sz="1200" dirty="0"/>
              <a:t>This says:❌ Block HTTP (web) traffic coming from 192.168.1.5</a:t>
            </a:r>
          </a:p>
        </p:txBody>
      </p:sp>
    </p:spTree>
    <p:extLst>
      <p:ext uri="{BB962C8B-B14F-4D97-AF65-F5344CB8AC3E}">
        <p14:creationId xmlns:p14="http://schemas.microsoft.com/office/powerpoint/2010/main" val="2226561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C6B37-B443-4898-5709-6F8B3F4B4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7930DB1-9BCC-82C1-AD10-75233CC19205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8ADA1BE-498F-426B-AB6A-F2A56EAB1793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266C17F-FC9A-C225-7DA9-7FB5395EDCE5}"/>
              </a:ext>
            </a:extLst>
          </p:cNvPr>
          <p:cNvSpPr/>
          <p:nvPr/>
        </p:nvSpPr>
        <p:spPr>
          <a:xfrm>
            <a:off x="496119" y="2748037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5F2EE7-A4FF-2B99-F3F6-F957272A27E2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67BC5F-5176-DF9E-CA87-EA0AD383D745}"/>
              </a:ext>
            </a:extLst>
          </p:cNvPr>
          <p:cNvSpPr txBox="1"/>
          <p:nvPr/>
        </p:nvSpPr>
        <p:spPr>
          <a:xfrm>
            <a:off x="2726413" y="63307"/>
            <a:ext cx="28023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ACL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C27CC-B315-4C95-AEA3-ED2EC8740941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E64746-B640-5EC3-7CF8-859AC0347B47}"/>
              </a:ext>
            </a:extLst>
          </p:cNvPr>
          <p:cNvSpPr txBox="1"/>
          <p:nvPr/>
        </p:nvSpPr>
        <p:spPr>
          <a:xfrm>
            <a:off x="220279" y="831877"/>
            <a:ext cx="87034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algn="just"/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E322FD-0703-3DA7-A868-AE620C85C983}"/>
              </a:ext>
            </a:extLst>
          </p:cNvPr>
          <p:cNvSpPr txBox="1"/>
          <p:nvPr/>
        </p:nvSpPr>
        <p:spPr>
          <a:xfrm>
            <a:off x="228396" y="710637"/>
            <a:ext cx="819593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Main Difference:</a:t>
            </a:r>
          </a:p>
          <a:p>
            <a:endParaRPr lang="en-US" sz="1600" b="1" dirty="0">
              <a:solidFill>
                <a:srgbClr val="403CCF"/>
              </a:solidFill>
              <a:latin typeface="Libre Baskerville" pitchFamily="34" charset="0"/>
            </a:endParaRPr>
          </a:p>
          <a:p>
            <a:endParaRPr lang="en-US" sz="1600" b="1" dirty="0">
              <a:solidFill>
                <a:srgbClr val="403CCF"/>
              </a:solidFill>
              <a:latin typeface="Libre Baskerville" pitchFamily="34" charset="0"/>
            </a:endParaRPr>
          </a:p>
          <a:p>
            <a:endParaRPr lang="en-US" sz="1600" b="1" dirty="0">
              <a:solidFill>
                <a:srgbClr val="403CCF"/>
              </a:solidFill>
              <a:latin typeface="Libre Baskerville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6D4B01C-AAB6-41DB-CAB7-3EA7A3AE2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636437"/>
              </p:ext>
            </p:extLst>
          </p:nvPr>
        </p:nvGraphicFramePr>
        <p:xfrm>
          <a:off x="948265" y="1587475"/>
          <a:ext cx="7044267" cy="2225040"/>
        </p:xfrm>
        <a:graphic>
          <a:graphicData uri="http://schemas.openxmlformats.org/drawingml/2006/table">
            <a:tbl>
              <a:tblPr firstRow="1" bandRow="1">
                <a:tableStyleId>{17343FFC-C285-48B6-A5F1-531E15585DCF}</a:tableStyleId>
              </a:tblPr>
              <a:tblGrid>
                <a:gridCol w="2348089">
                  <a:extLst>
                    <a:ext uri="{9D8B030D-6E8A-4147-A177-3AD203B41FA5}">
                      <a16:colId xmlns:a16="http://schemas.microsoft.com/office/drawing/2014/main" val="1159414437"/>
                    </a:ext>
                  </a:extLst>
                </a:gridCol>
                <a:gridCol w="2348089">
                  <a:extLst>
                    <a:ext uri="{9D8B030D-6E8A-4147-A177-3AD203B41FA5}">
                      <a16:colId xmlns:a16="http://schemas.microsoft.com/office/drawing/2014/main" val="2732122297"/>
                    </a:ext>
                  </a:extLst>
                </a:gridCol>
                <a:gridCol w="2348089">
                  <a:extLst>
                    <a:ext uri="{9D8B030D-6E8A-4147-A177-3AD203B41FA5}">
                      <a16:colId xmlns:a16="http://schemas.microsoft.com/office/drawing/2014/main" val="24811768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Feature</a:t>
                      </a:r>
                      <a:endParaRPr lang="en-PK" sz="1400" b="1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Standard ACL	</a:t>
                      </a:r>
                      <a:endParaRPr lang="en-PK" sz="1400" b="1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Extended ACL</a:t>
                      </a:r>
                      <a:endParaRPr lang="en-PK" sz="1400" b="1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847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Checks source only	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✅ </a:t>
                      </a:r>
                      <a:r>
                        <a:rPr lang="en-US" dirty="0"/>
                        <a:t>Yes	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✅ </a:t>
                      </a:r>
                      <a:r>
                        <a:rPr lang="en-US" dirty="0"/>
                        <a:t>Yes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72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Checks destination	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❌ </a:t>
                      </a:r>
                      <a:r>
                        <a:rPr lang="en-US" dirty="0"/>
                        <a:t>No	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✅ </a:t>
                      </a:r>
                      <a:r>
                        <a:rPr lang="en-US" dirty="0"/>
                        <a:t>Yes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251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Checks app/port	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❌ </a:t>
                      </a:r>
                      <a:r>
                        <a:rPr lang="en-US" dirty="0"/>
                        <a:t>No	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✅ </a:t>
                      </a:r>
                      <a:r>
                        <a:rPr lang="en-US" dirty="0"/>
                        <a:t>Yes (like HTTP/FTP)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227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More control?	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❌ </a:t>
                      </a:r>
                      <a:r>
                        <a:rPr lang="en-US" dirty="0"/>
                        <a:t>Basic	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✅ </a:t>
                      </a:r>
                      <a:r>
                        <a:rPr lang="en-US" dirty="0"/>
                        <a:t>Detailed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076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Range 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Range from 1 to 99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Range from 100 to 199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755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1183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A01F2-2D22-FD4F-8A8E-E687A019F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B814DE7-DD38-986C-E68F-69885B27A1C5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65E227-E280-8490-CE13-8FB5B2479ADF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3D1B8F4-0E95-9D68-8478-4F60B709AEC3}"/>
              </a:ext>
            </a:extLst>
          </p:cNvPr>
          <p:cNvSpPr/>
          <p:nvPr/>
        </p:nvSpPr>
        <p:spPr>
          <a:xfrm>
            <a:off x="496119" y="2748037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FFD181-ADF5-73A2-004C-902469EBE522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83EF0C-25EE-193E-20AA-D0EC0AE3B5BB}"/>
              </a:ext>
            </a:extLst>
          </p:cNvPr>
          <p:cNvSpPr txBox="1"/>
          <p:nvPr/>
        </p:nvSpPr>
        <p:spPr>
          <a:xfrm>
            <a:off x="2726413" y="63307"/>
            <a:ext cx="28023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ACL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EF8D70-188F-CBF9-9A8A-8C77598FADA1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C1F719-22AF-B7F6-5FEF-560E89D14BAD}"/>
              </a:ext>
            </a:extLst>
          </p:cNvPr>
          <p:cNvSpPr txBox="1"/>
          <p:nvPr/>
        </p:nvSpPr>
        <p:spPr>
          <a:xfrm>
            <a:off x="220279" y="831877"/>
            <a:ext cx="87034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algn="just"/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7C069C-3A6D-7B24-FA94-2043FE505113}"/>
              </a:ext>
            </a:extLst>
          </p:cNvPr>
          <p:cNvSpPr txBox="1"/>
          <p:nvPr/>
        </p:nvSpPr>
        <p:spPr>
          <a:xfrm>
            <a:off x="228396" y="710637"/>
            <a:ext cx="81959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Practical of Standard ACL:</a:t>
            </a:r>
          </a:p>
          <a:p>
            <a:endParaRPr lang="en-US" sz="1600" b="1" dirty="0">
              <a:solidFill>
                <a:srgbClr val="403CCF"/>
              </a:solidFill>
              <a:latin typeface="Libre Baskerville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FE4FDC-6960-E646-381A-A809CB5CF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6008"/>
            <a:ext cx="9144000" cy="345236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5DCBF95-3953-45D9-779F-D778F47613B3}"/>
              </a:ext>
            </a:extLst>
          </p:cNvPr>
          <p:cNvSpPr txBox="1"/>
          <p:nvPr/>
        </p:nvSpPr>
        <p:spPr>
          <a:xfrm>
            <a:off x="3136900" y="2081472"/>
            <a:ext cx="4360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403CCF"/>
                </a:solidFill>
                <a:latin typeface="Libre Baskerville" pitchFamily="34" charset="0"/>
              </a:rPr>
              <a:t>R1</a:t>
            </a:r>
            <a:endParaRPr lang="en-PK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213270-7D35-B846-537E-4054EF676B20}"/>
              </a:ext>
            </a:extLst>
          </p:cNvPr>
          <p:cNvSpPr txBox="1"/>
          <p:nvPr/>
        </p:nvSpPr>
        <p:spPr>
          <a:xfrm>
            <a:off x="5173133" y="2081472"/>
            <a:ext cx="4656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403CCF"/>
                </a:solidFill>
                <a:latin typeface="Libre Baskerville" pitchFamily="34" charset="0"/>
              </a:rPr>
              <a:t>R2</a:t>
            </a:r>
            <a:endParaRPr lang="en-PK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C24A7-3940-4293-0519-A4DA6CD43B98}"/>
              </a:ext>
            </a:extLst>
          </p:cNvPr>
          <p:cNvSpPr txBox="1"/>
          <p:nvPr/>
        </p:nvSpPr>
        <p:spPr>
          <a:xfrm>
            <a:off x="7016750" y="1559996"/>
            <a:ext cx="12996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403CCF"/>
                </a:solidFill>
                <a:latin typeface="Libre Baskerville" pitchFamily="34" charset="0"/>
              </a:rPr>
              <a:t>Facebook</a:t>
            </a:r>
            <a:endParaRPr lang="en-PK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D66D01-3371-0AE0-5D7B-FE0E97F0BC7D}"/>
              </a:ext>
            </a:extLst>
          </p:cNvPr>
          <p:cNvSpPr txBox="1"/>
          <p:nvPr/>
        </p:nvSpPr>
        <p:spPr>
          <a:xfrm>
            <a:off x="8099664" y="2516053"/>
            <a:ext cx="1096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403CCF"/>
                </a:solidFill>
                <a:latin typeface="Libre Baskerville" pitchFamily="34" charset="0"/>
              </a:rPr>
              <a:t>YouTube</a:t>
            </a:r>
            <a:endParaRPr lang="en-PK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50007A-DA1E-93D0-2E35-48785ED28786}"/>
              </a:ext>
            </a:extLst>
          </p:cNvPr>
          <p:cNvSpPr txBox="1"/>
          <p:nvPr/>
        </p:nvSpPr>
        <p:spPr>
          <a:xfrm>
            <a:off x="7976324" y="4157734"/>
            <a:ext cx="10576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403CCF"/>
                </a:solidFill>
                <a:latin typeface="Libre Baskerville" pitchFamily="34" charset="0"/>
              </a:rPr>
              <a:t>Any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62266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6A62C-C27E-D1B4-75CF-1D92E8648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ED0268D-1630-AE09-03C1-42EE8B022EE3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99BA33E-F58A-A011-886B-DAEF6E003E64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4EC74DE-BADA-915F-74F7-2A7742151C56}"/>
              </a:ext>
            </a:extLst>
          </p:cNvPr>
          <p:cNvSpPr/>
          <p:nvPr/>
        </p:nvSpPr>
        <p:spPr>
          <a:xfrm>
            <a:off x="496119" y="2748037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F46841-EE60-1176-AF37-77318999D985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12D75E-9F37-FD69-0AD6-94FB439BA858}"/>
              </a:ext>
            </a:extLst>
          </p:cNvPr>
          <p:cNvSpPr txBox="1"/>
          <p:nvPr/>
        </p:nvSpPr>
        <p:spPr>
          <a:xfrm>
            <a:off x="2726413" y="63307"/>
            <a:ext cx="28023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ACL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9548CC-DD52-4AFA-7EF4-B7A030996C20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975602-F3B9-7571-B5FD-DE39D6EA3DF3}"/>
              </a:ext>
            </a:extLst>
          </p:cNvPr>
          <p:cNvSpPr txBox="1"/>
          <p:nvPr/>
        </p:nvSpPr>
        <p:spPr>
          <a:xfrm>
            <a:off x="220279" y="831877"/>
            <a:ext cx="87034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algn="just"/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2998FD-4BB0-2F47-D5BD-EE423B92330A}"/>
              </a:ext>
            </a:extLst>
          </p:cNvPr>
          <p:cNvSpPr txBox="1"/>
          <p:nvPr/>
        </p:nvSpPr>
        <p:spPr>
          <a:xfrm>
            <a:off x="110064" y="461602"/>
            <a:ext cx="8195937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Practical of Standard ACL:</a:t>
            </a: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200" dirty="0"/>
          </a:p>
          <a:p>
            <a:r>
              <a:rPr lang="en-US" sz="1200" b="1" dirty="0"/>
              <a:t>✅ You want to completely block the computer with  IP:192.168.1.2  from accessing anything beyond R1, including R2 or the internet.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Since the traffic from 192.168.1.2 goes from R1 → R2 via interface s0/0,</a:t>
            </a:r>
          </a:p>
          <a:p>
            <a:r>
              <a:rPr lang="en-US" sz="1200" dirty="0"/>
              <a:t>you will apply a Standard ACL on R1, on the s0/0 interface outbound.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Basic configuration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Routing Protocol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Apply ACL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90268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CAE76-0131-2E95-D24F-4A5EAFD65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FCFA97-DFE4-7557-28D3-F8654B176228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4C1068-BC48-2EDE-366E-F70CFAECF12C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6ECA5FC-BE5F-5C4B-5055-9326381DFC09}"/>
              </a:ext>
            </a:extLst>
          </p:cNvPr>
          <p:cNvSpPr/>
          <p:nvPr/>
        </p:nvSpPr>
        <p:spPr>
          <a:xfrm>
            <a:off x="496119" y="2748037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4377B6-BEF1-766E-B285-02CA92302FBD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75F60C-4603-4394-3731-6A9155DE8CB0}"/>
              </a:ext>
            </a:extLst>
          </p:cNvPr>
          <p:cNvSpPr txBox="1"/>
          <p:nvPr/>
        </p:nvSpPr>
        <p:spPr>
          <a:xfrm>
            <a:off x="2726413" y="63307"/>
            <a:ext cx="28023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ACL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6579A5-1AC1-4D0E-9421-9DB325AB451E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2D9A55-8A02-1C37-27FE-6999C1566AED}"/>
              </a:ext>
            </a:extLst>
          </p:cNvPr>
          <p:cNvSpPr txBox="1"/>
          <p:nvPr/>
        </p:nvSpPr>
        <p:spPr>
          <a:xfrm>
            <a:off x="220279" y="831877"/>
            <a:ext cx="87034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algn="just"/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9FFCAD-4A47-C445-E013-F4F93FFAE3B8}"/>
              </a:ext>
            </a:extLst>
          </p:cNvPr>
          <p:cNvSpPr txBox="1"/>
          <p:nvPr/>
        </p:nvSpPr>
        <p:spPr>
          <a:xfrm>
            <a:off x="110065" y="461602"/>
            <a:ext cx="380153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Practical of Standard ACL:</a:t>
            </a: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R1&gt; enable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R1# configure terminal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R1(config)# interface fa0/0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R1(config-if)# ip   address   192.168.1.1   255.255.255.0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R1(config-if)# no shutdown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R1(config-if)# exit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0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R1(config)# interface s0/0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R1(config-if)# ip address   1.1.1.1   255.0.0.0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R1(config-if)# no shutdown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R1(config-if)# exit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0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R1(config)# router rip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R1(config-router)# network  192.168.1.0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R1(config-router)# network  1.0.0.0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R1(config-router)# exit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0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R1(config)# access-list  10  deny  192.168.1.2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R1(config)# access-list  10  permit  any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0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R1(config)# interface s0/0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R1(config-if)# ip   access-group   10   out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R1(config-if)# exit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R1(config)# exit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R1#</a:t>
            </a:r>
          </a:p>
          <a:p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F02527-E2A9-F03E-4E9D-4FFFEC4818E4}"/>
              </a:ext>
            </a:extLst>
          </p:cNvPr>
          <p:cNvSpPr txBox="1"/>
          <p:nvPr/>
        </p:nvSpPr>
        <p:spPr>
          <a:xfrm>
            <a:off x="4152973" y="801845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/>
              <a:t>✅ Explanation:</a:t>
            </a:r>
          </a:p>
          <a:p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900" dirty="0"/>
              <a:t>access-list 10 deny 192.168.1.2 	→ blocks that specific PC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900" dirty="0"/>
              <a:t>access-list 10 permit any 	→ allows all other traffic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900" dirty="0"/>
              <a:t>ip access-group 10 out → applies the ACL when traffic is going out of R1 towards R2</a:t>
            </a:r>
            <a:endParaRPr lang="en-PK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FDDE0B-DBA2-A724-D520-7A37A4362987}"/>
              </a:ext>
            </a:extLst>
          </p:cNvPr>
          <p:cNvSpPr txBox="1"/>
          <p:nvPr/>
        </p:nvSpPr>
        <p:spPr>
          <a:xfrm>
            <a:off x="4203058" y="2197472"/>
            <a:ext cx="48831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/>
              <a:t>✅ How to remove ACL:</a:t>
            </a:r>
          </a:p>
          <a:p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R1&gt; enable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R1# configure terminal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R1(config)# no access-list 10		# Removes ACL 10 entirely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R1(config)# interface s0/0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R1(config-if)# no ip access-group 10 out  	# Removes the ACL from the interface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R1(config-if)# exit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R1(config)# exit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R1#</a:t>
            </a:r>
          </a:p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71810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02BCB-0976-D8AB-F7C7-411346BF0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A81B8D3-C9FD-2BEE-7387-43C003C76E6F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3A7D7E5-7076-33E0-2DF3-1704DEDE1E0B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0271F-9A0C-1E5D-018E-F1BC8A48FE75}"/>
              </a:ext>
            </a:extLst>
          </p:cNvPr>
          <p:cNvSpPr/>
          <p:nvPr/>
        </p:nvSpPr>
        <p:spPr>
          <a:xfrm>
            <a:off x="496119" y="2748037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F48093-1F17-3BD0-7A1B-DD8BAD8E230A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D2CE76-F603-2691-88EF-3FBCBCFE3ADB}"/>
              </a:ext>
            </a:extLst>
          </p:cNvPr>
          <p:cNvSpPr txBox="1"/>
          <p:nvPr/>
        </p:nvSpPr>
        <p:spPr>
          <a:xfrm>
            <a:off x="2726413" y="63307"/>
            <a:ext cx="28023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ACL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AF1100-F016-A870-FCD4-F77B7722D165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354B68-DE6A-B38A-0B27-413495E7DB5C}"/>
              </a:ext>
            </a:extLst>
          </p:cNvPr>
          <p:cNvSpPr txBox="1"/>
          <p:nvPr/>
        </p:nvSpPr>
        <p:spPr>
          <a:xfrm>
            <a:off x="220279" y="831877"/>
            <a:ext cx="87034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algn="just"/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F9F39B-118D-D782-B4F0-A4896F59252B}"/>
              </a:ext>
            </a:extLst>
          </p:cNvPr>
          <p:cNvSpPr txBox="1"/>
          <p:nvPr/>
        </p:nvSpPr>
        <p:spPr>
          <a:xfrm>
            <a:off x="110064" y="461602"/>
            <a:ext cx="8195937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Practical of Extended ACL:</a:t>
            </a: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200" dirty="0"/>
          </a:p>
          <a:p>
            <a:r>
              <a:rPr lang="en-US" sz="1200" b="1" dirty="0"/>
              <a:t>✅ You want to completely block the computer with  IP:192.168.1.2  from accessing computer with IP:192.168.2.2 Connected to R2</a:t>
            </a:r>
          </a:p>
          <a:p>
            <a:endParaRPr lang="en-US" sz="1200" dirty="0"/>
          </a:p>
          <a:p>
            <a:r>
              <a:rPr lang="en-US" sz="1200" dirty="0"/>
              <a:t>Standard ACLs can only filter by source IP. To block traffic between specific source and destination IPs, use Extended ACLs.</a:t>
            </a:r>
          </a:p>
          <a:p>
            <a:endParaRPr lang="en-US" sz="1200" dirty="0"/>
          </a:p>
          <a:p>
            <a:r>
              <a:rPr lang="en-US" sz="1200" dirty="0"/>
              <a:t>Since the traffic from 192.168.1.2 goes from R1 → R2 via interface s0/0,</a:t>
            </a:r>
          </a:p>
          <a:p>
            <a:r>
              <a:rPr lang="en-US" sz="1200" dirty="0"/>
              <a:t>you will apply Extended ACL on R1, on the s0/0 interface outbound.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So here we will apply Extended ACL</a:t>
            </a:r>
          </a:p>
          <a:p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Basic configuration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Routing Protocol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Apply ACL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01978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39945-D404-C046-EE8A-F427F4B90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0B95FB-DCFC-B781-8D0C-0815D4B01AA7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59DEB5-56D4-533D-7D53-B6C4A8150E2C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A8A1FB1-578C-AED2-4B89-C330EFB4AE72}"/>
              </a:ext>
            </a:extLst>
          </p:cNvPr>
          <p:cNvSpPr/>
          <p:nvPr/>
        </p:nvSpPr>
        <p:spPr>
          <a:xfrm>
            <a:off x="496119" y="2748037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ED243D-D865-6D42-C5AF-C243865371C0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DF333B-D9D8-5E16-E423-14DC1650FF65}"/>
              </a:ext>
            </a:extLst>
          </p:cNvPr>
          <p:cNvSpPr txBox="1"/>
          <p:nvPr/>
        </p:nvSpPr>
        <p:spPr>
          <a:xfrm>
            <a:off x="2726413" y="63307"/>
            <a:ext cx="28023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ACL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58E3EA-FF45-BA6F-60DE-AA1C5776BC71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D3BDDA-1503-3373-8F12-48847637ADF8}"/>
              </a:ext>
            </a:extLst>
          </p:cNvPr>
          <p:cNvSpPr txBox="1"/>
          <p:nvPr/>
        </p:nvSpPr>
        <p:spPr>
          <a:xfrm>
            <a:off x="220279" y="831877"/>
            <a:ext cx="87034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algn="just"/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F3E43A-B61C-4D4E-F14F-8F841FB98FF1}"/>
              </a:ext>
            </a:extLst>
          </p:cNvPr>
          <p:cNvSpPr txBox="1"/>
          <p:nvPr/>
        </p:nvSpPr>
        <p:spPr>
          <a:xfrm>
            <a:off x="110064" y="461602"/>
            <a:ext cx="4461936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Practical of Extended ACL:</a:t>
            </a: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R1&gt; enable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R1# configure terminal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R1(config)# interface fa0/0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R1(config-if)# ip address   192.168.1.1   255.255.255.0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R1(config-if)# no shutdown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R1(config-if)# exit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R1(config)# interface s0/0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R1(config-if)# ip address   1.1.1.1   255.0.0.0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R1(config-if)# no shutdown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R1(config-if)# exit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R1(config)# router rip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R1(config-router)# network  192.168.1.0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R1(config-router)# network  1.0.0.0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R1(config-router)# exit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R1(config)# access-list  100  deny  ip  host  192.168.1.2  host  192.168.2.2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R1(config)# access-list  100  permit  ip  any  </a:t>
            </a:r>
            <a:r>
              <a:rPr lang="en-US" sz="900" dirty="0" err="1"/>
              <a:t>any</a:t>
            </a: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R1(config)# interface s0/0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R1(config-if)# ip access-group  100  out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R1(config-if)# exit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R1(config)# exit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R1#</a:t>
            </a:r>
          </a:p>
          <a:p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6DCDDF-DA3E-9B6B-1C7D-35BAAA013A1E}"/>
              </a:ext>
            </a:extLst>
          </p:cNvPr>
          <p:cNvSpPr txBox="1"/>
          <p:nvPr/>
        </p:nvSpPr>
        <p:spPr>
          <a:xfrm>
            <a:off x="5367175" y="887248"/>
            <a:ext cx="3666758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/>
              <a:t>✅ How to remove ACL:</a:t>
            </a:r>
          </a:p>
          <a:p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R1&gt; enable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R1# configure terminal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900" dirty="0"/>
              <a:t>R1(config)# no access-list 100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R1(config)# interface s0/0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R1(config-if)# no ip access-group 100 out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R1(config-if)# exit</a:t>
            </a:r>
          </a:p>
          <a:p>
            <a:endParaRPr lang="en-US" sz="900" dirty="0"/>
          </a:p>
          <a:p>
            <a:endParaRPr lang="en-US" sz="900" dirty="0"/>
          </a:p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43314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13163-B6FE-B7F0-5D08-F0DA7777B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5C8DBA7-11DD-F017-F283-2CA5B222212E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B184CC-9B20-60A8-4FEC-77B37D120563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25EC969-6C8A-68FC-FC79-3318EA9D77A8}"/>
              </a:ext>
            </a:extLst>
          </p:cNvPr>
          <p:cNvSpPr/>
          <p:nvPr/>
        </p:nvSpPr>
        <p:spPr>
          <a:xfrm>
            <a:off x="496119" y="2748037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EF64DE-7E97-940D-CEFB-22BB9CF15DCA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DD62C5-09E1-4EBD-5539-CAFF11A8EC76}"/>
              </a:ext>
            </a:extLst>
          </p:cNvPr>
          <p:cNvSpPr txBox="1"/>
          <p:nvPr/>
        </p:nvSpPr>
        <p:spPr>
          <a:xfrm>
            <a:off x="2726413" y="63307"/>
            <a:ext cx="28023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ACL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14480A-A37C-7838-DA29-F50161BE252A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98AAA4-9A8B-4D63-FC9F-DA68678FFF8F}"/>
              </a:ext>
            </a:extLst>
          </p:cNvPr>
          <p:cNvSpPr txBox="1"/>
          <p:nvPr/>
        </p:nvSpPr>
        <p:spPr>
          <a:xfrm>
            <a:off x="220279" y="831877"/>
            <a:ext cx="87034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algn="just"/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E7140B-424D-13B9-8891-11028EB94074}"/>
              </a:ext>
            </a:extLst>
          </p:cNvPr>
          <p:cNvSpPr txBox="1"/>
          <p:nvPr/>
        </p:nvSpPr>
        <p:spPr>
          <a:xfrm>
            <a:off x="110064" y="461602"/>
            <a:ext cx="8195937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Practical of Extended ACL:</a:t>
            </a: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200" dirty="0"/>
          </a:p>
          <a:p>
            <a:r>
              <a:rPr lang="en-US" sz="1200" b="1" dirty="0"/>
              <a:t>✅ To block ICMP (ping) from R2 to R1:</a:t>
            </a:r>
          </a:p>
          <a:p>
            <a:endParaRPr lang="en-US" sz="1200" b="1" dirty="0"/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D2CED9-6CFF-3F74-B5A9-BE6E5EA7B32C}"/>
              </a:ext>
            </a:extLst>
          </p:cNvPr>
          <p:cNvSpPr txBox="1"/>
          <p:nvPr/>
        </p:nvSpPr>
        <p:spPr>
          <a:xfrm>
            <a:off x="220279" y="1197130"/>
            <a:ext cx="545788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R1&gt; enable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R1# configure terminal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R1(config)# interface fa0/0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R1(config-if)# ip address   192.168.1.1   255.255.255.0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R1(config-if)# no shutdown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R1(config-if)# exit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R1(config)# interface s0/0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R1(config-if)# ip address  1.1.1.1  255.0.0.0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R1(config-if)# no shutdown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R1(config-if)# exit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R1(config)# router rip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R1(config-router)# network 192.168.1.0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R1(config-router)# network 1.0.0.0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R1(config-router)# exit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R1(config)# access-list  100  deny  </a:t>
            </a:r>
            <a:r>
              <a:rPr lang="en-US" sz="900" dirty="0" err="1"/>
              <a:t>icmp</a:t>
            </a:r>
            <a:r>
              <a:rPr lang="en-US" sz="900" dirty="0"/>
              <a:t>  192.168.2.0   0.0.0.255   192.168.1.0   0.0.0.255   echo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R1(config)# access-list 100 permit  ip  any  </a:t>
            </a:r>
            <a:r>
              <a:rPr lang="en-US" sz="900" dirty="0" err="1"/>
              <a:t>any</a:t>
            </a: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R1(config)# interface s0/0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R1(config-if)# ip access-group  100  in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R1(config-if)# exit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R1(config)# exit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0A5A28-103D-0F9D-879F-EF067E632711}"/>
              </a:ext>
            </a:extLst>
          </p:cNvPr>
          <p:cNvSpPr txBox="1"/>
          <p:nvPr/>
        </p:nvSpPr>
        <p:spPr>
          <a:xfrm>
            <a:off x="5735292" y="879563"/>
            <a:ext cx="329864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900" b="1" dirty="0"/>
              <a:t>✅ </a:t>
            </a:r>
            <a:r>
              <a:rPr lang="en-US" sz="900" b="1" dirty="0"/>
              <a:t>How to remove ACL:</a:t>
            </a:r>
          </a:p>
          <a:p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R1&gt; enable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R1# configure terminal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R1(config)# interface s0/0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R1(config-if)# no ip access-group 100 in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R1(config-if)# exit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R1(config)# no access-list 100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R1(config)# exit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dirty="0"/>
              <a:t>R1# write memory</a:t>
            </a:r>
          </a:p>
        </p:txBody>
      </p:sp>
    </p:spTree>
    <p:extLst>
      <p:ext uri="{BB962C8B-B14F-4D97-AF65-F5344CB8AC3E}">
        <p14:creationId xmlns:p14="http://schemas.microsoft.com/office/powerpoint/2010/main" val="118664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37BA4-2056-EB9B-4FF0-C680682AD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8EE45C5-A6D5-6C74-89B3-1CA6E21275F1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71A77CE-27A1-D7E0-764E-9E7E4C33D938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06BB4D1-E5E2-269B-B3A4-6BA2551E43C2}"/>
              </a:ext>
            </a:extLst>
          </p:cNvPr>
          <p:cNvSpPr/>
          <p:nvPr/>
        </p:nvSpPr>
        <p:spPr>
          <a:xfrm>
            <a:off x="496119" y="2748037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8C8FA3-7824-4518-6471-5FC664354AF8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287473-D284-C3C1-8BB8-2A22631F7E9C}"/>
              </a:ext>
            </a:extLst>
          </p:cNvPr>
          <p:cNvSpPr txBox="1"/>
          <p:nvPr/>
        </p:nvSpPr>
        <p:spPr>
          <a:xfrm>
            <a:off x="296333" y="63307"/>
            <a:ext cx="85259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Describe VPN Technologies (Site-to-site VPN and Remote access VPN)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33CF04-F504-A015-9831-F9E23595890C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1DACA2-99CD-0E38-DED7-A3A3CE59F618}"/>
              </a:ext>
            </a:extLst>
          </p:cNvPr>
          <p:cNvSpPr txBox="1"/>
          <p:nvPr/>
        </p:nvSpPr>
        <p:spPr>
          <a:xfrm>
            <a:off x="220279" y="831877"/>
            <a:ext cx="87034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algn="just"/>
            <a:endParaRPr lang="en-P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AEB4D0-8272-A44E-DE41-3FFD583FD7DE}"/>
              </a:ext>
            </a:extLst>
          </p:cNvPr>
          <p:cNvSpPr txBox="1"/>
          <p:nvPr/>
        </p:nvSpPr>
        <p:spPr>
          <a:xfrm>
            <a:off x="285261" y="964059"/>
            <a:ext cx="8232205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🔐 What is VPN?</a:t>
            </a:r>
          </a:p>
          <a:p>
            <a:endParaRPr lang="en-US" sz="900" dirty="0"/>
          </a:p>
          <a:p>
            <a:r>
              <a:rPr lang="en-US" sz="1100" dirty="0"/>
              <a:t>VPN (Virtual Private Network) allows secure communication between networks or devices over shared or public networks, often using encryption.</a:t>
            </a:r>
          </a:p>
          <a:p>
            <a:endParaRPr lang="en-US" sz="900" dirty="0"/>
          </a:p>
          <a:p>
            <a:endParaRPr lang="en-US" sz="900" dirty="0"/>
          </a:p>
          <a:p>
            <a:endParaRPr lang="en-US" sz="900" dirty="0"/>
          </a:p>
          <a:p>
            <a:r>
              <a:rPr lang="en-US" sz="1200" b="1" dirty="0"/>
              <a:t>🌍 1. Site-to-Site VPN</a:t>
            </a:r>
          </a:p>
          <a:p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Connects two or more networks (sites) securely.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Commonly used between head office and branch offices.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Routers/firewalls on both ends create and manage the VPN tunnel.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Traffic is automatically encrypted between sites. Users on each side don’t need to do anything — it’s transparent.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Mostly used over the internet, but can also run on private WAN links.</a:t>
            </a:r>
          </a:p>
          <a:p>
            <a:r>
              <a:rPr lang="en-US" sz="1100" dirty="0"/>
              <a:t>Example: Computers in branch office can access servers at head office as if they were on the same LAN.</a:t>
            </a:r>
          </a:p>
          <a:p>
            <a:endParaRPr lang="en-US" sz="900" dirty="0"/>
          </a:p>
          <a:p>
            <a:endParaRPr lang="en-US" sz="900" dirty="0"/>
          </a:p>
          <a:p>
            <a:endParaRPr lang="en-US" sz="900" dirty="0"/>
          </a:p>
          <a:p>
            <a:endParaRPr lang="en-US" sz="900" dirty="0"/>
          </a:p>
          <a:p>
            <a:r>
              <a:rPr lang="en-US" sz="1200" b="1" dirty="0"/>
              <a:t>👤 2. Remote Access VPN</a:t>
            </a:r>
          </a:p>
          <a:p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Connects a single user to a company’s network.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Requires a VPN client on the user’s device (laptop, phone).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The user must manually connect and authenticate.</a:t>
            </a:r>
          </a:p>
          <a:p>
            <a:r>
              <a:rPr lang="en-US" sz="1100" dirty="0"/>
              <a:t>Example: An employee connects from home to access files on the office network.</a:t>
            </a:r>
          </a:p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061035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88396-2D61-B988-6DCC-316529A64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B720BF-99D4-2391-5B65-64050B1C8978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1C53822-38A1-4935-5359-ED45EA92D632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4D15072-1A11-5C1B-541C-4C7B1806AB9E}"/>
              </a:ext>
            </a:extLst>
          </p:cNvPr>
          <p:cNvSpPr/>
          <p:nvPr/>
        </p:nvSpPr>
        <p:spPr>
          <a:xfrm>
            <a:off x="496119" y="2748037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9D9A78-459D-E500-8AB7-06A13B797AB4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99459C-2C35-0008-D98A-3D20148E2974}"/>
              </a:ext>
            </a:extLst>
          </p:cNvPr>
          <p:cNvSpPr txBox="1"/>
          <p:nvPr/>
        </p:nvSpPr>
        <p:spPr>
          <a:xfrm>
            <a:off x="296333" y="63307"/>
            <a:ext cx="85259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Describe VPN Technologies (Site-to-site VPN and Remote access VPN)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B88205-FF44-EDE1-71DD-EB75B3247545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1339CA-F8B4-1DF0-8537-E953DCE9CD8F}"/>
              </a:ext>
            </a:extLst>
          </p:cNvPr>
          <p:cNvSpPr txBox="1"/>
          <p:nvPr/>
        </p:nvSpPr>
        <p:spPr>
          <a:xfrm>
            <a:off x="220279" y="831877"/>
            <a:ext cx="87034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algn="just"/>
            <a:endParaRPr lang="en-P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15A537-3A91-BF05-FED1-1BEC3C4A6DD9}"/>
              </a:ext>
            </a:extLst>
          </p:cNvPr>
          <p:cNvSpPr txBox="1"/>
          <p:nvPr/>
        </p:nvSpPr>
        <p:spPr>
          <a:xfrm>
            <a:off x="285261" y="964059"/>
            <a:ext cx="8232205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👤 3. MP-VPN (Multi-Protocol Virtual Private Network)</a:t>
            </a:r>
          </a:p>
          <a:p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MP-VPN allows multiple types of traffic to pass through a single VPN tunnel.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It is protocol-independent, meaning it can carry both IPv4 and IPv6 traffic.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Supports Multiple Protocols: Allows different traffic types (like voice, video, data) over the same network.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Used for Multi-Site Connections: Connects various sites with different types of traffic across one VPN.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900" dirty="0"/>
          </a:p>
          <a:p>
            <a:r>
              <a:rPr lang="en-US" b="1" dirty="0"/>
              <a:t>Example:</a:t>
            </a:r>
          </a:p>
          <a:p>
            <a:r>
              <a:rPr lang="en-US" sz="1100" dirty="0"/>
              <a:t>A company has several offices worldwide:</a:t>
            </a:r>
          </a:p>
          <a:p>
            <a:r>
              <a:rPr lang="en-US" sz="1100" dirty="0"/>
              <a:t>One uses VoIP (voice).</a:t>
            </a:r>
          </a:p>
          <a:p>
            <a:r>
              <a:rPr lang="en-US" sz="1100" dirty="0"/>
              <a:t>Another handles video conferencing.</a:t>
            </a:r>
          </a:p>
          <a:p>
            <a:r>
              <a:rPr lang="en-US" sz="1100" dirty="0"/>
              <a:t>Another uses data traffic.</a:t>
            </a:r>
          </a:p>
          <a:p>
            <a:r>
              <a:rPr lang="en-US" sz="1100" dirty="0"/>
              <a:t>MP-VPN allows all these different traffic types to be securely transmitted over the same VPN tunnel.</a:t>
            </a:r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r>
              <a:rPr lang="en-US" sz="1400" b="1" dirty="0"/>
              <a:t>Why Use MP-VPN?</a:t>
            </a:r>
            <a:endParaRPr lang="en-US" sz="1100" b="1" dirty="0"/>
          </a:p>
          <a:p>
            <a:r>
              <a:rPr lang="en-US" sz="1100" dirty="0"/>
              <a:t>Service Providers: Efficiently manage multiple customers' diverse traffic over a single infrastructure.</a:t>
            </a:r>
          </a:p>
          <a:p>
            <a:r>
              <a:rPr lang="en-US" sz="1100" dirty="0"/>
              <a:t>Large Organizations: Handle various traffic types (data, voice, video) securely across many locations.</a:t>
            </a:r>
          </a:p>
        </p:txBody>
      </p:sp>
    </p:spTree>
    <p:extLst>
      <p:ext uri="{BB962C8B-B14F-4D97-AF65-F5344CB8AC3E}">
        <p14:creationId xmlns:p14="http://schemas.microsoft.com/office/powerpoint/2010/main" val="143331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1FDCD-3B58-F97A-7291-5E15FF7E4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BA81CF1-B265-3561-D67E-45CE1112ADF4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865FA8-A869-6AA6-7987-F6F8AC72F8AF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25984B1-FAAF-0DFD-AC75-1F2C14C68B88}"/>
              </a:ext>
            </a:extLst>
          </p:cNvPr>
          <p:cNvSpPr/>
          <p:nvPr/>
        </p:nvSpPr>
        <p:spPr>
          <a:xfrm>
            <a:off x="496119" y="2748037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74DF34-9067-64DD-081F-93FE2740262A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2A2AA9-62CB-B6A3-8907-591C9722FB1D}"/>
              </a:ext>
            </a:extLst>
          </p:cNvPr>
          <p:cNvSpPr txBox="1"/>
          <p:nvPr/>
        </p:nvSpPr>
        <p:spPr>
          <a:xfrm>
            <a:off x="296333" y="63307"/>
            <a:ext cx="85259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Describe VPN Technologies (Site-to-site VPN and Remote access VPN)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7386A4-9E87-87A8-3994-4150414A8E43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1E73E2-73CF-BCFA-43C8-2E2A52B67ABE}"/>
              </a:ext>
            </a:extLst>
          </p:cNvPr>
          <p:cNvSpPr txBox="1"/>
          <p:nvPr/>
        </p:nvSpPr>
        <p:spPr>
          <a:xfrm>
            <a:off x="220279" y="831877"/>
            <a:ext cx="87034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algn="just"/>
            <a:endParaRPr lang="en-P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CEB2A4-BC1B-0CBC-48DC-9E4D64409CF3}"/>
              </a:ext>
            </a:extLst>
          </p:cNvPr>
          <p:cNvSpPr txBox="1"/>
          <p:nvPr/>
        </p:nvSpPr>
        <p:spPr>
          <a:xfrm>
            <a:off x="285261" y="964059"/>
            <a:ext cx="8232205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Summary</a:t>
            </a:r>
          </a:p>
          <a:p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Both VPN types use the internet but serve different purposes.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Site-to-Site VPN is for connecting locations.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Remote Access VPN is for individual users.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Both ensure secure data transfer.</a:t>
            </a:r>
            <a:endParaRPr lang="en-US" sz="900" dirty="0"/>
          </a:p>
          <a:p>
            <a:endParaRPr lang="en-US" sz="900" dirty="0"/>
          </a:p>
          <a:p>
            <a:endParaRPr lang="en-US" sz="9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66CC2E9-A39A-0614-4D59-78EA7A097D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926481"/>
              </p:ext>
            </p:extLst>
          </p:nvPr>
        </p:nvGraphicFramePr>
        <p:xfrm>
          <a:off x="565050" y="2262840"/>
          <a:ext cx="8155542" cy="2532232"/>
        </p:xfrm>
        <a:graphic>
          <a:graphicData uri="http://schemas.openxmlformats.org/drawingml/2006/table">
            <a:tbl>
              <a:tblPr firstRow="1" bandRow="1">
                <a:tableStyleId>{17343FFC-C285-48B6-A5F1-531E15585DCF}</a:tableStyleId>
              </a:tblPr>
              <a:tblGrid>
                <a:gridCol w="1021032">
                  <a:extLst>
                    <a:ext uri="{9D8B030D-6E8A-4147-A177-3AD203B41FA5}">
                      <a16:colId xmlns:a16="http://schemas.microsoft.com/office/drawing/2014/main" val="4151114092"/>
                    </a:ext>
                  </a:extLst>
                </a:gridCol>
                <a:gridCol w="4323428">
                  <a:extLst>
                    <a:ext uri="{9D8B030D-6E8A-4147-A177-3AD203B41FA5}">
                      <a16:colId xmlns:a16="http://schemas.microsoft.com/office/drawing/2014/main" val="3761600553"/>
                    </a:ext>
                  </a:extLst>
                </a:gridCol>
                <a:gridCol w="2811082">
                  <a:extLst>
                    <a:ext uri="{9D8B030D-6E8A-4147-A177-3AD203B41FA5}">
                      <a16:colId xmlns:a16="http://schemas.microsoft.com/office/drawing/2014/main" val="2880933004"/>
                    </a:ext>
                  </a:extLst>
                </a:gridCol>
              </a:tblGrid>
              <a:tr h="335878">
                <a:tc>
                  <a:txBody>
                    <a:bodyPr/>
                    <a:lstStyle/>
                    <a:p>
                      <a:r>
                        <a:rPr lang="en-US" sz="12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Protocol</a:t>
                      </a:r>
                      <a:endParaRPr lang="en-PK" sz="1200" b="1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Description</a:t>
                      </a:r>
                      <a:endParaRPr lang="en-PK" sz="1200" b="1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Use Case</a:t>
                      </a:r>
                      <a:endParaRPr lang="en-PK" sz="1200" b="1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661839"/>
                  </a:ext>
                </a:extLst>
              </a:tr>
              <a:tr h="335878">
                <a:tc>
                  <a:txBody>
                    <a:bodyPr/>
                    <a:lstStyle/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IPSec</a:t>
                      </a:r>
                      <a:endParaRPr lang="en-PK" sz="1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Encrypts IP packets, commonly used in Site-to-Site VPNs.	</a:t>
                      </a:r>
                      <a:endParaRPr lang="en-PK" sz="1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Routers/firewalls between offices.</a:t>
                      </a:r>
                      <a:endParaRPr lang="en-PK" sz="1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865842"/>
                  </a:ext>
                </a:extLst>
              </a:tr>
              <a:tr h="335878">
                <a:tc>
                  <a:txBody>
                    <a:bodyPr/>
                    <a:lstStyle/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L2TP/IPSec	</a:t>
                      </a:r>
                      <a:endParaRPr lang="en-PK" sz="1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Layer 2 Tunneling Protocol + IPSec encryption.	</a:t>
                      </a:r>
                      <a:endParaRPr lang="en-PK" sz="1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Remote Access VPN.</a:t>
                      </a:r>
                      <a:endParaRPr lang="en-PK" sz="1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540030"/>
                  </a:ext>
                </a:extLst>
              </a:tr>
              <a:tr h="335878">
                <a:tc>
                  <a:txBody>
                    <a:bodyPr/>
                    <a:lstStyle/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OpenVPN</a:t>
                      </a:r>
                      <a:endParaRPr lang="en-PK" sz="1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Open-source, uses SSL/TLS for encryption.	</a:t>
                      </a:r>
                      <a:endParaRPr lang="en-PK" sz="1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Remote Access VPN (cross-platform).</a:t>
                      </a:r>
                      <a:endParaRPr lang="en-PK" sz="1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509059"/>
                  </a:ext>
                </a:extLst>
              </a:tr>
              <a:tr h="335878">
                <a:tc>
                  <a:txBody>
                    <a:bodyPr/>
                    <a:lstStyle/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SSL VPN	</a:t>
                      </a:r>
                      <a:endParaRPr lang="en-PK" sz="1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Uses Secure Sockets Layer (SSL), works via browser or VPN client.	</a:t>
                      </a:r>
                      <a:endParaRPr lang="en-PK" sz="1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Remote Access without installing much.</a:t>
                      </a:r>
                      <a:endParaRPr lang="en-PK" sz="1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103450"/>
                  </a:ext>
                </a:extLst>
              </a:tr>
              <a:tr h="335878">
                <a:tc>
                  <a:txBody>
                    <a:bodyPr/>
                    <a:lstStyle/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IKEv2/IPSec	</a:t>
                      </a:r>
                      <a:endParaRPr lang="en-PK" sz="1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Fast and stable; good for mobile connections (supports switching networks).	</a:t>
                      </a:r>
                      <a:endParaRPr lang="en-PK" sz="1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Smartphones, laptops on the go.</a:t>
                      </a:r>
                      <a:endParaRPr lang="en-PK" sz="1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461725"/>
                  </a:ext>
                </a:extLst>
              </a:tr>
              <a:tr h="335878">
                <a:tc>
                  <a:txBody>
                    <a:bodyPr/>
                    <a:lstStyle/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WireGuard</a:t>
                      </a:r>
                      <a:endParaRPr lang="en-PK" sz="1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Newer, lightweight, and fast with strong security.	</a:t>
                      </a:r>
                      <a:endParaRPr lang="en-PK" sz="1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Both Site-to-Site and Remote Access.</a:t>
                      </a:r>
                      <a:endParaRPr lang="en-PK" sz="1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587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25080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48D41-3A23-6B00-A966-AE8389CCE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DBC2C00-24C1-9CB0-44B9-0F79F1964DBB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7D1068B-3356-BA17-572C-76E7C16F1E86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6A2D6BD-3EDF-6D5D-E8C2-3673256471E6}"/>
              </a:ext>
            </a:extLst>
          </p:cNvPr>
          <p:cNvSpPr/>
          <p:nvPr/>
        </p:nvSpPr>
        <p:spPr>
          <a:xfrm>
            <a:off x="496119" y="2748037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690131-591A-2F2F-8F15-DDACE0E2515F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6076A8-4A6F-D1CA-6DB4-1C9E32EEB0F8}"/>
              </a:ext>
            </a:extLst>
          </p:cNvPr>
          <p:cNvSpPr txBox="1"/>
          <p:nvPr/>
        </p:nvSpPr>
        <p:spPr>
          <a:xfrm>
            <a:off x="296333" y="63307"/>
            <a:ext cx="85259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Describe Authentication, Authorization and Accounting (AAA)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7FF7D-7178-25D3-4CC5-39DA17181058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CF6704-AF32-D1ED-A341-455E15995425}"/>
              </a:ext>
            </a:extLst>
          </p:cNvPr>
          <p:cNvSpPr txBox="1"/>
          <p:nvPr/>
        </p:nvSpPr>
        <p:spPr>
          <a:xfrm>
            <a:off x="220279" y="831877"/>
            <a:ext cx="870343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AAA – Authentication, Authorization, and Accounting</a:t>
            </a:r>
          </a:p>
          <a:p>
            <a:endParaRPr lang="en-US" dirty="0"/>
          </a:p>
          <a:p>
            <a:r>
              <a:rPr lang="en-US" b="1" dirty="0"/>
              <a:t>Authentication</a:t>
            </a:r>
          </a:p>
          <a:p>
            <a:r>
              <a:rPr lang="en-US" sz="1100" dirty="0"/>
              <a:t>Confirms who you are.</a:t>
            </a:r>
          </a:p>
          <a:p>
            <a:r>
              <a:rPr lang="en-US" sz="1100" dirty="0"/>
              <a:t>Example: Entering a username and password to log in</a:t>
            </a:r>
          </a:p>
          <a:p>
            <a:endParaRPr lang="en-US" dirty="0"/>
          </a:p>
          <a:p>
            <a:r>
              <a:rPr lang="en-US" b="1" dirty="0"/>
              <a:t>Authorization</a:t>
            </a:r>
          </a:p>
          <a:p>
            <a:r>
              <a:rPr lang="en-US" sz="1100" dirty="0"/>
              <a:t>Controls what you can do after authentication.</a:t>
            </a:r>
          </a:p>
          <a:p>
            <a:r>
              <a:rPr lang="en-US" sz="1100" dirty="0"/>
              <a:t>Example: A user can access files but can’t install software.</a:t>
            </a:r>
          </a:p>
          <a:p>
            <a:endParaRPr lang="en-US" dirty="0"/>
          </a:p>
          <a:p>
            <a:r>
              <a:rPr lang="en-US" b="1" dirty="0"/>
              <a:t>Accounting</a:t>
            </a:r>
          </a:p>
          <a:p>
            <a:r>
              <a:rPr lang="en-US" sz="1100" dirty="0"/>
              <a:t>Keeps a log of what you do.</a:t>
            </a:r>
          </a:p>
          <a:p>
            <a:r>
              <a:rPr lang="en-US" sz="1100" dirty="0"/>
              <a:t>Example: Tracks login times, commands entered, data usage, etc.</a:t>
            </a:r>
          </a:p>
          <a:p>
            <a:endParaRPr lang="en-US" sz="1100" dirty="0"/>
          </a:p>
          <a:p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AAA is commonly used in network security systems like firewalls, VPNs, and routers, often with protocols like RADIUS or TACACS+.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You configure AAA on routers, switches, or firewalls to control access.</a:t>
            </a:r>
            <a:endParaRPr lang="en-PK" sz="1100" dirty="0"/>
          </a:p>
        </p:txBody>
      </p:sp>
    </p:spTree>
    <p:extLst>
      <p:ext uri="{BB962C8B-B14F-4D97-AF65-F5344CB8AC3E}">
        <p14:creationId xmlns:p14="http://schemas.microsoft.com/office/powerpoint/2010/main" val="14203450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1234-287A-6BDD-DED7-AA3064B90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83A486-06BB-1289-1EA0-D72550944D0D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14F30A-C5B8-88D3-6EA5-31466D15BBE5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CAC0CD-FC81-5784-09F0-6F22960985D6}"/>
              </a:ext>
            </a:extLst>
          </p:cNvPr>
          <p:cNvSpPr/>
          <p:nvPr/>
        </p:nvSpPr>
        <p:spPr>
          <a:xfrm>
            <a:off x="496119" y="2748037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7E28D9-8598-0AAF-A9BE-9AB0356B4F90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E0A7F4-5E8D-3A45-A410-7B92AE4D65C1}"/>
              </a:ext>
            </a:extLst>
          </p:cNvPr>
          <p:cNvSpPr txBox="1"/>
          <p:nvPr/>
        </p:nvSpPr>
        <p:spPr>
          <a:xfrm>
            <a:off x="296333" y="63307"/>
            <a:ext cx="85259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Describe Authentication, Authorization and Accounting (AAA)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CB5051-9456-078B-2D07-712914A265F8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885350-BEA1-A675-7F25-62F0D7F035F6}"/>
              </a:ext>
            </a:extLst>
          </p:cNvPr>
          <p:cNvSpPr txBox="1"/>
          <p:nvPr/>
        </p:nvSpPr>
        <p:spPr>
          <a:xfrm>
            <a:off x="220279" y="831877"/>
            <a:ext cx="8703439" cy="373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Comparison between normal login (without AAA) and login with AAA.</a:t>
            </a:r>
          </a:p>
          <a:p>
            <a:endParaRPr lang="en-US" dirty="0"/>
          </a:p>
          <a:p>
            <a:r>
              <a:rPr lang="en-US" b="1" dirty="0"/>
              <a:t>🔑 </a:t>
            </a:r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Without AAA (Basic Passwords)</a:t>
            </a:r>
          </a:p>
          <a:p>
            <a:endParaRPr lang="en-US" sz="1100" b="1" dirty="0"/>
          </a:p>
          <a:p>
            <a:r>
              <a:rPr lang="en-US" sz="1100" dirty="0"/>
              <a:t>Router(config)# enable secret cisco</a:t>
            </a:r>
          </a:p>
          <a:p>
            <a:r>
              <a:rPr lang="en-US" sz="1100" dirty="0"/>
              <a:t>Router(config)# line vty 0 4</a:t>
            </a:r>
          </a:p>
          <a:p>
            <a:r>
              <a:rPr lang="en-US" sz="1100" dirty="0"/>
              <a:t>Router(config-line)# password mypass</a:t>
            </a:r>
          </a:p>
          <a:p>
            <a:r>
              <a:rPr lang="en-US" sz="1100" dirty="0"/>
              <a:t>Router(config-line)# login</a:t>
            </a:r>
          </a:p>
          <a:p>
            <a:endParaRPr lang="en-US" dirty="0"/>
          </a:p>
          <a:p>
            <a:r>
              <a:rPr lang="en-US" sz="1100" dirty="0"/>
              <a:t>✅ This means anyone who connects to the router and knows the password can get in.</a:t>
            </a:r>
          </a:p>
          <a:p>
            <a:r>
              <a:rPr lang="en-US" sz="1100" dirty="0"/>
              <a:t>🚫 You can't control who is logging in, what they can do, or log their activity.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🔐 </a:t>
            </a:r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With AAA (Authentication, Authorization, Accounting)</a:t>
            </a:r>
          </a:p>
          <a:p>
            <a:endParaRPr lang="en-US" sz="1100" b="1" dirty="0"/>
          </a:p>
          <a:p>
            <a:r>
              <a:rPr lang="en-US" sz="1100" dirty="0"/>
              <a:t>You enable AAA.</a:t>
            </a:r>
          </a:p>
          <a:p>
            <a:r>
              <a:rPr lang="en-US" sz="1100" dirty="0"/>
              <a:t>You create local users with usernames/passwords.</a:t>
            </a:r>
          </a:p>
          <a:p>
            <a:r>
              <a:rPr lang="en-US" sz="1100" dirty="0"/>
              <a:t>Router will now use that user info for login (instead of just a password).</a:t>
            </a:r>
          </a:p>
        </p:txBody>
      </p:sp>
    </p:spTree>
    <p:extLst>
      <p:ext uri="{BB962C8B-B14F-4D97-AF65-F5344CB8AC3E}">
        <p14:creationId xmlns:p14="http://schemas.microsoft.com/office/powerpoint/2010/main" val="5808144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049F7-E362-4BF8-EC98-5A69A2180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D7936E1-0B8E-7B94-A84B-E1ED3BC946DA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67CBBA-536F-5BD7-E3CD-DCB22D4C408E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A8B504B-F012-D51F-3B6E-A42E8FA11B9B}"/>
              </a:ext>
            </a:extLst>
          </p:cNvPr>
          <p:cNvSpPr/>
          <p:nvPr/>
        </p:nvSpPr>
        <p:spPr>
          <a:xfrm>
            <a:off x="496119" y="2748037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F0EF22-0C91-7F41-9714-7B6BA183A6AF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C68641-B464-9C1F-FC4D-A1E08A297210}"/>
              </a:ext>
            </a:extLst>
          </p:cNvPr>
          <p:cNvSpPr txBox="1"/>
          <p:nvPr/>
        </p:nvSpPr>
        <p:spPr>
          <a:xfrm>
            <a:off x="296333" y="63307"/>
            <a:ext cx="85259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Describe Authentication, Authorization and Accounting (AAA)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DDE7BB-62F3-B052-93C1-D85F9A5F3EAF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135F3A-07D7-4518-8F91-AE949AF7F571}"/>
              </a:ext>
            </a:extLst>
          </p:cNvPr>
          <p:cNvSpPr txBox="1"/>
          <p:nvPr/>
        </p:nvSpPr>
        <p:spPr>
          <a:xfrm>
            <a:off x="220279" y="831877"/>
            <a:ext cx="8703439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🔄 </a:t>
            </a:r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Now when someone connects via SSH or Telnet:</a:t>
            </a:r>
          </a:p>
          <a:p>
            <a:endParaRPr lang="en-US" sz="1600" b="1" dirty="0">
              <a:solidFill>
                <a:srgbClr val="403CCF"/>
              </a:solidFill>
              <a:latin typeface="Libre Baskerville" pitchFamily="34" charset="0"/>
            </a:endParaRPr>
          </a:p>
          <a:p>
            <a:r>
              <a:rPr lang="en-US" sz="1100" dirty="0"/>
              <a:t>Router says: “Enter username and password.”</a:t>
            </a:r>
          </a:p>
          <a:p>
            <a:r>
              <a:rPr lang="en-US" sz="1100" dirty="0"/>
              <a:t>It checks locally (because we told it aaa authentication login default local)</a:t>
            </a:r>
          </a:p>
          <a:p>
            <a:r>
              <a:rPr lang="en-US" sz="1100" dirty="0"/>
              <a:t>If it matches → login successful.</a:t>
            </a:r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r>
              <a:rPr lang="en-US" sz="1100" dirty="0"/>
              <a:t>✅ When AAA is configured locally on the router:</a:t>
            </a:r>
          </a:p>
          <a:p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User tries to log in (console, SSH, or telnet).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Router asks for username and password.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Router checks the credentials against the local AAA database.</a:t>
            </a:r>
          </a:p>
          <a:p>
            <a:endParaRPr lang="en-US" sz="1100" dirty="0"/>
          </a:p>
          <a:p>
            <a:r>
              <a:rPr lang="en-US" sz="1100" dirty="0"/>
              <a:t>If correct → ✅ Login successful</a:t>
            </a:r>
          </a:p>
          <a:p>
            <a:r>
              <a:rPr lang="en-US" sz="1100" dirty="0"/>
              <a:t>If incorrect → ❌ Access denied</a:t>
            </a:r>
          </a:p>
        </p:txBody>
      </p:sp>
    </p:spTree>
    <p:extLst>
      <p:ext uri="{BB962C8B-B14F-4D97-AF65-F5344CB8AC3E}">
        <p14:creationId xmlns:p14="http://schemas.microsoft.com/office/powerpoint/2010/main" val="2561691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8C567-D910-B9BF-C540-CFF4C652C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AADEFF8-72F5-19FF-880B-583197644D1A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F682C00-24D5-1FFA-E064-4E2C56F381DD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C6BC432-E7D4-9E56-73CD-9F2CFEF69278}"/>
              </a:ext>
            </a:extLst>
          </p:cNvPr>
          <p:cNvSpPr/>
          <p:nvPr/>
        </p:nvSpPr>
        <p:spPr>
          <a:xfrm>
            <a:off x="496119" y="2748037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4925B2-3035-C3F7-2629-49C77D3F0BFF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05C30B-FDE3-9820-BFE4-CA5E61AFC7B2}"/>
              </a:ext>
            </a:extLst>
          </p:cNvPr>
          <p:cNvSpPr txBox="1"/>
          <p:nvPr/>
        </p:nvSpPr>
        <p:spPr>
          <a:xfrm>
            <a:off x="296333" y="63307"/>
            <a:ext cx="85259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Configure Port Security, DHCP Snooping and Dynamic ARP Inspection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CE8A06-6335-7B80-8E40-8F3A238D7476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C4289E-6AEA-5CB7-977C-68ECD5050DF1}"/>
              </a:ext>
            </a:extLst>
          </p:cNvPr>
          <p:cNvSpPr txBox="1"/>
          <p:nvPr/>
        </p:nvSpPr>
        <p:spPr>
          <a:xfrm>
            <a:off x="381819" y="1046377"/>
            <a:ext cx="8070056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Port Security</a:t>
            </a:r>
          </a:p>
          <a:p>
            <a:endParaRPr lang="en-US" b="1" dirty="0"/>
          </a:p>
          <a:p>
            <a:r>
              <a:rPr lang="en-US" sz="1100" dirty="0"/>
              <a:t>Port security limits the number of devices that can connect to a switch port based on their MAC addresses. If an unauthorized device tries to connect, the port is shut down to prevent access.</a:t>
            </a:r>
          </a:p>
          <a:p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Shutdown the port,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Restrict access,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Protect the port by dropping unauthorized traffic.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when the port shuts down, it needs to be manually turned on.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It can be automatically turned on by configuring the errdisable recovery feature.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Cisco 2960 switch: Can bind 1 to 132 MAC addresses to a single port.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High-level switches: Can bind up to 6,000 MAC addresses to a single port.</a:t>
            </a:r>
            <a:endParaRPr lang="en-PK" sz="1100" dirty="0"/>
          </a:p>
        </p:txBody>
      </p:sp>
    </p:spTree>
    <p:extLst>
      <p:ext uri="{BB962C8B-B14F-4D97-AF65-F5344CB8AC3E}">
        <p14:creationId xmlns:p14="http://schemas.microsoft.com/office/powerpoint/2010/main" val="42660754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7BF0C-B62F-087A-ADA8-F639C9CD9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2CC158A-BDE4-14FD-BB1E-5D2B59111A7B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FDECB14-E930-94BB-8A4E-3CC18467C62C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C6B5E62-4E96-6792-9041-7787CB8F7FE3}"/>
              </a:ext>
            </a:extLst>
          </p:cNvPr>
          <p:cNvSpPr/>
          <p:nvPr/>
        </p:nvSpPr>
        <p:spPr>
          <a:xfrm>
            <a:off x="496119" y="2748037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B3F587-DFF3-FAC4-60B0-450028F20320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D12EDF-C6A5-6ED7-9537-61B341ED9A21}"/>
              </a:ext>
            </a:extLst>
          </p:cNvPr>
          <p:cNvSpPr txBox="1"/>
          <p:nvPr/>
        </p:nvSpPr>
        <p:spPr>
          <a:xfrm>
            <a:off x="296333" y="63307"/>
            <a:ext cx="85259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Configure Port Security, DHCP Snooping and Dynamic ARP Inspection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7455B7-CC1C-5F9D-06E3-0D2B029E2CFB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E205B6-D98C-0848-2379-A443EF4864F4}"/>
              </a:ext>
            </a:extLst>
          </p:cNvPr>
          <p:cNvSpPr txBox="1"/>
          <p:nvPr/>
        </p:nvSpPr>
        <p:spPr>
          <a:xfrm>
            <a:off x="381819" y="1046377"/>
            <a:ext cx="373298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Port Security </a:t>
            </a:r>
            <a:r>
              <a:rPr lang="en-US" sz="1600" b="1" dirty="0" err="1">
                <a:solidFill>
                  <a:srgbClr val="403CCF"/>
                </a:solidFill>
                <a:latin typeface="Libre Baskerville" pitchFamily="34" charset="0"/>
              </a:rPr>
              <a:t>Practicle</a:t>
            </a:r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  <a:p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D4A1FE-0365-D43E-8071-8955D17B6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705" y="1569597"/>
            <a:ext cx="6922773" cy="331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1052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C1E03-98D7-1FCE-0ADF-F68C246D6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95FE76A-A72E-C605-3FC4-8FFE7674982D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77250F-BD5A-923B-483C-E9AF1EDE37BC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A38C114-3B42-1982-2DC6-779AD3F2FB99}"/>
              </a:ext>
            </a:extLst>
          </p:cNvPr>
          <p:cNvSpPr/>
          <p:nvPr/>
        </p:nvSpPr>
        <p:spPr>
          <a:xfrm>
            <a:off x="496119" y="2748037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727CD9-DF21-21F9-1C4E-1FCA1FB3FB2E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E5107C-A4D8-932C-FB32-351AB7631EB5}"/>
              </a:ext>
            </a:extLst>
          </p:cNvPr>
          <p:cNvSpPr txBox="1"/>
          <p:nvPr/>
        </p:nvSpPr>
        <p:spPr>
          <a:xfrm>
            <a:off x="296333" y="63307"/>
            <a:ext cx="85259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Configure Port Security, DHCP Snooping and Dynamic ARP Inspection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50B517-91F7-E6BC-7F14-03CC87CAEA6C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35BB09-66A1-1280-986A-26F8939E49FE}"/>
              </a:ext>
            </a:extLst>
          </p:cNvPr>
          <p:cNvSpPr txBox="1"/>
          <p:nvPr/>
        </p:nvSpPr>
        <p:spPr>
          <a:xfrm>
            <a:off x="381819" y="771193"/>
            <a:ext cx="5547179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Port Security </a:t>
            </a:r>
            <a:r>
              <a:rPr lang="en-US" sz="1600" b="1" dirty="0" err="1">
                <a:solidFill>
                  <a:srgbClr val="403CCF"/>
                </a:solidFill>
                <a:latin typeface="Libre Baskerville" pitchFamily="34" charset="0"/>
              </a:rPr>
              <a:t>Practicle</a:t>
            </a:r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: </a:t>
            </a:r>
          </a:p>
          <a:p>
            <a:endParaRPr lang="en-US" b="1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Switch&gt; enable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Switch# configure terminal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Switch(config)# interface FastEthernet0/2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Switch(config-if)# switchport mode access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Switch(config-if)# switchport port-security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Switch(config-if)# switchport port-security maximum ?</a:t>
            </a:r>
          </a:p>
          <a:p>
            <a:r>
              <a:rPr lang="en-US" sz="1100" dirty="0"/>
              <a:t>&lt;1-132&gt;</a:t>
            </a:r>
          </a:p>
          <a:p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Switch(config-if)# switchport port-security maximum 1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Switch(config-if)# switchport port-security mac-address sticky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Switch(config-if)#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switch# show port-security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switch# show port-security interface fa0/2 </a:t>
            </a:r>
            <a:r>
              <a:rPr lang="en-US" b="1" dirty="0"/>
              <a:t>	</a:t>
            </a:r>
            <a:r>
              <a:rPr lang="en-US" b="1" dirty="0">
                <a:highlight>
                  <a:srgbClr val="00FFFF"/>
                </a:highlight>
              </a:rPr>
              <a:t>Result</a:t>
            </a:r>
          </a:p>
          <a:p>
            <a:endParaRPr lang="en-US" b="1" dirty="0"/>
          </a:p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How to remove it:</a:t>
            </a:r>
          </a:p>
          <a:p>
            <a:r>
              <a:rPr lang="en-US" sz="1100" dirty="0"/>
              <a:t>Switch&gt; enable</a:t>
            </a:r>
          </a:p>
          <a:p>
            <a:r>
              <a:rPr lang="en-US" sz="1100" dirty="0"/>
              <a:t>Switch# configure terminal</a:t>
            </a:r>
          </a:p>
          <a:p>
            <a:r>
              <a:rPr lang="en-US" sz="1100" dirty="0"/>
              <a:t>Switch(config)# interface FastEthernet0/2</a:t>
            </a:r>
          </a:p>
          <a:p>
            <a:r>
              <a:rPr lang="en-US" sz="1100" dirty="0"/>
              <a:t>Switch(config-if)# no switchport port-security</a:t>
            </a:r>
          </a:p>
          <a:p>
            <a:r>
              <a:rPr lang="en-US" sz="1100" dirty="0"/>
              <a:t>Switch(config-if)# no switchport port-security mac-address sticky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126128-1278-5F80-B415-2054CC6CD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998" y="771193"/>
            <a:ext cx="3215002" cy="15386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8F043CE-C237-F68D-B363-7449B1086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410" y="3076565"/>
            <a:ext cx="3251590" cy="206697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E7B3C1A-15BD-E88E-DB45-DAAF7F391F95}"/>
              </a:ext>
            </a:extLst>
          </p:cNvPr>
          <p:cNvSpPr txBox="1"/>
          <p:nvPr/>
        </p:nvSpPr>
        <p:spPr>
          <a:xfrm>
            <a:off x="5105518" y="4025358"/>
            <a:ext cx="7868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8F57D3-034F-52B9-A203-DB8C3A6474AC}"/>
              </a:ext>
            </a:extLst>
          </p:cNvPr>
          <p:cNvSpPr txBox="1"/>
          <p:nvPr/>
        </p:nvSpPr>
        <p:spPr>
          <a:xfrm>
            <a:off x="5892410" y="3345982"/>
            <a:ext cx="11974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highlight>
                  <a:srgbClr val="00FFFF"/>
                </a:highlight>
              </a:rPr>
              <a:t>New System</a:t>
            </a:r>
            <a:endParaRPr lang="en-PK" sz="900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31525E5-EACA-5322-9700-50165D0E553F}"/>
              </a:ext>
            </a:extLst>
          </p:cNvPr>
          <p:cNvSpPr/>
          <p:nvPr/>
        </p:nvSpPr>
        <p:spPr>
          <a:xfrm>
            <a:off x="2677408" y="3301480"/>
            <a:ext cx="2252133" cy="127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318016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7D714-9CD2-3DCC-E332-490D8C83C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B50287C-8E7F-A2C1-3223-D32E75DBF070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200F1CF-0B0E-AE26-A8F3-0D6F22EB75C1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557447C-ECF7-7E7B-DD6E-03124E1D0437}"/>
              </a:ext>
            </a:extLst>
          </p:cNvPr>
          <p:cNvSpPr/>
          <p:nvPr/>
        </p:nvSpPr>
        <p:spPr>
          <a:xfrm>
            <a:off x="496119" y="2748037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A29553-C31E-4852-3E59-6973CA9223F6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B3E465-E086-9CEA-0679-D43264265FF9}"/>
              </a:ext>
            </a:extLst>
          </p:cNvPr>
          <p:cNvSpPr txBox="1"/>
          <p:nvPr/>
        </p:nvSpPr>
        <p:spPr>
          <a:xfrm>
            <a:off x="296333" y="63307"/>
            <a:ext cx="85259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Configure Port Security, DHCP Snooping and Dynamic ARP Inspection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EC7D98-8161-D9C8-858A-20CF2FD5D9E3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76C29D-E6EF-DD41-57FB-514E181F01F9}"/>
              </a:ext>
            </a:extLst>
          </p:cNvPr>
          <p:cNvSpPr txBox="1"/>
          <p:nvPr/>
        </p:nvSpPr>
        <p:spPr>
          <a:xfrm>
            <a:off x="381819" y="1046377"/>
            <a:ext cx="8070056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b="1" dirty="0">
              <a:solidFill>
                <a:srgbClr val="403CCF"/>
              </a:solidFill>
              <a:latin typeface="Libre Baskerville" pitchFamily="34" charset="0"/>
            </a:endParaRPr>
          </a:p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DHCP Spoofing: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An attack where a rogue DHCP server provides false IP configurations to clients.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Can lead to man-in-the-middle attacks, data interception, or network disruption.</a:t>
            </a:r>
          </a:p>
          <a:p>
            <a:endParaRPr lang="en-US" sz="1600" b="1" dirty="0">
              <a:solidFill>
                <a:srgbClr val="403CCF"/>
              </a:solidFill>
              <a:latin typeface="Libre Baskerville" pitchFamily="34" charset="0"/>
            </a:endParaRPr>
          </a:p>
          <a:p>
            <a:endParaRPr lang="en-US" sz="1600" b="1" dirty="0">
              <a:solidFill>
                <a:srgbClr val="403CCF"/>
              </a:solidFill>
              <a:latin typeface="Libre Baskerville" pitchFamily="34" charset="0"/>
            </a:endParaRPr>
          </a:p>
          <a:p>
            <a:endParaRPr lang="en-US" sz="1600" b="1" dirty="0">
              <a:solidFill>
                <a:srgbClr val="403CCF"/>
              </a:solidFill>
              <a:latin typeface="Libre Baskerville" pitchFamily="34" charset="0"/>
            </a:endParaRPr>
          </a:p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DHCP Snooping</a:t>
            </a:r>
            <a:endParaRPr lang="en-US" b="1" dirty="0"/>
          </a:p>
          <a:p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Protects the network by allowing only trusted DHCP servers to assign IP addresses.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Tracks trusted and untrusted ports, blocking DHCP responses from unauthorized servers.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r>
              <a:rPr lang="en-US" sz="2000" b="1" dirty="0">
                <a:solidFill>
                  <a:srgbClr val="403CCF"/>
                </a:solidFill>
                <a:highlight>
                  <a:srgbClr val="00FFFF"/>
                </a:highlight>
                <a:latin typeface="Libre Baskerville" pitchFamily="34" charset="0"/>
              </a:rPr>
              <a:t>DHCP Snooping is the solution to DHCP Spoofing.</a:t>
            </a:r>
            <a:endParaRPr lang="en-PK" sz="2000" b="1" dirty="0">
              <a:solidFill>
                <a:srgbClr val="403CCF"/>
              </a:solidFill>
              <a:highlight>
                <a:srgbClr val="00FFFF"/>
              </a:highlight>
              <a:latin typeface="Libre Baskervill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6834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368D8-0753-68D8-B87D-972FF6D11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41F4AD-0375-F680-88A8-1184548093D4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EBC336B-99F2-2E83-1DCB-42ADFC126105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9F9CC83-4DD0-0CE5-E044-1C9F114AC086}"/>
              </a:ext>
            </a:extLst>
          </p:cNvPr>
          <p:cNvSpPr/>
          <p:nvPr/>
        </p:nvSpPr>
        <p:spPr>
          <a:xfrm>
            <a:off x="165919" y="2432596"/>
            <a:ext cx="1849115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9AD5D3-314C-1B37-A27E-A5CB814D66DD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699B74-4576-061D-D3E6-CF90CD4846F8}"/>
              </a:ext>
            </a:extLst>
          </p:cNvPr>
          <p:cNvSpPr txBox="1"/>
          <p:nvPr/>
        </p:nvSpPr>
        <p:spPr>
          <a:xfrm>
            <a:off x="296333" y="63307"/>
            <a:ext cx="85259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Configure Port Security, DHCP Snooping and Dynamic ARP Inspection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E8B1B2-3C1C-45B5-3259-44680A0B4861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DB3E88-7931-D7D0-843F-D9B96E6CBF2D}"/>
              </a:ext>
            </a:extLst>
          </p:cNvPr>
          <p:cNvSpPr txBox="1"/>
          <p:nvPr/>
        </p:nvSpPr>
        <p:spPr>
          <a:xfrm>
            <a:off x="381819" y="636579"/>
            <a:ext cx="80700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b="1" dirty="0">
              <a:solidFill>
                <a:srgbClr val="403CCF"/>
              </a:solidFill>
              <a:latin typeface="Libre Baskerville" pitchFamily="34" charset="0"/>
            </a:endParaRPr>
          </a:p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Practical 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F605A6-64CF-39DE-0A6F-5CEA8D99B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344466"/>
            <a:ext cx="6781800" cy="3777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DAE2A33-066A-7DF4-DFFA-1BCD0406A74D}"/>
              </a:ext>
            </a:extLst>
          </p:cNvPr>
          <p:cNvSpPr txBox="1"/>
          <p:nvPr/>
        </p:nvSpPr>
        <p:spPr>
          <a:xfrm>
            <a:off x="4284133" y="1469098"/>
            <a:ext cx="1524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rgbClr val="403CCF"/>
                </a:solidFill>
                <a:latin typeface="Libre Baskerville" pitchFamily="34" charset="0"/>
              </a:rPr>
              <a:t>Trusted DCHP Server</a:t>
            </a:r>
            <a:endParaRPr lang="en-PK" sz="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09BB9F-A27E-966A-EB62-1C0B69ACFCB3}"/>
              </a:ext>
            </a:extLst>
          </p:cNvPr>
          <p:cNvSpPr txBox="1"/>
          <p:nvPr/>
        </p:nvSpPr>
        <p:spPr>
          <a:xfrm>
            <a:off x="6479115" y="3038686"/>
            <a:ext cx="1430867" cy="292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81"/>
              </a:lnSpc>
            </a:pPr>
            <a:r>
              <a:rPr lang="en-US" sz="800" b="1" dirty="0">
                <a:solidFill>
                  <a:srgbClr val="403CCF"/>
                </a:solidFill>
                <a:latin typeface="Libre Baskerville" pitchFamily="34" charset="0"/>
              </a:rPr>
              <a:t>Attacker DHCP Server</a:t>
            </a:r>
          </a:p>
        </p:txBody>
      </p:sp>
    </p:spTree>
    <p:extLst>
      <p:ext uri="{BB962C8B-B14F-4D97-AF65-F5344CB8AC3E}">
        <p14:creationId xmlns:p14="http://schemas.microsoft.com/office/powerpoint/2010/main" val="40437772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CC8A7-7FC8-46C5-86B2-FA148418A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CC4AB1-64C6-6415-E0D8-A35CF8AA2CAD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22D6F1-09B7-5FB6-5361-B5E331166A45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92639E0-9A73-481E-421E-61D409A3E17F}"/>
              </a:ext>
            </a:extLst>
          </p:cNvPr>
          <p:cNvSpPr/>
          <p:nvPr/>
        </p:nvSpPr>
        <p:spPr>
          <a:xfrm>
            <a:off x="165919" y="2432596"/>
            <a:ext cx="1849115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F57F99-EB5A-AB8B-7EAF-632E18451B88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F32110-1B3C-C149-D452-2AC0AEE717AA}"/>
              </a:ext>
            </a:extLst>
          </p:cNvPr>
          <p:cNvSpPr txBox="1"/>
          <p:nvPr/>
        </p:nvSpPr>
        <p:spPr>
          <a:xfrm>
            <a:off x="296333" y="63307"/>
            <a:ext cx="85259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Configure Port Security, DHCP Snooping and Dynamic ARP Inspection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440C7B-FECF-EFF6-A443-DB302AACD2F9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45F73D-4796-FD10-9061-6B3529848AF6}"/>
              </a:ext>
            </a:extLst>
          </p:cNvPr>
          <p:cNvSpPr txBox="1"/>
          <p:nvPr/>
        </p:nvSpPr>
        <p:spPr>
          <a:xfrm>
            <a:off x="381819" y="636579"/>
            <a:ext cx="80700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b="1" dirty="0">
              <a:solidFill>
                <a:srgbClr val="403CCF"/>
              </a:solidFill>
              <a:latin typeface="Libre Baskerville" pitchFamily="34" charset="0"/>
            </a:endParaRPr>
          </a:p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Practical 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28113B-A6A1-F0F3-C209-E9848D8A6CD1}"/>
              </a:ext>
            </a:extLst>
          </p:cNvPr>
          <p:cNvSpPr txBox="1"/>
          <p:nvPr/>
        </p:nvSpPr>
        <p:spPr>
          <a:xfrm>
            <a:off x="86257" y="1398860"/>
            <a:ext cx="53324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Legitimate DHCP server (192.168.1.1) connected to fa0/1 assigns IPs to clients.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Rogue DHCP server (192.168.2.1) connected to fa0/7 sends false IP offers.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Clients may get incorrect settings (wrong gateway/DNS).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Impact: Possible network disruption or man-in-the-middle attacks.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100" dirty="0"/>
          </a:p>
          <a:p>
            <a:r>
              <a:rPr lang="en-US" sz="1100" b="1" dirty="0">
                <a:solidFill>
                  <a:srgbClr val="403CCF"/>
                </a:solidFill>
                <a:highlight>
                  <a:srgbClr val="00FFFF"/>
                </a:highlight>
                <a:latin typeface="Libre Baskerville" pitchFamily="34" charset="0"/>
              </a:rPr>
              <a:t>Solution: Use DHCP Snooping to block the rogue server</a:t>
            </a:r>
            <a:r>
              <a:rPr lang="en-US" sz="2000" b="1" dirty="0">
                <a:solidFill>
                  <a:srgbClr val="403CCF"/>
                </a:solidFill>
                <a:highlight>
                  <a:srgbClr val="00FFFF"/>
                </a:highlight>
                <a:latin typeface="Libre Baskerville" pitchFamily="34" charset="0"/>
              </a:rPr>
              <a:t>.</a:t>
            </a:r>
            <a:endParaRPr lang="en-PK" sz="2000" b="1" dirty="0">
              <a:solidFill>
                <a:srgbClr val="403CCF"/>
              </a:solidFill>
              <a:highlight>
                <a:srgbClr val="00FFFF"/>
              </a:highlight>
              <a:latin typeface="Libre Baskerville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7A06EB-AB98-5527-A57D-9AB2DBF62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37" y="1668286"/>
            <a:ext cx="2878197" cy="220906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4F3120F-199D-7911-34CD-B69E24209221}"/>
              </a:ext>
            </a:extLst>
          </p:cNvPr>
          <p:cNvSpPr txBox="1"/>
          <p:nvPr/>
        </p:nvSpPr>
        <p:spPr>
          <a:xfrm>
            <a:off x="7318937" y="2688178"/>
            <a:ext cx="972267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 b="1" dirty="0">
                <a:solidFill>
                  <a:srgbClr val="403CCF"/>
                </a:solidFill>
                <a:latin typeface="Libre Baskerville" pitchFamily="34" charset="0"/>
              </a:rPr>
              <a:t>Trusted DCHP Server</a:t>
            </a:r>
            <a:endParaRPr lang="en-PK" sz="500" b="1" dirty="0">
              <a:solidFill>
                <a:srgbClr val="403CCF"/>
              </a:solidFill>
              <a:latin typeface="Libre Baskerville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2194EB-9861-AE5E-6033-4BA51AF381C6}"/>
              </a:ext>
            </a:extLst>
          </p:cNvPr>
          <p:cNvSpPr txBox="1"/>
          <p:nvPr/>
        </p:nvSpPr>
        <p:spPr>
          <a:xfrm>
            <a:off x="6235909" y="1639394"/>
            <a:ext cx="1077383" cy="292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81"/>
              </a:lnSpc>
            </a:pPr>
            <a:r>
              <a:rPr lang="en-US" sz="500" b="1" dirty="0">
                <a:solidFill>
                  <a:srgbClr val="403CCF"/>
                </a:solidFill>
                <a:latin typeface="Libre Baskerville" pitchFamily="34" charset="0"/>
              </a:rPr>
              <a:t>Attacker DHCP Server</a:t>
            </a:r>
          </a:p>
        </p:txBody>
      </p:sp>
    </p:spTree>
    <p:extLst>
      <p:ext uri="{BB962C8B-B14F-4D97-AF65-F5344CB8AC3E}">
        <p14:creationId xmlns:p14="http://schemas.microsoft.com/office/powerpoint/2010/main" val="30820134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8B8DD-92DF-5B62-00D8-CE054286C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1622A7-1917-F68D-E58A-504F2F72FC69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4476FB9-6248-AD71-A67B-1A9D5861A589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5F6412C-ED0E-DD69-7988-4FA61389EEE9}"/>
              </a:ext>
            </a:extLst>
          </p:cNvPr>
          <p:cNvSpPr/>
          <p:nvPr/>
        </p:nvSpPr>
        <p:spPr>
          <a:xfrm>
            <a:off x="165919" y="2432596"/>
            <a:ext cx="1849115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9774A0-F933-1226-59FE-1B5310A90F7B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031ABE-0883-FA8E-3119-2B2EFE4A22F6}"/>
              </a:ext>
            </a:extLst>
          </p:cNvPr>
          <p:cNvSpPr txBox="1"/>
          <p:nvPr/>
        </p:nvSpPr>
        <p:spPr>
          <a:xfrm>
            <a:off x="296333" y="63307"/>
            <a:ext cx="85259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Configure Port Security, DHCP Snooping and Dynamic ARP Inspection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7ADB80-40D9-F8DA-F53E-93BF2B60C055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B5D1FD-14AB-BA03-F5E9-6CD5A2C45579}"/>
              </a:ext>
            </a:extLst>
          </p:cNvPr>
          <p:cNvSpPr txBox="1"/>
          <p:nvPr/>
        </p:nvSpPr>
        <p:spPr>
          <a:xfrm>
            <a:off x="381819" y="636579"/>
            <a:ext cx="80700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b="1" dirty="0">
              <a:solidFill>
                <a:srgbClr val="403CCF"/>
              </a:solidFill>
              <a:latin typeface="Libre Baskerville" pitchFamily="34" charset="0"/>
            </a:endParaRPr>
          </a:p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DHCP Snooping Practical 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231F38-1ACD-1DD1-2DCA-06B9FDB08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133" y="967913"/>
            <a:ext cx="3335867" cy="256033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D85D49A-90D7-9F6A-CEB0-827C33407E71}"/>
              </a:ext>
            </a:extLst>
          </p:cNvPr>
          <p:cNvSpPr txBox="1"/>
          <p:nvPr/>
        </p:nvSpPr>
        <p:spPr>
          <a:xfrm>
            <a:off x="8298870" y="2174604"/>
            <a:ext cx="972267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 b="1" dirty="0">
                <a:solidFill>
                  <a:srgbClr val="403CCF"/>
                </a:solidFill>
                <a:latin typeface="Libre Baskerville" pitchFamily="34" charset="0"/>
              </a:rPr>
              <a:t>Trusted DCHP Server</a:t>
            </a:r>
            <a:endParaRPr lang="en-PK" sz="500" b="1" dirty="0">
              <a:solidFill>
                <a:srgbClr val="403CCF"/>
              </a:solidFill>
              <a:latin typeface="Libre Baskerville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B604E5-0831-2144-9EB0-3A5C6F012927}"/>
              </a:ext>
            </a:extLst>
          </p:cNvPr>
          <p:cNvSpPr txBox="1"/>
          <p:nvPr/>
        </p:nvSpPr>
        <p:spPr>
          <a:xfrm>
            <a:off x="7181863" y="944834"/>
            <a:ext cx="1077383" cy="292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81"/>
              </a:lnSpc>
            </a:pPr>
            <a:r>
              <a:rPr lang="en-US" sz="500" b="1" dirty="0">
                <a:solidFill>
                  <a:srgbClr val="403CCF"/>
                </a:solidFill>
                <a:latin typeface="Libre Baskerville" pitchFamily="34" charset="0"/>
              </a:rPr>
              <a:t>Attacker DHCP Server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CBFD16-A80D-0ADB-4DDA-76716C0522EF}"/>
              </a:ext>
            </a:extLst>
          </p:cNvPr>
          <p:cNvSpPr txBox="1"/>
          <p:nvPr/>
        </p:nvSpPr>
        <p:spPr>
          <a:xfrm>
            <a:off x="358996" y="1442810"/>
            <a:ext cx="3984404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Switch&gt; enable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Switch# configure terminal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Switch(config)# ip  dhcp  snooping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Switch(config)# ip  dhcp  snooping  vlan  1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Switch(config)# no  ip  dhcp  snooping  information  option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Switch(config)# interface  FastEthernet0/1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Switch(config-if)# ip  dhcp  snooping trust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Switch# show ip dhcp snooping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Switch#show ip dhcp snooping binding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100" dirty="0"/>
          </a:p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Remove or undo DHCP Snooping</a:t>
            </a: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Switch&gt; enable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Switch# configure terminal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Switch(config)# no  ip  dhcp  snooping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Switch(config)# no  ip  dhcp  snooping  vlan  1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Switch(config)# interface  FastEthernet0/1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Switch(config-if)# no  ip  dhcp  snooping  trust</a:t>
            </a:r>
          </a:p>
          <a:p>
            <a:endParaRPr lang="en-US" sz="11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8CFE74D-28F4-179C-FFEE-CDB1B72FD028}"/>
              </a:ext>
            </a:extLst>
          </p:cNvPr>
          <p:cNvSpPr/>
          <p:nvPr/>
        </p:nvSpPr>
        <p:spPr>
          <a:xfrm>
            <a:off x="3887062" y="1199620"/>
            <a:ext cx="1365275" cy="6647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This will make all ports untrust for DHCP</a:t>
            </a:r>
            <a:endParaRPr lang="en-PK" sz="800" dirty="0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E6782F29-8D58-00F5-CB10-70F6BD999ABE}"/>
              </a:ext>
            </a:extLst>
          </p:cNvPr>
          <p:cNvSpPr/>
          <p:nvPr/>
        </p:nvSpPr>
        <p:spPr>
          <a:xfrm rot="17582017">
            <a:off x="3857525" y="2117713"/>
            <a:ext cx="712526" cy="153326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86C1886-DF35-1A0F-3B3A-D8B788FC75AE}"/>
              </a:ext>
            </a:extLst>
          </p:cNvPr>
          <p:cNvSpPr/>
          <p:nvPr/>
        </p:nvSpPr>
        <p:spPr>
          <a:xfrm>
            <a:off x="4210348" y="3066173"/>
            <a:ext cx="824616" cy="4152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Result</a:t>
            </a:r>
            <a:endParaRPr lang="en-PK" sz="800" dirty="0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518B859B-5A68-F7FB-4320-00DD762F21D1}"/>
              </a:ext>
            </a:extLst>
          </p:cNvPr>
          <p:cNvSpPr/>
          <p:nvPr/>
        </p:nvSpPr>
        <p:spPr>
          <a:xfrm>
            <a:off x="3177414" y="3101990"/>
            <a:ext cx="1032934" cy="415205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376921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1A148-72BD-DF7D-EC8F-FC236099F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9D5E746-0A87-E10C-4508-9F1C908DAA09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3DB60AC-9ACD-BAE7-4F33-A725BF92E42D}"/>
              </a:ext>
            </a:extLst>
          </p:cNvPr>
          <p:cNvSpPr/>
          <p:nvPr/>
        </p:nvSpPr>
        <p:spPr>
          <a:xfrm>
            <a:off x="165919" y="2432596"/>
            <a:ext cx="1849115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C4F5ED-5A44-4D66-B752-6BD40196D6D2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B180A4-E106-5189-167A-E1024D5A93D2}"/>
              </a:ext>
            </a:extLst>
          </p:cNvPr>
          <p:cNvSpPr txBox="1"/>
          <p:nvPr/>
        </p:nvSpPr>
        <p:spPr>
          <a:xfrm>
            <a:off x="296333" y="63307"/>
            <a:ext cx="85259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Configure Port Security, DHCP Snooping and Dynamic ARP Inspection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7D2696-F917-92F8-BBEB-CD099218D16B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B2F79F-0610-DD43-7D35-6BE24AF3886E}"/>
              </a:ext>
            </a:extLst>
          </p:cNvPr>
          <p:cNvSpPr txBox="1"/>
          <p:nvPr/>
        </p:nvSpPr>
        <p:spPr>
          <a:xfrm>
            <a:off x="381819" y="636579"/>
            <a:ext cx="80700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b="1" dirty="0">
              <a:solidFill>
                <a:srgbClr val="403CCF"/>
              </a:solidFill>
              <a:latin typeface="Libre Baskerville" pitchFamily="34" charset="0"/>
            </a:endParaRPr>
          </a:p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Dynamic ARP Inspection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E3408D-6A1D-8043-4412-1E605FCF28B0}"/>
              </a:ext>
            </a:extLst>
          </p:cNvPr>
          <p:cNvSpPr txBox="1"/>
          <p:nvPr/>
        </p:nvSpPr>
        <p:spPr>
          <a:xfrm>
            <a:off x="381819" y="1442810"/>
            <a:ext cx="8364248" cy="330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ighlight>
                  <a:srgbClr val="00FFFF"/>
                </a:highlight>
              </a:rPr>
              <a:t>What is ARP (Address Resolution Protocol</a:t>
            </a:r>
          </a:p>
          <a:p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ARP (Address Resolution Protocol) is a protocol used in networking to find the MAC address of a device when you only know its IP address.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ARP is handled by end devices (computers, laptops, servers, routers, etc.) that need to communicate over a network.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When your PC wants to send data to another PC in the same network, it uses ARP to find the other device’s MAC address.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100" dirty="0"/>
          </a:p>
          <a:p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A switch does not run ARP itself.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It only uses MAC addresses to forward frames.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The switch simply forwards the ARP request broadcast to all devices in the same network, and the correct device replies back.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r>
              <a:rPr lang="en-US" sz="1100" dirty="0"/>
              <a:t>End device (like PC/Router) = Runs ARP protocol</a:t>
            </a:r>
          </a:p>
          <a:p>
            <a:r>
              <a:rPr lang="en-US" sz="1100" dirty="0"/>
              <a:t>Switch = Just forwards ARP packets, doesn’t create them</a:t>
            </a:r>
            <a:endParaRPr lang="en-PK" sz="1100" dirty="0"/>
          </a:p>
        </p:txBody>
      </p:sp>
    </p:spTree>
    <p:extLst>
      <p:ext uri="{BB962C8B-B14F-4D97-AF65-F5344CB8AC3E}">
        <p14:creationId xmlns:p14="http://schemas.microsoft.com/office/powerpoint/2010/main" val="6685749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D0849-A1BA-9D58-1D48-FD5C193FE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827020A7-D521-521E-1B3A-3B0E51B973D2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FB4E791-F261-0FF4-1910-B8B5E9427FB9}"/>
              </a:ext>
            </a:extLst>
          </p:cNvPr>
          <p:cNvSpPr/>
          <p:nvPr/>
        </p:nvSpPr>
        <p:spPr>
          <a:xfrm>
            <a:off x="165919" y="2432596"/>
            <a:ext cx="1849115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0F1856-6FF3-C66A-E247-D24B5A6E165E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F36234-3C7F-3C27-9C11-E3FB2A5F4E2E}"/>
              </a:ext>
            </a:extLst>
          </p:cNvPr>
          <p:cNvSpPr txBox="1"/>
          <p:nvPr/>
        </p:nvSpPr>
        <p:spPr>
          <a:xfrm>
            <a:off x="296333" y="63307"/>
            <a:ext cx="85259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Configure Port Security, DHCP Snooping and Dynamic ARP Inspection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70CA43-477B-AB8F-9D2D-8579186CA53D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D94011-0E6F-C7CA-9FFF-5CC8E702C110}"/>
              </a:ext>
            </a:extLst>
          </p:cNvPr>
          <p:cNvSpPr txBox="1"/>
          <p:nvPr/>
        </p:nvSpPr>
        <p:spPr>
          <a:xfrm>
            <a:off x="381819" y="636579"/>
            <a:ext cx="80700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b="1" dirty="0">
              <a:solidFill>
                <a:srgbClr val="403CCF"/>
              </a:solidFill>
              <a:latin typeface="Libre Baskerville" pitchFamily="34" charset="0"/>
            </a:endParaRPr>
          </a:p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Dynamic ARP Inspection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FC0CD7-B1CE-A27E-6B84-C6749E823A71}"/>
              </a:ext>
            </a:extLst>
          </p:cNvPr>
          <p:cNvSpPr txBox="1"/>
          <p:nvPr/>
        </p:nvSpPr>
        <p:spPr>
          <a:xfrm>
            <a:off x="381819" y="1442810"/>
            <a:ext cx="8364248" cy="330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ighlight>
                  <a:srgbClr val="00FFFF"/>
                </a:highlight>
              </a:rPr>
              <a:t>🔹 Problem First: ARP Spoofing/Poisoning</a:t>
            </a:r>
          </a:p>
          <a:p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Normally, ARP has no security , any device can reply to an ARP request, even if it’s lying.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An attacker can send fake ARP replies, saying:  “Hey, the gateway’s IP belongs to my MAC!”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Then all traffic goes through the attacker → Man-in-the-Middle (MITM) attack.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r>
              <a:rPr lang="en-PK" sz="1100" dirty="0">
                <a:highlight>
                  <a:srgbClr val="00FFFF"/>
                </a:highlight>
              </a:rPr>
              <a:t>🔹 </a:t>
            </a:r>
            <a:r>
              <a:rPr lang="en-US" sz="1100" dirty="0">
                <a:highlight>
                  <a:srgbClr val="00FFFF"/>
                </a:highlight>
              </a:rPr>
              <a:t>Solution: Dynamic ARP Inspection (DAI)</a:t>
            </a:r>
          </a:p>
          <a:p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DAI is a security feature on switches that checks ARP packets to make sure they are valid.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It looks at a trusted database (like the DHCP snooping table) to confirm: “Does this IP really belong to this MAC?”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100" dirty="0"/>
          </a:p>
          <a:p>
            <a:r>
              <a:rPr lang="en-US" sz="1100" dirty="0">
                <a:highlight>
                  <a:srgbClr val="00FF00"/>
                </a:highlight>
              </a:rPr>
              <a:t>Dynamic ARP Inspection = A security guard in the switch that stops fake ARP messages and protects against ARP spoofing.</a:t>
            </a:r>
            <a:endParaRPr lang="en-PK" sz="1100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958322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58D59-33B4-2EEC-11C4-AEB6B637A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762D6BA-4232-8E5E-445E-EF9FE3496505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50E4CF7-C3F0-7197-73C9-1A0BE6376C1D}"/>
              </a:ext>
            </a:extLst>
          </p:cNvPr>
          <p:cNvSpPr/>
          <p:nvPr/>
        </p:nvSpPr>
        <p:spPr>
          <a:xfrm>
            <a:off x="165919" y="2432596"/>
            <a:ext cx="1849115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404E65-2502-3E1E-F483-9E98DC96BEF8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4CF711-F3AA-3938-F82B-5801B1644607}"/>
              </a:ext>
            </a:extLst>
          </p:cNvPr>
          <p:cNvSpPr txBox="1"/>
          <p:nvPr/>
        </p:nvSpPr>
        <p:spPr>
          <a:xfrm>
            <a:off x="296333" y="63307"/>
            <a:ext cx="85259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Configure Port Security, DHCP Snooping and Dynamic ARP Inspection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350D72-ECC3-B8F6-4F42-C6322E1C139B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653CAA-E849-F4F0-5DDF-675F85C07136}"/>
              </a:ext>
            </a:extLst>
          </p:cNvPr>
          <p:cNvSpPr txBox="1"/>
          <p:nvPr/>
        </p:nvSpPr>
        <p:spPr>
          <a:xfrm>
            <a:off x="296333" y="546113"/>
            <a:ext cx="80700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b="1" dirty="0">
              <a:solidFill>
                <a:srgbClr val="403CCF"/>
              </a:solidFill>
              <a:latin typeface="Libre Baskerville" pitchFamily="34" charset="0"/>
            </a:endParaRPr>
          </a:p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Dynamic ARP Inspection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4436E1-E269-2B9C-014E-DC5BC4721CD2}"/>
              </a:ext>
            </a:extLst>
          </p:cNvPr>
          <p:cNvSpPr txBox="1"/>
          <p:nvPr/>
        </p:nvSpPr>
        <p:spPr>
          <a:xfrm>
            <a:off x="377176" y="1191572"/>
            <a:ext cx="8364248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highlight>
                  <a:srgbClr val="00FFFF"/>
                </a:highlight>
              </a:rPr>
              <a:t>Example : </a:t>
            </a:r>
          </a:p>
          <a:p>
            <a:endParaRPr lang="en-US" sz="1100" dirty="0"/>
          </a:p>
          <a:p>
            <a:r>
              <a:rPr lang="en-US" sz="1000" dirty="0">
                <a:highlight>
                  <a:srgbClr val="00FFFF"/>
                </a:highlight>
              </a:rPr>
              <a:t>🖥️ Normal case (without attacker)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/>
              <a:t>Gateway (Router) has IP 192.168.1.1 and its own MAC (let’s say AA:BB:CC).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/>
              <a:t>PC1 asks: “Who has 192.168.1.1?”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/>
              <a:t>Router replies: “192.168.1.1 is at AA:BB:CC.”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/>
              <a:t>Now PC1 knows the real MAC of the gateway and can send traffic correctly.</a:t>
            </a:r>
          </a:p>
          <a:p>
            <a:endParaRPr lang="en-US" sz="1000" dirty="0"/>
          </a:p>
          <a:p>
            <a:endParaRPr lang="en-US" sz="1000" dirty="0"/>
          </a:p>
          <a:p>
            <a:r>
              <a:rPr lang="en-US" sz="1000" dirty="0">
                <a:highlight>
                  <a:srgbClr val="00FFFF"/>
                </a:highlight>
              </a:rPr>
              <a:t>🚨 Attack case (ARP spoofing)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/>
              <a:t>Attacker PC2 lies and sends a fake ARP reply:“192.168.1.1 (Gateway) is at my MAC E5:F6:G7.”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/>
              <a:t>PC1 believes it (because normal ARP has no security).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/>
              <a:t>Result: All traffic from PC1 to the internet goes to attacker PC2 instead of the real router.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000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000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000" dirty="0"/>
          </a:p>
          <a:p>
            <a:r>
              <a:rPr lang="en-US" sz="1000" dirty="0">
                <a:highlight>
                  <a:srgbClr val="00FFFF"/>
                </a:highlight>
              </a:rPr>
              <a:t>🛡️ With DAI enabled on switch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/>
              <a:t>Switch keeps a “truth table” (from DHCP Snooping) → it knows which IP belongs to which MAC.</a:t>
            </a:r>
          </a:p>
          <a:p>
            <a:r>
              <a:rPr lang="en-US" sz="1000" dirty="0"/>
              <a:t>Example:</a:t>
            </a:r>
          </a:p>
          <a:p>
            <a:r>
              <a:rPr lang="en-US" sz="1000" dirty="0"/>
              <a:t>192.168.1.1 → AA:BB:CC (gateway)</a:t>
            </a:r>
          </a:p>
          <a:p>
            <a:r>
              <a:rPr lang="en-US" sz="1000" dirty="0"/>
              <a:t>192.168.1.10 → A1:B2:C3 (PC1)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/>
              <a:t>When Attacker PC2 says: “192.168.1.1 is at E5:F6:G7”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/>
              <a:t>Switch checks the table → mismatch (gateway IP should not map to that MAC).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/>
              <a:t>Switch drops the fake ARP reply. ✅</a:t>
            </a:r>
          </a:p>
        </p:txBody>
      </p:sp>
    </p:spTree>
    <p:extLst>
      <p:ext uri="{BB962C8B-B14F-4D97-AF65-F5344CB8AC3E}">
        <p14:creationId xmlns:p14="http://schemas.microsoft.com/office/powerpoint/2010/main" val="21864453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EC259-536D-5984-4C79-1696BAE92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C0B024-6283-0BAF-C340-751C2367806C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97CA56-F158-FEAF-5121-7799A7C681B4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13A9364-406A-B350-DF39-B79B140E08D2}"/>
              </a:ext>
            </a:extLst>
          </p:cNvPr>
          <p:cNvSpPr/>
          <p:nvPr/>
        </p:nvSpPr>
        <p:spPr>
          <a:xfrm>
            <a:off x="165919" y="2432596"/>
            <a:ext cx="1849115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7E7F91-FA3A-D652-7D15-F39B91CD187F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8BCD96-9258-46BB-F0C0-2A976619A3A7}"/>
              </a:ext>
            </a:extLst>
          </p:cNvPr>
          <p:cNvSpPr txBox="1"/>
          <p:nvPr/>
        </p:nvSpPr>
        <p:spPr>
          <a:xfrm>
            <a:off x="296333" y="63307"/>
            <a:ext cx="85259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Configure Port Security, DHCP Snooping and Dynamic ARP Inspection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BC79AF-D533-AA61-CD8A-4CBDE06C6743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CCCD73-5B67-5D7B-DC09-8B18AC5B0FE6}"/>
              </a:ext>
            </a:extLst>
          </p:cNvPr>
          <p:cNvSpPr txBox="1"/>
          <p:nvPr/>
        </p:nvSpPr>
        <p:spPr>
          <a:xfrm>
            <a:off x="381819" y="636579"/>
            <a:ext cx="80700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b="1" dirty="0">
              <a:solidFill>
                <a:srgbClr val="403CCF"/>
              </a:solidFill>
              <a:latin typeface="Libre Baskerville" pitchFamily="34" charset="0"/>
            </a:endParaRPr>
          </a:p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Dynamic ARP Inspection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98F9F1-EBC1-62D3-755B-E61B962FD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82038"/>
            <a:ext cx="9131300" cy="386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1338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7B1B6-3F5D-BC94-9CF0-FA4EF6E5B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1AC3AD-EB9D-E2ED-69ED-94A7E6B1DB30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AC5B9E-79DD-5BB9-14BC-04369AED609D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54F1EFE-B7E2-3E63-276B-E03F5E1453EE}"/>
              </a:ext>
            </a:extLst>
          </p:cNvPr>
          <p:cNvSpPr/>
          <p:nvPr/>
        </p:nvSpPr>
        <p:spPr>
          <a:xfrm>
            <a:off x="165919" y="2432596"/>
            <a:ext cx="1849115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9B407D-C083-FBDA-8FC9-D518B863C72D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ED4226-EFA5-2F1B-B48D-DD45F17D7266}"/>
              </a:ext>
            </a:extLst>
          </p:cNvPr>
          <p:cNvSpPr txBox="1"/>
          <p:nvPr/>
        </p:nvSpPr>
        <p:spPr>
          <a:xfrm>
            <a:off x="296333" y="63307"/>
            <a:ext cx="85259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Configure Port Security, DHCP Snooping and Dynamic ARP Inspection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3B6D33-20EB-635B-F80C-9B70CFA2AC4E}"/>
              </a:ext>
            </a:extLst>
          </p:cNvPr>
          <p:cNvSpPr txBox="1"/>
          <p:nvPr/>
        </p:nvSpPr>
        <p:spPr>
          <a:xfrm>
            <a:off x="5537200" y="1302171"/>
            <a:ext cx="3606800" cy="223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rgbClr val="403CCF"/>
                </a:solidFill>
                <a:latin typeface="Libre Baskerville" pitchFamily="34" charset="0"/>
              </a:rPr>
              <a:t>Undo the DHCP Snooping and ARP Inspection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switch&gt; enable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switch# configure terminal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0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switch(config)# no ip dhcp snooping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switch(config)# no ip dhcp snooping vlan 1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switch(config)# no ip dhcp snooping information option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0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switch(config)# interface FastEthernet0/1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switch(config-if)# no ip dhcp snooping trust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switch(config-if)# exit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0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/>
              <a:t>switch(config)# no ip arp inspection vlan 1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38034A-EA82-5774-935C-A4B86F2B87F4}"/>
              </a:ext>
            </a:extLst>
          </p:cNvPr>
          <p:cNvSpPr txBox="1"/>
          <p:nvPr/>
        </p:nvSpPr>
        <p:spPr>
          <a:xfrm>
            <a:off x="381819" y="636579"/>
            <a:ext cx="80700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b="1" dirty="0">
              <a:solidFill>
                <a:srgbClr val="403CCF"/>
              </a:solidFill>
              <a:latin typeface="Libre Baskerville" pitchFamily="34" charset="0"/>
            </a:endParaRPr>
          </a:p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Dynamic ARP Inspection Practical 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991AE9-C503-2C93-20D3-C60D66051BB7}"/>
              </a:ext>
            </a:extLst>
          </p:cNvPr>
          <p:cNvSpPr txBox="1"/>
          <p:nvPr/>
        </p:nvSpPr>
        <p:spPr>
          <a:xfrm>
            <a:off x="381818" y="1344465"/>
            <a:ext cx="5426315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switch&gt; enable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switch# configure terminal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switch(config)# ip dhcp snooping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switch(config)# ip dhcp snooping vlan 1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switch(config)# no ip dhcp snooping information option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switch(config)# interface FastEthernet0/1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switch(config-if)# ip dhcp snooping trust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switch(config-if)# exit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switch(config)# ip arp inspection vlan 1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switch# show ip dhcp snooping binding          		</a:t>
            </a:r>
            <a:r>
              <a:rPr lang="en-US" sz="1800" dirty="0">
                <a:highlight>
                  <a:srgbClr val="00FFFF"/>
                </a:highlight>
              </a:rPr>
              <a:t>Result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100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B3990DF-233D-9161-46E8-726BA6A70690}"/>
              </a:ext>
            </a:extLst>
          </p:cNvPr>
          <p:cNvSpPr/>
          <p:nvPr/>
        </p:nvSpPr>
        <p:spPr>
          <a:xfrm>
            <a:off x="3289708" y="3991810"/>
            <a:ext cx="1527190" cy="1603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6E6595-F435-B45E-0C5E-EB962F121865}"/>
              </a:ext>
            </a:extLst>
          </p:cNvPr>
          <p:cNvSpPr txBox="1"/>
          <p:nvPr/>
        </p:nvSpPr>
        <p:spPr>
          <a:xfrm>
            <a:off x="5537200" y="4464525"/>
            <a:ext cx="291467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On Attacker computer CMD , </a:t>
            </a:r>
          </a:p>
          <a:p>
            <a:r>
              <a:rPr lang="en-US" sz="1000" dirty="0" err="1"/>
              <a:t>arp</a:t>
            </a:r>
            <a:r>
              <a:rPr lang="en-US" sz="1000" dirty="0"/>
              <a:t>  -a   (Show </a:t>
            </a:r>
            <a:r>
              <a:rPr lang="en-US" sz="1000" dirty="0" err="1"/>
              <a:t>arp</a:t>
            </a:r>
            <a:r>
              <a:rPr lang="en-US" sz="1000" dirty="0"/>
              <a:t> table)</a:t>
            </a:r>
          </a:p>
          <a:p>
            <a:r>
              <a:rPr lang="en-US" sz="1000" dirty="0" err="1"/>
              <a:t>arp</a:t>
            </a:r>
            <a:r>
              <a:rPr lang="en-US" sz="1000" dirty="0"/>
              <a:t>  -d   (Delete </a:t>
            </a:r>
            <a:r>
              <a:rPr lang="en-US" sz="1000" dirty="0" err="1"/>
              <a:t>arp</a:t>
            </a:r>
            <a:r>
              <a:rPr lang="en-US" sz="1000" dirty="0"/>
              <a:t> entries) </a:t>
            </a:r>
          </a:p>
        </p:txBody>
      </p:sp>
    </p:spTree>
    <p:extLst>
      <p:ext uri="{BB962C8B-B14F-4D97-AF65-F5344CB8AC3E}">
        <p14:creationId xmlns:p14="http://schemas.microsoft.com/office/powerpoint/2010/main" val="37548982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F6BAE-0F70-6282-4C12-2005159F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C6B91A-5F94-55E0-2430-E8DC193F3AF2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C4D4E7-ED1E-722E-D6C2-36AD5F9D4AEF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ABAE88-763A-B86F-9845-04482F61649D}"/>
              </a:ext>
            </a:extLst>
          </p:cNvPr>
          <p:cNvSpPr/>
          <p:nvPr/>
        </p:nvSpPr>
        <p:spPr>
          <a:xfrm>
            <a:off x="165919" y="2432596"/>
            <a:ext cx="1849115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B19A83-AE0E-7C5E-C177-AEB299D75AC4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0B7219-46FA-269F-4469-97B49D73D9C9}"/>
              </a:ext>
            </a:extLst>
          </p:cNvPr>
          <p:cNvSpPr txBox="1"/>
          <p:nvPr/>
        </p:nvSpPr>
        <p:spPr>
          <a:xfrm>
            <a:off x="296333" y="63307"/>
            <a:ext cx="85259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Configure Port Security, DHCP Snooping and Dynamic ARP Inspection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41174C-0B39-BB90-2F0E-A934A89D3975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2DD7AF-0107-43CA-D75E-924C529AEE42}"/>
              </a:ext>
            </a:extLst>
          </p:cNvPr>
          <p:cNvSpPr txBox="1"/>
          <p:nvPr/>
        </p:nvSpPr>
        <p:spPr>
          <a:xfrm>
            <a:off x="381819" y="636579"/>
            <a:ext cx="80700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b="1" dirty="0">
              <a:solidFill>
                <a:srgbClr val="403CCF"/>
              </a:solidFill>
              <a:latin typeface="Libre Baskerville" pitchFamily="34" charset="0"/>
            </a:endParaRPr>
          </a:p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Dynamic ARP Inspection 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C2269F-FF82-8216-6502-7B4380C4C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82038"/>
            <a:ext cx="9144000" cy="38614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D91FA7-909A-D7DB-540D-CD564D1D1EC2}"/>
              </a:ext>
            </a:extLst>
          </p:cNvPr>
          <p:cNvSpPr txBox="1"/>
          <p:nvPr/>
        </p:nvSpPr>
        <p:spPr>
          <a:xfrm>
            <a:off x="370357" y="1414909"/>
            <a:ext cx="28977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Assign IP of the same network to this attacker computer. Or assign the gateway IP to this attacker computer and connect it to the switch 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984804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8CD2D-7072-9CCA-B2FC-7DC7AF6E1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829093D-C9C5-7FD7-D0CF-930AA3938C5B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6CE638-FA14-8D6D-8951-255C99C40B5E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10C1EE2-4C61-353B-D756-4700BE0AC937}"/>
              </a:ext>
            </a:extLst>
          </p:cNvPr>
          <p:cNvSpPr/>
          <p:nvPr/>
        </p:nvSpPr>
        <p:spPr>
          <a:xfrm>
            <a:off x="165919" y="2432596"/>
            <a:ext cx="1849115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40C8B4-6FEE-7321-980F-0F5EE723DCAB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60E064-326A-A025-5C68-9234CE39DF27}"/>
              </a:ext>
            </a:extLst>
          </p:cNvPr>
          <p:cNvSpPr txBox="1"/>
          <p:nvPr/>
        </p:nvSpPr>
        <p:spPr>
          <a:xfrm>
            <a:off x="296333" y="63307"/>
            <a:ext cx="85259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Configure Port Security, DHCP Snooping and Dynamic ARP Inspection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36E63D-1BD5-2E54-3173-815E4032D6C5}"/>
              </a:ext>
            </a:extLst>
          </p:cNvPr>
          <p:cNvSpPr txBox="1"/>
          <p:nvPr/>
        </p:nvSpPr>
        <p:spPr>
          <a:xfrm>
            <a:off x="381819" y="636579"/>
            <a:ext cx="80700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b="1" dirty="0">
              <a:solidFill>
                <a:srgbClr val="403CCF"/>
              </a:solidFill>
              <a:latin typeface="Libre Baskerville" pitchFamily="34" charset="0"/>
            </a:endParaRPr>
          </a:p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Dynamic ARP Inspection Practical 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929327-9E43-1F4D-4940-46DEC7C59964}"/>
              </a:ext>
            </a:extLst>
          </p:cNvPr>
          <p:cNvSpPr txBox="1"/>
          <p:nvPr/>
        </p:nvSpPr>
        <p:spPr>
          <a:xfrm>
            <a:off x="381818" y="1344465"/>
            <a:ext cx="6687849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The attacker machine ARP replies will be blocked by the Dynamic ARP Inspection(DAI)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100" dirty="0"/>
          </a:p>
          <a:p>
            <a:r>
              <a:rPr lang="en-US" sz="1100" dirty="0"/>
              <a:t> On Attacker computer CMD ,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 err="1"/>
              <a:t>arp</a:t>
            </a:r>
            <a:r>
              <a:rPr lang="en-US" sz="1100" dirty="0"/>
              <a:t>  -a   (Show </a:t>
            </a:r>
            <a:r>
              <a:rPr lang="en-US" sz="1100" dirty="0" err="1"/>
              <a:t>arp</a:t>
            </a:r>
            <a:r>
              <a:rPr lang="en-US" sz="1100" dirty="0"/>
              <a:t> table)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 err="1"/>
              <a:t>arp</a:t>
            </a:r>
            <a:r>
              <a:rPr lang="en-US" sz="1100" dirty="0"/>
              <a:t>  -d   (Delete </a:t>
            </a:r>
            <a:r>
              <a:rPr lang="en-US" sz="1100" dirty="0" err="1"/>
              <a:t>arp</a:t>
            </a:r>
            <a:r>
              <a:rPr lang="en-US" sz="1100" dirty="0"/>
              <a:t> entries)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100" dirty="0"/>
          </a:p>
          <a:p>
            <a:r>
              <a:rPr lang="en-US" sz="1100" dirty="0"/>
              <a:t>And then check </a:t>
            </a:r>
            <a:r>
              <a:rPr lang="en-US" sz="1100"/>
              <a:t>the connectivity </a:t>
            </a: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100" dirty="0"/>
          </a:p>
          <a:p>
            <a:endParaRPr lang="en-US" sz="1800" dirty="0">
              <a:highlight>
                <a:srgbClr val="00FFFF"/>
              </a:highlight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52128588"/>
      </p:ext>
    </p:extLst>
  </p:cSld>
  <p:clrMapOvr>
    <a:masterClrMapping/>
  </p:clrMapOvr>
</p:sld>
</file>

<file path=ppt/theme/theme1.xml><?xml version="1.0" encoding="utf-8"?>
<a:theme xmlns:a="http://schemas.openxmlformats.org/drawingml/2006/main" name="Computer Networking Project Proposal by Slidesgo">
  <a:themeElements>
    <a:clrScheme name="Simple Light">
      <a:dk1>
        <a:srgbClr val="FFFFFF"/>
      </a:dk1>
      <a:lt1>
        <a:srgbClr val="000000"/>
      </a:lt1>
      <a:dk2>
        <a:srgbClr val="171717"/>
      </a:dk2>
      <a:lt2>
        <a:srgbClr val="434343"/>
      </a:lt2>
      <a:accent1>
        <a:srgbClr val="CCCCCC"/>
      </a:accent1>
      <a:accent2>
        <a:srgbClr val="11C7D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5107</TotalTime>
  <Words>3837</Words>
  <Application>Microsoft Office PowerPoint</Application>
  <PresentationFormat>On-screen Show (16:9)</PresentationFormat>
  <Paragraphs>755</Paragraphs>
  <Slides>37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Libre Baskerville</vt:lpstr>
      <vt:lpstr>Encode Sans Condensed</vt:lpstr>
      <vt:lpstr>Arial</vt:lpstr>
      <vt:lpstr>Red Hat Display</vt:lpstr>
      <vt:lpstr>Encode Sans</vt:lpstr>
      <vt:lpstr>Doppio One</vt:lpstr>
      <vt:lpstr>Georama</vt:lpstr>
      <vt:lpstr>Wingdings</vt:lpstr>
      <vt:lpstr>Computer Networking Project Proposal by Slidesgo</vt:lpstr>
      <vt:lpstr>Computer Networking CCNA 200-301</vt:lpstr>
      <vt:lpstr>Course Outline</vt:lpstr>
      <vt:lpstr>Course Outline</vt:lpstr>
      <vt:lpstr>Course Outline</vt:lpstr>
      <vt:lpstr>Module 5 Security Fundamentals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Networking CCNA 200-301</dc:title>
  <cp:lastModifiedBy>Sana Ullah</cp:lastModifiedBy>
  <cp:revision>807</cp:revision>
  <dcterms:modified xsi:type="dcterms:W3CDTF">2025-10-02T20:29:58Z</dcterms:modified>
</cp:coreProperties>
</file>