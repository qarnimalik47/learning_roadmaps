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72"/>
  </p:notesMasterIdLst>
  <p:sldIdLst>
    <p:sldId id="256" r:id="rId2"/>
    <p:sldId id="299" r:id="rId3"/>
    <p:sldId id="300" r:id="rId4"/>
    <p:sldId id="301" r:id="rId5"/>
    <p:sldId id="329" r:id="rId6"/>
    <p:sldId id="397" r:id="rId7"/>
    <p:sldId id="456" r:id="rId8"/>
    <p:sldId id="455" r:id="rId9"/>
    <p:sldId id="399" r:id="rId10"/>
    <p:sldId id="400" r:id="rId11"/>
    <p:sldId id="401" r:id="rId12"/>
    <p:sldId id="407" r:id="rId13"/>
    <p:sldId id="402" r:id="rId14"/>
    <p:sldId id="404" r:id="rId15"/>
    <p:sldId id="405" r:id="rId16"/>
    <p:sldId id="406" r:id="rId17"/>
    <p:sldId id="414" r:id="rId18"/>
    <p:sldId id="408" r:id="rId19"/>
    <p:sldId id="409" r:id="rId20"/>
    <p:sldId id="413" r:id="rId21"/>
    <p:sldId id="410" r:id="rId22"/>
    <p:sldId id="411" r:id="rId23"/>
    <p:sldId id="412" r:id="rId24"/>
    <p:sldId id="415" r:id="rId25"/>
    <p:sldId id="416" r:id="rId26"/>
    <p:sldId id="417" r:id="rId27"/>
    <p:sldId id="418" r:id="rId28"/>
    <p:sldId id="419" r:id="rId29"/>
    <p:sldId id="420" r:id="rId30"/>
    <p:sldId id="425" r:id="rId31"/>
    <p:sldId id="426" r:id="rId32"/>
    <p:sldId id="427" r:id="rId33"/>
    <p:sldId id="428" r:id="rId34"/>
    <p:sldId id="429" r:id="rId35"/>
    <p:sldId id="430" r:id="rId36"/>
    <p:sldId id="431" r:id="rId37"/>
    <p:sldId id="432" r:id="rId38"/>
    <p:sldId id="433" r:id="rId39"/>
    <p:sldId id="434" r:id="rId40"/>
    <p:sldId id="435" r:id="rId41"/>
    <p:sldId id="440" r:id="rId42"/>
    <p:sldId id="441" r:id="rId43"/>
    <p:sldId id="436" r:id="rId44"/>
    <p:sldId id="437" r:id="rId45"/>
    <p:sldId id="457" r:id="rId46"/>
    <p:sldId id="458" r:id="rId47"/>
    <p:sldId id="442" r:id="rId48"/>
    <p:sldId id="443" r:id="rId49"/>
    <p:sldId id="444" r:id="rId50"/>
    <p:sldId id="445" r:id="rId51"/>
    <p:sldId id="446" r:id="rId52"/>
    <p:sldId id="447" r:id="rId53"/>
    <p:sldId id="448" r:id="rId54"/>
    <p:sldId id="464" r:id="rId55"/>
    <p:sldId id="449" r:id="rId56"/>
    <p:sldId id="459" r:id="rId57"/>
    <p:sldId id="467" r:id="rId58"/>
    <p:sldId id="465" r:id="rId59"/>
    <p:sldId id="450" r:id="rId60"/>
    <p:sldId id="452" r:id="rId61"/>
    <p:sldId id="469" r:id="rId62"/>
    <p:sldId id="460" r:id="rId63"/>
    <p:sldId id="466" r:id="rId64"/>
    <p:sldId id="470" r:id="rId65"/>
    <p:sldId id="453" r:id="rId66"/>
    <p:sldId id="454" r:id="rId67"/>
    <p:sldId id="471" r:id="rId68"/>
    <p:sldId id="461" r:id="rId69"/>
    <p:sldId id="462" r:id="rId70"/>
    <p:sldId id="463" r:id="rId71"/>
  </p:sldIdLst>
  <p:sldSz cx="9144000" cy="5143500" type="screen16x9"/>
  <p:notesSz cx="6858000" cy="9144000"/>
  <p:embeddedFontLst>
    <p:embeddedFont>
      <p:font typeface="Doppio One" panose="020B0604020202020204" charset="0"/>
      <p:regular r:id="rId73"/>
    </p:embeddedFont>
    <p:embeddedFont>
      <p:font typeface="Encode Sans" panose="020B0604020202020204" charset="0"/>
      <p:regular r:id="rId74"/>
      <p:bold r:id="rId75"/>
    </p:embeddedFont>
    <p:embeddedFont>
      <p:font typeface="Encode Sans Condensed" panose="020B0604020202020204" charset="0"/>
      <p:regular r:id="rId76"/>
      <p:bold r:id="rId77"/>
    </p:embeddedFont>
    <p:embeddedFont>
      <p:font typeface="Georama" panose="020B0604020202020204" charset="0"/>
      <p:regular r:id="rId78"/>
      <p:bold r:id="rId79"/>
      <p:italic r:id="rId80"/>
      <p:boldItalic r:id="rId81"/>
    </p:embeddedFont>
    <p:embeddedFont>
      <p:font typeface="Libre Baskerville" panose="02000000000000000000" pitchFamily="2" charset="0"/>
      <p:regular r:id="rId82"/>
      <p:bold r:id="rId83"/>
      <p: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a Ullah" initials="SU" lastIdx="1" clrIdx="0">
    <p:extLst>
      <p:ext uri="{19B8F6BF-5375-455C-9EA6-DF929625EA0E}">
        <p15:presenceInfo xmlns:p15="http://schemas.microsoft.com/office/powerpoint/2012/main" userId="472a63953c55904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343FFC-C285-48B6-A5F1-531E15585DCF}">
  <a:tblStyle styleId="{17343FFC-C285-48B6-A5F1-531E15585D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A1F22B5-B5E0-49D3-970D-E05F3AAD8E8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7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2.fnt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font" Target="fonts/font11.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font" Target="fonts/font10.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502afc7aa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502afc7aa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F1BF5-2989-A984-A309-82BB02165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50B13-66F0-432B-452F-1EB4DF081C1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395F86-5D90-4BE8-5130-33D5C05A2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88ACBD-BD36-4D5C-AE45-1303F92CE33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61965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328F1-00D6-5C6E-D92A-80E8FCB19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DC09E7-6773-5B8F-B881-8EE024B9CFF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0F34A07-94FF-E910-2FAB-F81E3FC943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59D7A6-B78C-6014-0372-6CE29FCE27D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86340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3F475-92D0-B8E8-FC02-E0A7CA311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8D7D9-54CC-D777-B012-157E40564A6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6C40062-441E-BEFD-1A2D-D5E609B117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C22D29-CBA2-4093-5F7C-D5CA2D59027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77034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DBFA3-A14C-5179-049E-8A7871F2A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712A7-743A-DAD3-F00E-243B8E2DC1C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334E71D-DC2A-2908-8959-8E42E10FAA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317671-95AD-B4C5-3037-A49746150A6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94370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B53D9-E220-DBE1-D8BF-D0A19F74F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F488C-81EF-24AF-C26A-0684E6C624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52B5E76-3BC7-7DDF-B431-51E4564A1D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FCFA81-3F04-F268-4E48-F116352AC14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2356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8C58-FADE-4952-B572-75B6130A4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83960-4D7D-87AE-5B7C-105CFD9E63D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30099A8-DB04-8165-51A9-445F858763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E94005-42C3-414F-54D7-D0112AD27F5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87470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CE9FF-337B-1804-BF6E-584F69834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03A15-E6A8-F838-57EA-319E470007E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D095B05-067B-6BDF-F6A3-A28984BA0F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1E3B82-502D-DD62-0117-903673117DD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61902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D9B1C-096D-52A2-9D64-E32C860D9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907D8-243C-3567-3654-0D960501F2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21DB2E5-797B-3555-641D-56AE07F6AA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6BC835-454D-BD28-404F-4C8199D26D1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17191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823BD-03E1-DE1A-A462-C6D26E4E8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9A2F9-8624-378A-B0D5-9D397D1703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67A12DF-BAC0-FC72-7CEF-BEA96E2DE7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47AF57-ADCB-6137-BAD9-7D49008BCB6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9189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3CDD7-9696-B646-37FD-9BE6FCFEF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21FB7-EC4D-263F-3D18-1AF5B0DBF39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AE8DFBA-26C2-087E-93A3-8301CCE74B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3AFB2E-86FF-92D6-3DA9-29B5A8C9C36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1485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272F3-9F18-A433-05F3-A099A3BC3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B4E8-BA28-CC73-18C4-2291454F107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8755BAD-6559-296B-26B4-1EF91D01AF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5CDC0E-7AA2-1E30-67F1-C3429FBC5DF5}"/>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13016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7C325-D8E4-DE45-4D9A-2F91A8B79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72F2C-6379-A66D-301C-98543C739BF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630305E-648F-26B1-F679-C7FD3A8A8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2874F-2331-9F4C-7472-52444854048D}"/>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92539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700B5-D891-7B9F-9807-6E1CB92B3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03E70-E8DD-1BB1-CB2C-43C335E39AA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8E47BA-CDFC-3A7F-077F-CF141D0E5E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FE606-FC9C-ECA4-4813-6462C267756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340566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EB957-AFE5-D713-D29B-6B449CDDA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63811-E20A-C177-4481-18F76F3EAC1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ECF7566-B826-56C2-8DA4-0DACE96EA7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59B5CD-585D-6746-1F1C-10E9905A0CA4}"/>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32513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F6E6-4D42-25EF-213B-30CDDF130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1A6EF-1F68-9AD3-4BDA-DC1C3320F73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F0CCEF8-AD83-0B1B-E2D2-29659B3144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5C8293-89D6-1512-BB10-D36A3FC295AE}"/>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8228000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0291A-AACD-6D5D-C7B5-36FBCAA7B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7C19D-2651-5F01-A776-CEA0D2AD74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47D4D85-C34C-553A-1E06-4F735D6692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0162FF-9948-60A0-7A18-C6A4C8DC9B1D}"/>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28332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621BE-B393-BBF5-5C92-79A6C7921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8A3D2-B9E0-8E46-8222-C37A7A3161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793DA0-D05C-CBF4-592D-274A1B487A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4A6F09-025F-C28A-FD73-F3B3A7B189C9}"/>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847392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D79D6-F9B4-99ED-9D58-A1DCB6AE6B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DF66D-8A7C-83FE-C529-353A2335FC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F966081-2F3C-762D-8932-93B4E3B475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E6CD7C-3A50-7183-50AA-C5925426C164}"/>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941305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5906D-4034-4DCE-BFE7-8BBEC11CC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7F57D-30FD-74F4-780E-F2E3C403D2F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E825829-593F-9D95-AC45-6B4DB500F7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6DAA41-1936-CEC2-733D-E7C29367659A}"/>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7111371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87FDE-DB81-5C17-5A88-3735BD8A1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E2E58-2044-5599-201F-A200882ADF3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72FDE7C-51CE-1606-B337-CC996E4A2D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1B2B0-B828-B1C7-A2CE-A1E184FB0AC5}"/>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283349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2E6C1-022F-E6CF-C8E4-EF8D675B1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25D48-3952-209E-7730-DD04469A40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8861DA-8D12-FCAC-54FF-04CDB50BB4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C99202-5472-4054-8371-EE6D51D11DAC}"/>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984615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B78C-F4ED-AAE5-910B-2118ACBE7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8218D-28F1-FAFF-F528-51EEBAC5889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B2C041F-269E-2475-8153-FB8F2AF765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287D02-BCB2-AAAB-AA93-EF176B9B614F}"/>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3674215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69E2B-DA86-4A14-EF42-935DC9C70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13630-6907-AAAD-9E3D-E20EEBDC31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470A659-79B2-34F8-6F9E-A471059EFD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74A8F6-A924-5A02-7822-85F1846DFF01}"/>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160472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638D8-55A1-855A-E92C-231D7B9C8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F718E-9948-FA35-3B78-285BD4F2E3E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980F781-D07D-36B4-CC88-6EC84F01E0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82C3D1-63C5-6B5D-1394-E1BD76E089ED}"/>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809735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7685-D3BA-7216-F295-3B2FBF998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6E64B-877F-ABAD-FBFA-8EB72D6B5DE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148B4B-C57B-5570-1BA8-579EEC1E7C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F163BC-0482-A3C4-95E5-85F0F50B778E}"/>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1501748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760A7-5F8A-888A-006D-8643BF6CB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3B252-868C-6F79-074C-7FE00CF39E6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41F329-E830-98F6-CE8D-AE102B868D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9AA127-1838-9CFA-8A07-0C414A473D20}"/>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2757116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34F88-5FEA-D3E9-226E-1274DCED6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6F648-66FA-E478-482F-58DF7853D6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2249EE3-9574-D6CF-FFCD-0113E49B33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1C401D-8EF2-639B-419D-827DC902F718}"/>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0151711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79ED1-CDE1-9990-A2A3-F0345C0BF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A24EC-D84B-506F-5BAF-AA61F20FCDF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7A6F62-7B02-33AC-337C-3D96E734C2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43F0C2-1EF1-B468-4106-BAD716AC79AB}"/>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8675761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F69D1-61BE-809D-2AA5-23DF20F56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D5866-EBFC-3E49-668F-C586DAD8EE1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867A74A-81A3-EBE6-4C0D-0A4DCB1AAF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5CC88E-804C-1F7D-30DD-B0B38E091100}"/>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3276058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31B42-FC92-5C3B-8908-02DD48B29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B9786-37AC-8410-692A-F9631E58133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50DC1CD-DE71-10F1-A356-6D878C52A8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334113-155F-226A-7B42-1680268F03AB}"/>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1971416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12AF8-D9D8-62E8-8AA1-B2BF0FD69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B4628-2277-37EF-AAD7-1ED055EE25C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8C69C7B-1DDC-C0C6-58CD-EE0A47FDB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9CA294-4911-90DC-8D33-67096491EC54}"/>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6439872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13DEB-6D33-9E68-78C8-C98661C97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2B287-0DB6-9AA8-5394-EAC79230421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0DDE376-CCEA-773E-425C-B881B863CA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0A3819-0F71-7ABB-95C1-4B54A9A66177}"/>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1607394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34AB-4233-722E-B117-3413A2E64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D9A24-22FB-7BC4-D73B-91ED657686F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43822D6-468C-8ACC-2450-61FFDD5E60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8AF831-D22E-794D-9C32-292F2B42EA73}"/>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7201483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6EDA4-7E9B-1761-92EE-92715AD44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DC225-DF78-9543-ED56-901DDECEC4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1F60A0C-C306-8162-492B-F25D668F02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25F015-E852-0D16-6445-62123FA5C006}"/>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8698667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F5012-A9DB-86C4-B136-7317E661A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33729-5F66-E366-82E0-19BA1C87FF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D629A78-C258-8461-6964-161C895491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69D000-B341-3396-AF3A-B333C8FFAFB2}"/>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4753500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27EB5-4861-CAB2-DC61-CF6E22ACA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9D8AA-C914-F56B-F17B-EED56EE1EE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A5954C-6F34-A8A3-9369-3E20AD2643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CFEE74-2E4B-D700-702C-BFBEDCDB23B8}"/>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9085261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36DDB-61DA-AB7A-88B5-D9FBDF76A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79273-1AEA-3E1C-342F-9C086869B21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16D52B6-E594-A59A-7149-2484DE0AAF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3C1D95-B605-F76D-D15E-C32174B67F32}"/>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7383766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EC302-AED6-46FE-3C80-2A017BA7F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69AB9-70E8-74BE-56E0-47A0AB16C58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48D330-453C-BF11-D33E-92F5CBDAEE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E20D99-5E42-A94C-54EC-266222B56C31}"/>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224619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6F0E1-0586-38F9-3C54-74DDE3EF9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6AF73D-8F48-CA3D-51F4-E08AD726D15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3370E6-F567-0B3D-FCC4-0FA3ECF358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E59F08-5AB8-585C-7F0A-19665F5ADF76}"/>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1429285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A5D27-BB43-BCA3-AEEB-EC04528A4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BBF55-CADF-02C5-63A8-17F892CEB23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13C7079-151F-774C-146F-AA1D0B10D5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030B46-4BB4-FF69-F102-BB004FD160F3}"/>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5367038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B0864-BC22-92D6-A094-EE1FBB1A2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0EE56-7128-1645-141B-AFE9CD38C3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A743909-B991-1B2C-D90B-0350A8A44A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95B57E-C7C2-DBAA-CE56-F96E5DDA648E}"/>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20710080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9BF9-8F6F-FF27-C2C5-72BF7A626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C525E-286A-EB43-5764-D40D92D5536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F8CE70C-6C33-071F-CA08-AFDA8B0FC1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380F02-68B1-0890-522A-08333DCF2142}"/>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8225980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CE2DA-5132-04BC-FEF0-B50EA1EAD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AF101-EE54-BE1E-9620-E5E9940A3B1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7306B8-F25A-E81A-E75E-586187FA3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95ACC1-1478-99A6-2EB7-791508CCE176}"/>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375783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D3B5-5A6B-3B66-AAC6-4AC793E41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213A9-88C1-C285-157E-762CF4A441C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3657E3F-9CBA-7A05-8F85-8F2B287558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703E66-DBBE-EB65-146C-69D910D74991}"/>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4776994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6BA13-A86F-A739-A61C-330555077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2B9A0-BF62-0A27-5441-9D57E21EFB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B140525-C7B4-6A61-C94B-EB5031A045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DD17FC-C0B3-FB56-56A6-5A69F966914F}"/>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5234829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8ED02-4A8D-9BA2-7719-715C0DFE0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85C1F-803E-F6C3-7679-6331E49076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686F1A-49B6-9421-FA6B-5D8D2BAC32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C592EE-BD11-4DC3-F6F2-C1569D96F901}"/>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6049402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F18C1-6430-11EB-AD80-B33C4766D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D5C0F-B8AB-A5C9-EE9C-7A65A5F041E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C606CD1-1A7A-B9A1-1D50-E94E0358A4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23FEBF-3301-1288-CFFF-7FBA52870CC3}"/>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1049040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0585D-457F-E5FB-4F40-430A88397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95AD4-226B-22C2-FE88-9F4F5BAC97C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3B09068-D406-62E0-DDD5-A6BC3258E4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62D1DC-141B-5984-3DFE-F4C43C4CE0DD}"/>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22988100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122BA-3AD8-E0C3-86CE-874AE483C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0ECF8-B001-3433-4AC8-140E60BDAFE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424F41-0620-7DF9-8C90-C63937F5B8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5EC5C7-2D7F-D1BD-00A5-8FB589B8F885}"/>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20906664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82603-9309-BF11-388F-E1731899D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84B52-6D6D-F184-C550-3C2C964FF68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1CB4135-9C9D-BFB3-B7F2-EA470F7F89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335529-11BA-8A92-9645-48EE44488DA8}"/>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6738987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5DFF1-3EB1-9225-074D-F42E5D4F0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71880-D42D-1FC4-66D0-A3DAE59C5A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CB778FB-38B6-5403-4DFF-E584392D22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6EE720-3DF4-251D-36A5-E9E331363583}"/>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9523305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63246-D502-C946-79AE-081A53BD3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A303A-64C7-0022-61C4-AAD94323ECE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90A231C-EA21-172F-25E0-A2EC542DB2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5AEAF2-315F-953E-1E0A-754DB4B02077}"/>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6934527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8C8C7-ECFA-179C-5282-CADFB84FA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79E02-D192-D037-FC43-208C3DCB834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4F6D82A-C77C-288B-C045-7CE37E19EF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637447-7FF1-942F-F0AA-3C628B61F9B6}"/>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3353659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6233A-22F3-250E-34AD-4E60440AE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18C6E-58A6-C7C9-DAF4-FE66D020B1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5F0EA3-5999-D2E1-5E3A-59AF70F065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2A2615-7053-905A-96EA-10105248A61D}"/>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3892743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DF4ED-B148-742A-C95D-32CFAA44F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63B24-506D-24F1-3191-8739CA27211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0FD95C6-3F04-DC70-B375-7FBFA44C08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C5FC84-7BF0-414C-2996-D0C30E768FB5}"/>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29997387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99F8B-3B4C-EE78-4B26-F6107A00D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1C68A-7649-8AB4-6F11-3E72000FA33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6B30D5-EB7E-2C52-B054-7B05C2520C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13FF7-7DF1-03A0-2FAD-12D3502584CC}"/>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3169961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D637B-F7F1-9ACD-C8F4-1E327FA21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E5E41-2370-2EC5-496C-DA925CC791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8B07964-86E7-CE67-8EC2-256E70B236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B2591E-EC89-2BB8-F7F4-85D40A85B3E9}"/>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323067285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3500-92C6-EBA4-ACE9-4C21B4ED8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7AAC9-8460-3CFC-B74E-EE003B696D6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DEF7F31-CE36-B3C7-FFB0-FE7076789A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37EEF3-E03F-C264-8B6A-9FEE3AC14ABE}"/>
              </a:ext>
            </a:extLst>
          </p:cNvPr>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5992592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EF03A-34F6-5806-C035-DC153D465D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65B24-E1F8-FD90-3622-F00B3519496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9153C0D-0A86-30FB-B4A9-437C952200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4944BC-387D-2C69-CA6A-03B118B17379}"/>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6916813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053A-9006-1FFD-8D60-DB57A67DF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6AA58-0783-E9C3-B9AF-9F6E7228A60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9CA0F2-AEB0-B247-F1BD-98ABA44C43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AC9D38-4944-7ED3-4DB1-E1E6CA37106C}"/>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33848968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35DB9-492F-4F0A-7761-54409B239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78213-A44A-C5C0-DE3F-8CA6767C238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80563F0-4684-FBEF-D9C2-D0EEA6A2D8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3F56DA-B7D6-98CF-8A33-08E5CEE776D0}"/>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300841794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A0C1-5CFF-CD0B-069F-BBCDD6219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41381-AB02-7148-C26F-C3E0607F4DE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119D909-F946-4C02-E0EC-CBDA24D520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05B6B-A157-04C9-AD8E-D92BE112D671}"/>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23426132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BFFD7-5A99-B58E-8CF6-7923E8D5F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D4D7F-6796-A5C6-AA9E-16B075D9C98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C80AA07-0092-4F22-34FB-61712D3E97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C93137-F2B6-51D2-3544-243437E4C9F1}"/>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82147437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D37C-0EC4-7078-CD84-8E03EDDD1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61555-B096-C485-A2E0-BEA77E1E28C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3B6AF0-1F4B-EDBB-5A31-A7B2178092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C63490-1824-ADFB-B068-BB0A9F9581BD}"/>
              </a:ext>
            </a:extLst>
          </p:cNvPr>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21631265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B8D6D-414B-307A-D516-D08D46155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57E35-FBAC-EA1E-CA93-185E459A909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3542D74-D7DE-356E-8C16-8359187D43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E3A040-1E0C-AD59-3661-B316D4C8F118}"/>
              </a:ext>
            </a:extLst>
          </p:cNvPr>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4735613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l="3955" t="33705" r="57710" b="5922"/>
          <a:stretch/>
        </p:blipFill>
        <p:spPr>
          <a:xfrm>
            <a:off x="0" y="2133600"/>
            <a:ext cx="3505200" cy="3105151"/>
          </a:xfrm>
          <a:prstGeom prst="rect">
            <a:avLst/>
          </a:prstGeom>
          <a:noFill/>
          <a:ln>
            <a:noFill/>
          </a:ln>
        </p:spPr>
      </p:pic>
      <p:pic>
        <p:nvPicPr>
          <p:cNvPr id="10" name="Google Shape;10;p2"/>
          <p:cNvPicPr preferRelativeResize="0"/>
          <p:nvPr/>
        </p:nvPicPr>
        <p:blipFill rotWithShape="1">
          <a:blip r:embed="rId2">
            <a:alphaModFix amt="28000"/>
          </a:blip>
          <a:srcRect l="40405" t="33702" r="30010" b="6752"/>
          <a:stretch/>
        </p:blipFill>
        <p:spPr>
          <a:xfrm>
            <a:off x="6438900" y="2176200"/>
            <a:ext cx="2705098" cy="3062551"/>
          </a:xfrm>
          <a:prstGeom prst="rect">
            <a:avLst/>
          </a:prstGeom>
          <a:noFill/>
          <a:ln>
            <a:noFill/>
          </a:ln>
        </p:spPr>
      </p:pic>
      <p:sp>
        <p:nvSpPr>
          <p:cNvPr id="11" name="Google Shape;11;p2"/>
          <p:cNvSpPr txBox="1">
            <a:spLocks noGrp="1"/>
          </p:cNvSpPr>
          <p:nvPr>
            <p:ph type="ctrTitle"/>
          </p:nvPr>
        </p:nvSpPr>
        <p:spPr>
          <a:xfrm>
            <a:off x="1473525" y="2562750"/>
            <a:ext cx="6196800" cy="1512600"/>
          </a:xfrm>
          <a:prstGeom prst="rect">
            <a:avLst/>
          </a:prstGeom>
          <a:solidFill>
            <a:schemeClr val="dk2"/>
          </a:solidFill>
        </p:spPr>
        <p:txBody>
          <a:bodyPr spcFirstLastPara="1" wrap="square" lIns="91425" tIns="91425" rIns="91425" bIns="91425" anchor="b" anchorCtr="0">
            <a:noAutofit/>
          </a:bodyPr>
          <a:lstStyle>
            <a:lvl1pPr lvl="0" algn="ctr">
              <a:spcBef>
                <a:spcPts val="0"/>
              </a:spcBef>
              <a:spcAft>
                <a:spcPts val="0"/>
              </a:spcAft>
              <a:buSzPts val="5200"/>
              <a:buNone/>
              <a:defRPr sz="4200">
                <a:latin typeface="Doppio One"/>
                <a:ea typeface="Doppio One"/>
                <a:cs typeface="Doppio One"/>
                <a:sym typeface="Doppio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473675" y="4056400"/>
            <a:ext cx="6196800" cy="5280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600">
                <a:solidFill>
                  <a:schemeClr val="dk1"/>
                </a:solidFill>
                <a:latin typeface="Encode Sans Condensed"/>
                <a:ea typeface="Encode Sans Condensed"/>
                <a:cs typeface="Encode Sans Condensed"/>
                <a:sym typeface="Encode Sans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a:spLocks noGrp="1"/>
          </p:cNvSpPr>
          <p:nvPr>
            <p:ph type="pic" idx="2"/>
          </p:nvPr>
        </p:nvSpPr>
        <p:spPr>
          <a:xfrm>
            <a:off x="0" y="0"/>
            <a:ext cx="9144000" cy="21762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1"/>
        </a:solidFill>
        <a:effectLst/>
      </p:bgPr>
    </p:bg>
    <p:spTree>
      <p:nvGrpSpPr>
        <p:cNvPr id="1" name="Shape 45"/>
        <p:cNvGrpSpPr/>
        <p:nvPr/>
      </p:nvGrpSpPr>
      <p:grpSpPr>
        <a:xfrm>
          <a:off x="0" y="0"/>
          <a:ext cx="0" cy="0"/>
          <a:chOff x="0" y="0"/>
          <a:chExt cx="0" cy="0"/>
        </a:xfrm>
      </p:grpSpPr>
      <p:pic>
        <p:nvPicPr>
          <p:cNvPr id="46" name="Google Shape;46;p8"/>
          <p:cNvPicPr preferRelativeResize="0"/>
          <p:nvPr/>
        </p:nvPicPr>
        <p:blipFill rotWithShape="1">
          <a:blip r:embed="rId2">
            <a:alphaModFix amt="28000"/>
          </a:blip>
          <a:srcRect l="-10" r="10"/>
          <a:stretch/>
        </p:blipFill>
        <p:spPr>
          <a:xfrm flipH="1">
            <a:off x="-975" y="-60220"/>
            <a:ext cx="9144000" cy="5280390"/>
          </a:xfrm>
          <a:prstGeom prst="rect">
            <a:avLst/>
          </a:prstGeom>
          <a:noFill/>
          <a:ln>
            <a:noFill/>
          </a:ln>
        </p:spPr>
      </p:pic>
      <p:sp>
        <p:nvSpPr>
          <p:cNvPr id="47" name="Google Shape;47;p8"/>
          <p:cNvSpPr txBox="1">
            <a:spLocks noGrp="1"/>
          </p:cNvSpPr>
          <p:nvPr>
            <p:ph type="title"/>
          </p:nvPr>
        </p:nvSpPr>
        <p:spPr>
          <a:xfrm>
            <a:off x="1388100" y="1275900"/>
            <a:ext cx="6367800" cy="2591700"/>
          </a:xfrm>
          <a:prstGeom prst="rect">
            <a:avLst/>
          </a:prstGeom>
          <a:solidFill>
            <a:schemeClr val="dk2"/>
          </a:solidFill>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a:spLocks noGrp="1"/>
          </p:cNvSpPr>
          <p:nvPr>
            <p:ph type="pic" idx="2"/>
          </p:nvPr>
        </p:nvSpPr>
        <p:spPr>
          <a:xfrm>
            <a:off x="-8500" y="0"/>
            <a:ext cx="9152400" cy="5143500"/>
          </a:xfrm>
          <a:prstGeom prst="rect">
            <a:avLst/>
          </a:prstGeom>
          <a:noFill/>
          <a:ln>
            <a:noFill/>
          </a:ln>
        </p:spPr>
      </p:sp>
      <p:sp>
        <p:nvSpPr>
          <p:cNvPr id="54" name="Google Shape;54;p10"/>
          <p:cNvSpPr txBox="1">
            <a:spLocks noGrp="1"/>
          </p:cNvSpPr>
          <p:nvPr>
            <p:ph type="title"/>
          </p:nvPr>
        </p:nvSpPr>
        <p:spPr>
          <a:xfrm>
            <a:off x="720000" y="597425"/>
            <a:ext cx="7704000" cy="5727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1">
  <p:cSld name="CUSTOM_6">
    <p:bg>
      <p:bgPr>
        <a:solidFill>
          <a:schemeClr val="lt1"/>
        </a:solidFill>
        <a:effectLst/>
      </p:bgPr>
    </p:bg>
    <p:spTree>
      <p:nvGrpSpPr>
        <p:cNvPr id="1" name="Shape 101"/>
        <p:cNvGrpSpPr/>
        <p:nvPr/>
      </p:nvGrpSpPr>
      <p:grpSpPr>
        <a:xfrm>
          <a:off x="0" y="0"/>
          <a:ext cx="0" cy="0"/>
          <a:chOff x="0" y="0"/>
          <a:chExt cx="0" cy="0"/>
        </a:xfrm>
      </p:grpSpPr>
      <p:pic>
        <p:nvPicPr>
          <p:cNvPr id="102" name="Google Shape;102;p18"/>
          <p:cNvPicPr preferRelativeResize="0"/>
          <p:nvPr/>
        </p:nvPicPr>
        <p:blipFill rotWithShape="1">
          <a:blip r:embed="rId2">
            <a:alphaModFix amt="28000"/>
          </a:blip>
          <a:srcRect l="-10" r="10"/>
          <a:stretch/>
        </p:blipFill>
        <p:spPr>
          <a:xfrm rot="10800000">
            <a:off x="-975" y="-60220"/>
            <a:ext cx="9144000" cy="5280390"/>
          </a:xfrm>
          <a:prstGeom prst="rect">
            <a:avLst/>
          </a:prstGeom>
          <a:noFill/>
          <a:ln>
            <a:noFill/>
          </a:ln>
        </p:spPr>
      </p:pic>
      <p:sp>
        <p:nvSpPr>
          <p:cNvPr id="103" name="Google Shape;103;p18"/>
          <p:cNvSpPr/>
          <p:nvPr/>
        </p:nvSpPr>
        <p:spPr>
          <a:xfrm>
            <a:off x="447750" y="381000"/>
            <a:ext cx="8248500" cy="438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5" name="Google Shape;105;p18"/>
          <p:cNvSpPr txBox="1">
            <a:spLocks noGrp="1"/>
          </p:cNvSpPr>
          <p:nvPr>
            <p:ph type="body" idx="1"/>
          </p:nvPr>
        </p:nvSpPr>
        <p:spPr>
          <a:xfrm>
            <a:off x="803400" y="1442900"/>
            <a:ext cx="3574800" cy="312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Georama"/>
              <a:buChar char="●"/>
              <a:defRPr sz="1200"/>
            </a:lvl1pPr>
            <a:lvl2pPr marL="914400" lvl="1" indent="-317500" rtl="0">
              <a:spcBef>
                <a:spcPts val="0"/>
              </a:spcBef>
              <a:spcAft>
                <a:spcPts val="0"/>
              </a:spcAft>
              <a:buSzPts val="1400"/>
              <a:buFont typeface="Red Hat Display"/>
              <a:buChar char="○"/>
              <a:defRPr sz="1200"/>
            </a:lvl2pPr>
            <a:lvl3pPr marL="1371600" lvl="2" indent="-317500" rtl="0">
              <a:spcBef>
                <a:spcPts val="0"/>
              </a:spcBef>
              <a:spcAft>
                <a:spcPts val="0"/>
              </a:spcAft>
              <a:buSzPts val="1400"/>
              <a:buFont typeface="Red Hat Display"/>
              <a:buChar char="■"/>
              <a:defRPr sz="1200"/>
            </a:lvl3pPr>
            <a:lvl4pPr marL="1828800" lvl="3" indent="-317500" rtl="0">
              <a:spcBef>
                <a:spcPts val="0"/>
              </a:spcBef>
              <a:spcAft>
                <a:spcPts val="0"/>
              </a:spcAft>
              <a:buSzPts val="1400"/>
              <a:buFont typeface="Red Hat Display"/>
              <a:buChar char="●"/>
              <a:defRPr sz="1200"/>
            </a:lvl4pPr>
            <a:lvl5pPr marL="2286000" lvl="4" indent="-317500" rtl="0">
              <a:spcBef>
                <a:spcPts val="0"/>
              </a:spcBef>
              <a:spcAft>
                <a:spcPts val="0"/>
              </a:spcAft>
              <a:buSzPts val="1400"/>
              <a:buFont typeface="Red Hat Display"/>
              <a:buChar char="○"/>
              <a:defRPr sz="1200"/>
            </a:lvl5pPr>
            <a:lvl6pPr marL="2743200" lvl="5" indent="-317500" rtl="0">
              <a:spcBef>
                <a:spcPts val="0"/>
              </a:spcBef>
              <a:spcAft>
                <a:spcPts val="0"/>
              </a:spcAft>
              <a:buSzPts val="1400"/>
              <a:buFont typeface="Red Hat Display"/>
              <a:buChar char="■"/>
              <a:defRPr sz="1200"/>
            </a:lvl6pPr>
            <a:lvl7pPr marL="3200400" lvl="6" indent="-317500" rtl="0">
              <a:spcBef>
                <a:spcPts val="0"/>
              </a:spcBef>
              <a:spcAft>
                <a:spcPts val="0"/>
              </a:spcAft>
              <a:buSzPts val="1400"/>
              <a:buFont typeface="Red Hat Display"/>
              <a:buChar char="●"/>
              <a:defRPr sz="1200"/>
            </a:lvl7pPr>
            <a:lvl8pPr marL="3657600" lvl="7" indent="-317500" rtl="0">
              <a:spcBef>
                <a:spcPts val="0"/>
              </a:spcBef>
              <a:spcAft>
                <a:spcPts val="0"/>
              </a:spcAft>
              <a:buSzPts val="1400"/>
              <a:buFont typeface="Red Hat Display"/>
              <a:buChar char="○"/>
              <a:defRPr sz="1200"/>
            </a:lvl8pPr>
            <a:lvl9pPr marL="4114800" lvl="8" indent="-317500" rtl="0">
              <a:spcBef>
                <a:spcPts val="0"/>
              </a:spcBef>
              <a:spcAft>
                <a:spcPts val="0"/>
              </a:spcAft>
              <a:buSzPts val="1400"/>
              <a:buFont typeface="Red Hat Display"/>
              <a:buChar char="■"/>
              <a:defRPr sz="1200"/>
            </a:lvl9pPr>
          </a:lstStyle>
          <a:p>
            <a:endParaRPr/>
          </a:p>
        </p:txBody>
      </p:sp>
      <p:sp>
        <p:nvSpPr>
          <p:cNvPr id="106" name="Google Shape;106;p18"/>
          <p:cNvSpPr txBox="1">
            <a:spLocks noGrp="1"/>
          </p:cNvSpPr>
          <p:nvPr>
            <p:ph type="body" idx="2"/>
          </p:nvPr>
        </p:nvSpPr>
        <p:spPr>
          <a:xfrm>
            <a:off x="4765800" y="1442900"/>
            <a:ext cx="3574800" cy="312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Georama"/>
              <a:buChar char="●"/>
              <a:defRPr sz="1200"/>
            </a:lvl1pPr>
            <a:lvl2pPr marL="914400" lvl="1" indent="-317500" rtl="0">
              <a:spcBef>
                <a:spcPts val="0"/>
              </a:spcBef>
              <a:spcAft>
                <a:spcPts val="0"/>
              </a:spcAft>
              <a:buSzPts val="1400"/>
              <a:buFont typeface="Red Hat Display"/>
              <a:buChar char="○"/>
              <a:defRPr sz="1200"/>
            </a:lvl2pPr>
            <a:lvl3pPr marL="1371600" lvl="2" indent="-317500" rtl="0">
              <a:spcBef>
                <a:spcPts val="0"/>
              </a:spcBef>
              <a:spcAft>
                <a:spcPts val="0"/>
              </a:spcAft>
              <a:buSzPts val="1400"/>
              <a:buFont typeface="Red Hat Display"/>
              <a:buChar char="■"/>
              <a:defRPr sz="1200"/>
            </a:lvl3pPr>
            <a:lvl4pPr marL="1828800" lvl="3" indent="-317500" rtl="0">
              <a:spcBef>
                <a:spcPts val="0"/>
              </a:spcBef>
              <a:spcAft>
                <a:spcPts val="0"/>
              </a:spcAft>
              <a:buSzPts val="1400"/>
              <a:buFont typeface="Red Hat Display"/>
              <a:buChar char="●"/>
              <a:defRPr sz="1200"/>
            </a:lvl4pPr>
            <a:lvl5pPr marL="2286000" lvl="4" indent="-317500" rtl="0">
              <a:spcBef>
                <a:spcPts val="0"/>
              </a:spcBef>
              <a:spcAft>
                <a:spcPts val="0"/>
              </a:spcAft>
              <a:buSzPts val="1400"/>
              <a:buFont typeface="Red Hat Display"/>
              <a:buChar char="○"/>
              <a:defRPr sz="1200"/>
            </a:lvl5pPr>
            <a:lvl6pPr marL="2743200" lvl="5" indent="-317500" rtl="0">
              <a:spcBef>
                <a:spcPts val="0"/>
              </a:spcBef>
              <a:spcAft>
                <a:spcPts val="0"/>
              </a:spcAft>
              <a:buSzPts val="1400"/>
              <a:buFont typeface="Red Hat Display"/>
              <a:buChar char="■"/>
              <a:defRPr sz="1200"/>
            </a:lvl6pPr>
            <a:lvl7pPr marL="3200400" lvl="6" indent="-317500" rtl="0">
              <a:spcBef>
                <a:spcPts val="0"/>
              </a:spcBef>
              <a:spcAft>
                <a:spcPts val="0"/>
              </a:spcAft>
              <a:buSzPts val="1400"/>
              <a:buFont typeface="Red Hat Display"/>
              <a:buChar char="●"/>
              <a:defRPr sz="1200"/>
            </a:lvl7pPr>
            <a:lvl8pPr marL="3657600" lvl="7" indent="-317500" rtl="0">
              <a:spcBef>
                <a:spcPts val="0"/>
              </a:spcBef>
              <a:spcAft>
                <a:spcPts val="0"/>
              </a:spcAft>
              <a:buSzPts val="1400"/>
              <a:buFont typeface="Red Hat Display"/>
              <a:buChar char="○"/>
              <a:defRPr sz="1200"/>
            </a:lvl8pPr>
            <a:lvl9pPr marL="4114800" lvl="8" indent="-317500" rtl="0">
              <a:spcBef>
                <a:spcPts val="0"/>
              </a:spcBef>
              <a:spcAft>
                <a:spcPts val="0"/>
              </a:spcAft>
              <a:buSzPts val="1400"/>
              <a:buFont typeface="Red Hat Display"/>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7">
    <p:bg>
      <p:bgPr>
        <a:solidFill>
          <a:schemeClr val="lt1"/>
        </a:solidFill>
        <a:effectLst/>
      </p:bgPr>
    </p:bg>
    <p:spTree>
      <p:nvGrpSpPr>
        <p:cNvPr id="1" name="Shape 154"/>
        <p:cNvGrpSpPr/>
        <p:nvPr/>
      </p:nvGrpSpPr>
      <p:grpSpPr>
        <a:xfrm>
          <a:off x="0" y="0"/>
          <a:ext cx="0" cy="0"/>
          <a:chOff x="0" y="0"/>
          <a:chExt cx="0" cy="0"/>
        </a:xfrm>
      </p:grpSpPr>
      <p:pic>
        <p:nvPicPr>
          <p:cNvPr id="155" name="Google Shape;155;p23"/>
          <p:cNvPicPr preferRelativeResize="0"/>
          <p:nvPr/>
        </p:nvPicPr>
        <p:blipFill rotWithShape="1">
          <a:blip r:embed="rId2">
            <a:alphaModFix amt="28000"/>
          </a:blip>
          <a:srcRect l="3953" r="60529"/>
          <a:stretch/>
        </p:blipFill>
        <p:spPr>
          <a:xfrm>
            <a:off x="0" y="0"/>
            <a:ext cx="3247699" cy="51435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7_1">
    <p:bg>
      <p:bgPr>
        <a:solidFill>
          <a:schemeClr val="lt2"/>
        </a:solidFill>
        <a:effectLst/>
      </p:bgPr>
    </p:bg>
    <p:spTree>
      <p:nvGrpSpPr>
        <p:cNvPr id="1" name="Shape 156"/>
        <p:cNvGrpSpPr/>
        <p:nvPr/>
      </p:nvGrpSpPr>
      <p:grpSpPr>
        <a:xfrm>
          <a:off x="0" y="0"/>
          <a:ext cx="0" cy="0"/>
          <a:chOff x="0" y="0"/>
          <a:chExt cx="0" cy="0"/>
        </a:xfrm>
      </p:grpSpPr>
      <p:pic>
        <p:nvPicPr>
          <p:cNvPr id="157" name="Google Shape;157;p24"/>
          <p:cNvPicPr preferRelativeResize="0"/>
          <p:nvPr/>
        </p:nvPicPr>
        <p:blipFill rotWithShape="1">
          <a:blip r:embed="rId2">
            <a:alphaModFix amt="28000"/>
          </a:blip>
          <a:srcRect l="43587" r="26256" b="-10"/>
          <a:stretch/>
        </p:blipFill>
        <p:spPr>
          <a:xfrm>
            <a:off x="6347800" y="0"/>
            <a:ext cx="2757350" cy="5143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CUSTOM_7_1_1">
    <p:bg>
      <p:bgPr>
        <a:solidFill>
          <a:schemeClr val="dk2"/>
        </a:solidFill>
        <a:effectLst/>
      </p:bgPr>
    </p:bg>
    <p:spTree>
      <p:nvGrpSpPr>
        <p:cNvPr id="1" name="Shape 158"/>
        <p:cNvGrpSpPr/>
        <p:nvPr/>
      </p:nvGrpSpPr>
      <p:grpSpPr>
        <a:xfrm>
          <a:off x="0" y="0"/>
          <a:ext cx="0" cy="0"/>
          <a:chOff x="0" y="0"/>
          <a:chExt cx="0" cy="0"/>
        </a:xfrm>
      </p:grpSpPr>
      <p:pic>
        <p:nvPicPr>
          <p:cNvPr id="159" name="Google Shape;159;p25"/>
          <p:cNvPicPr preferRelativeResize="0"/>
          <p:nvPr/>
        </p:nvPicPr>
        <p:blipFill rotWithShape="1">
          <a:blip r:embed="rId2">
            <a:alphaModFix amt="28000"/>
          </a:blip>
          <a:srcRect l="43587" r="26256" b="-10"/>
          <a:stretch/>
        </p:blipFill>
        <p:spPr>
          <a:xfrm flipH="1">
            <a:off x="-21813" y="0"/>
            <a:ext cx="2757350" cy="5143500"/>
          </a:xfrm>
          <a:prstGeom prst="rect">
            <a:avLst/>
          </a:prstGeom>
          <a:noFill/>
          <a:ln>
            <a:noFill/>
          </a:ln>
        </p:spPr>
      </p:pic>
      <p:pic>
        <p:nvPicPr>
          <p:cNvPr id="160" name="Google Shape;160;p25"/>
          <p:cNvPicPr preferRelativeResize="0"/>
          <p:nvPr/>
        </p:nvPicPr>
        <p:blipFill rotWithShape="1">
          <a:blip r:embed="rId2">
            <a:alphaModFix amt="28000"/>
          </a:blip>
          <a:srcRect l="3954" r="60452"/>
          <a:stretch/>
        </p:blipFill>
        <p:spPr>
          <a:xfrm flipH="1">
            <a:off x="5889374" y="0"/>
            <a:ext cx="3254626" cy="51435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324604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1pPr>
            <a:lvl2pPr lvl="1">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2pPr>
            <a:lvl3pPr lvl="2">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3pPr>
            <a:lvl4pPr lvl="3">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4pPr>
            <a:lvl5pPr lvl="4">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5pPr>
            <a:lvl6pPr lvl="5">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6pPr>
            <a:lvl7pPr lvl="6">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7pPr>
            <a:lvl8pPr lvl="7">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8pPr>
            <a:lvl9pPr lvl="8">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Encode Sans"/>
              <a:buChar char="●"/>
              <a:defRPr sz="1800">
                <a:solidFill>
                  <a:schemeClr val="dk1"/>
                </a:solidFill>
                <a:latin typeface="Encode Sans"/>
                <a:ea typeface="Encode Sans"/>
                <a:cs typeface="Encode Sans"/>
                <a:sym typeface="Encode Sans"/>
              </a:defRPr>
            </a:lvl1pPr>
            <a:lvl2pPr marL="914400" lvl="1"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marL="1371600" lvl="2"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marL="1828800" lvl="3"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marL="2286000" lvl="4"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marL="2743200" lvl="5"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marL="3200400" lvl="6"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marL="3657600" lvl="7"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marL="4114800" lvl="8"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6" r:id="rId3"/>
    <p:sldLayoutId id="2147483658" r:id="rId4"/>
    <p:sldLayoutId id="2147483664" r:id="rId5"/>
    <p:sldLayoutId id="2147483669" r:id="rId6"/>
    <p:sldLayoutId id="2147483670" r:id="rId7"/>
    <p:sldLayoutId id="2147483671" r:id="rId8"/>
    <p:sldLayoutId id="2147483675"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27000">
              <a:schemeClr val="dk2"/>
            </a:gs>
            <a:gs pos="100000">
              <a:schemeClr val="lt1"/>
            </a:gs>
          </a:gsLst>
          <a:lin ang="8100019" scaled="0"/>
        </a:gradFill>
        <a:effectLst/>
      </p:bgPr>
    </p:bg>
    <p:spTree>
      <p:nvGrpSpPr>
        <p:cNvPr id="1" name="Shape 170"/>
        <p:cNvGrpSpPr/>
        <p:nvPr/>
      </p:nvGrpSpPr>
      <p:grpSpPr>
        <a:xfrm>
          <a:off x="0" y="0"/>
          <a:ext cx="0" cy="0"/>
          <a:chOff x="0" y="0"/>
          <a:chExt cx="0" cy="0"/>
        </a:xfrm>
      </p:grpSpPr>
      <p:sp>
        <p:nvSpPr>
          <p:cNvPr id="171" name="Google Shape;171;p29"/>
          <p:cNvSpPr txBox="1">
            <a:spLocks noGrp="1"/>
          </p:cNvSpPr>
          <p:nvPr>
            <p:ph type="ctrTitle"/>
          </p:nvPr>
        </p:nvSpPr>
        <p:spPr>
          <a:xfrm>
            <a:off x="1473525" y="2562750"/>
            <a:ext cx="6196800" cy="151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t>Computer Networking</a:t>
            </a:r>
            <a:r>
              <a:rPr lang="en" dirty="0"/>
              <a:t> </a:t>
            </a:r>
            <a:r>
              <a:rPr lang="en" b="1" dirty="0">
                <a:solidFill>
                  <a:schemeClr val="accent2"/>
                </a:solidFill>
              </a:rPr>
              <a:t>CCNA 200-301</a:t>
            </a:r>
            <a:endParaRPr b="1" dirty="0"/>
          </a:p>
        </p:txBody>
      </p:sp>
      <p:pic>
        <p:nvPicPr>
          <p:cNvPr id="173" name="Google Shape;173;p29"/>
          <p:cNvPicPr preferRelativeResize="0">
            <a:picLocks noGrp="1"/>
          </p:cNvPicPr>
          <p:nvPr>
            <p:ph type="pic" idx="2"/>
          </p:nvPr>
        </p:nvPicPr>
        <p:blipFill rotWithShape="1">
          <a:blip r:embed="rId3">
            <a:alphaModFix/>
          </a:blip>
          <a:srcRect t="40896" b="23395"/>
          <a:stretch/>
        </p:blipFill>
        <p:spPr>
          <a:xfrm>
            <a:off x="0" y="0"/>
            <a:ext cx="9144003" cy="21761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AD8B-9C89-45E6-9229-24F01EDE128D}"/>
              </a:ext>
            </a:extLst>
          </p:cNvPr>
          <p:cNvSpPr>
            <a:spLocks noGrp="1"/>
          </p:cNvSpPr>
          <p:nvPr>
            <p:ph type="title"/>
          </p:nvPr>
        </p:nvSpPr>
        <p:spPr>
          <a:xfrm>
            <a:off x="626866" y="398317"/>
            <a:ext cx="7704000" cy="572700"/>
          </a:xfrm>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2CF795C4-3D8C-584A-7E90-CFF5EA566A69}"/>
              </a:ext>
            </a:extLst>
          </p:cNvPr>
          <p:cNvSpPr>
            <a:spLocks noGrp="1"/>
          </p:cNvSpPr>
          <p:nvPr>
            <p:ph type="body" idx="1"/>
          </p:nvPr>
        </p:nvSpPr>
        <p:spPr>
          <a:xfrm>
            <a:off x="720000" y="1008750"/>
            <a:ext cx="3574800" cy="3126000"/>
          </a:xfrm>
        </p:spPr>
        <p:txBody>
          <a:bodyPr/>
          <a:lstStyle/>
          <a:p>
            <a:pPr marL="139700" indent="0">
              <a:buNone/>
            </a:pPr>
            <a:r>
              <a:rPr lang="en-US" b="1" dirty="0"/>
              <a:t>         </a:t>
            </a:r>
            <a:r>
              <a:rPr lang="en-US" b="1" u="sng" dirty="0"/>
              <a:t>Module 1 Network Fundamentals</a:t>
            </a:r>
          </a:p>
          <a:p>
            <a:pPr marL="139700" indent="0">
              <a:buNone/>
            </a:pPr>
            <a:endParaRPr lang="en-US" b="1" dirty="0"/>
          </a:p>
          <a:p>
            <a:pPr marL="139700" indent="0">
              <a:buNone/>
            </a:pPr>
            <a:endParaRPr lang="en-US" b="1" dirty="0"/>
          </a:p>
          <a:p>
            <a:pPr>
              <a:buFont typeface="+mj-lt"/>
              <a:buAutoNum type="arabicPeriod"/>
            </a:pPr>
            <a:r>
              <a:rPr lang="en-US" dirty="0"/>
              <a:t>Explain Role and Function of Network Components : Routers, Switches, Firewall, IPs, WLC, AP, Endpoints, Servers</a:t>
            </a:r>
          </a:p>
          <a:p>
            <a:pPr>
              <a:buFont typeface="+mj-lt"/>
              <a:buAutoNum type="arabicPeriod"/>
            </a:pPr>
            <a:endParaRPr lang="en-US" dirty="0"/>
          </a:p>
          <a:p>
            <a:pPr>
              <a:buFont typeface="+mj-lt"/>
              <a:buAutoNum type="arabicPeriod"/>
            </a:pPr>
            <a:r>
              <a:rPr lang="en-US" dirty="0"/>
              <a:t>OSI Reference Model and TCP/ IP Model</a:t>
            </a:r>
          </a:p>
          <a:p>
            <a:pPr>
              <a:buFont typeface="+mj-lt"/>
              <a:buAutoNum type="arabicPeriod"/>
            </a:pPr>
            <a:endParaRPr lang="en-US" dirty="0"/>
          </a:p>
          <a:p>
            <a:pPr>
              <a:buFont typeface="+mj-lt"/>
              <a:buAutoNum type="arabicPeriod"/>
            </a:pPr>
            <a:r>
              <a:rPr lang="en-US" dirty="0"/>
              <a:t>IPv4 Addressing and Subnetting</a:t>
            </a:r>
          </a:p>
          <a:p>
            <a:pPr>
              <a:buFont typeface="+mj-lt"/>
              <a:buAutoNum type="arabicPeriod"/>
            </a:pPr>
            <a:endParaRPr lang="en-US" dirty="0"/>
          </a:p>
          <a:p>
            <a:pPr>
              <a:buFont typeface="+mj-lt"/>
              <a:buAutoNum type="arabicPeriod"/>
            </a:pPr>
            <a:r>
              <a:rPr lang="en-US" dirty="0"/>
              <a:t>IPv6 Addressing and IPv6 address Types</a:t>
            </a:r>
          </a:p>
          <a:p>
            <a:endParaRPr lang="en-PK" dirty="0"/>
          </a:p>
        </p:txBody>
      </p:sp>
      <p:sp>
        <p:nvSpPr>
          <p:cNvPr id="4" name="Text Placeholder 3">
            <a:extLst>
              <a:ext uri="{FF2B5EF4-FFF2-40B4-BE49-F238E27FC236}">
                <a16:creationId xmlns:a16="http://schemas.microsoft.com/office/drawing/2014/main" id="{CC0B6BE5-6ECB-F1EB-08BA-92F5BF3F34E9}"/>
              </a:ext>
            </a:extLst>
          </p:cNvPr>
          <p:cNvSpPr>
            <a:spLocks noGrp="1"/>
          </p:cNvSpPr>
          <p:nvPr>
            <p:ph type="body" idx="2"/>
          </p:nvPr>
        </p:nvSpPr>
        <p:spPr>
          <a:xfrm>
            <a:off x="4849202" y="1008750"/>
            <a:ext cx="3574800" cy="3126000"/>
          </a:xfrm>
        </p:spPr>
        <p:txBody>
          <a:bodyPr/>
          <a:lstStyle/>
          <a:p>
            <a:pPr marL="139700" indent="0">
              <a:buNone/>
            </a:pPr>
            <a:r>
              <a:rPr lang="en-US" b="1" u="sng" dirty="0"/>
              <a:t>Module 2 Basic Configuration of Router and Lan Switching</a:t>
            </a:r>
          </a:p>
          <a:p>
            <a:endParaRPr lang="en-US" dirty="0"/>
          </a:p>
          <a:p>
            <a:pPr>
              <a:buFont typeface="+mj-lt"/>
              <a:buAutoNum type="arabicPeriod"/>
            </a:pPr>
            <a:r>
              <a:rPr lang="en-US" dirty="0"/>
              <a:t>Modes of Router</a:t>
            </a:r>
          </a:p>
          <a:p>
            <a:pPr>
              <a:buFont typeface="+mj-lt"/>
              <a:buAutoNum type="arabicPeriod"/>
            </a:pPr>
            <a:r>
              <a:rPr lang="en-US" dirty="0"/>
              <a:t>Basic Security of Router (Passwords) and Configuration of IP on Router</a:t>
            </a:r>
          </a:p>
          <a:p>
            <a:pPr>
              <a:buFont typeface="+mj-lt"/>
              <a:buAutoNum type="arabicPeriod"/>
            </a:pPr>
            <a:r>
              <a:rPr lang="en-US" dirty="0"/>
              <a:t>Point to Point connectivity of Routers</a:t>
            </a:r>
          </a:p>
          <a:p>
            <a:pPr>
              <a:buFont typeface="+mj-lt"/>
              <a:buAutoNum type="arabicPeriod"/>
            </a:pPr>
            <a:r>
              <a:rPr lang="en-US" dirty="0"/>
              <a:t>Configure and Verify Layer2 Discovery Protocols (CDP and LLDP)</a:t>
            </a:r>
          </a:p>
          <a:p>
            <a:pPr>
              <a:buFont typeface="+mj-lt"/>
              <a:buAutoNum type="arabicPeriod"/>
            </a:pPr>
            <a:r>
              <a:rPr lang="en-US" dirty="0"/>
              <a:t>Basic Operation of Switch (Collision Domain and Broadcast Domain)</a:t>
            </a:r>
          </a:p>
          <a:p>
            <a:pPr>
              <a:buFont typeface="+mj-lt"/>
              <a:buAutoNum type="arabicPeriod"/>
            </a:pPr>
            <a:r>
              <a:rPr lang="en-US" dirty="0"/>
              <a:t>Spanning-tree Protocol (PVST, RSTP), Port states and Port fast</a:t>
            </a:r>
          </a:p>
          <a:p>
            <a:pPr>
              <a:buFont typeface="+mj-lt"/>
              <a:buAutoNum type="arabicPeriod"/>
            </a:pPr>
            <a:r>
              <a:rPr lang="en-US" dirty="0"/>
              <a:t>Configure and Verify VLANS and Inter-switch Connectivity (Trunk ports, 802.Iq)</a:t>
            </a:r>
          </a:p>
          <a:p>
            <a:pPr>
              <a:buFont typeface="+mj-lt"/>
              <a:buAutoNum type="arabicPeriod"/>
            </a:pPr>
            <a:r>
              <a:rPr lang="en-US" dirty="0"/>
              <a:t>Ether-channel</a:t>
            </a:r>
          </a:p>
          <a:p>
            <a:pPr>
              <a:buFont typeface="+mj-lt"/>
              <a:buAutoNum type="arabicPeriod"/>
            </a:pPr>
            <a:r>
              <a:rPr lang="en-US" dirty="0"/>
              <a:t>Cisco Wireless Architecture and AP modes</a:t>
            </a:r>
          </a:p>
          <a:p>
            <a:pPr>
              <a:buFont typeface="+mj-lt"/>
              <a:buAutoNum type="arabicPeriod"/>
            </a:pPr>
            <a:r>
              <a:rPr lang="en-US" dirty="0"/>
              <a:t>Configuration of Wireless Lan Controller and AP Using GUI (WPA, WPA2, PSK)</a:t>
            </a:r>
          </a:p>
          <a:p>
            <a:endParaRPr lang="en-PK" dirty="0"/>
          </a:p>
        </p:txBody>
      </p:sp>
    </p:spTree>
    <p:extLst>
      <p:ext uri="{BB962C8B-B14F-4D97-AF65-F5344CB8AC3E}">
        <p14:creationId xmlns:p14="http://schemas.microsoft.com/office/powerpoint/2010/main" val="2620441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623FD-A352-CF20-8EA0-DB2B003339A8}"/>
              </a:ext>
            </a:extLst>
          </p:cNvPr>
          <p:cNvSpPr>
            <a:spLocks noGrp="1"/>
          </p:cNvSpPr>
          <p:nvPr>
            <p:ph type="title"/>
          </p:nvPr>
        </p:nvSpPr>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6CA907DA-D133-76D8-1CC0-D7C36E682D1F}"/>
              </a:ext>
            </a:extLst>
          </p:cNvPr>
          <p:cNvSpPr>
            <a:spLocks noGrp="1"/>
          </p:cNvSpPr>
          <p:nvPr>
            <p:ph type="body" idx="1"/>
          </p:nvPr>
        </p:nvSpPr>
        <p:spPr/>
        <p:txBody>
          <a:bodyPr/>
          <a:lstStyle/>
          <a:p>
            <a:pPr marL="139700" indent="0">
              <a:buNone/>
            </a:pPr>
            <a:r>
              <a:rPr lang="en-US" b="1" u="sng" dirty="0"/>
              <a:t>Module 3 IP Routing</a:t>
            </a:r>
          </a:p>
          <a:p>
            <a:pPr marL="139700" indent="0">
              <a:buNone/>
            </a:pPr>
            <a:endParaRPr lang="en-US" b="1" u="sng" dirty="0"/>
          </a:p>
          <a:p>
            <a:pPr marL="368300" indent="-228600">
              <a:buFont typeface="+mj-lt"/>
              <a:buAutoNum type="arabicPeriod"/>
            </a:pPr>
            <a:r>
              <a:rPr lang="en-US" dirty="0"/>
              <a:t>Static Routing with IPv4 and IPv6, floating static route and Default route</a:t>
            </a:r>
          </a:p>
          <a:p>
            <a:pPr marL="368300" indent="-228600">
              <a:buFont typeface="+mj-lt"/>
              <a:buAutoNum type="arabicPeriod"/>
            </a:pPr>
            <a:endParaRPr lang="en-US" dirty="0"/>
          </a:p>
          <a:p>
            <a:pPr marL="368300" indent="-228600">
              <a:buFont typeface="+mj-lt"/>
              <a:buAutoNum type="arabicPeriod"/>
            </a:pPr>
            <a:r>
              <a:rPr lang="en-US" dirty="0"/>
              <a:t>Configure and Verify Single area OSPF</a:t>
            </a:r>
          </a:p>
          <a:p>
            <a:pPr marL="368300" indent="-228600">
              <a:buFont typeface="+mj-lt"/>
              <a:buAutoNum type="arabicPeriod"/>
            </a:pPr>
            <a:endParaRPr lang="en-US" dirty="0"/>
          </a:p>
          <a:p>
            <a:pPr marL="368300" indent="-228600">
              <a:buFont typeface="+mj-lt"/>
              <a:buAutoNum type="arabicPeriod"/>
            </a:pPr>
            <a:r>
              <a:rPr lang="en-US" dirty="0"/>
              <a:t>DR and BDR election. Point to point, Concept of Router-ID</a:t>
            </a:r>
          </a:p>
          <a:p>
            <a:endParaRPr lang="en-PK" dirty="0"/>
          </a:p>
        </p:txBody>
      </p:sp>
      <p:sp>
        <p:nvSpPr>
          <p:cNvPr id="4" name="Text Placeholder 3">
            <a:extLst>
              <a:ext uri="{FF2B5EF4-FFF2-40B4-BE49-F238E27FC236}">
                <a16:creationId xmlns:a16="http://schemas.microsoft.com/office/drawing/2014/main" id="{CA9845EB-6CB3-C181-C3BC-1392C51E3DB3}"/>
              </a:ext>
            </a:extLst>
          </p:cNvPr>
          <p:cNvSpPr>
            <a:spLocks noGrp="1"/>
          </p:cNvSpPr>
          <p:nvPr>
            <p:ph type="body" idx="2"/>
          </p:nvPr>
        </p:nvSpPr>
        <p:spPr/>
        <p:txBody>
          <a:bodyPr/>
          <a:lstStyle/>
          <a:p>
            <a:pPr marL="139700" indent="0">
              <a:buNone/>
            </a:pPr>
            <a:r>
              <a:rPr lang="en-US" b="1" u="sng" dirty="0"/>
              <a:t>Module 4 IP Services</a:t>
            </a:r>
          </a:p>
          <a:p>
            <a:pPr marL="139700" indent="0">
              <a:buNone/>
            </a:pPr>
            <a:endParaRPr lang="en-US" dirty="0"/>
          </a:p>
          <a:p>
            <a:pPr marL="368300" indent="-228600">
              <a:buFont typeface="+mj-lt"/>
              <a:buAutoNum type="arabicPeriod"/>
            </a:pPr>
            <a:r>
              <a:rPr lang="en-US" dirty="0"/>
              <a:t>NAT</a:t>
            </a:r>
          </a:p>
          <a:p>
            <a:pPr marL="368300" indent="-228600">
              <a:buFont typeface="+mj-lt"/>
              <a:buAutoNum type="arabicPeriod"/>
            </a:pPr>
            <a:endParaRPr lang="en-US" dirty="0"/>
          </a:p>
          <a:p>
            <a:pPr marL="368300" indent="-228600">
              <a:buFont typeface="+mj-lt"/>
              <a:buAutoNum type="arabicPeriod"/>
            </a:pPr>
            <a:r>
              <a:rPr lang="en-US" dirty="0"/>
              <a:t>Configure and Verify NTP</a:t>
            </a:r>
          </a:p>
          <a:p>
            <a:pPr marL="368300" indent="-228600">
              <a:buFont typeface="+mj-lt"/>
              <a:buAutoNum type="arabicPeriod"/>
            </a:pPr>
            <a:endParaRPr lang="en-US" dirty="0"/>
          </a:p>
          <a:p>
            <a:pPr marL="368300" indent="-228600">
              <a:buFont typeface="+mj-lt"/>
              <a:buAutoNum type="arabicPeriod"/>
            </a:pPr>
            <a:r>
              <a:rPr lang="en-US" dirty="0"/>
              <a:t>Describe DNS, SNMP, Syslog, QOS, Function of FTP and TFPF in network</a:t>
            </a:r>
          </a:p>
          <a:p>
            <a:pPr marL="368300" indent="-228600">
              <a:buFont typeface="+mj-lt"/>
              <a:buAutoNum type="arabicPeriod"/>
            </a:pPr>
            <a:endParaRPr lang="en-US" dirty="0"/>
          </a:p>
          <a:p>
            <a:pPr marL="368300" indent="-228600">
              <a:buFont typeface="+mj-lt"/>
              <a:buAutoNum type="arabicPeriod"/>
            </a:pPr>
            <a:r>
              <a:rPr lang="en-US" dirty="0"/>
              <a:t>Configuration of DHCP, telnet and SSH</a:t>
            </a:r>
          </a:p>
          <a:p>
            <a:pPr marL="368300" indent="-228600">
              <a:buFont typeface="+mj-lt"/>
              <a:buAutoNum type="arabicPeriod"/>
            </a:pPr>
            <a:endParaRPr lang="en-US" dirty="0"/>
          </a:p>
          <a:p>
            <a:pPr marL="368300" indent="-228600">
              <a:buFont typeface="+mj-lt"/>
              <a:buAutoNum type="arabicPeriod"/>
            </a:pPr>
            <a:r>
              <a:rPr lang="en-US" dirty="0"/>
              <a:t>Describe the function of First hop redundancy protocol (HSRP, VRRP, GLBP)</a:t>
            </a:r>
          </a:p>
          <a:p>
            <a:endParaRPr lang="en-PK" dirty="0"/>
          </a:p>
        </p:txBody>
      </p:sp>
    </p:spTree>
    <p:extLst>
      <p:ext uri="{BB962C8B-B14F-4D97-AF65-F5344CB8AC3E}">
        <p14:creationId xmlns:p14="http://schemas.microsoft.com/office/powerpoint/2010/main" val="1012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E969-00E8-7A11-69BD-BDDBC850DBFA}"/>
              </a:ext>
            </a:extLst>
          </p:cNvPr>
          <p:cNvSpPr>
            <a:spLocks noGrp="1"/>
          </p:cNvSpPr>
          <p:nvPr>
            <p:ph type="title"/>
          </p:nvPr>
        </p:nvSpPr>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F43FA2C1-3BF8-0943-2EEC-DF30B67DE23F}"/>
              </a:ext>
            </a:extLst>
          </p:cNvPr>
          <p:cNvSpPr>
            <a:spLocks noGrp="1"/>
          </p:cNvSpPr>
          <p:nvPr>
            <p:ph type="body" idx="1"/>
          </p:nvPr>
        </p:nvSpPr>
        <p:spPr/>
        <p:txBody>
          <a:bodyPr/>
          <a:lstStyle/>
          <a:p>
            <a:pPr marL="139700" indent="0">
              <a:buNone/>
            </a:pPr>
            <a:r>
              <a:rPr lang="en-US" b="1" u="sng" dirty="0"/>
              <a:t>Module 5 Security Fundamentals</a:t>
            </a:r>
          </a:p>
          <a:p>
            <a:pPr marL="139700" indent="0">
              <a:buNone/>
            </a:pPr>
            <a:endParaRPr lang="en-US" b="1" u="sng" dirty="0"/>
          </a:p>
          <a:p>
            <a:pPr marL="368300" indent="-228600">
              <a:buFont typeface="+mj-lt"/>
              <a:buAutoNum type="arabicPeriod"/>
            </a:pPr>
            <a:r>
              <a:rPr lang="en-US" dirty="0"/>
              <a:t>Configure and Verify Access control List</a:t>
            </a:r>
          </a:p>
          <a:p>
            <a:pPr marL="368300" indent="-228600">
              <a:buFont typeface="+mj-lt"/>
              <a:buAutoNum type="arabicPeriod"/>
            </a:pPr>
            <a:endParaRPr lang="en-US" dirty="0"/>
          </a:p>
          <a:p>
            <a:pPr marL="368300" indent="-228600">
              <a:buFont typeface="+mj-lt"/>
              <a:buAutoNum type="arabicPeriod"/>
            </a:pPr>
            <a:r>
              <a:rPr lang="en-US" dirty="0"/>
              <a:t>Describe VPN Technologies (Site-to-site VPN and Remote access VPN)</a:t>
            </a:r>
          </a:p>
          <a:p>
            <a:pPr marL="368300" indent="-228600">
              <a:buFont typeface="+mj-lt"/>
              <a:buAutoNum type="arabicPeriod"/>
            </a:pPr>
            <a:endParaRPr lang="en-US" dirty="0"/>
          </a:p>
          <a:p>
            <a:pPr marL="368300" indent="-228600">
              <a:buFont typeface="+mj-lt"/>
              <a:buAutoNum type="arabicPeriod"/>
            </a:pPr>
            <a:r>
              <a:rPr lang="en-US" dirty="0"/>
              <a:t>Describe Authentication, Authorization and Accounting (AAA)</a:t>
            </a:r>
          </a:p>
          <a:p>
            <a:pPr marL="368300" indent="-228600">
              <a:buFont typeface="+mj-lt"/>
              <a:buAutoNum type="arabicPeriod"/>
            </a:pPr>
            <a:endParaRPr lang="en-US" dirty="0"/>
          </a:p>
          <a:p>
            <a:pPr marL="368300" indent="-228600">
              <a:buFont typeface="+mj-lt"/>
              <a:buAutoNum type="arabicPeriod"/>
            </a:pPr>
            <a:r>
              <a:rPr lang="en-US" dirty="0"/>
              <a:t>Configure Port Security, DHCP Snooping and Dynamic ARP Inspection</a:t>
            </a:r>
          </a:p>
          <a:p>
            <a:endParaRPr lang="en-PK" dirty="0"/>
          </a:p>
        </p:txBody>
      </p:sp>
      <p:sp>
        <p:nvSpPr>
          <p:cNvPr id="4" name="Text Placeholder 3">
            <a:extLst>
              <a:ext uri="{FF2B5EF4-FFF2-40B4-BE49-F238E27FC236}">
                <a16:creationId xmlns:a16="http://schemas.microsoft.com/office/drawing/2014/main" id="{97641281-3B19-5473-AF2C-C151D36D501E}"/>
              </a:ext>
            </a:extLst>
          </p:cNvPr>
          <p:cNvSpPr>
            <a:spLocks noGrp="1"/>
          </p:cNvSpPr>
          <p:nvPr>
            <p:ph type="body" idx="2"/>
          </p:nvPr>
        </p:nvSpPr>
        <p:spPr/>
        <p:txBody>
          <a:bodyPr/>
          <a:lstStyle/>
          <a:p>
            <a:pPr marL="139700" indent="0">
              <a:buNone/>
            </a:pPr>
            <a:r>
              <a:rPr lang="en-US" b="1" u="sng" dirty="0"/>
              <a:t>Module 6 Automation and Programmability</a:t>
            </a:r>
          </a:p>
          <a:p>
            <a:pPr marL="139700" indent="0">
              <a:buNone/>
            </a:pPr>
            <a:endParaRPr lang="en-US" b="1" u="sng" dirty="0"/>
          </a:p>
          <a:p>
            <a:pPr marL="368300" indent="-228600">
              <a:buFont typeface="+mj-lt"/>
              <a:buAutoNum type="arabicPeriod"/>
            </a:pPr>
            <a:r>
              <a:rPr lang="en-US" dirty="0"/>
              <a:t>Explain how automation impacts network management</a:t>
            </a:r>
          </a:p>
          <a:p>
            <a:pPr marL="368300" indent="-228600">
              <a:buFont typeface="+mj-lt"/>
              <a:buAutoNum type="arabicPeriod"/>
            </a:pPr>
            <a:endParaRPr lang="en-US" dirty="0"/>
          </a:p>
          <a:p>
            <a:pPr marL="368300" indent="-228600">
              <a:buFont typeface="+mj-lt"/>
              <a:buAutoNum type="arabicPeriod"/>
            </a:pPr>
            <a:r>
              <a:rPr lang="en-US" dirty="0"/>
              <a:t>Compare traditional network with controller-based networking</a:t>
            </a:r>
          </a:p>
          <a:p>
            <a:pPr marL="368300" indent="-228600">
              <a:buFont typeface="+mj-lt"/>
              <a:buAutoNum type="arabicPeriod"/>
            </a:pPr>
            <a:endParaRPr lang="en-US" dirty="0"/>
          </a:p>
          <a:p>
            <a:pPr marL="368300" indent="-228600">
              <a:buFont typeface="+mj-lt"/>
              <a:buAutoNum type="arabicPeriod"/>
            </a:pPr>
            <a:r>
              <a:rPr lang="en-US" dirty="0"/>
              <a:t>Compare traditional campus device management with Cisco DNA Center enabled device Management.</a:t>
            </a:r>
          </a:p>
          <a:p>
            <a:endParaRPr lang="en-PK" dirty="0"/>
          </a:p>
        </p:txBody>
      </p:sp>
    </p:spTree>
    <p:extLst>
      <p:ext uri="{BB962C8B-B14F-4D97-AF65-F5344CB8AC3E}">
        <p14:creationId xmlns:p14="http://schemas.microsoft.com/office/powerpoint/2010/main" val="2681105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83BC-3DF6-3F58-625C-8848C10A2FE6}"/>
              </a:ext>
            </a:extLst>
          </p:cNvPr>
          <p:cNvSpPr>
            <a:spLocks noGrp="1"/>
          </p:cNvSpPr>
          <p:nvPr>
            <p:ph type="title"/>
          </p:nvPr>
        </p:nvSpPr>
        <p:spPr/>
        <p:txBody>
          <a:bodyPr/>
          <a:lstStyle/>
          <a:p>
            <a:r>
              <a:rPr lang="en-US" b="1" dirty="0"/>
              <a:t>Module 4 IP Services</a:t>
            </a:r>
          </a:p>
        </p:txBody>
      </p:sp>
      <p:sp>
        <p:nvSpPr>
          <p:cNvPr id="3" name="Text Placeholder 2">
            <a:extLst>
              <a:ext uri="{FF2B5EF4-FFF2-40B4-BE49-F238E27FC236}">
                <a16:creationId xmlns:a16="http://schemas.microsoft.com/office/drawing/2014/main" id="{5D55B719-97A5-6915-1D6C-F1BE14E70F60}"/>
              </a:ext>
            </a:extLst>
          </p:cNvPr>
          <p:cNvSpPr>
            <a:spLocks noGrp="1"/>
          </p:cNvSpPr>
          <p:nvPr>
            <p:ph type="body" idx="1"/>
          </p:nvPr>
        </p:nvSpPr>
        <p:spPr>
          <a:xfrm>
            <a:off x="921934" y="1248166"/>
            <a:ext cx="7502066" cy="3002101"/>
          </a:xfrm>
        </p:spPr>
        <p:txBody>
          <a:bodyPr/>
          <a:lstStyle/>
          <a:p>
            <a:pPr marL="368300" indent="-228600">
              <a:buFont typeface="+mj-lt"/>
              <a:buAutoNum type="arabicPeriod"/>
            </a:pPr>
            <a:r>
              <a:rPr lang="en-US" sz="1600" dirty="0"/>
              <a:t>NAT</a:t>
            </a:r>
          </a:p>
          <a:p>
            <a:pPr marL="368300" indent="-228600">
              <a:buFont typeface="+mj-lt"/>
              <a:buAutoNum type="arabicPeriod"/>
            </a:pPr>
            <a:endParaRPr lang="en-US" sz="1600" dirty="0"/>
          </a:p>
          <a:p>
            <a:pPr marL="368300" indent="-228600">
              <a:buFont typeface="+mj-lt"/>
              <a:buAutoNum type="arabicPeriod"/>
            </a:pPr>
            <a:r>
              <a:rPr lang="en-US" sz="1600" dirty="0"/>
              <a:t>Configure and Verify NTP</a:t>
            </a:r>
          </a:p>
          <a:p>
            <a:pPr marL="368300" indent="-228600">
              <a:buFont typeface="+mj-lt"/>
              <a:buAutoNum type="arabicPeriod"/>
            </a:pPr>
            <a:endParaRPr lang="en-US" sz="1600" dirty="0"/>
          </a:p>
          <a:p>
            <a:pPr marL="368300" indent="-228600">
              <a:buFont typeface="+mj-lt"/>
              <a:buAutoNum type="arabicPeriod"/>
            </a:pPr>
            <a:r>
              <a:rPr lang="en-US" sz="1600" dirty="0"/>
              <a:t>Describe DNS, SNMP, Syslog, QOS, Function of FTP and TFPF in network</a:t>
            </a:r>
          </a:p>
          <a:p>
            <a:pPr marL="368300" indent="-228600">
              <a:buFont typeface="+mj-lt"/>
              <a:buAutoNum type="arabicPeriod"/>
            </a:pPr>
            <a:endParaRPr lang="en-US" sz="1600" dirty="0"/>
          </a:p>
          <a:p>
            <a:pPr marL="368300" indent="-228600">
              <a:buFont typeface="+mj-lt"/>
              <a:buAutoNum type="arabicPeriod"/>
            </a:pPr>
            <a:r>
              <a:rPr lang="en-US" sz="1600" dirty="0"/>
              <a:t>Configuration of DHCP</a:t>
            </a:r>
          </a:p>
          <a:p>
            <a:pPr marL="368300" indent="-228600">
              <a:buFont typeface="+mj-lt"/>
              <a:buAutoNum type="arabicPeriod"/>
            </a:pPr>
            <a:endParaRPr lang="en-US" sz="1600" dirty="0"/>
          </a:p>
          <a:p>
            <a:pPr marL="368300" indent="-228600">
              <a:buFont typeface="+mj-lt"/>
              <a:buAutoNum type="arabicPeriod"/>
            </a:pPr>
            <a:r>
              <a:rPr lang="en-US" sz="1600" dirty="0"/>
              <a:t>Describe the function of First hope redundancy protocol( HSRP, VRRP, GLBP)</a:t>
            </a:r>
          </a:p>
          <a:p>
            <a:pPr marL="139700" indent="0">
              <a:buNone/>
            </a:pPr>
            <a:endParaRPr lang="en-US" sz="1600" dirty="0"/>
          </a:p>
          <a:p>
            <a:endParaRPr lang="en-PK" dirty="0"/>
          </a:p>
        </p:txBody>
      </p:sp>
    </p:spTree>
    <p:extLst>
      <p:ext uri="{BB962C8B-B14F-4D97-AF65-F5344CB8AC3E}">
        <p14:creationId xmlns:p14="http://schemas.microsoft.com/office/powerpoint/2010/main" val="409625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83CB1-AD41-A6AF-2584-9AFB6B0B36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1CAAAA-EAF9-4005-480D-6CEA3BD6B758}"/>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E1004375-21A4-32F2-F639-BC7E5AB033B9}"/>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622F75B-3763-AFAD-59D7-0F9D60F70BB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D88EA0D-CF27-925D-81B0-DE1FF5142909}"/>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9F94AB6-231B-27B5-F7FE-15F8D2268D64}"/>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C18B4428-E045-05C3-0EE5-E8C689CA25F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D2A33618-11C6-DC71-318B-92A30E573C30}"/>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04666C8C-1B7A-8315-EF15-387183663EE2}"/>
              </a:ext>
            </a:extLst>
          </p:cNvPr>
          <p:cNvSpPr txBox="1"/>
          <p:nvPr/>
        </p:nvSpPr>
        <p:spPr>
          <a:xfrm>
            <a:off x="255938" y="350103"/>
            <a:ext cx="8667780" cy="4508927"/>
          </a:xfrm>
          <a:prstGeom prst="rect">
            <a:avLst/>
          </a:prstGeom>
          <a:noFill/>
        </p:spPr>
        <p:txBody>
          <a:bodyPr wrap="square">
            <a:spAutoFit/>
          </a:bodyPr>
          <a:lstStyle/>
          <a:p>
            <a:r>
              <a:rPr lang="en-US" sz="1200" b="1" dirty="0">
                <a:solidFill>
                  <a:srgbClr val="403CCF"/>
                </a:solidFill>
                <a:latin typeface="Libre Baskerville" pitchFamily="34" charset="0"/>
              </a:rPr>
              <a:t>Scenario : </a:t>
            </a:r>
          </a:p>
          <a:p>
            <a:endParaRPr lang="en-US" sz="1100" b="1" dirty="0">
              <a:solidFill>
                <a:srgbClr val="403CCF"/>
              </a:solidFill>
              <a:latin typeface="Libre Baskerville" pitchFamily="34" charset="0"/>
            </a:endParaRPr>
          </a:p>
          <a:p>
            <a:r>
              <a:rPr lang="en-US" sz="1100" dirty="0"/>
              <a:t>My company have three branches: </a:t>
            </a:r>
          </a:p>
          <a:p>
            <a:pPr marL="228600" indent="-228600">
              <a:buAutoNum type="arabicPeriod"/>
            </a:pPr>
            <a:r>
              <a:rPr lang="en-US" sz="1100" dirty="0"/>
              <a:t>Lahore</a:t>
            </a:r>
          </a:p>
          <a:p>
            <a:pPr marL="228600" indent="-228600">
              <a:buAutoNum type="arabicPeriod"/>
            </a:pPr>
            <a:r>
              <a:rPr lang="en-US" sz="1100" dirty="0"/>
              <a:t>Peshawar </a:t>
            </a:r>
          </a:p>
          <a:p>
            <a:pPr marL="228600" indent="-228600">
              <a:buAutoNum type="arabicPeriod"/>
            </a:pPr>
            <a:r>
              <a:rPr lang="en-US" sz="1100" dirty="0"/>
              <a:t>Islamabad </a:t>
            </a:r>
          </a:p>
          <a:p>
            <a:endParaRPr lang="en-US" sz="1100" dirty="0"/>
          </a:p>
          <a:p>
            <a:pPr marL="171450" indent="-171450">
              <a:buFont typeface="Wingdings" panose="05000000000000000000" pitchFamily="2" charset="2"/>
              <a:buChar char="ü"/>
            </a:pPr>
            <a:r>
              <a:rPr lang="en-US" sz="1100" dirty="0"/>
              <a:t>Islamabad ↔ Lahore ↔ Peshawar:  routers are all part of your company network.</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This is an internal WAN (Wide Area Network), not the public internet.</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You can use private IP addressing between these routers, and they will communicate fine because they belong to the same organization.</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As long as routing protocols (like OSPF, EIGRP, BGP, etc.) or static routes are configured, your routers will exchange routes and your company traffic will flow.</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highlight>
                  <a:srgbClr val="00FFFF"/>
                </a:highlight>
              </a:rPr>
              <a:t>This work fine , and the communication is fine </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endParaRPr lang="en-US" sz="1100" dirty="0"/>
          </a:p>
          <a:p>
            <a:r>
              <a:rPr lang="en-US" sz="1100" dirty="0">
                <a:highlight>
                  <a:srgbClr val="00FF00"/>
                </a:highlight>
              </a:rPr>
              <a:t>So Now what if I want to go to the internet can I go ? </a:t>
            </a:r>
          </a:p>
          <a:p>
            <a:r>
              <a:rPr lang="en-US" sz="1100" dirty="0">
                <a:highlight>
                  <a:srgbClr val="00FF00"/>
                </a:highlight>
              </a:rPr>
              <a:t>Answer is no. </a:t>
            </a:r>
          </a:p>
          <a:p>
            <a:r>
              <a:rPr lang="en-US" sz="1100" b="1" dirty="0">
                <a:highlight>
                  <a:srgbClr val="00FF00"/>
                </a:highlight>
              </a:rPr>
              <a:t>Going out to the internet: NAT needed</a:t>
            </a:r>
          </a:p>
        </p:txBody>
      </p:sp>
    </p:spTree>
    <p:extLst>
      <p:ext uri="{BB962C8B-B14F-4D97-AF65-F5344CB8AC3E}">
        <p14:creationId xmlns:p14="http://schemas.microsoft.com/office/powerpoint/2010/main" val="3180252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1631-87BB-01D7-5CFF-7C6D12D613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A631C2B-50A9-FD7D-C3DF-2FBFDB7F82EC}"/>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E3B50AE-7F0F-5017-4BBD-D4046A986C2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472BAC0B-AC23-049D-1E16-43C174274C4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0981CF6-02DC-88B0-85B6-1749D1C3D27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0B9D5EB8-740D-46C0-C444-E326E86009A2}"/>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23B6C97B-5550-67FF-E386-5A4790EBED6E}"/>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5C72D672-1614-293E-C770-C65F46F6BEB8}"/>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54AAA9C3-250D-90D3-8667-C48080F9E700}"/>
              </a:ext>
            </a:extLst>
          </p:cNvPr>
          <p:cNvSpPr txBox="1"/>
          <p:nvPr/>
        </p:nvSpPr>
        <p:spPr>
          <a:xfrm>
            <a:off x="255938" y="263362"/>
            <a:ext cx="8667780" cy="4339650"/>
          </a:xfrm>
          <a:prstGeom prst="rect">
            <a:avLst/>
          </a:prstGeom>
          <a:noFill/>
        </p:spPr>
        <p:txBody>
          <a:bodyPr wrap="square">
            <a:spAutoFit/>
          </a:bodyPr>
          <a:lstStyle/>
          <a:p>
            <a:endParaRPr lang="en-US" sz="1200" b="1" dirty="0">
              <a:solidFill>
                <a:srgbClr val="403CCF"/>
              </a:solidFill>
              <a:latin typeface="Libre Baskerville" pitchFamily="34" charset="0"/>
            </a:endParaRPr>
          </a:p>
          <a:p>
            <a:r>
              <a:rPr lang="en-US" sz="1200" b="1" dirty="0">
                <a:solidFill>
                  <a:srgbClr val="403CCF"/>
                </a:solidFill>
                <a:latin typeface="Libre Baskerville" pitchFamily="34" charset="0"/>
              </a:rPr>
              <a:t>Why devices without NAT cannot go to the internet?</a:t>
            </a:r>
          </a:p>
          <a:p>
            <a:endParaRPr lang="en-US" sz="1100" b="1"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Inside a LAN, devices usually have private IP addresses (like 192.168.1.2 </a:t>
            </a:r>
            <a:r>
              <a:rPr lang="en-US" sz="1100" dirty="0" err="1"/>
              <a:t>etc</a:t>
            </a:r>
            <a:r>
              <a:rPr lang="en-US" sz="1100" dirty="0"/>
              <a:t>).</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These private IPs are not routable on the internet ,routers on the internet will simply drop such packets.</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The internet only understands public IP addresses.</a:t>
            </a:r>
          </a:p>
          <a:p>
            <a:pPr marL="171450" indent="-171450">
              <a:buFont typeface="Wingdings" panose="05000000000000000000" pitchFamily="2" charset="2"/>
              <a:buChar char="ü"/>
            </a:pPr>
            <a:endParaRPr lang="en-US" sz="1100" dirty="0"/>
          </a:p>
          <a:p>
            <a:r>
              <a:rPr lang="en-US" sz="1100" dirty="0"/>
              <a:t>So, if a computer with a private IP tries to send traffic directly to the internet:</a:t>
            </a:r>
          </a:p>
          <a:p>
            <a:endParaRPr lang="en-US" sz="1100" dirty="0"/>
          </a:p>
          <a:p>
            <a:pPr marL="171450" indent="-171450">
              <a:buFont typeface="Wingdings" panose="05000000000000000000" pitchFamily="2" charset="2"/>
              <a:buChar char="ü"/>
            </a:pPr>
            <a:r>
              <a:rPr lang="en-US" sz="1100" dirty="0"/>
              <a:t>The packet leaves the LAN.</a:t>
            </a:r>
          </a:p>
          <a:p>
            <a:pPr marL="171450" indent="-171450">
              <a:buFont typeface="Wingdings" panose="05000000000000000000" pitchFamily="2" charset="2"/>
              <a:buChar char="ü"/>
            </a:pPr>
            <a:r>
              <a:rPr lang="en-US" sz="1100" dirty="0"/>
              <a:t>When it reaches the first ISP router, the router sees the source IP is private.</a:t>
            </a:r>
          </a:p>
          <a:p>
            <a:pPr marL="171450" indent="-171450">
              <a:buFont typeface="Wingdings" panose="05000000000000000000" pitchFamily="2" charset="2"/>
              <a:buChar char="ü"/>
            </a:pPr>
            <a:r>
              <a:rPr lang="en-US" sz="1100" dirty="0"/>
              <a:t>ISP router discards the packet because private IPs are not allowed on the internet.</a:t>
            </a:r>
          </a:p>
          <a:p>
            <a:endParaRPr lang="en-US" sz="1100" dirty="0"/>
          </a:p>
          <a:p>
            <a:pPr marL="171450" indent="-171450">
              <a:buFont typeface="Wingdings" panose="05000000000000000000" pitchFamily="2" charset="2"/>
              <a:buChar char="ü"/>
            </a:pPr>
            <a:endParaRPr lang="en-US" sz="1100" dirty="0"/>
          </a:p>
          <a:p>
            <a:r>
              <a:rPr lang="en-US" dirty="0"/>
              <a:t>🔹 What solves this problem?</a:t>
            </a:r>
          </a:p>
          <a:p>
            <a:r>
              <a:rPr lang="en-US" dirty="0">
                <a:highlight>
                  <a:srgbClr val="00FF00"/>
                </a:highlight>
              </a:rPr>
              <a:t>👉 NAT (Network Address Translation)</a:t>
            </a:r>
          </a:p>
          <a:p>
            <a:endParaRPr lang="en-US" dirty="0">
              <a:highlight>
                <a:srgbClr val="00FF00"/>
              </a:highlight>
            </a:endParaRPr>
          </a:p>
          <a:p>
            <a:endParaRPr lang="en-US" dirty="0">
              <a:highlight>
                <a:srgbClr val="00FF00"/>
              </a:highlight>
            </a:endParaRPr>
          </a:p>
          <a:p>
            <a:pPr marL="285750" indent="-285750">
              <a:buFont typeface="Wingdings" panose="05000000000000000000" pitchFamily="2" charset="2"/>
              <a:buChar char="ü"/>
            </a:pPr>
            <a:r>
              <a:rPr lang="en-US" dirty="0">
                <a:highlight>
                  <a:srgbClr val="00FF00"/>
                </a:highlight>
              </a:rPr>
              <a:t>NAT is only needed when private IPs need to talk to the internet (public network).</a:t>
            </a:r>
          </a:p>
          <a:p>
            <a:pPr marL="285750" indent="-285750">
              <a:buFont typeface="Wingdings" panose="05000000000000000000" pitchFamily="2" charset="2"/>
              <a:buChar char="ü"/>
            </a:pPr>
            <a:r>
              <a:rPr lang="en-US" dirty="0">
                <a:highlight>
                  <a:srgbClr val="00FF00"/>
                </a:highlight>
              </a:rPr>
              <a:t>You do not need NAT inside your own company network when connecting routers together.</a:t>
            </a:r>
          </a:p>
          <a:p>
            <a:pPr marL="285750" indent="-285750">
              <a:buFont typeface="Wingdings" panose="05000000000000000000" pitchFamily="2" charset="2"/>
              <a:buChar char="ü"/>
            </a:pPr>
            <a:endParaRPr lang="en-US" dirty="0">
              <a:highlight>
                <a:srgbClr val="00FF00"/>
              </a:highlight>
            </a:endParaRPr>
          </a:p>
        </p:txBody>
      </p:sp>
    </p:spTree>
    <p:extLst>
      <p:ext uri="{BB962C8B-B14F-4D97-AF65-F5344CB8AC3E}">
        <p14:creationId xmlns:p14="http://schemas.microsoft.com/office/powerpoint/2010/main" val="3343193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FD17F-FD31-2AF0-A3BA-A8C95B9ED99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8922447-A235-0D53-4D43-2C2D002542F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9168D1F0-F2EA-0DA8-95EC-0E147F58A16E}"/>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A76E5FF-9B52-FE2F-E5F7-64C8C94FB17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14258E3-BAF3-A4BC-B165-3C7A385A88A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243FE92-DDD3-7128-2919-81A1137DC76B}"/>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034EC644-6483-19FE-486D-1FE52F7C380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A1B29D2B-FB39-B3CC-C8B9-BB02ACB93E5E}"/>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B6FA1DB6-65E1-CEAA-E45F-3E1F32E3E4CF}"/>
              </a:ext>
            </a:extLst>
          </p:cNvPr>
          <p:cNvSpPr txBox="1"/>
          <p:nvPr/>
        </p:nvSpPr>
        <p:spPr>
          <a:xfrm>
            <a:off x="255938" y="460170"/>
            <a:ext cx="8888062" cy="4154984"/>
          </a:xfrm>
          <a:prstGeom prst="rect">
            <a:avLst/>
          </a:prstGeom>
          <a:noFill/>
        </p:spPr>
        <p:txBody>
          <a:bodyPr wrap="square">
            <a:spAutoFit/>
          </a:bodyPr>
          <a:lstStyle/>
          <a:p>
            <a:r>
              <a:rPr lang="en-US" sz="1200" b="1" dirty="0">
                <a:solidFill>
                  <a:srgbClr val="403CCF"/>
                </a:solidFill>
                <a:latin typeface="Libre Baskerville" pitchFamily="34" charset="0"/>
              </a:rPr>
              <a:t>NAT </a:t>
            </a:r>
            <a:r>
              <a:rPr lang="en-US" sz="1600" b="1" dirty="0">
                <a:solidFill>
                  <a:srgbClr val="403CCF"/>
                </a:solidFill>
                <a:latin typeface="Libre Baskerville" pitchFamily="34" charset="0"/>
              </a:rPr>
              <a:t>:</a:t>
            </a:r>
            <a:endParaRPr lang="en-US" sz="1100" b="1"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NAT stands for Network Address translation </a:t>
            </a:r>
          </a:p>
          <a:p>
            <a:pPr marL="171450" indent="-171450">
              <a:buFont typeface="Wingdings" panose="05000000000000000000" pitchFamily="2" charset="2"/>
              <a:buChar char="ü"/>
            </a:pPr>
            <a:r>
              <a:rPr lang="en-US" sz="1100" dirty="0"/>
              <a:t>NAT is a process that happens on a router (or firewall) which changes private IP addresses into public IP addresses and vice versa.</a:t>
            </a:r>
          </a:p>
          <a:p>
            <a:pPr marL="171450" indent="-171450">
              <a:buFont typeface="Wingdings" panose="05000000000000000000" pitchFamily="2" charset="2"/>
              <a:buChar char="ü"/>
            </a:pPr>
            <a:r>
              <a:rPr lang="en-US" sz="1100" dirty="0"/>
              <a:t>Allows multiple devices to share a single public IP.</a:t>
            </a:r>
          </a:p>
          <a:p>
            <a:pPr marL="171450" indent="-171450">
              <a:buFont typeface="Wingdings" panose="05000000000000000000" pitchFamily="2" charset="2"/>
              <a:buChar char="ü"/>
            </a:pPr>
            <a:r>
              <a:rPr lang="en-US" sz="1100" dirty="0"/>
              <a:t>Enhances security by hiding internal IPs from the internet.</a:t>
            </a:r>
          </a:p>
          <a:p>
            <a:endParaRPr lang="en-US" sz="900" dirty="0"/>
          </a:p>
          <a:p>
            <a:endParaRPr lang="en-US" sz="1200" dirty="0"/>
          </a:p>
          <a:p>
            <a:r>
              <a:rPr lang="en-US" sz="1600" b="1" dirty="0">
                <a:solidFill>
                  <a:srgbClr val="403CCF"/>
                </a:solidFill>
                <a:latin typeface="Libre Baskerville" pitchFamily="34" charset="0"/>
              </a:rPr>
              <a:t> </a:t>
            </a:r>
            <a:r>
              <a:rPr lang="en-US" sz="1200" b="1" dirty="0">
                <a:solidFill>
                  <a:srgbClr val="403CCF"/>
                </a:solidFill>
                <a:latin typeface="Libre Baskerville" pitchFamily="34" charset="0"/>
              </a:rPr>
              <a:t>Why is NAT Needed?</a:t>
            </a:r>
            <a:endParaRPr lang="en-US" sz="1200" b="1" dirty="0"/>
          </a:p>
          <a:p>
            <a:pPr marL="171450" indent="-171450">
              <a:buFont typeface="Wingdings" panose="05000000000000000000" pitchFamily="2" charset="2"/>
              <a:buChar char="ü"/>
            </a:pPr>
            <a:r>
              <a:rPr lang="en-US" sz="1100" dirty="0"/>
              <a:t>IPv4 address shortage.</a:t>
            </a:r>
          </a:p>
          <a:p>
            <a:pPr marL="171450" indent="-171450">
              <a:buFont typeface="Wingdings" panose="05000000000000000000" pitchFamily="2" charset="2"/>
              <a:buChar char="ü"/>
            </a:pPr>
            <a:r>
              <a:rPr lang="en-US" sz="1100" dirty="0"/>
              <a:t>Enables private networks to access the internet</a:t>
            </a:r>
          </a:p>
          <a:p>
            <a:pPr marL="171450" indent="-171450">
              <a:buFont typeface="Wingdings" panose="05000000000000000000" pitchFamily="2" charset="2"/>
              <a:buChar char="ü"/>
            </a:pPr>
            <a:r>
              <a:rPr lang="en-US" sz="1100" dirty="0"/>
              <a:t>Provides security (hides internal IPs from the outside).</a:t>
            </a:r>
          </a:p>
          <a:p>
            <a:pPr marL="171450" indent="-171450">
              <a:buFont typeface="Wingdings" panose="05000000000000000000" pitchFamily="2" charset="2"/>
              <a:buChar char="ü"/>
            </a:pPr>
            <a:r>
              <a:rPr lang="en-US" sz="1100" dirty="0"/>
              <a:t>Reduces the need for large public IP allocations.</a:t>
            </a:r>
          </a:p>
          <a:p>
            <a:endParaRPr lang="en-US" sz="1100" dirty="0">
              <a:highlight>
                <a:srgbClr val="00FF00"/>
              </a:highlight>
            </a:endParaRPr>
          </a:p>
          <a:p>
            <a:r>
              <a:rPr lang="en-US" sz="1100" dirty="0">
                <a:highlight>
                  <a:srgbClr val="00FF00"/>
                </a:highlight>
              </a:rPr>
              <a:t>NAT = a translator between your private network and the public internet.</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r>
              <a:rPr lang="en-US" sz="1200" b="1" dirty="0">
                <a:solidFill>
                  <a:srgbClr val="403CCF"/>
                </a:solidFill>
                <a:latin typeface="Libre Baskerville" pitchFamily="34" charset="0"/>
              </a:rPr>
              <a:t>Types of NAT:</a:t>
            </a:r>
          </a:p>
          <a:p>
            <a:endParaRPr lang="en-US" sz="1200" b="1" dirty="0">
              <a:solidFill>
                <a:srgbClr val="403CCF"/>
              </a:solidFill>
              <a:latin typeface="Libre Baskerville" pitchFamily="34" charset="0"/>
            </a:endParaRPr>
          </a:p>
          <a:p>
            <a:pPr marL="228600" indent="-228600">
              <a:buFont typeface="+mj-lt"/>
              <a:buAutoNum type="arabicPeriod"/>
            </a:pPr>
            <a:r>
              <a:rPr lang="en-US" sz="1100" b="1" dirty="0"/>
              <a:t>Static NAT : </a:t>
            </a:r>
            <a:r>
              <a:rPr lang="en-US" sz="1100" dirty="0"/>
              <a:t>One-to-one mapping between private and public IP. One public to private, one private to public.</a:t>
            </a:r>
          </a:p>
          <a:p>
            <a:pPr marL="228600" indent="-228600">
              <a:buFont typeface="+mj-lt"/>
              <a:buAutoNum type="arabicPeriod"/>
            </a:pPr>
            <a:endParaRPr lang="en-US" sz="1100" dirty="0"/>
          </a:p>
          <a:p>
            <a:pPr marL="228600" indent="-228600">
              <a:buFont typeface="+mj-lt"/>
              <a:buAutoNum type="arabicPeriod"/>
            </a:pPr>
            <a:r>
              <a:rPr lang="en-US" sz="1100" b="1" dirty="0"/>
              <a:t>Dynamic NAT : </a:t>
            </a:r>
            <a:r>
              <a:rPr lang="en-US" sz="1100" dirty="0"/>
              <a:t>Private IPs are mapped to public IPs from a pool. Group public to group private,  group private to group public.</a:t>
            </a:r>
          </a:p>
          <a:p>
            <a:pPr marL="228600" indent="-228600">
              <a:buFont typeface="+mj-lt"/>
              <a:buAutoNum type="arabicPeriod"/>
            </a:pPr>
            <a:endParaRPr lang="en-US" sz="1100" dirty="0"/>
          </a:p>
          <a:p>
            <a:pPr marL="228600" indent="-228600">
              <a:buFont typeface="+mj-lt"/>
              <a:buAutoNum type="arabicPeriod"/>
            </a:pPr>
            <a:r>
              <a:rPr lang="en-US" sz="1100" b="1" dirty="0"/>
              <a:t>PAT (Port Address Translation) : </a:t>
            </a:r>
            <a:r>
              <a:rPr lang="en-US" sz="1100" dirty="0"/>
              <a:t>Multiple private IPs share a single public IP using different port numbers (also called NAT Overload).</a:t>
            </a:r>
          </a:p>
        </p:txBody>
      </p:sp>
    </p:spTree>
    <p:extLst>
      <p:ext uri="{BB962C8B-B14F-4D97-AF65-F5344CB8AC3E}">
        <p14:creationId xmlns:p14="http://schemas.microsoft.com/office/powerpoint/2010/main" val="1921415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62A06-0B5B-E6D0-7BD9-D114141D3E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BE25BF-43FA-5A42-ED7F-873FC902025D}"/>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9FCC657B-7043-4F70-EBB5-D34EF29A08A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657F928-740B-E6AE-6B1E-CA1DC76A4A1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D03B6F1-A1F5-4C29-C1BE-8F29547C8F2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F889C98-4A4C-CF44-4D7D-6FDFE18C80F1}"/>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DA1B1C2E-AB97-C8A3-D51C-5F0E57C3D072}"/>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58C50F17-D860-D35A-475B-5A3E49F58DE0}"/>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DB02BCC2-5A07-2BE5-C257-F41F6CDEB0D6}"/>
              </a:ext>
            </a:extLst>
          </p:cNvPr>
          <p:cNvSpPr txBox="1"/>
          <p:nvPr/>
        </p:nvSpPr>
        <p:spPr>
          <a:xfrm>
            <a:off x="255938" y="460170"/>
            <a:ext cx="8667780" cy="4031873"/>
          </a:xfrm>
          <a:prstGeom prst="rect">
            <a:avLst/>
          </a:prstGeom>
          <a:noFill/>
        </p:spPr>
        <p:txBody>
          <a:bodyPr wrap="square">
            <a:spAutoFit/>
          </a:bodyPr>
          <a:lstStyle/>
          <a:p>
            <a:r>
              <a:rPr lang="en-US" sz="1600" b="1" dirty="0">
                <a:solidFill>
                  <a:srgbClr val="403CCF"/>
                </a:solidFill>
                <a:latin typeface="Libre Baskerville" pitchFamily="34" charset="0"/>
              </a:rPr>
              <a:t>1. Static NAT</a:t>
            </a:r>
          </a:p>
          <a:p>
            <a:endParaRPr lang="en-US" sz="1600" b="1"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One private IP is permanently mapped to one public IP.</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Example: Hosting a web server with a fixed public IP.</a:t>
            </a:r>
          </a:p>
          <a:p>
            <a:endParaRPr lang="en-US" sz="1200" dirty="0"/>
          </a:p>
          <a:p>
            <a:pPr marL="171450" indent="-171450">
              <a:buFont typeface="Wingdings" panose="05000000000000000000" pitchFamily="2" charset="2"/>
              <a:buChar char="Ø"/>
            </a:pPr>
            <a:endParaRPr lang="en-US" sz="1200" dirty="0"/>
          </a:p>
          <a:p>
            <a:r>
              <a:rPr lang="en-US" sz="1200" dirty="0">
                <a:highlight>
                  <a:srgbClr val="00FFFF"/>
                </a:highlight>
              </a:rPr>
              <a:t>Configuration example:</a:t>
            </a:r>
          </a:p>
          <a:p>
            <a:pPr marL="285750" indent="-285750">
              <a:buFont typeface="Wingdings" panose="05000000000000000000" pitchFamily="2" charset="2"/>
              <a:buChar char="q"/>
            </a:pPr>
            <a:r>
              <a:rPr lang="en-US" sz="1200" dirty="0"/>
              <a:t> Router(config)# ip  nat   inside  source  static  192.168.1.10    203.0.113.10</a:t>
            </a:r>
          </a:p>
          <a:p>
            <a:r>
              <a:rPr lang="en-US" sz="1100" dirty="0"/>
              <a:t>This command creates a static mapping between a private IP address (192.168.1.10) and a public IP address (203.0.113.10).</a:t>
            </a:r>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r>
              <a:rPr lang="en-US" sz="1100" b="1" dirty="0">
                <a:highlight>
                  <a:srgbClr val="00FFFF"/>
                </a:highlight>
              </a:rPr>
              <a:t>Use case: </a:t>
            </a:r>
            <a:r>
              <a:rPr lang="en-US" sz="1100" dirty="0">
                <a:highlight>
                  <a:srgbClr val="00FFFF"/>
                </a:highlight>
              </a:rPr>
              <a:t>If you're hosting a web server on your internal network and you want it to always be accessible using a fixed public IP (203.0.113.10), you'd use Static NAT.</a:t>
            </a:r>
          </a:p>
        </p:txBody>
      </p:sp>
    </p:spTree>
    <p:extLst>
      <p:ext uri="{BB962C8B-B14F-4D97-AF65-F5344CB8AC3E}">
        <p14:creationId xmlns:p14="http://schemas.microsoft.com/office/powerpoint/2010/main" val="218384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A607-824C-59CD-AFB8-2D7D6067F09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C08754-A4E2-F059-FC2E-CCA88AE88105}"/>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3E99F50-E18A-C863-2555-8AEB59FA7C5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9630D6C-08E9-6855-9BF2-1969221CB4B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5805EDE-A480-BED6-36B9-329498BA78F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B46D41D3-D317-B997-3237-A42BC2887D9E}"/>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5466B511-82E3-CFB1-AB7D-4E331E9D4B08}"/>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289ED624-3CED-FD57-49B8-66F169EAC4C1}"/>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E2776EEB-C846-0A55-4E9B-62E6CD9DB6E3}"/>
              </a:ext>
            </a:extLst>
          </p:cNvPr>
          <p:cNvSpPr txBox="1"/>
          <p:nvPr/>
        </p:nvSpPr>
        <p:spPr>
          <a:xfrm>
            <a:off x="255938" y="460170"/>
            <a:ext cx="8195937" cy="4016484"/>
          </a:xfrm>
          <a:prstGeom prst="rect">
            <a:avLst/>
          </a:prstGeom>
          <a:noFill/>
        </p:spPr>
        <p:txBody>
          <a:bodyPr wrap="square">
            <a:spAutoFit/>
          </a:bodyPr>
          <a:lstStyle/>
          <a:p>
            <a:r>
              <a:rPr lang="en-US" sz="1600" b="1" dirty="0">
                <a:solidFill>
                  <a:srgbClr val="403CCF"/>
                </a:solidFill>
                <a:latin typeface="Libre Baskerville" pitchFamily="34" charset="0"/>
              </a:rPr>
              <a:t>2. Dynamic NAT</a:t>
            </a:r>
          </a:p>
          <a:p>
            <a:endParaRPr lang="en-US" sz="1600" b="1"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Private IPs are dynamically mapped to available public IPs from a pool</a:t>
            </a:r>
          </a:p>
          <a:p>
            <a:pPr marL="171450" indent="-171450">
              <a:buFont typeface="Wingdings" panose="05000000000000000000" pitchFamily="2" charset="2"/>
              <a:buChar char="ü"/>
            </a:pPr>
            <a:r>
              <a:rPr lang="en-US" sz="1100" dirty="0"/>
              <a:t>Requires a pool of public IPs.</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a:p>
            <a:r>
              <a:rPr lang="en-US" sz="1200" dirty="0">
                <a:highlight>
                  <a:srgbClr val="00FFFF"/>
                </a:highlight>
              </a:rPr>
              <a:t>Configuration example:</a:t>
            </a:r>
          </a:p>
          <a:p>
            <a:r>
              <a:rPr lang="en-US" sz="1100" dirty="0"/>
              <a:t>Router(config)# ip   nat   pool   PUBLIC_POOL   203.0.113.20    203.0.113.30   netmask   255.255.255.0</a:t>
            </a:r>
          </a:p>
          <a:p>
            <a:r>
              <a:rPr lang="en-US" sz="1100" dirty="0"/>
              <a:t>Router(config)# ip   nat   inside   source   list   1   pool   PUBLIC_POOL</a:t>
            </a:r>
          </a:p>
          <a:p>
            <a:endParaRPr lang="en-US" sz="1100" dirty="0"/>
          </a:p>
          <a:p>
            <a:endParaRPr lang="en-US" sz="1100" dirty="0"/>
          </a:p>
          <a:p>
            <a:pPr marL="171450" indent="-171450">
              <a:buFont typeface="Wingdings" panose="05000000000000000000" pitchFamily="2" charset="2"/>
              <a:buChar char="ü"/>
            </a:pPr>
            <a:r>
              <a:rPr lang="en-US" sz="1100" dirty="0"/>
              <a:t>First command creates a pool of public IPs (203.0.113.20 to 203.0.113.30), called PUBLIC_POOL. This pool of public IPs will be used for dynamic NAT.</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Second command tells the router to map private IPs (which match the criteria in access list 1) to the public IPs in the PUBLIC_POOL.</a:t>
            </a:r>
          </a:p>
          <a:p>
            <a:endParaRPr lang="en-US" sz="1100" dirty="0"/>
          </a:p>
          <a:p>
            <a:endParaRPr lang="en-US" sz="1100" dirty="0"/>
          </a:p>
          <a:p>
            <a:endParaRPr lang="en-US" sz="1100" dirty="0"/>
          </a:p>
          <a:p>
            <a:endParaRPr lang="en-US" sz="1100" dirty="0"/>
          </a:p>
          <a:p>
            <a:r>
              <a:rPr lang="en-US" sz="1100" b="1" dirty="0">
                <a:highlight>
                  <a:srgbClr val="00FFFF"/>
                </a:highlight>
              </a:rPr>
              <a:t>Use case:</a:t>
            </a:r>
            <a:r>
              <a:rPr lang="en-US" sz="1100" dirty="0">
                <a:highlight>
                  <a:srgbClr val="00FFFF"/>
                </a:highlight>
              </a:rPr>
              <a:t> If you have a group of internal devices that need to access the internet, but you have limited public IPs, Dynamic NAT allows the devices to share public IPs from the pool</a:t>
            </a:r>
          </a:p>
        </p:txBody>
      </p:sp>
    </p:spTree>
    <p:extLst>
      <p:ext uri="{BB962C8B-B14F-4D97-AF65-F5344CB8AC3E}">
        <p14:creationId xmlns:p14="http://schemas.microsoft.com/office/powerpoint/2010/main" val="3571734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A983A-079E-79BE-BF79-35FF2CF27DF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4161BC-F6F7-DE4D-BB10-530D1DE005BD}"/>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379E7D71-2A13-C390-0D93-0CC8423B25F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8687AACD-15BC-507D-4465-59621F2D579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99BA0E1-B986-A950-11C7-822046C7293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68FF745-ADE1-3C2A-B47F-29E119FB8B22}"/>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315BCC04-BED2-0985-16B7-E2A7D7B97EE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31589EBC-5368-D5F5-C236-E15AFD736A1D}"/>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B230D946-600B-652A-C1E2-AFE7272ECACE}"/>
              </a:ext>
            </a:extLst>
          </p:cNvPr>
          <p:cNvSpPr txBox="1"/>
          <p:nvPr/>
        </p:nvSpPr>
        <p:spPr>
          <a:xfrm>
            <a:off x="255938" y="460170"/>
            <a:ext cx="8195937" cy="4047262"/>
          </a:xfrm>
          <a:prstGeom prst="rect">
            <a:avLst/>
          </a:prstGeom>
          <a:noFill/>
        </p:spPr>
        <p:txBody>
          <a:bodyPr wrap="square">
            <a:spAutoFit/>
          </a:bodyPr>
          <a:lstStyle/>
          <a:p>
            <a:r>
              <a:rPr lang="en-US" sz="1600" b="1" dirty="0">
                <a:solidFill>
                  <a:srgbClr val="403CCF"/>
                </a:solidFill>
                <a:latin typeface="Libre Baskerville" pitchFamily="34" charset="0"/>
              </a:rPr>
              <a:t> 3. PAT (NAT Overload)</a:t>
            </a:r>
          </a:p>
          <a:p>
            <a:endParaRPr lang="en-US" sz="1600" b="1"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Multiple private IPs share one public IP using different ports.</a:t>
            </a:r>
          </a:p>
          <a:p>
            <a:pPr marL="171450" indent="-171450">
              <a:buFont typeface="Wingdings" panose="05000000000000000000" pitchFamily="2" charset="2"/>
              <a:buChar char="ü"/>
            </a:pPr>
            <a:r>
              <a:rPr lang="en-US" sz="1100" dirty="0"/>
              <a:t>Most commonly used NAT type.</a:t>
            </a:r>
          </a:p>
          <a:p>
            <a:pPr marL="171450" indent="-171450">
              <a:buFont typeface="Wingdings" panose="05000000000000000000" pitchFamily="2" charset="2"/>
              <a:buChar char="ü"/>
            </a:pPr>
            <a:r>
              <a:rPr lang="en-US" sz="1100" dirty="0"/>
              <a:t>Example: Home routers use PAT to allow many devices to use one public IP.</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a:p>
            <a:r>
              <a:rPr lang="en-US" sz="1200" dirty="0">
                <a:highlight>
                  <a:srgbClr val="00FFFF"/>
                </a:highlight>
              </a:rPr>
              <a:t>Configuration example:</a:t>
            </a:r>
          </a:p>
          <a:p>
            <a:r>
              <a:rPr lang="en-US" sz="1100" dirty="0"/>
              <a:t>Router(config)# ip nat inside source list 1 interface GigabitEthernet0/0 overload</a:t>
            </a:r>
          </a:p>
          <a:p>
            <a:endParaRPr lang="en-US" sz="1200" dirty="0"/>
          </a:p>
          <a:p>
            <a:endParaRPr lang="en-US" sz="1200" dirty="0"/>
          </a:p>
          <a:p>
            <a:pPr marL="171450" indent="-171450">
              <a:buFont typeface="Wingdings" panose="05000000000000000000" pitchFamily="2" charset="2"/>
              <a:buChar char="ü"/>
            </a:pPr>
            <a:r>
              <a:rPr lang="en-US" sz="1100" dirty="0"/>
              <a:t>This command uses the overload keyword to specify that multiple internal devices can use the same public IP, but each device's traffic will be differentiated by port numbers.</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For example, device 192.168.1.10 might use port 1000, and device 192.168.1.20 might use port 2000 on the same public IP address.</a:t>
            </a:r>
          </a:p>
          <a:p>
            <a:endParaRPr lang="en-US" sz="1100" dirty="0"/>
          </a:p>
          <a:p>
            <a:endParaRPr lang="en-US" sz="1100" dirty="0"/>
          </a:p>
          <a:p>
            <a:endParaRPr lang="en-US" sz="1100" dirty="0"/>
          </a:p>
          <a:p>
            <a:endParaRPr lang="en-US" sz="1100" dirty="0"/>
          </a:p>
          <a:p>
            <a:r>
              <a:rPr lang="en-US" sz="1100" b="1" dirty="0">
                <a:highlight>
                  <a:srgbClr val="00FFFF"/>
                </a:highlight>
              </a:rPr>
              <a:t>Use case: </a:t>
            </a:r>
            <a:r>
              <a:rPr lang="en-US" sz="1100" dirty="0">
                <a:highlight>
                  <a:srgbClr val="00FFFF"/>
                </a:highlight>
              </a:rPr>
              <a:t>This is the most common NAT type used by home routers. It allows many devices (e.g., phones, laptops, etc.) inside a private network to share a single public IP for internet access. This is often seen in home networks with a single public IP.</a:t>
            </a:r>
          </a:p>
        </p:txBody>
      </p:sp>
    </p:spTree>
    <p:extLst>
      <p:ext uri="{BB962C8B-B14F-4D97-AF65-F5344CB8AC3E}">
        <p14:creationId xmlns:p14="http://schemas.microsoft.com/office/powerpoint/2010/main" val="1151246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8959-09A3-90A5-DAE1-F8FC332A42B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8BEC127-92A7-A637-4EF1-1F1F0D37B4EB}"/>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2F8FE5A-742B-435F-2CB4-731A0D8B985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9799511-A93C-5D6B-2817-62EF43DD614D}"/>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AC64D0F8-8057-5E46-595A-B31C1627C0BC}"/>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D306E38-BF53-A39C-9A6B-F72B6099D46E}"/>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EB875B9B-99B1-029E-3428-0BBCD086A1A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7E2E7730-06DE-83D7-851A-D32F9963A0DF}"/>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15B8892D-23CC-48FA-D483-900058C3439C}"/>
              </a:ext>
            </a:extLst>
          </p:cNvPr>
          <p:cNvSpPr txBox="1"/>
          <p:nvPr/>
        </p:nvSpPr>
        <p:spPr>
          <a:xfrm>
            <a:off x="255938" y="460170"/>
            <a:ext cx="8667780" cy="1431161"/>
          </a:xfrm>
          <a:prstGeom prst="rect">
            <a:avLst/>
          </a:prstGeom>
          <a:noFill/>
        </p:spPr>
        <p:txBody>
          <a:bodyPr wrap="square">
            <a:spAutoFit/>
          </a:bodyPr>
          <a:lstStyle/>
          <a:p>
            <a:r>
              <a:rPr lang="en-US" sz="1600" b="1" dirty="0">
                <a:solidFill>
                  <a:srgbClr val="403CCF"/>
                </a:solidFill>
                <a:latin typeface="Libre Baskerville" pitchFamily="34" charset="0"/>
              </a:rPr>
              <a:t> 3. PAT (NAT Overload)</a:t>
            </a:r>
          </a:p>
          <a:p>
            <a:pPr marL="285750" indent="-285750">
              <a:buFont typeface="Wingdings" panose="05000000000000000000" pitchFamily="2" charset="2"/>
              <a:buChar char="ü"/>
            </a:pPr>
            <a:endParaRPr lang="en-US" sz="1600" b="1"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PAT (Port Address Translation) lets many devices use one public IP address to access the internet.</a:t>
            </a:r>
          </a:p>
          <a:p>
            <a:endParaRPr lang="en-US" sz="1100" dirty="0"/>
          </a:p>
          <a:p>
            <a:pPr marL="171450" indent="-171450">
              <a:buFont typeface="Wingdings" panose="05000000000000000000" pitchFamily="2" charset="2"/>
              <a:buChar char="ü"/>
            </a:pPr>
            <a:r>
              <a:rPr lang="en-US" sz="1100" dirty="0"/>
              <a:t>It works by giving each device a unique port number so the router knows where to send the data when it comes back.</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This is useful for homes and small offices because it saves public IP addresses.</a:t>
            </a:r>
          </a:p>
        </p:txBody>
      </p:sp>
    </p:spTree>
    <p:extLst>
      <p:ext uri="{BB962C8B-B14F-4D97-AF65-F5344CB8AC3E}">
        <p14:creationId xmlns:p14="http://schemas.microsoft.com/office/powerpoint/2010/main" val="1856810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AF7B3-854D-AE62-1DD2-4C95897EFA9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7CD327-8A2E-FC47-0D0F-D2E143C320F7}"/>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76994597-A5B1-BDD2-820E-BEA9EC53DCC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7052D69-8BC5-3671-375F-838FC5520B0D}"/>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B4D223F-D615-6F63-1454-DD39F67A07E4}"/>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25ACA1D6-979C-424C-958D-8B9848ABE900}"/>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AF2F86CD-040C-A323-80D5-5641E495DC65}"/>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8D8A55F2-AD06-DAF2-327E-E0318FAF8DB8}"/>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31A5DF05-5308-0F88-823D-11157398A70C}"/>
              </a:ext>
            </a:extLst>
          </p:cNvPr>
          <p:cNvSpPr txBox="1"/>
          <p:nvPr/>
        </p:nvSpPr>
        <p:spPr>
          <a:xfrm>
            <a:off x="255938" y="460170"/>
            <a:ext cx="8195937" cy="2677656"/>
          </a:xfrm>
          <a:prstGeom prst="rect">
            <a:avLst/>
          </a:prstGeom>
          <a:noFill/>
        </p:spPr>
        <p:txBody>
          <a:bodyPr wrap="square">
            <a:spAutoFit/>
          </a:bodyPr>
          <a:lstStyle/>
          <a:p>
            <a:r>
              <a:rPr lang="en-US" sz="1600" b="1" dirty="0">
                <a:solidFill>
                  <a:srgbClr val="403CCF"/>
                </a:solidFill>
                <a:latin typeface="Libre Baskerville" pitchFamily="34" charset="0"/>
              </a:rPr>
              <a:t>NAT Terminology</a:t>
            </a:r>
          </a:p>
          <a:p>
            <a:endParaRPr lang="en-US" sz="1600" b="1" dirty="0">
              <a:solidFill>
                <a:srgbClr val="403CCF"/>
              </a:solidFill>
              <a:latin typeface="Libre Baskerville" pitchFamily="34" charset="0"/>
            </a:endParaRPr>
          </a:p>
          <a:p>
            <a:endParaRPr lang="en-US" sz="1600" b="1" dirty="0">
              <a:solidFill>
                <a:srgbClr val="403CCF"/>
              </a:solidFill>
              <a:latin typeface="Libre Baskerville" pitchFamily="34" charset="0"/>
            </a:endParaRPr>
          </a:p>
          <a:p>
            <a:pPr marL="171450" indent="-171450">
              <a:buFont typeface="Wingdings" panose="05000000000000000000" pitchFamily="2" charset="2"/>
              <a:buChar char="Ø"/>
            </a:pPr>
            <a:r>
              <a:rPr lang="en-US" sz="1200" dirty="0"/>
              <a:t>Inside Local: Private IP address inside the network.</a:t>
            </a:r>
          </a:p>
          <a:p>
            <a:pPr marL="171450" indent="-171450">
              <a:buFont typeface="Wingdings" panose="05000000000000000000" pitchFamily="2" charset="2"/>
              <a:buChar char="Ø"/>
            </a:pPr>
            <a:endParaRPr lang="en-US" sz="1200" dirty="0"/>
          </a:p>
          <a:p>
            <a:endParaRPr lang="en-US" sz="1200" dirty="0"/>
          </a:p>
          <a:p>
            <a:pPr marL="171450" indent="-171450">
              <a:buFont typeface="Wingdings" panose="05000000000000000000" pitchFamily="2" charset="2"/>
              <a:buChar char="Ø"/>
            </a:pPr>
            <a:r>
              <a:rPr lang="en-US" sz="1200" dirty="0"/>
              <a:t>Inside Global: Public IP assigned to an internal device.</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Outside Local: Private IP of an external device (rarely used).</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Outside Global: Public IP of an external device</a:t>
            </a:r>
          </a:p>
        </p:txBody>
      </p:sp>
    </p:spTree>
    <p:extLst>
      <p:ext uri="{BB962C8B-B14F-4D97-AF65-F5344CB8AC3E}">
        <p14:creationId xmlns:p14="http://schemas.microsoft.com/office/powerpoint/2010/main" val="365290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1EAB8-2189-8EC0-0C98-5F7B86B05A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1EFF43-1FE8-ED1B-FC79-6CEE3B9661CD}"/>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1A60724-7E84-80BE-A117-9A709A9DA70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BDDA4C1-4EB4-F23D-4EC8-8ED0C45E298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C457958-BE7A-36C2-5B29-0FB80737907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1A043BDD-0850-BC94-2A7D-16BBB29C63E7}"/>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DEC920D9-81C8-F5BB-BA73-B1ACB089896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B0757128-110C-30D1-F871-18EB9DA860E0}"/>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12846E3B-806F-C06E-F467-0113E5808DCD}"/>
              </a:ext>
            </a:extLst>
          </p:cNvPr>
          <p:cNvSpPr txBox="1"/>
          <p:nvPr/>
        </p:nvSpPr>
        <p:spPr>
          <a:xfrm>
            <a:off x="255938" y="460170"/>
            <a:ext cx="8566329" cy="3970318"/>
          </a:xfrm>
          <a:prstGeom prst="rect">
            <a:avLst/>
          </a:prstGeom>
          <a:noFill/>
        </p:spPr>
        <p:txBody>
          <a:bodyPr wrap="square">
            <a:spAutoFit/>
          </a:bodyPr>
          <a:lstStyle/>
          <a:p>
            <a:r>
              <a:rPr lang="en-US" sz="1600" b="1" dirty="0">
                <a:solidFill>
                  <a:srgbClr val="403CCF"/>
                </a:solidFill>
                <a:latin typeface="Libre Baskerville" pitchFamily="34" charset="0"/>
              </a:rPr>
              <a:t>NAT Terminology</a:t>
            </a:r>
          </a:p>
          <a:p>
            <a:endParaRPr lang="en-US" sz="1600" b="1" dirty="0">
              <a:solidFill>
                <a:srgbClr val="403CCF"/>
              </a:solidFill>
              <a:latin typeface="Libre Baskerville" pitchFamily="34" charset="0"/>
            </a:endParaRPr>
          </a:p>
          <a:p>
            <a:r>
              <a:rPr lang="en-US" b="1" dirty="0"/>
              <a:t>Inside Local: Private IP address inside the network.</a:t>
            </a:r>
          </a:p>
          <a:p>
            <a:pPr marL="171450" indent="-171450">
              <a:buFont typeface="Wingdings" panose="05000000000000000000" pitchFamily="2" charset="2"/>
              <a:buChar char="Ø"/>
            </a:pPr>
            <a:endParaRPr lang="en-US" sz="1100" dirty="0"/>
          </a:p>
          <a:p>
            <a:pPr marL="171450" indent="-171450">
              <a:buFont typeface="Wingdings" panose="05000000000000000000" pitchFamily="2" charset="2"/>
              <a:buChar char="ü"/>
            </a:pPr>
            <a:r>
              <a:rPr lang="en-US" sz="1100" dirty="0"/>
              <a:t>This is the private IP address of a device inside your network.</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A computer on your internal network might have an IP address like 192.168.1.10. This is its Inside Local IP.</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These private IPs are not directly visible on the internet.</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a:p>
            <a:r>
              <a:rPr lang="en-US" b="1" dirty="0"/>
              <a:t>Inside Global: Public IP assigned to an internal device.</a:t>
            </a:r>
          </a:p>
          <a:p>
            <a:endParaRPr lang="en-US" sz="1200" dirty="0"/>
          </a:p>
          <a:p>
            <a:pPr marL="171450" indent="-171450">
              <a:buFont typeface="Wingdings" panose="05000000000000000000" pitchFamily="2" charset="2"/>
              <a:buChar char="ü"/>
            </a:pPr>
            <a:r>
              <a:rPr lang="en-US" sz="1100" dirty="0"/>
              <a:t>This is the public IP address that is assigned to a device inside your network when it accesses the internet.</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When your internal device (192.168.1.10) communicates with the internet, the router will translate it into a public IP like 203.0.113.10 (this is the Inside Global IP).</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The Inside Global IP allows the internal device to communicate with external servers (like websites) on the internet.</a:t>
            </a:r>
          </a:p>
        </p:txBody>
      </p:sp>
    </p:spTree>
    <p:extLst>
      <p:ext uri="{BB962C8B-B14F-4D97-AF65-F5344CB8AC3E}">
        <p14:creationId xmlns:p14="http://schemas.microsoft.com/office/powerpoint/2010/main" val="3916406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1EF4C-A47E-5FC1-269B-803D3338FB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28045D-C04C-82CA-DDB4-8E0FE2E9A56A}"/>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0D7C760E-A0D5-D1AF-B38A-30BB656B409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2E5A9DE-5CC9-7585-1E58-5BCA1785C1A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954CA49-C402-5447-8BA0-687DC6AE198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BECE211-995F-ABE9-B1E8-00FC82FB4E4A}"/>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6F9DCAE5-1222-417A-1481-BD5087144524}"/>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34A3DAC5-6EE9-54E1-8532-B34BB3A2984E}"/>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3D0CFEA8-F897-ADFD-81FD-372D8E50B72C}"/>
              </a:ext>
            </a:extLst>
          </p:cNvPr>
          <p:cNvSpPr txBox="1"/>
          <p:nvPr/>
        </p:nvSpPr>
        <p:spPr>
          <a:xfrm>
            <a:off x="255938" y="460170"/>
            <a:ext cx="8574795" cy="3816429"/>
          </a:xfrm>
          <a:prstGeom prst="rect">
            <a:avLst/>
          </a:prstGeom>
          <a:noFill/>
        </p:spPr>
        <p:txBody>
          <a:bodyPr wrap="square">
            <a:spAutoFit/>
          </a:bodyPr>
          <a:lstStyle/>
          <a:p>
            <a:r>
              <a:rPr lang="en-US" sz="1600" b="1" dirty="0">
                <a:solidFill>
                  <a:srgbClr val="403CCF"/>
                </a:solidFill>
                <a:latin typeface="Libre Baskerville" pitchFamily="34" charset="0"/>
              </a:rPr>
              <a:t>NAT Terminology</a:t>
            </a:r>
          </a:p>
          <a:p>
            <a:endParaRPr lang="en-US" sz="1600" b="1" dirty="0">
              <a:solidFill>
                <a:srgbClr val="403CCF"/>
              </a:solidFill>
              <a:latin typeface="Libre Baskerville" pitchFamily="34" charset="0"/>
            </a:endParaRPr>
          </a:p>
          <a:p>
            <a:endParaRPr lang="en-US" sz="1200" dirty="0"/>
          </a:p>
          <a:p>
            <a:r>
              <a:rPr lang="en-US" b="1" dirty="0"/>
              <a:t>Outside Local: Private IP of an external device (rarely used).</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ü"/>
            </a:pPr>
            <a:r>
              <a:rPr lang="en-US" sz="1100" dirty="0"/>
              <a:t>This refers to the private IP address of a device located outside your network.</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Imagine you're trying to access a server on another private network with a private IP like 10.0.0.5. This is the Outside Local IP.</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This IP is rarely used in regular internet communication, but it can appear if you're dealing with another private network.</a:t>
            </a:r>
          </a:p>
          <a:p>
            <a:endParaRPr lang="en-US" sz="1200" dirty="0"/>
          </a:p>
          <a:p>
            <a:endParaRPr lang="en-US" sz="1200" dirty="0"/>
          </a:p>
          <a:p>
            <a:pPr marL="171450" indent="-171450">
              <a:buFont typeface="Wingdings" panose="05000000000000000000" pitchFamily="2" charset="2"/>
              <a:buChar char="Ø"/>
            </a:pPr>
            <a:endParaRPr lang="en-US" sz="1200" dirty="0"/>
          </a:p>
          <a:p>
            <a:r>
              <a:rPr lang="en-US" b="1" dirty="0"/>
              <a:t>Outside Global: Public IP of an external device</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ü"/>
            </a:pPr>
            <a:r>
              <a:rPr lang="en-US" sz="1100" dirty="0"/>
              <a:t>This is the public IP address of a device located outside your network.</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When you visit a website, the website's server will have a public IP like 198.51.100.5. This is the Outside Global IP.</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This public IP allows the external device (the server hosting the website) to be accessible from anywhere on the internet.</a:t>
            </a:r>
          </a:p>
        </p:txBody>
      </p:sp>
    </p:spTree>
    <p:extLst>
      <p:ext uri="{BB962C8B-B14F-4D97-AF65-F5344CB8AC3E}">
        <p14:creationId xmlns:p14="http://schemas.microsoft.com/office/powerpoint/2010/main" val="1042584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61E46-7DF1-E7B4-6D84-73DA505D30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C3DD00-D382-60B3-8846-982B9CCA1754}"/>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B43455D-ABAF-D747-7EA7-64C7B25350B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891348DB-3363-7793-F934-2ED4764BBAE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6FACDB5-BD05-BB90-F709-74FD7C5AD97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8A32805-D8FE-5D0B-A428-0773F2F1800F}"/>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NAT</a:t>
            </a:r>
          </a:p>
        </p:txBody>
      </p:sp>
      <p:sp>
        <p:nvSpPr>
          <p:cNvPr id="17" name="TextBox 16">
            <a:extLst>
              <a:ext uri="{FF2B5EF4-FFF2-40B4-BE49-F238E27FC236}">
                <a16:creationId xmlns:a16="http://schemas.microsoft.com/office/drawing/2014/main" id="{91BDD78B-87B5-64CC-B890-1FCAB5E4BAF3}"/>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794C8595-6AAC-059F-94A2-9398610E7068}"/>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688A0D78-2E89-1C2E-6F8E-3D9A1DB98A95}"/>
              </a:ext>
            </a:extLst>
          </p:cNvPr>
          <p:cNvSpPr txBox="1"/>
          <p:nvPr/>
        </p:nvSpPr>
        <p:spPr>
          <a:xfrm>
            <a:off x="255938" y="460170"/>
            <a:ext cx="8703439" cy="4293483"/>
          </a:xfrm>
          <a:prstGeom prst="rect">
            <a:avLst/>
          </a:prstGeom>
          <a:noFill/>
        </p:spPr>
        <p:txBody>
          <a:bodyPr wrap="square">
            <a:spAutoFit/>
          </a:bodyPr>
          <a:lstStyle/>
          <a:p>
            <a:endParaRPr lang="en-US" sz="1600" b="1" dirty="0">
              <a:solidFill>
                <a:srgbClr val="403CCF"/>
              </a:solidFill>
              <a:latin typeface="Libre Baskerville" pitchFamily="34" charset="0"/>
            </a:endParaRPr>
          </a:p>
          <a:p>
            <a:r>
              <a:rPr lang="en-US" sz="1600" b="1" dirty="0">
                <a:solidFill>
                  <a:srgbClr val="403CCF"/>
                </a:solidFill>
                <a:latin typeface="Libre Baskerville" pitchFamily="34" charset="0"/>
              </a:rPr>
              <a:t>NAT Terminology Simple Example:</a:t>
            </a:r>
          </a:p>
          <a:p>
            <a:endParaRPr lang="en-US" sz="1600" b="1"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Your home network has a private IP range (e.g., 192.168.1.x).</a:t>
            </a:r>
          </a:p>
          <a:p>
            <a:endParaRPr lang="en-US" sz="1100" dirty="0"/>
          </a:p>
          <a:p>
            <a:pPr marL="171450" indent="-171450">
              <a:buFont typeface="Wingdings" panose="05000000000000000000" pitchFamily="2" charset="2"/>
              <a:buChar char="ü"/>
            </a:pPr>
            <a:r>
              <a:rPr lang="en-US" sz="1100" b="1" dirty="0"/>
              <a:t>Inside Local: </a:t>
            </a:r>
            <a:r>
              <a:rPr lang="en-US" sz="1100" dirty="0"/>
              <a:t>A device inside your network, like your laptop, has an IP like 192.168.1.10.</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b="1" dirty="0"/>
              <a:t>Inside Global: </a:t>
            </a:r>
            <a:r>
              <a:rPr lang="en-US" sz="1100" dirty="0"/>
              <a:t>When your laptop accesses the internet, your router translates it into a public IP (like 203.0.113.10).</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b="1" dirty="0"/>
              <a:t>Outside Global: </a:t>
            </a:r>
            <a:r>
              <a:rPr lang="en-US" sz="1100" dirty="0"/>
              <a:t>The website you visit has a public IP (e.g., 198.51.100.5).</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b="1" dirty="0"/>
              <a:t>Outside Local: </a:t>
            </a:r>
            <a:r>
              <a:rPr lang="en-US" sz="1100" dirty="0"/>
              <a:t>The website’s server may have a private IP (e.g., 10.0.0.5), but you typically don’t deal with this directly.</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r>
              <a:rPr lang="en-US" sz="1600" b="1" dirty="0">
                <a:solidFill>
                  <a:srgbClr val="403CCF"/>
                </a:solidFill>
                <a:latin typeface="Libre Baskerville" pitchFamily="34" charset="0"/>
              </a:rPr>
              <a:t>Advantages &amp; Disadvantages of NAT:</a:t>
            </a:r>
          </a:p>
          <a:p>
            <a:endParaRPr lang="en-US" sz="1100" dirty="0"/>
          </a:p>
          <a:p>
            <a:pPr marL="171450" indent="-171450">
              <a:buFont typeface="Wingdings" panose="05000000000000000000" pitchFamily="2" charset="2"/>
              <a:buChar char="ü"/>
            </a:pPr>
            <a:r>
              <a:rPr lang="en-US" sz="1100" dirty="0"/>
              <a:t>Conserves public IP addresses.</a:t>
            </a:r>
          </a:p>
          <a:p>
            <a:pPr marL="171450" indent="-171450">
              <a:buFont typeface="Wingdings" panose="05000000000000000000" pitchFamily="2" charset="2"/>
              <a:buChar char="ü"/>
            </a:pPr>
            <a:r>
              <a:rPr lang="en-US" sz="1100" dirty="0"/>
              <a:t>Provides security by hiding internal IPs.</a:t>
            </a:r>
          </a:p>
          <a:p>
            <a:pPr marL="171450" indent="-171450">
              <a:buFont typeface="Wingdings" panose="05000000000000000000" pitchFamily="2" charset="2"/>
              <a:buChar char="ü"/>
            </a:pPr>
            <a:r>
              <a:rPr lang="en-US" sz="1100" dirty="0"/>
              <a:t>Enables private network connectivity to the internet.</a:t>
            </a:r>
          </a:p>
          <a:p>
            <a:endParaRPr lang="en-US" sz="1100" dirty="0"/>
          </a:p>
        </p:txBody>
      </p:sp>
    </p:spTree>
    <p:extLst>
      <p:ext uri="{BB962C8B-B14F-4D97-AF65-F5344CB8AC3E}">
        <p14:creationId xmlns:p14="http://schemas.microsoft.com/office/powerpoint/2010/main" val="2383977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D44BE-5800-D49C-6AAA-9EFDF954BA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195DAB5-A3A9-4236-13B6-56EC73D02C2A}"/>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BD9F4303-ABF6-A811-6983-FE9CBB48154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84DC7637-174C-16E8-BDD5-85F539E4C19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86BA1B6-9009-6ADD-A6A5-63376781B4A9}"/>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C3A6E22B-69F5-FCD5-8369-EEDE3D73A9A9}"/>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38C7F54F-2A17-C667-1968-58442D386B51}"/>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038EA392-5232-ACFD-3ADC-AD906E91E662}"/>
              </a:ext>
            </a:extLst>
          </p:cNvPr>
          <p:cNvSpPr txBox="1"/>
          <p:nvPr/>
        </p:nvSpPr>
        <p:spPr>
          <a:xfrm>
            <a:off x="255938" y="460170"/>
            <a:ext cx="8195937" cy="523220"/>
          </a:xfrm>
          <a:prstGeom prst="rect">
            <a:avLst/>
          </a:prstGeom>
          <a:noFill/>
        </p:spPr>
        <p:txBody>
          <a:bodyPr wrap="square">
            <a:spAutoFit/>
          </a:bodyPr>
          <a:lstStyle/>
          <a:p>
            <a:endParaRPr lang="en-US" sz="1600" b="1" dirty="0">
              <a:solidFill>
                <a:srgbClr val="403CCF"/>
              </a:solidFill>
              <a:latin typeface="Libre Baskerville" pitchFamily="34" charset="0"/>
            </a:endParaRPr>
          </a:p>
          <a:p>
            <a:endParaRPr lang="en-US" sz="1200" dirty="0"/>
          </a:p>
        </p:txBody>
      </p:sp>
      <p:sp>
        <p:nvSpPr>
          <p:cNvPr id="5" name="Rectangle 4">
            <a:extLst>
              <a:ext uri="{FF2B5EF4-FFF2-40B4-BE49-F238E27FC236}">
                <a16:creationId xmlns:a16="http://schemas.microsoft.com/office/drawing/2014/main" id="{8042D90E-E59D-9D64-5A1D-FECA3B35AE76}"/>
              </a:ext>
            </a:extLst>
          </p:cNvPr>
          <p:cNvSpPr/>
          <p:nvPr/>
        </p:nvSpPr>
        <p:spPr>
          <a:xfrm>
            <a:off x="-55558" y="1518300"/>
            <a:ext cx="8703439" cy="1754326"/>
          </a:xfrm>
          <a:prstGeom prst="rect">
            <a:avLst/>
          </a:prstGeom>
          <a:noFill/>
        </p:spPr>
        <p:txBody>
          <a:bodyPr wrap="squar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latin typeface="Libre Baskerville" pitchFamily="34" charset="0"/>
              </a:rPr>
              <a:t>Static NAT Configuration</a:t>
            </a:r>
            <a:endParaRPr lang="en-PK"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2363108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B7FF0-3FDD-0BED-E686-8A929888AA8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5EA9839-556B-7006-4913-EAD7FC0FA1C7}"/>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365BEC7-686D-DD26-05E2-9488AD8C78CF}"/>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32154E7-DAF1-2C6A-293C-B9C0F8C2FDDF}"/>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F5DFB7D-1DB7-A773-73D1-798F1C69A03D}"/>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4DCE8AE-8706-D04F-835D-9FCBFD1DE29D}"/>
              </a:ext>
            </a:extLst>
          </p:cNvPr>
          <p:cNvSpPr txBox="1"/>
          <p:nvPr/>
        </p:nvSpPr>
        <p:spPr>
          <a:xfrm>
            <a:off x="2726413" y="63307"/>
            <a:ext cx="3674387" cy="400110"/>
          </a:xfrm>
          <a:prstGeom prst="rect">
            <a:avLst/>
          </a:prstGeom>
          <a:noFill/>
        </p:spPr>
        <p:txBody>
          <a:bodyPr wrap="square">
            <a:spAutoFit/>
          </a:bodyPr>
          <a:lstStyle/>
          <a:p>
            <a:r>
              <a:rPr lang="en-US" sz="2000" b="1" dirty="0">
                <a:solidFill>
                  <a:srgbClr val="403CCF"/>
                </a:solidFill>
                <a:latin typeface="Libre Baskerville" pitchFamily="34" charset="0"/>
              </a:rPr>
              <a:t>Static NAT Configuration</a:t>
            </a:r>
          </a:p>
        </p:txBody>
      </p:sp>
      <p:sp>
        <p:nvSpPr>
          <p:cNvPr id="17" name="TextBox 16">
            <a:extLst>
              <a:ext uri="{FF2B5EF4-FFF2-40B4-BE49-F238E27FC236}">
                <a16:creationId xmlns:a16="http://schemas.microsoft.com/office/drawing/2014/main" id="{8B3FE703-F34C-29ED-CBB8-28F7AF41A0E5}"/>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E3995AF7-F9EB-1928-FD90-584B769E215B}"/>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D9A1B00E-6BDE-B9C3-786A-A0B50DAEC288}"/>
              </a:ext>
            </a:extLst>
          </p:cNvPr>
          <p:cNvSpPr txBox="1"/>
          <p:nvPr/>
        </p:nvSpPr>
        <p:spPr>
          <a:xfrm>
            <a:off x="255938" y="460170"/>
            <a:ext cx="8195937" cy="523220"/>
          </a:xfrm>
          <a:prstGeom prst="rect">
            <a:avLst/>
          </a:prstGeom>
          <a:noFill/>
        </p:spPr>
        <p:txBody>
          <a:bodyPr wrap="square">
            <a:spAutoFit/>
          </a:bodyPr>
          <a:lstStyle/>
          <a:p>
            <a:r>
              <a:rPr lang="en-US" sz="1600" b="1" dirty="0">
                <a:solidFill>
                  <a:srgbClr val="403CCF"/>
                </a:solidFill>
                <a:latin typeface="Libre Baskerville" pitchFamily="34" charset="0"/>
              </a:rPr>
              <a:t>Network Diagram </a:t>
            </a:r>
          </a:p>
          <a:p>
            <a:endParaRPr lang="en-US" sz="1200" dirty="0"/>
          </a:p>
        </p:txBody>
      </p:sp>
      <p:sp>
        <p:nvSpPr>
          <p:cNvPr id="8" name="TextBox 7">
            <a:extLst>
              <a:ext uri="{FF2B5EF4-FFF2-40B4-BE49-F238E27FC236}">
                <a16:creationId xmlns:a16="http://schemas.microsoft.com/office/drawing/2014/main" id="{5B201D50-17E0-6CA9-2166-CA8A66D66183}"/>
              </a:ext>
            </a:extLst>
          </p:cNvPr>
          <p:cNvSpPr txBox="1"/>
          <p:nvPr/>
        </p:nvSpPr>
        <p:spPr>
          <a:xfrm>
            <a:off x="381819" y="3205302"/>
            <a:ext cx="7813914" cy="1523494"/>
          </a:xfrm>
          <a:prstGeom prst="rect">
            <a:avLst/>
          </a:prstGeom>
          <a:noFill/>
        </p:spPr>
        <p:txBody>
          <a:bodyPr wrap="square">
            <a:spAutoFit/>
          </a:bodyPr>
          <a:lstStyle/>
          <a:p>
            <a:endParaRPr lang="en-US" sz="1600" b="1" dirty="0">
              <a:solidFill>
                <a:srgbClr val="403CCF"/>
              </a:solidFill>
              <a:latin typeface="Libre Baskerville" pitchFamily="34" charset="0"/>
            </a:endParaRPr>
          </a:p>
          <a:p>
            <a:r>
              <a:rPr lang="en-US" sz="1600" b="1" dirty="0">
                <a:solidFill>
                  <a:srgbClr val="403CCF"/>
                </a:solidFill>
                <a:latin typeface="Libre Baskerville" pitchFamily="34" charset="0"/>
              </a:rPr>
              <a:t>Steps to Apply static NAT:</a:t>
            </a:r>
          </a:p>
          <a:p>
            <a:endParaRPr lang="en-US" dirty="0"/>
          </a:p>
          <a:p>
            <a:r>
              <a:rPr lang="en-US" sz="1100" dirty="0"/>
              <a:t>First, we need to do basic configuration, Configure routing  protocol static or dynamic </a:t>
            </a:r>
          </a:p>
          <a:p>
            <a:pPr marL="342900" indent="-342900">
              <a:buAutoNum type="arabicParenR"/>
            </a:pPr>
            <a:r>
              <a:rPr lang="en-US" sz="1100" dirty="0"/>
              <a:t>Define NAT </a:t>
            </a:r>
          </a:p>
          <a:p>
            <a:pPr marL="342900" indent="-342900">
              <a:buAutoNum type="arabicParenR"/>
            </a:pPr>
            <a:r>
              <a:rPr lang="en-US" sz="1100" dirty="0"/>
              <a:t>Implement NAT at interface level</a:t>
            </a:r>
          </a:p>
          <a:p>
            <a:endParaRPr lang="en-US" dirty="0"/>
          </a:p>
        </p:txBody>
      </p:sp>
      <p:pic>
        <p:nvPicPr>
          <p:cNvPr id="11" name="Picture 10">
            <a:extLst>
              <a:ext uri="{FF2B5EF4-FFF2-40B4-BE49-F238E27FC236}">
                <a16:creationId xmlns:a16="http://schemas.microsoft.com/office/drawing/2014/main" id="{A280A4C5-B2DE-9875-5440-E631C892BEF7}"/>
              </a:ext>
            </a:extLst>
          </p:cNvPr>
          <p:cNvPicPr>
            <a:picLocks noChangeAspect="1"/>
          </p:cNvPicPr>
          <p:nvPr/>
        </p:nvPicPr>
        <p:blipFill>
          <a:blip r:embed="rId3"/>
          <a:stretch>
            <a:fillRect/>
          </a:stretch>
        </p:blipFill>
        <p:spPr>
          <a:xfrm>
            <a:off x="381818" y="883917"/>
            <a:ext cx="7813915" cy="2455916"/>
          </a:xfrm>
          <a:prstGeom prst="rect">
            <a:avLst/>
          </a:prstGeom>
        </p:spPr>
      </p:pic>
    </p:spTree>
    <p:extLst>
      <p:ext uri="{BB962C8B-B14F-4D97-AF65-F5344CB8AC3E}">
        <p14:creationId xmlns:p14="http://schemas.microsoft.com/office/powerpoint/2010/main" val="3686234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26820-3D2F-A5AB-84C5-BF0AF717FE9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884D0A9-B2EA-1A14-93EF-B6F5F5405D2F}"/>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71E9931E-1D85-9FC8-CBC7-197AE188552B}"/>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64C4B0C-4286-C7B2-BBB9-BC3EB733E372}"/>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8C75AC08-C205-A896-86FE-0760BBFFCC3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B5E80817-E8A2-7A67-EC58-26AD72133710}"/>
              </a:ext>
            </a:extLst>
          </p:cNvPr>
          <p:cNvSpPr txBox="1"/>
          <p:nvPr/>
        </p:nvSpPr>
        <p:spPr>
          <a:xfrm>
            <a:off x="2726413" y="63307"/>
            <a:ext cx="3902987" cy="400110"/>
          </a:xfrm>
          <a:prstGeom prst="rect">
            <a:avLst/>
          </a:prstGeom>
          <a:noFill/>
        </p:spPr>
        <p:txBody>
          <a:bodyPr wrap="square">
            <a:spAutoFit/>
          </a:bodyPr>
          <a:lstStyle/>
          <a:p>
            <a:r>
              <a:rPr lang="en-US" sz="2000" b="1" dirty="0">
                <a:solidFill>
                  <a:srgbClr val="403CCF"/>
                </a:solidFill>
                <a:latin typeface="Libre Baskerville" pitchFamily="34" charset="0"/>
              </a:rPr>
              <a:t>Static NAT Configuration</a:t>
            </a:r>
          </a:p>
        </p:txBody>
      </p:sp>
      <p:sp>
        <p:nvSpPr>
          <p:cNvPr id="17" name="TextBox 16">
            <a:extLst>
              <a:ext uri="{FF2B5EF4-FFF2-40B4-BE49-F238E27FC236}">
                <a16:creationId xmlns:a16="http://schemas.microsoft.com/office/drawing/2014/main" id="{099AC814-D550-2118-9FE3-D43C982454A8}"/>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A752D978-5C70-ED84-46B0-8881D1A5F385}"/>
              </a:ext>
            </a:extLst>
          </p:cNvPr>
          <p:cNvSpPr txBox="1"/>
          <p:nvPr/>
        </p:nvSpPr>
        <p:spPr>
          <a:xfrm>
            <a:off x="538454" y="814156"/>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1C798C31-A6E5-D104-26D0-679708CFC0C6}"/>
              </a:ext>
            </a:extLst>
          </p:cNvPr>
          <p:cNvSpPr txBox="1"/>
          <p:nvPr/>
        </p:nvSpPr>
        <p:spPr>
          <a:xfrm>
            <a:off x="255938" y="460170"/>
            <a:ext cx="8195937" cy="338554"/>
          </a:xfrm>
          <a:prstGeom prst="rect">
            <a:avLst/>
          </a:prstGeom>
          <a:noFill/>
        </p:spPr>
        <p:txBody>
          <a:bodyPr wrap="square">
            <a:spAutoFit/>
          </a:bodyPr>
          <a:lstStyle/>
          <a:p>
            <a:r>
              <a:rPr lang="en-US" sz="1600" b="1" dirty="0">
                <a:solidFill>
                  <a:srgbClr val="403CCF"/>
                </a:solidFill>
                <a:latin typeface="Libre Baskerville" pitchFamily="34" charset="0"/>
              </a:rPr>
              <a:t>Configuration:</a:t>
            </a:r>
          </a:p>
        </p:txBody>
      </p:sp>
      <p:sp>
        <p:nvSpPr>
          <p:cNvPr id="8" name="TextBox 7">
            <a:extLst>
              <a:ext uri="{FF2B5EF4-FFF2-40B4-BE49-F238E27FC236}">
                <a16:creationId xmlns:a16="http://schemas.microsoft.com/office/drawing/2014/main" id="{254FFBD9-CF87-1F01-1F0C-EC3BD5A34091}"/>
              </a:ext>
            </a:extLst>
          </p:cNvPr>
          <p:cNvSpPr txBox="1"/>
          <p:nvPr/>
        </p:nvSpPr>
        <p:spPr>
          <a:xfrm>
            <a:off x="80517" y="967914"/>
            <a:ext cx="4375329" cy="3139321"/>
          </a:xfrm>
          <a:prstGeom prst="rect">
            <a:avLst/>
          </a:prstGeom>
          <a:noFill/>
        </p:spPr>
        <p:txBody>
          <a:bodyPr wrap="square">
            <a:spAutoFit/>
          </a:bodyPr>
          <a:lstStyle/>
          <a:p>
            <a:r>
              <a:rPr lang="en-US" sz="1800" dirty="0">
                <a:highlight>
                  <a:srgbClr val="00FFFF"/>
                </a:highlight>
              </a:rPr>
              <a:t>R1</a:t>
            </a:r>
          </a:p>
          <a:p>
            <a:pPr marL="285750" indent="-285750">
              <a:buFont typeface="Wingdings" panose="05000000000000000000" pitchFamily="2" charset="2"/>
              <a:buChar char="q"/>
            </a:pPr>
            <a:r>
              <a:rPr lang="en-PK" sz="1200" dirty="0"/>
              <a:t>R1(config)# interface fa0/0</a:t>
            </a:r>
          </a:p>
          <a:p>
            <a:pPr marL="285750" indent="-285750">
              <a:buFont typeface="Wingdings" panose="05000000000000000000" pitchFamily="2" charset="2"/>
              <a:buChar char="q"/>
            </a:pPr>
            <a:r>
              <a:rPr lang="en-PK" sz="1200" dirty="0"/>
              <a:t>R1(config-if)# ip </a:t>
            </a:r>
            <a:r>
              <a:rPr lang="en-US" sz="1200" dirty="0"/>
              <a:t>address 192.100.50.100  255.255.255.0</a:t>
            </a:r>
            <a:endParaRPr lang="en-PK" sz="1200" dirty="0"/>
          </a:p>
          <a:p>
            <a:pPr marL="285750" indent="-285750">
              <a:buFont typeface="Wingdings" panose="05000000000000000000" pitchFamily="2" charset="2"/>
              <a:buChar char="q"/>
            </a:pPr>
            <a:r>
              <a:rPr lang="en-PK" sz="1200" dirty="0"/>
              <a:t>R1(config-if)# </a:t>
            </a:r>
            <a:r>
              <a:rPr lang="en-US" sz="1200" dirty="0"/>
              <a:t>no shutdown</a:t>
            </a:r>
          </a:p>
          <a:p>
            <a:pPr marL="285750" indent="-285750">
              <a:buFont typeface="Wingdings" panose="05000000000000000000" pitchFamily="2" charset="2"/>
              <a:buChar char="q"/>
            </a:pPr>
            <a:r>
              <a:rPr lang="en-PK" sz="1200" dirty="0"/>
              <a:t>R1(config-if)# </a:t>
            </a:r>
            <a:r>
              <a:rPr lang="en-US" sz="1200" dirty="0"/>
              <a:t>exit</a:t>
            </a:r>
          </a:p>
          <a:p>
            <a:pPr marL="285750" indent="-285750">
              <a:buFont typeface="Wingdings" panose="05000000000000000000" pitchFamily="2" charset="2"/>
              <a:buChar char="q"/>
            </a:pPr>
            <a:endParaRPr lang="en-US" sz="1200" dirty="0"/>
          </a:p>
          <a:p>
            <a:pPr marL="285750" indent="-285750">
              <a:buFont typeface="Wingdings" panose="05000000000000000000" pitchFamily="2" charset="2"/>
              <a:buChar char="q"/>
            </a:pPr>
            <a:r>
              <a:rPr lang="en-PK" sz="1200" dirty="0"/>
              <a:t>R1(config)# interface </a:t>
            </a:r>
            <a:r>
              <a:rPr lang="en-US" sz="1200" dirty="0"/>
              <a:t>s</a:t>
            </a:r>
            <a:r>
              <a:rPr lang="en-PK" sz="1200" dirty="0"/>
              <a:t>0/0</a:t>
            </a:r>
          </a:p>
          <a:p>
            <a:pPr marL="285750" indent="-285750">
              <a:buFont typeface="Wingdings" panose="05000000000000000000" pitchFamily="2" charset="2"/>
              <a:buChar char="q"/>
            </a:pPr>
            <a:r>
              <a:rPr lang="en-PK" sz="1200" dirty="0"/>
              <a:t>R1(config-if)# ip </a:t>
            </a:r>
            <a:r>
              <a:rPr lang="en-US" sz="1200" dirty="0"/>
              <a:t>address 1.1.1.1  255.0.0.0</a:t>
            </a:r>
            <a:endParaRPr lang="en-PK" sz="1200" dirty="0"/>
          </a:p>
          <a:p>
            <a:pPr marL="285750" indent="-285750">
              <a:buFont typeface="Wingdings" panose="05000000000000000000" pitchFamily="2" charset="2"/>
              <a:buChar char="q"/>
            </a:pPr>
            <a:r>
              <a:rPr lang="en-PK" sz="1200" dirty="0"/>
              <a:t>R1(config-if)# </a:t>
            </a:r>
            <a:r>
              <a:rPr lang="en-US" sz="1200" dirty="0"/>
              <a:t>no shutdown</a:t>
            </a:r>
          </a:p>
          <a:p>
            <a:pPr marL="285750" indent="-285750">
              <a:buFont typeface="Wingdings" panose="05000000000000000000" pitchFamily="2" charset="2"/>
              <a:buChar char="q"/>
            </a:pPr>
            <a:r>
              <a:rPr lang="en-PK" sz="1200" dirty="0"/>
              <a:t>R1(config-if)# </a:t>
            </a:r>
            <a:r>
              <a:rPr lang="en-US" sz="1200" dirty="0"/>
              <a:t>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R1(config)# </a:t>
            </a:r>
            <a:r>
              <a:rPr lang="en-US" sz="1200" dirty="0"/>
              <a:t>router rip</a:t>
            </a:r>
          </a:p>
          <a:p>
            <a:pPr marL="285750" indent="-285750">
              <a:buFont typeface="Wingdings" panose="05000000000000000000" pitchFamily="2" charset="2"/>
              <a:buChar char="q"/>
            </a:pPr>
            <a:r>
              <a:rPr lang="en-PK" sz="1200" dirty="0"/>
              <a:t>R1(config)# </a:t>
            </a:r>
            <a:r>
              <a:rPr lang="en-US" sz="1200" dirty="0"/>
              <a:t>network 192.100.50.0</a:t>
            </a:r>
          </a:p>
          <a:p>
            <a:pPr marL="285750" indent="-285750">
              <a:buFont typeface="Wingdings" panose="05000000000000000000" pitchFamily="2" charset="2"/>
              <a:buChar char="q"/>
            </a:pPr>
            <a:r>
              <a:rPr lang="en-PK" sz="1200" dirty="0"/>
              <a:t>R1(config)# </a:t>
            </a:r>
            <a:r>
              <a:rPr lang="en-US" sz="1200" dirty="0"/>
              <a:t>network 1.0.0.0</a:t>
            </a:r>
            <a:endParaRPr lang="en-PK" sz="1200" dirty="0"/>
          </a:p>
          <a:p>
            <a:pPr marL="285750" indent="-285750">
              <a:buFont typeface="Wingdings" panose="05000000000000000000" pitchFamily="2" charset="2"/>
              <a:buChar char="q"/>
            </a:pPr>
            <a:r>
              <a:rPr lang="en-PK" sz="1200" dirty="0"/>
              <a:t>R1(config-if)# exit</a:t>
            </a:r>
          </a:p>
        </p:txBody>
      </p:sp>
      <p:sp>
        <p:nvSpPr>
          <p:cNvPr id="11" name="TextBox 10">
            <a:extLst>
              <a:ext uri="{FF2B5EF4-FFF2-40B4-BE49-F238E27FC236}">
                <a16:creationId xmlns:a16="http://schemas.microsoft.com/office/drawing/2014/main" id="{3445479D-482E-0A4C-A032-325703949BB3}"/>
              </a:ext>
            </a:extLst>
          </p:cNvPr>
          <p:cNvSpPr txBox="1"/>
          <p:nvPr/>
        </p:nvSpPr>
        <p:spPr>
          <a:xfrm>
            <a:off x="4572000" y="967914"/>
            <a:ext cx="4572000" cy="3139321"/>
          </a:xfrm>
          <a:prstGeom prst="rect">
            <a:avLst/>
          </a:prstGeom>
          <a:noFill/>
        </p:spPr>
        <p:txBody>
          <a:bodyPr wrap="square">
            <a:spAutoFit/>
          </a:bodyPr>
          <a:lstStyle/>
          <a:p>
            <a:r>
              <a:rPr lang="en-US" sz="1800" dirty="0">
                <a:highlight>
                  <a:srgbClr val="00FFFF"/>
                </a:highlight>
              </a:rPr>
              <a:t>R2</a:t>
            </a:r>
          </a:p>
          <a:p>
            <a:pPr marL="285750" indent="-285750">
              <a:buFont typeface="Wingdings" panose="05000000000000000000" pitchFamily="2" charset="2"/>
              <a:buChar char="q"/>
            </a:pPr>
            <a:r>
              <a:rPr lang="en-PK" sz="1200" dirty="0"/>
              <a:t>R</a:t>
            </a:r>
            <a:r>
              <a:rPr lang="en-US" sz="1200" dirty="0"/>
              <a:t>2</a:t>
            </a:r>
            <a:r>
              <a:rPr lang="en-PK" sz="1200" dirty="0"/>
              <a:t>(config)# interface fa0/0</a:t>
            </a:r>
          </a:p>
          <a:p>
            <a:pPr marL="285750" indent="-285750">
              <a:buFont typeface="Wingdings" panose="05000000000000000000" pitchFamily="2" charset="2"/>
              <a:buChar char="q"/>
            </a:pPr>
            <a:r>
              <a:rPr lang="en-PK" sz="1200" dirty="0"/>
              <a:t>R</a:t>
            </a:r>
            <a:r>
              <a:rPr lang="en-US" sz="1200" dirty="0"/>
              <a:t>2</a:t>
            </a:r>
            <a:r>
              <a:rPr lang="en-PK" sz="1200" dirty="0"/>
              <a:t>(config-if)# ip </a:t>
            </a:r>
            <a:r>
              <a:rPr lang="en-US" sz="1200" dirty="0"/>
              <a:t>address 200.100.100.100  255.255.255.0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no shutdown</a:t>
            </a:r>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exit</a:t>
            </a:r>
          </a:p>
          <a:p>
            <a:endParaRPr lang="en-US" sz="1200" dirty="0"/>
          </a:p>
          <a:p>
            <a:pPr marL="285750" indent="-285750">
              <a:buFont typeface="Wingdings" panose="05000000000000000000" pitchFamily="2" charset="2"/>
              <a:buChar char="q"/>
            </a:pPr>
            <a:r>
              <a:rPr lang="en-PK" sz="1200" dirty="0"/>
              <a:t>R</a:t>
            </a:r>
            <a:r>
              <a:rPr lang="en-US" sz="1200" dirty="0"/>
              <a:t>2</a:t>
            </a:r>
            <a:r>
              <a:rPr lang="en-PK" sz="1200" dirty="0"/>
              <a:t>(config)# interface </a:t>
            </a:r>
            <a:r>
              <a:rPr lang="en-US" sz="1200" dirty="0"/>
              <a:t>s</a:t>
            </a:r>
            <a:r>
              <a:rPr lang="en-PK" sz="1200" dirty="0"/>
              <a:t>0/0</a:t>
            </a:r>
          </a:p>
          <a:p>
            <a:pPr marL="285750" indent="-285750">
              <a:buFont typeface="Wingdings" panose="05000000000000000000" pitchFamily="2" charset="2"/>
              <a:buChar char="q"/>
            </a:pPr>
            <a:r>
              <a:rPr lang="en-PK" sz="1200" dirty="0"/>
              <a:t>R</a:t>
            </a:r>
            <a:r>
              <a:rPr lang="en-US" sz="1200" dirty="0"/>
              <a:t>2</a:t>
            </a:r>
            <a:r>
              <a:rPr lang="en-PK" sz="1200" dirty="0"/>
              <a:t>(config-if)# ip </a:t>
            </a:r>
            <a:r>
              <a:rPr lang="en-US" sz="1200" dirty="0"/>
              <a:t>address 1.1.1.2  255.0.0.0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no shutdown</a:t>
            </a:r>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router rip</a:t>
            </a:r>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network 200.100.100.0</a:t>
            </a:r>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network 1.0.0.0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exit</a:t>
            </a:r>
          </a:p>
        </p:txBody>
      </p:sp>
    </p:spTree>
    <p:extLst>
      <p:ext uri="{BB962C8B-B14F-4D97-AF65-F5344CB8AC3E}">
        <p14:creationId xmlns:p14="http://schemas.microsoft.com/office/powerpoint/2010/main" val="1993621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E96CC-0777-78C2-B692-DADB9B2590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64477F-F076-C806-56BA-18CC09334B0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DCE3156C-0CCA-4666-8D1F-54333D49F609}"/>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8471CAF-BFF8-894B-7213-DD8BA8CAF19F}"/>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1212B17-94AC-2217-4ED3-F14026330330}"/>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FA8A88E-9C1D-7B26-B5FA-2411B71EE342}"/>
              </a:ext>
            </a:extLst>
          </p:cNvPr>
          <p:cNvSpPr txBox="1"/>
          <p:nvPr/>
        </p:nvSpPr>
        <p:spPr>
          <a:xfrm>
            <a:off x="2726413" y="63307"/>
            <a:ext cx="3902987" cy="400110"/>
          </a:xfrm>
          <a:prstGeom prst="rect">
            <a:avLst/>
          </a:prstGeom>
          <a:noFill/>
        </p:spPr>
        <p:txBody>
          <a:bodyPr wrap="square">
            <a:spAutoFit/>
          </a:bodyPr>
          <a:lstStyle/>
          <a:p>
            <a:r>
              <a:rPr lang="en-US" sz="2000" b="1" dirty="0">
                <a:solidFill>
                  <a:srgbClr val="403CCF"/>
                </a:solidFill>
                <a:latin typeface="Libre Baskerville" pitchFamily="34" charset="0"/>
              </a:rPr>
              <a:t>Static NAT Configuration</a:t>
            </a:r>
          </a:p>
        </p:txBody>
      </p:sp>
      <p:sp>
        <p:nvSpPr>
          <p:cNvPr id="17" name="TextBox 16">
            <a:extLst>
              <a:ext uri="{FF2B5EF4-FFF2-40B4-BE49-F238E27FC236}">
                <a16:creationId xmlns:a16="http://schemas.microsoft.com/office/drawing/2014/main" id="{987E64B2-36A2-C130-0822-370B77426C9A}"/>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552E40A2-182F-FDBB-D5CE-72011DE78C66}"/>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0942F179-3C42-2B9C-8E07-C73076E4605C}"/>
              </a:ext>
            </a:extLst>
          </p:cNvPr>
          <p:cNvSpPr txBox="1"/>
          <p:nvPr/>
        </p:nvSpPr>
        <p:spPr>
          <a:xfrm>
            <a:off x="255938" y="460170"/>
            <a:ext cx="8195937" cy="338554"/>
          </a:xfrm>
          <a:prstGeom prst="rect">
            <a:avLst/>
          </a:prstGeom>
          <a:noFill/>
        </p:spPr>
        <p:txBody>
          <a:bodyPr wrap="square">
            <a:spAutoFit/>
          </a:bodyPr>
          <a:lstStyle/>
          <a:p>
            <a:r>
              <a:rPr lang="en-US" sz="1600" b="1" dirty="0">
                <a:solidFill>
                  <a:srgbClr val="403CCF"/>
                </a:solidFill>
                <a:latin typeface="Libre Baskerville" pitchFamily="34" charset="0"/>
              </a:rPr>
              <a:t>Configuration:</a:t>
            </a:r>
          </a:p>
        </p:txBody>
      </p:sp>
      <p:sp>
        <p:nvSpPr>
          <p:cNvPr id="8" name="TextBox 7">
            <a:extLst>
              <a:ext uri="{FF2B5EF4-FFF2-40B4-BE49-F238E27FC236}">
                <a16:creationId xmlns:a16="http://schemas.microsoft.com/office/drawing/2014/main" id="{4B19748D-7A62-49EE-C74E-D889746D8DE4}"/>
              </a:ext>
            </a:extLst>
          </p:cNvPr>
          <p:cNvSpPr txBox="1"/>
          <p:nvPr/>
        </p:nvSpPr>
        <p:spPr>
          <a:xfrm>
            <a:off x="255938" y="888822"/>
            <a:ext cx="4409195" cy="1877437"/>
          </a:xfrm>
          <a:prstGeom prst="rect">
            <a:avLst/>
          </a:prstGeom>
          <a:noFill/>
        </p:spPr>
        <p:txBody>
          <a:bodyPr wrap="square">
            <a:spAutoFit/>
          </a:bodyPr>
          <a:lstStyle/>
          <a:p>
            <a:r>
              <a:rPr lang="en-US" sz="1800" dirty="0">
                <a:highlight>
                  <a:srgbClr val="00FFFF"/>
                </a:highlight>
              </a:rPr>
              <a:t>Define NAT inside &amp; outside interfaces</a:t>
            </a:r>
            <a:r>
              <a:rPr lang="en-US" b="1" dirty="0"/>
              <a:t> </a:t>
            </a:r>
          </a:p>
          <a:p>
            <a:pPr marL="285750" indent="-285750">
              <a:buFont typeface="Wingdings" panose="05000000000000000000" pitchFamily="2" charset="2"/>
              <a:buChar char="q"/>
            </a:pPr>
            <a:r>
              <a:rPr lang="en-PK" dirty="0"/>
              <a:t>R1(config)# interface fa0/0</a:t>
            </a:r>
          </a:p>
          <a:p>
            <a:pPr marL="285750" indent="-285750">
              <a:buFont typeface="Wingdings" panose="05000000000000000000" pitchFamily="2" charset="2"/>
              <a:buChar char="q"/>
            </a:pPr>
            <a:r>
              <a:rPr lang="en-PK" dirty="0"/>
              <a:t>R1(config-if)# ip nat inside</a:t>
            </a:r>
          </a:p>
          <a:p>
            <a:pPr marL="285750" indent="-285750">
              <a:buFont typeface="Wingdings" panose="05000000000000000000" pitchFamily="2" charset="2"/>
              <a:buChar char="q"/>
            </a:pPr>
            <a:r>
              <a:rPr lang="en-PK" dirty="0"/>
              <a:t>R1(config-if)# exit</a:t>
            </a:r>
          </a:p>
          <a:p>
            <a:pPr marL="285750" indent="-285750">
              <a:buFont typeface="Wingdings" panose="05000000000000000000" pitchFamily="2" charset="2"/>
              <a:buChar char="q"/>
            </a:pPr>
            <a:endParaRPr lang="en-PK" dirty="0"/>
          </a:p>
          <a:p>
            <a:pPr marL="285750" indent="-285750">
              <a:buFont typeface="Wingdings" panose="05000000000000000000" pitchFamily="2" charset="2"/>
              <a:buChar char="q"/>
            </a:pPr>
            <a:r>
              <a:rPr lang="en-PK" dirty="0"/>
              <a:t>R1(config)# interface s0/0</a:t>
            </a:r>
          </a:p>
          <a:p>
            <a:pPr marL="285750" indent="-285750">
              <a:buFont typeface="Wingdings" panose="05000000000000000000" pitchFamily="2" charset="2"/>
              <a:buChar char="q"/>
            </a:pPr>
            <a:r>
              <a:rPr lang="en-PK" dirty="0"/>
              <a:t>R1(config-if)# ip nat outside</a:t>
            </a:r>
          </a:p>
          <a:p>
            <a:pPr marL="285750" indent="-285750">
              <a:buFont typeface="Wingdings" panose="05000000000000000000" pitchFamily="2" charset="2"/>
              <a:buChar char="q"/>
            </a:pPr>
            <a:r>
              <a:rPr lang="en-PK" dirty="0"/>
              <a:t>R1(config-if)# exit</a:t>
            </a:r>
          </a:p>
        </p:txBody>
      </p:sp>
      <p:sp>
        <p:nvSpPr>
          <p:cNvPr id="12" name="TextBox 11">
            <a:extLst>
              <a:ext uri="{FF2B5EF4-FFF2-40B4-BE49-F238E27FC236}">
                <a16:creationId xmlns:a16="http://schemas.microsoft.com/office/drawing/2014/main" id="{CF94773D-9EF9-3731-0F56-BD04FC7CACD2}"/>
              </a:ext>
            </a:extLst>
          </p:cNvPr>
          <p:cNvSpPr txBox="1"/>
          <p:nvPr/>
        </p:nvSpPr>
        <p:spPr>
          <a:xfrm>
            <a:off x="255937" y="3208847"/>
            <a:ext cx="6077129" cy="1015663"/>
          </a:xfrm>
          <a:prstGeom prst="rect">
            <a:avLst/>
          </a:prstGeom>
          <a:noFill/>
        </p:spPr>
        <p:txBody>
          <a:bodyPr wrap="square">
            <a:spAutoFit/>
          </a:bodyPr>
          <a:lstStyle/>
          <a:p>
            <a:r>
              <a:rPr lang="en-US" sz="1800" dirty="0">
                <a:highlight>
                  <a:srgbClr val="00FFFF"/>
                </a:highlight>
              </a:rPr>
              <a:t>Configure Static NAT Mappings</a:t>
            </a:r>
          </a:p>
          <a:p>
            <a:pPr marL="285750" indent="-285750">
              <a:buFont typeface="Wingdings" panose="05000000000000000000" pitchFamily="2" charset="2"/>
              <a:buChar char="q"/>
            </a:pPr>
            <a:r>
              <a:rPr lang="en-US" dirty="0"/>
              <a:t>R1(config)# ip  nat  inside  source  static   192.100.50.1   1.1.1.10</a:t>
            </a:r>
          </a:p>
          <a:p>
            <a:pPr marL="285750" indent="-285750">
              <a:buFont typeface="Wingdings" panose="05000000000000000000" pitchFamily="2" charset="2"/>
              <a:buChar char="q"/>
            </a:pPr>
            <a:r>
              <a:rPr lang="en-US" dirty="0"/>
              <a:t>R1(config)# ip  nat  inside  source  static   192.100.50.2   1.1.1.11</a:t>
            </a:r>
          </a:p>
          <a:p>
            <a:pPr marL="285750" indent="-285750">
              <a:buFont typeface="Wingdings" panose="05000000000000000000" pitchFamily="2" charset="2"/>
              <a:buChar char="q"/>
            </a:pPr>
            <a:r>
              <a:rPr lang="en-US" dirty="0"/>
              <a:t>R1(config)# ip  nat  inside  source  static   192.100.50.3   1.1.1.12</a:t>
            </a:r>
          </a:p>
        </p:txBody>
      </p:sp>
      <p:sp>
        <p:nvSpPr>
          <p:cNvPr id="13" name="Rectangle 12">
            <a:extLst>
              <a:ext uri="{FF2B5EF4-FFF2-40B4-BE49-F238E27FC236}">
                <a16:creationId xmlns:a16="http://schemas.microsoft.com/office/drawing/2014/main" id="{D69DD881-9A91-717C-F96D-5BA9FDB28E7B}"/>
              </a:ext>
            </a:extLst>
          </p:cNvPr>
          <p:cNvSpPr/>
          <p:nvPr/>
        </p:nvSpPr>
        <p:spPr>
          <a:xfrm>
            <a:off x="381819" y="4728377"/>
            <a:ext cx="4351720" cy="2656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R1# show ip nat translations		</a:t>
            </a:r>
            <a:r>
              <a:rPr lang="en-US" dirty="0">
                <a:highlight>
                  <a:srgbClr val="00FF00"/>
                </a:highlight>
              </a:rPr>
              <a:t>Result </a:t>
            </a:r>
          </a:p>
        </p:txBody>
      </p:sp>
      <p:sp>
        <p:nvSpPr>
          <p:cNvPr id="14" name="Arrow: Right 13">
            <a:extLst>
              <a:ext uri="{FF2B5EF4-FFF2-40B4-BE49-F238E27FC236}">
                <a16:creationId xmlns:a16="http://schemas.microsoft.com/office/drawing/2014/main" id="{7B249F9C-6F6B-BFBC-2351-1F5B3D47EAAD}"/>
              </a:ext>
            </a:extLst>
          </p:cNvPr>
          <p:cNvSpPr/>
          <p:nvPr/>
        </p:nvSpPr>
        <p:spPr>
          <a:xfrm>
            <a:off x="2810933" y="4839208"/>
            <a:ext cx="124460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1450763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69101-4F95-449E-4D41-51C64FB4F1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721E40-E563-C58D-7B8E-BC7FA2FA8E9B}"/>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3525F533-A7F5-108C-F7B8-8DE98A404AE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011BD6D9-60C9-83F5-150E-F065FB71373C}"/>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DBFC14AD-55A9-18A4-6B5B-6997212A0C0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FF7A8A2C-FE03-0C86-EEB2-ADAC4C7666C1}"/>
              </a:ext>
            </a:extLst>
          </p:cNvPr>
          <p:cNvSpPr txBox="1"/>
          <p:nvPr/>
        </p:nvSpPr>
        <p:spPr>
          <a:xfrm>
            <a:off x="2726413" y="63307"/>
            <a:ext cx="4072355" cy="400110"/>
          </a:xfrm>
          <a:prstGeom prst="rect">
            <a:avLst/>
          </a:prstGeom>
          <a:noFill/>
        </p:spPr>
        <p:txBody>
          <a:bodyPr wrap="square">
            <a:spAutoFit/>
          </a:bodyPr>
          <a:lstStyle/>
          <a:p>
            <a:r>
              <a:rPr lang="en-US" sz="2000" b="1" dirty="0">
                <a:solidFill>
                  <a:srgbClr val="403CCF"/>
                </a:solidFill>
                <a:latin typeface="Libre Baskerville" pitchFamily="34" charset="0"/>
              </a:rPr>
              <a:t>Static NAT Configuration</a:t>
            </a:r>
          </a:p>
        </p:txBody>
      </p:sp>
      <p:sp>
        <p:nvSpPr>
          <p:cNvPr id="17" name="TextBox 16">
            <a:extLst>
              <a:ext uri="{FF2B5EF4-FFF2-40B4-BE49-F238E27FC236}">
                <a16:creationId xmlns:a16="http://schemas.microsoft.com/office/drawing/2014/main" id="{4CDC4564-98EC-003C-7A7C-AC4F86D27816}"/>
              </a:ext>
            </a:extLst>
          </p:cNvPr>
          <p:cNvSpPr txBox="1"/>
          <p:nvPr/>
        </p:nvSpPr>
        <p:spPr>
          <a:xfrm>
            <a:off x="250039" y="2910424"/>
            <a:ext cx="3831803" cy="2215991"/>
          </a:xfrm>
          <a:prstGeom prst="rect">
            <a:avLst/>
          </a:prstGeom>
          <a:noFill/>
        </p:spPr>
        <p:txBody>
          <a:bodyPr wrap="square">
            <a:spAutoFit/>
          </a:bodyPr>
          <a:lstStyle/>
          <a:p>
            <a:r>
              <a:rPr lang="en-US" sz="1200" dirty="0">
                <a:highlight>
                  <a:srgbClr val="00FFFF"/>
                </a:highlight>
              </a:rPr>
              <a:t>R2</a:t>
            </a:r>
            <a:endParaRPr lang="en-US" sz="900" dirty="0">
              <a:highlight>
                <a:srgbClr val="00FFFF"/>
              </a:highlight>
            </a:endParaRPr>
          </a:p>
          <a:p>
            <a:pPr marL="285750" indent="-285750">
              <a:buFont typeface="Wingdings" panose="05000000000000000000" pitchFamily="2" charset="2"/>
              <a:buChar char="q"/>
            </a:pPr>
            <a:r>
              <a:rPr lang="en-PK" sz="900" dirty="0"/>
              <a:t>R</a:t>
            </a:r>
            <a:r>
              <a:rPr lang="en-US" sz="900" dirty="0"/>
              <a:t>2</a:t>
            </a:r>
            <a:r>
              <a:rPr lang="en-PK" sz="900" dirty="0"/>
              <a:t>(config)# interface fa0/0</a:t>
            </a:r>
          </a:p>
          <a:p>
            <a:pPr marL="285750" indent="-285750">
              <a:buFont typeface="Wingdings" panose="05000000000000000000" pitchFamily="2" charset="2"/>
              <a:buChar char="q"/>
            </a:pPr>
            <a:r>
              <a:rPr lang="en-PK" sz="900" dirty="0"/>
              <a:t>R</a:t>
            </a:r>
            <a:r>
              <a:rPr lang="en-US" sz="900" dirty="0"/>
              <a:t>2</a:t>
            </a:r>
            <a:r>
              <a:rPr lang="en-PK" sz="900" dirty="0"/>
              <a:t>(config-if)# ip </a:t>
            </a:r>
            <a:r>
              <a:rPr lang="en-US" sz="900" dirty="0"/>
              <a:t> address  200.100.100.100  255.255.255.0</a:t>
            </a:r>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(config-if)# </a:t>
            </a:r>
            <a:r>
              <a:rPr lang="en-US" sz="900" dirty="0"/>
              <a:t>no shutdown</a:t>
            </a:r>
          </a:p>
          <a:p>
            <a:pPr marL="285750" indent="-285750">
              <a:buFont typeface="Wingdings" panose="05000000000000000000" pitchFamily="2" charset="2"/>
              <a:buChar char="q"/>
            </a:pPr>
            <a:r>
              <a:rPr lang="en-PK" sz="900" dirty="0"/>
              <a:t>R</a:t>
            </a:r>
            <a:r>
              <a:rPr lang="en-US" sz="900" dirty="0"/>
              <a:t>2</a:t>
            </a:r>
            <a:r>
              <a:rPr lang="en-PK" sz="900" dirty="0"/>
              <a:t>(config-if)# exit</a:t>
            </a: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R2(config)# interface s0/0</a:t>
            </a:r>
          </a:p>
          <a:p>
            <a:pPr marL="285750" indent="-285750">
              <a:buFont typeface="Wingdings" panose="05000000000000000000" pitchFamily="2" charset="2"/>
              <a:buChar char="q"/>
            </a:pPr>
            <a:r>
              <a:rPr lang="en-US" sz="900" dirty="0"/>
              <a:t>R2(config-if)# ip address 1.1.1.2  255.0.0.0</a:t>
            </a:r>
          </a:p>
          <a:p>
            <a:pPr marL="285750" indent="-285750">
              <a:buFont typeface="Wingdings" panose="05000000000000000000" pitchFamily="2" charset="2"/>
              <a:buChar char="q"/>
            </a:pPr>
            <a:r>
              <a:rPr lang="en-US" sz="900" dirty="0"/>
              <a:t>R2(config-if)# no shutdown</a:t>
            </a:r>
          </a:p>
          <a:p>
            <a:pPr marL="285750" indent="-285750">
              <a:buFont typeface="Wingdings" panose="05000000000000000000" pitchFamily="2" charset="2"/>
              <a:buChar char="q"/>
            </a:pPr>
            <a:r>
              <a:rPr lang="en-US" sz="900" dirty="0"/>
              <a:t>R2(config-if)# exit</a:t>
            </a:r>
          </a:p>
          <a:p>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router rip</a:t>
            </a:r>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network 200.100.100.0</a:t>
            </a:r>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network 1.0.0.0</a:t>
            </a:r>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(config-if)# exit</a:t>
            </a:r>
            <a:endParaRPr lang="en-US" sz="900" dirty="0"/>
          </a:p>
        </p:txBody>
      </p:sp>
      <p:sp>
        <p:nvSpPr>
          <p:cNvPr id="6" name="TextBox 5">
            <a:extLst>
              <a:ext uri="{FF2B5EF4-FFF2-40B4-BE49-F238E27FC236}">
                <a16:creationId xmlns:a16="http://schemas.microsoft.com/office/drawing/2014/main" id="{80241887-6DC5-428E-42CD-BCB41EDA793F}"/>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11EE9F1B-E14F-57A3-D340-9F89FAB0594E}"/>
              </a:ext>
            </a:extLst>
          </p:cNvPr>
          <p:cNvSpPr txBox="1"/>
          <p:nvPr/>
        </p:nvSpPr>
        <p:spPr>
          <a:xfrm>
            <a:off x="255939" y="377324"/>
            <a:ext cx="3046062" cy="276999"/>
          </a:xfrm>
          <a:prstGeom prst="rect">
            <a:avLst/>
          </a:prstGeom>
          <a:noFill/>
        </p:spPr>
        <p:txBody>
          <a:bodyPr wrap="square">
            <a:spAutoFit/>
          </a:bodyPr>
          <a:lstStyle/>
          <a:p>
            <a:r>
              <a:rPr lang="en-US" sz="1200" dirty="0">
                <a:highlight>
                  <a:srgbClr val="00FFFF"/>
                </a:highlight>
              </a:rPr>
              <a:t>Configuration Summary:</a:t>
            </a:r>
          </a:p>
        </p:txBody>
      </p:sp>
      <p:sp>
        <p:nvSpPr>
          <p:cNvPr id="8" name="TextBox 7">
            <a:extLst>
              <a:ext uri="{FF2B5EF4-FFF2-40B4-BE49-F238E27FC236}">
                <a16:creationId xmlns:a16="http://schemas.microsoft.com/office/drawing/2014/main" id="{53DED103-696C-204A-B726-6CA9F6FA6D61}"/>
              </a:ext>
            </a:extLst>
          </p:cNvPr>
          <p:cNvSpPr txBox="1"/>
          <p:nvPr/>
        </p:nvSpPr>
        <p:spPr>
          <a:xfrm>
            <a:off x="4659321" y="687228"/>
            <a:ext cx="5147733" cy="1800493"/>
          </a:xfrm>
          <a:prstGeom prst="rect">
            <a:avLst/>
          </a:prstGeom>
          <a:noFill/>
        </p:spPr>
        <p:txBody>
          <a:bodyPr wrap="square">
            <a:spAutoFit/>
          </a:bodyPr>
          <a:lstStyle/>
          <a:p>
            <a:r>
              <a:rPr lang="en-US" sz="1200" dirty="0">
                <a:highlight>
                  <a:srgbClr val="00FFFF"/>
                </a:highlight>
              </a:rPr>
              <a:t>NAT Configuration</a:t>
            </a:r>
          </a:p>
          <a:p>
            <a:pPr marL="285750" indent="-285750">
              <a:buFont typeface="Wingdings" panose="05000000000000000000" pitchFamily="2" charset="2"/>
              <a:buChar char="q"/>
            </a:pPr>
            <a:r>
              <a:rPr lang="en-PK" sz="900" dirty="0"/>
              <a:t>R1(config)# interface fa0/0</a:t>
            </a:r>
          </a:p>
          <a:p>
            <a:pPr marL="285750" indent="-285750">
              <a:buFont typeface="Wingdings" panose="05000000000000000000" pitchFamily="2" charset="2"/>
              <a:buChar char="q"/>
            </a:pPr>
            <a:r>
              <a:rPr lang="en-PK" sz="900" dirty="0"/>
              <a:t>R1(config-if)# ip nat inside</a:t>
            </a:r>
          </a:p>
          <a:p>
            <a:pPr marL="285750" indent="-285750">
              <a:buFont typeface="Wingdings" panose="05000000000000000000" pitchFamily="2" charset="2"/>
              <a:buChar char="q"/>
            </a:pPr>
            <a:r>
              <a:rPr lang="en-PK" sz="900" dirty="0"/>
              <a:t>R1(config-if)# exit</a:t>
            </a:r>
          </a:p>
          <a:p>
            <a:pPr marL="285750" indent="-285750">
              <a:buFont typeface="Wingdings" panose="05000000000000000000" pitchFamily="2" charset="2"/>
              <a:buChar char="q"/>
            </a:pPr>
            <a:endParaRPr lang="en-PK" sz="900" dirty="0"/>
          </a:p>
          <a:p>
            <a:pPr marL="285750" indent="-285750">
              <a:buFont typeface="Wingdings" panose="05000000000000000000" pitchFamily="2" charset="2"/>
              <a:buChar char="q"/>
            </a:pPr>
            <a:r>
              <a:rPr lang="en-PK" sz="900" dirty="0"/>
              <a:t>R1(config)# interface s0/0</a:t>
            </a:r>
          </a:p>
          <a:p>
            <a:pPr marL="285750" indent="-285750">
              <a:buFont typeface="Wingdings" panose="05000000000000000000" pitchFamily="2" charset="2"/>
              <a:buChar char="q"/>
            </a:pPr>
            <a:r>
              <a:rPr lang="en-PK" sz="900" dirty="0"/>
              <a:t>R1(config-if)# ip nat outside</a:t>
            </a:r>
          </a:p>
          <a:p>
            <a:pPr marL="285750" indent="-285750">
              <a:buFont typeface="Wingdings" panose="05000000000000000000" pitchFamily="2" charset="2"/>
              <a:buChar char="q"/>
            </a:pPr>
            <a:r>
              <a:rPr lang="en-PK" sz="900" dirty="0"/>
              <a:t>R1(config-if)# exit</a:t>
            </a: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R1(config)# ip  nat  inside  source  static   192.100.50.1   210.10.10.1</a:t>
            </a:r>
          </a:p>
          <a:p>
            <a:pPr marL="285750" indent="-285750">
              <a:buFont typeface="Wingdings" panose="05000000000000000000" pitchFamily="2" charset="2"/>
              <a:buChar char="q"/>
            </a:pPr>
            <a:r>
              <a:rPr lang="en-US" sz="900" dirty="0"/>
              <a:t>R1(config)# ip  nat  inside  source  static   192.100.50.2   210.10.10.2</a:t>
            </a:r>
          </a:p>
          <a:p>
            <a:pPr marL="285750" indent="-285750">
              <a:buFont typeface="Wingdings" panose="05000000000000000000" pitchFamily="2" charset="2"/>
              <a:buChar char="q"/>
            </a:pPr>
            <a:r>
              <a:rPr lang="en-US" sz="900" dirty="0"/>
              <a:t>R1(config)# ip  nat  inside  source  static   192.100.50.3   210.10.10.3</a:t>
            </a:r>
          </a:p>
        </p:txBody>
      </p:sp>
      <p:sp>
        <p:nvSpPr>
          <p:cNvPr id="12" name="TextBox 11">
            <a:extLst>
              <a:ext uri="{FF2B5EF4-FFF2-40B4-BE49-F238E27FC236}">
                <a16:creationId xmlns:a16="http://schemas.microsoft.com/office/drawing/2014/main" id="{B2B39C35-1A77-36A9-0106-BA230D027C92}"/>
              </a:ext>
            </a:extLst>
          </p:cNvPr>
          <p:cNvSpPr txBox="1"/>
          <p:nvPr/>
        </p:nvSpPr>
        <p:spPr>
          <a:xfrm>
            <a:off x="250039" y="674378"/>
            <a:ext cx="4172423" cy="2215991"/>
          </a:xfrm>
          <a:prstGeom prst="rect">
            <a:avLst/>
          </a:prstGeom>
          <a:noFill/>
        </p:spPr>
        <p:txBody>
          <a:bodyPr wrap="square">
            <a:spAutoFit/>
          </a:bodyPr>
          <a:lstStyle/>
          <a:p>
            <a:r>
              <a:rPr lang="en-US" sz="1200" dirty="0">
                <a:highlight>
                  <a:srgbClr val="00FFFF"/>
                </a:highlight>
              </a:rPr>
              <a:t>R1</a:t>
            </a:r>
          </a:p>
          <a:p>
            <a:pPr marL="285750" indent="-285750">
              <a:buFont typeface="Wingdings" panose="05000000000000000000" pitchFamily="2" charset="2"/>
              <a:buChar char="q"/>
            </a:pPr>
            <a:r>
              <a:rPr lang="en-PK" sz="900" dirty="0"/>
              <a:t>R1(config)# interface fa0/0</a:t>
            </a:r>
          </a:p>
          <a:p>
            <a:pPr marL="285750" indent="-285750">
              <a:buFont typeface="Wingdings" panose="05000000000000000000" pitchFamily="2" charset="2"/>
              <a:buChar char="q"/>
            </a:pPr>
            <a:r>
              <a:rPr lang="en-PK" sz="900" dirty="0"/>
              <a:t>R1(config-if)# ip </a:t>
            </a:r>
            <a:r>
              <a:rPr lang="en-US" sz="900" dirty="0"/>
              <a:t> address  192.100.50.100  255.255.255.0</a:t>
            </a:r>
            <a:endParaRPr lang="en-PK" sz="900" dirty="0"/>
          </a:p>
          <a:p>
            <a:pPr marL="285750" indent="-285750">
              <a:buFont typeface="Wingdings" panose="05000000000000000000" pitchFamily="2" charset="2"/>
              <a:buChar char="q"/>
            </a:pPr>
            <a:r>
              <a:rPr lang="en-PK" sz="900" dirty="0"/>
              <a:t>R1(config-if)# </a:t>
            </a:r>
            <a:r>
              <a:rPr lang="en-US" sz="900" dirty="0"/>
              <a:t>no shutdown</a:t>
            </a:r>
            <a:endParaRPr lang="en-PK" sz="900" dirty="0"/>
          </a:p>
          <a:p>
            <a:pPr marL="285750" indent="-285750">
              <a:buFont typeface="Wingdings" panose="05000000000000000000" pitchFamily="2" charset="2"/>
              <a:buChar char="q"/>
            </a:pPr>
            <a:r>
              <a:rPr lang="en-PK" sz="900" dirty="0"/>
              <a:t>R1(config-if)# </a:t>
            </a:r>
            <a:r>
              <a:rPr lang="en-US" sz="900" dirty="0"/>
              <a:t>exit</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R1(config)# interface s0/0</a:t>
            </a:r>
          </a:p>
          <a:p>
            <a:pPr marL="285750" indent="-285750">
              <a:buFont typeface="Wingdings" panose="05000000000000000000" pitchFamily="2" charset="2"/>
              <a:buChar char="q"/>
            </a:pPr>
            <a:r>
              <a:rPr lang="en-US" sz="900" dirty="0"/>
              <a:t>R1(config-if)# ip address 1.1.1.1  255.0.0.0</a:t>
            </a:r>
          </a:p>
          <a:p>
            <a:pPr marL="285750" indent="-285750">
              <a:buFont typeface="Wingdings" panose="05000000000000000000" pitchFamily="2" charset="2"/>
              <a:buChar char="q"/>
            </a:pPr>
            <a:r>
              <a:rPr lang="en-US" sz="900" dirty="0"/>
              <a:t>R1(config-if)# no shutdown</a:t>
            </a:r>
          </a:p>
          <a:p>
            <a:pPr marL="285750" indent="-285750">
              <a:buFont typeface="Wingdings" panose="05000000000000000000" pitchFamily="2" charset="2"/>
              <a:buChar char="q"/>
            </a:pPr>
            <a:r>
              <a:rPr lang="en-US" sz="900" dirty="0"/>
              <a:t>R1(config-if)# exit</a:t>
            </a:r>
          </a:p>
          <a:p>
            <a:pPr marL="285750" indent="-285750">
              <a:buFont typeface="Wingdings" panose="05000000000000000000" pitchFamily="2" charset="2"/>
              <a:buChar char="q"/>
            </a:pPr>
            <a:endParaRPr lang="en-PK" sz="900" dirty="0"/>
          </a:p>
          <a:p>
            <a:pPr marL="285750" indent="-285750">
              <a:buFont typeface="Wingdings" panose="05000000000000000000" pitchFamily="2" charset="2"/>
              <a:buChar char="q"/>
            </a:pPr>
            <a:r>
              <a:rPr lang="en-PK" sz="900" dirty="0"/>
              <a:t>R1(config)# </a:t>
            </a:r>
            <a:r>
              <a:rPr lang="en-US" sz="900" dirty="0"/>
              <a:t>router rip</a:t>
            </a:r>
          </a:p>
          <a:p>
            <a:pPr marL="285750" indent="-285750">
              <a:buFont typeface="Wingdings" panose="05000000000000000000" pitchFamily="2" charset="2"/>
              <a:buChar char="q"/>
            </a:pPr>
            <a:r>
              <a:rPr lang="en-PK" sz="900" dirty="0"/>
              <a:t>R1(config)# </a:t>
            </a:r>
            <a:r>
              <a:rPr lang="en-US" sz="900" dirty="0"/>
              <a:t>network 192.100.50.0</a:t>
            </a:r>
          </a:p>
          <a:p>
            <a:pPr marL="285750" indent="-285750">
              <a:buFont typeface="Wingdings" panose="05000000000000000000" pitchFamily="2" charset="2"/>
              <a:buChar char="q"/>
            </a:pPr>
            <a:r>
              <a:rPr lang="en-PK" sz="900" dirty="0"/>
              <a:t>R1(config)# </a:t>
            </a:r>
            <a:r>
              <a:rPr lang="en-US" sz="900" dirty="0"/>
              <a:t>network 1.0.0.0</a:t>
            </a:r>
            <a:endParaRPr lang="en-PK" sz="900" dirty="0"/>
          </a:p>
          <a:p>
            <a:pPr marL="285750" indent="-285750">
              <a:buFont typeface="Wingdings" panose="05000000000000000000" pitchFamily="2" charset="2"/>
              <a:buChar char="q"/>
            </a:pPr>
            <a:r>
              <a:rPr lang="en-PK" sz="900" dirty="0"/>
              <a:t>R1(config-if)# exit</a:t>
            </a:r>
            <a:endParaRPr lang="en-US" sz="900" dirty="0"/>
          </a:p>
        </p:txBody>
      </p:sp>
      <p:sp>
        <p:nvSpPr>
          <p:cNvPr id="14" name="TextBox 13">
            <a:extLst>
              <a:ext uri="{FF2B5EF4-FFF2-40B4-BE49-F238E27FC236}">
                <a16:creationId xmlns:a16="http://schemas.microsoft.com/office/drawing/2014/main" id="{FA91E75E-14EF-4910-CACA-A8A1FD9AED50}"/>
              </a:ext>
            </a:extLst>
          </p:cNvPr>
          <p:cNvSpPr txBox="1"/>
          <p:nvPr/>
        </p:nvSpPr>
        <p:spPr>
          <a:xfrm>
            <a:off x="4762590" y="3581763"/>
            <a:ext cx="4248821" cy="307777"/>
          </a:xfrm>
          <a:prstGeom prst="rect">
            <a:avLst/>
          </a:prstGeom>
          <a:noFill/>
        </p:spPr>
        <p:txBody>
          <a:bodyPr wrap="square">
            <a:spAutoFit/>
          </a:bodyPr>
          <a:lstStyle/>
          <a:p>
            <a:r>
              <a:rPr lang="en-US" b="1" dirty="0"/>
              <a:t>R1# show ip nat translations              </a:t>
            </a:r>
            <a:r>
              <a:rPr lang="en-US" dirty="0">
                <a:highlight>
                  <a:srgbClr val="00FF00"/>
                </a:highlight>
              </a:rPr>
              <a:t>Result </a:t>
            </a:r>
          </a:p>
        </p:txBody>
      </p:sp>
      <p:sp>
        <p:nvSpPr>
          <p:cNvPr id="16" name="Arrow: Right 15">
            <a:extLst>
              <a:ext uri="{FF2B5EF4-FFF2-40B4-BE49-F238E27FC236}">
                <a16:creationId xmlns:a16="http://schemas.microsoft.com/office/drawing/2014/main" id="{C902DED3-3774-5996-6284-334855A6F28A}"/>
              </a:ext>
            </a:extLst>
          </p:cNvPr>
          <p:cNvSpPr/>
          <p:nvPr/>
        </p:nvSpPr>
        <p:spPr>
          <a:xfrm>
            <a:off x="7381353" y="3712791"/>
            <a:ext cx="364067" cy="45719"/>
          </a:xfrm>
          <a:prstGeom prst="rightArrow">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2979288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4AC17-7462-CED3-2B55-D24F88EE804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7E4732-00D0-123C-80DF-50A4AC2071C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EB0F247-FBF2-332F-DD0A-CB062B96B8C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07609C6-8B92-F32C-7CC0-37A1B07A4CF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FE1CF40-14B1-2861-6619-B4DB5E286C0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0999DBE-2736-2D0E-EE8B-63FA83BEEFF7}"/>
              </a:ext>
            </a:extLst>
          </p:cNvPr>
          <p:cNvSpPr txBox="1"/>
          <p:nvPr/>
        </p:nvSpPr>
        <p:spPr>
          <a:xfrm>
            <a:off x="2726413" y="63307"/>
            <a:ext cx="4258587" cy="707886"/>
          </a:xfrm>
          <a:prstGeom prst="rect">
            <a:avLst/>
          </a:prstGeom>
          <a:noFill/>
        </p:spPr>
        <p:txBody>
          <a:bodyPr wrap="square">
            <a:spAutoFit/>
          </a:bodyPr>
          <a:lstStyle/>
          <a:p>
            <a:r>
              <a:rPr lang="en-US" sz="2000" b="1" dirty="0">
                <a:solidFill>
                  <a:srgbClr val="403CCF"/>
                </a:solidFill>
                <a:latin typeface="Libre Baskerville" pitchFamily="34" charset="0"/>
              </a:rPr>
              <a:t>Static NAT Configuration</a:t>
            </a:r>
          </a:p>
          <a:p>
            <a:endParaRPr lang="en-US" sz="2000"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E0864DFF-A219-ADB1-9BBB-84AED4718656}"/>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CB09FEBC-86F0-74E0-6CA8-92B69C312C7B}"/>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84EFB915-1B12-8B35-9DC1-8A8F93FD383E}"/>
              </a:ext>
            </a:extLst>
          </p:cNvPr>
          <p:cNvSpPr txBox="1"/>
          <p:nvPr/>
        </p:nvSpPr>
        <p:spPr>
          <a:xfrm>
            <a:off x="110067" y="460170"/>
            <a:ext cx="9033933" cy="4416594"/>
          </a:xfrm>
          <a:prstGeom prst="rect">
            <a:avLst/>
          </a:prstGeom>
          <a:noFill/>
        </p:spPr>
        <p:txBody>
          <a:bodyPr wrap="square">
            <a:spAutoFit/>
          </a:bodyPr>
          <a:lstStyle/>
          <a:p>
            <a:r>
              <a:rPr lang="en-US" sz="1600" b="1" dirty="0">
                <a:solidFill>
                  <a:srgbClr val="403CCF"/>
                </a:solidFill>
                <a:latin typeface="Libre Baskerville" pitchFamily="34" charset="0"/>
              </a:rPr>
              <a:t>Step-by-Step Explanation of NAT Process</a:t>
            </a:r>
          </a:p>
          <a:p>
            <a:endParaRPr lang="en-US" sz="1100" b="1" dirty="0">
              <a:solidFill>
                <a:srgbClr val="403CCF"/>
              </a:solidFill>
              <a:latin typeface="Libre Baskerville" pitchFamily="34" charset="0"/>
            </a:endParaRPr>
          </a:p>
          <a:p>
            <a:pPr marL="228600" indent="-228600">
              <a:buFont typeface="+mj-lt"/>
              <a:buAutoNum type="arabicPeriod"/>
            </a:pPr>
            <a:r>
              <a:rPr lang="en-US" sz="1100" b="1" dirty="0"/>
              <a:t>Your internal device (192.100.50.1) wants to access the internet.</a:t>
            </a:r>
          </a:p>
          <a:p>
            <a:pPr lvl="7"/>
            <a:r>
              <a:rPr lang="en-US" sz="1100" dirty="0"/>
              <a:t>Let's say PC1 (192.100.50.1) wants to visit google.com.</a:t>
            </a:r>
          </a:p>
          <a:p>
            <a:pPr lvl="7"/>
            <a:endParaRPr lang="en-US" sz="1100" dirty="0"/>
          </a:p>
          <a:p>
            <a:endParaRPr lang="en-US" sz="1100" dirty="0"/>
          </a:p>
          <a:p>
            <a:pPr marL="228600" indent="-228600">
              <a:buFont typeface="+mj-lt"/>
              <a:buAutoNum type="arabicPeriod" startAt="2"/>
            </a:pPr>
            <a:r>
              <a:rPr lang="en-US" sz="1100" b="1" dirty="0"/>
              <a:t>Static NAT translates 192.100.50.1 → 1.1.1.10</a:t>
            </a:r>
          </a:p>
          <a:p>
            <a:r>
              <a:rPr lang="en-US" sz="1100" dirty="0"/>
              <a:t>The NAT rule you configured on R1 (ip nat inside source static 192.100.50.1   1.1.1.10) ensures that any outgoing traffic from 192.100.50.1 is translated to 1.1.1.10.</a:t>
            </a:r>
          </a:p>
          <a:p>
            <a:endParaRPr lang="en-US" sz="1100" dirty="0"/>
          </a:p>
          <a:p>
            <a:endParaRPr lang="en-US" sz="1100" dirty="0"/>
          </a:p>
          <a:p>
            <a:pPr marL="228600" indent="-228600">
              <a:buFont typeface="+mj-lt"/>
              <a:buAutoNum type="arabicPeriod" startAt="3"/>
            </a:pPr>
            <a:r>
              <a:rPr lang="en-US" sz="1100" b="1" dirty="0"/>
              <a:t>1.1.1.10 sends traffic to the internet via 1.1.1.1</a:t>
            </a:r>
          </a:p>
          <a:p>
            <a:r>
              <a:rPr lang="en-US" sz="1100" dirty="0"/>
              <a:t>After translation, the packet now has a source IP of 1.1.1.10.</a:t>
            </a:r>
          </a:p>
          <a:p>
            <a:r>
              <a:rPr lang="en-US" sz="1100" dirty="0"/>
              <a:t>This packet is then routed out of R1's serial interface (s0/0), which has IP 1.1.1.1.</a:t>
            </a:r>
          </a:p>
          <a:p>
            <a:r>
              <a:rPr lang="en-US" sz="1100" dirty="0"/>
              <a:t>The ISP router (R2) receives the packet at 1.1.1.2 and forwards it to the internet.</a:t>
            </a:r>
          </a:p>
          <a:p>
            <a:endParaRPr lang="en-US" sz="1100" dirty="0"/>
          </a:p>
          <a:p>
            <a:endParaRPr lang="en-US" sz="1100" b="1" dirty="0"/>
          </a:p>
          <a:p>
            <a:pPr marL="228600" indent="-228600">
              <a:buFont typeface="+mj-lt"/>
              <a:buAutoNum type="arabicPeriod" startAt="4"/>
            </a:pPr>
            <a:r>
              <a:rPr lang="en-US" sz="1100" b="1" dirty="0"/>
              <a:t>Response comes back from the internet</a:t>
            </a:r>
          </a:p>
          <a:p>
            <a:r>
              <a:rPr lang="en-US" sz="1100" dirty="0"/>
              <a:t>When Google responds, it sends a packet back to 1.1.1.10 (the translated public IP).</a:t>
            </a:r>
          </a:p>
          <a:p>
            <a:r>
              <a:rPr lang="en-US" sz="1100" dirty="0"/>
              <a:t>The ISP routes this packet to R1 (since it knows R1 handles 1.1.1.x).</a:t>
            </a:r>
          </a:p>
          <a:p>
            <a:endParaRPr lang="en-US" sz="1100" dirty="0"/>
          </a:p>
          <a:p>
            <a:endParaRPr lang="en-US" sz="1100" dirty="0"/>
          </a:p>
          <a:p>
            <a:pPr marL="228600" indent="-228600">
              <a:buFont typeface="+mj-lt"/>
              <a:buAutoNum type="arabicPeriod" startAt="5"/>
            </a:pPr>
            <a:r>
              <a:rPr lang="en-US" sz="1100" b="1" dirty="0"/>
              <a:t>R1 translates 1.1.1.10 → 192.100.50.1</a:t>
            </a:r>
          </a:p>
          <a:p>
            <a:r>
              <a:rPr lang="en-US" sz="1100" dirty="0"/>
              <a:t>Before sending the packet to PC1, R1 reverses the NAT translation.</a:t>
            </a:r>
          </a:p>
          <a:p>
            <a:r>
              <a:rPr lang="en-US" sz="1100" dirty="0"/>
              <a:t>The packet now has a destination IP of 192.100.50.1 and is forwarded to PC1</a:t>
            </a:r>
            <a:r>
              <a:rPr lang="en-US" sz="1200" dirty="0"/>
              <a:t>.</a:t>
            </a:r>
          </a:p>
        </p:txBody>
      </p:sp>
    </p:spTree>
    <p:extLst>
      <p:ext uri="{BB962C8B-B14F-4D97-AF65-F5344CB8AC3E}">
        <p14:creationId xmlns:p14="http://schemas.microsoft.com/office/powerpoint/2010/main" val="4141033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1B853-197A-DB0F-F2B1-2EDF243C19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7826DA-2BBE-1C4A-85AD-C30F95485AE1}"/>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182026E-4ED7-409A-5507-7B48D0CC66B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07293DE-1E2B-12A8-545B-21DE479892B2}"/>
              </a:ext>
            </a:extLst>
          </p:cNvPr>
          <p:cNvSpPr/>
          <p:nvPr/>
        </p:nvSpPr>
        <p:spPr>
          <a:xfrm>
            <a:off x="496119" y="2719459"/>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7F16AAA-79EF-A4B2-5EA2-672639D5702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1786D0EE-4B57-4B78-F1D0-F73A3E86D174}"/>
              </a:ext>
            </a:extLst>
          </p:cNvPr>
          <p:cNvSpPr txBox="1"/>
          <p:nvPr/>
        </p:nvSpPr>
        <p:spPr>
          <a:xfrm>
            <a:off x="2726413" y="63307"/>
            <a:ext cx="4250120" cy="707886"/>
          </a:xfrm>
          <a:prstGeom prst="rect">
            <a:avLst/>
          </a:prstGeom>
          <a:noFill/>
        </p:spPr>
        <p:txBody>
          <a:bodyPr wrap="square">
            <a:spAutoFit/>
          </a:bodyPr>
          <a:lstStyle/>
          <a:p>
            <a:r>
              <a:rPr lang="en-US" sz="2000" b="1" dirty="0">
                <a:solidFill>
                  <a:srgbClr val="403CCF"/>
                </a:solidFill>
                <a:latin typeface="Libre Baskerville" pitchFamily="34" charset="0"/>
              </a:rPr>
              <a:t>Static NAT Configuration</a:t>
            </a:r>
          </a:p>
          <a:p>
            <a:endParaRPr lang="en-US" sz="2000"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B38BFC12-49BE-22AA-D641-7D62F59DE009}"/>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93A736BF-801C-629D-EB09-0F19DA1E93AF}"/>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85A0AE85-6439-8EAE-6200-7F763BE2636D}"/>
              </a:ext>
            </a:extLst>
          </p:cNvPr>
          <p:cNvSpPr txBox="1"/>
          <p:nvPr/>
        </p:nvSpPr>
        <p:spPr>
          <a:xfrm>
            <a:off x="110067" y="460170"/>
            <a:ext cx="9033933" cy="3985706"/>
          </a:xfrm>
          <a:prstGeom prst="rect">
            <a:avLst/>
          </a:prstGeom>
          <a:noFill/>
        </p:spPr>
        <p:txBody>
          <a:bodyPr wrap="square">
            <a:spAutoFit/>
          </a:bodyPr>
          <a:lstStyle/>
          <a:p>
            <a:r>
              <a:rPr lang="en-US" sz="1600" b="1" dirty="0">
                <a:solidFill>
                  <a:srgbClr val="403CCF"/>
                </a:solidFill>
                <a:latin typeface="Libre Baskerville" pitchFamily="34" charset="0"/>
              </a:rPr>
              <a:t>Summary:</a:t>
            </a:r>
          </a:p>
          <a:p>
            <a:endParaRPr lang="en-US" sz="1600" b="1"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Your internal IP 192.100.50.1 is translated to 1.1.1.10 using Static NAT.</a:t>
            </a:r>
          </a:p>
          <a:p>
            <a:endParaRPr lang="en-US" sz="1100" dirty="0"/>
          </a:p>
          <a:p>
            <a:pPr marL="171450" indent="-171450">
              <a:buFont typeface="Wingdings" panose="05000000000000000000" pitchFamily="2" charset="2"/>
              <a:buChar char="ü"/>
            </a:pPr>
            <a:r>
              <a:rPr lang="en-US" sz="1100" dirty="0"/>
              <a:t>This translated IP (1.1.1.10) communicates with the internet via 1.1.1.1 (R1's WAN interface).</a:t>
            </a:r>
          </a:p>
          <a:p>
            <a:endParaRPr lang="en-US" sz="1100" dirty="0"/>
          </a:p>
          <a:p>
            <a:pPr marL="171450" indent="-171450">
              <a:buFont typeface="Wingdings" panose="05000000000000000000" pitchFamily="2" charset="2"/>
              <a:buChar char="ü"/>
            </a:pPr>
            <a:r>
              <a:rPr lang="en-US" sz="1100" dirty="0"/>
              <a:t>The response follows the same path in reverse, with R1 translating 1.1.1.10 back to 192.100.50.1.</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r>
              <a:rPr lang="en-US" sz="1200" b="1" dirty="0"/>
              <a:t>Important things to note :</a:t>
            </a:r>
          </a:p>
          <a:p>
            <a:endParaRPr lang="en-US" sz="1100" dirty="0"/>
          </a:p>
          <a:p>
            <a:pPr marL="228600" indent="-228600">
              <a:buFont typeface="+mj-lt"/>
              <a:buAutoNum type="arabicPeriod"/>
            </a:pPr>
            <a:r>
              <a:rPr lang="en-US" sz="1100" dirty="0"/>
              <a:t>The outside world (ISP and beyond) can only send packets to IPs that are routable back to you.</a:t>
            </a:r>
          </a:p>
          <a:p>
            <a:endParaRPr lang="en-US" sz="1100" dirty="0"/>
          </a:p>
          <a:p>
            <a:pPr marL="228600" indent="-228600">
              <a:buFont typeface="+mj-lt"/>
              <a:buAutoNum type="arabicPeriod" startAt="2"/>
            </a:pPr>
            <a:r>
              <a:rPr lang="en-US" sz="1100" dirty="0"/>
              <a:t>That means the public IPs you use in NAT must come from the block your ISP has routed towards your WAN interface.</a:t>
            </a:r>
          </a:p>
          <a:p>
            <a:endParaRPr lang="en-US" sz="1100" dirty="0"/>
          </a:p>
          <a:p>
            <a:pPr marL="228600" indent="-228600">
              <a:buFont typeface="+mj-lt"/>
              <a:buAutoNum type="arabicPeriod" startAt="3"/>
            </a:pPr>
            <a:r>
              <a:rPr lang="en-US" sz="1100" dirty="0"/>
              <a:t>If you use some random IP (like 210.10.10.x in your first try)</a:t>
            </a:r>
          </a:p>
          <a:p>
            <a:r>
              <a:rPr lang="en-US" sz="1100" dirty="0"/>
              <a:t>The ISP (R2 in your lab) has no route for it.</a:t>
            </a:r>
          </a:p>
          <a:p>
            <a:r>
              <a:rPr lang="en-US" sz="1100" dirty="0"/>
              <a:t>So, return traffic never comes back → communication fails.</a:t>
            </a:r>
          </a:p>
          <a:p>
            <a:endParaRPr lang="en-US" sz="1100" dirty="0"/>
          </a:p>
          <a:p>
            <a:pPr marL="228600" indent="-228600">
              <a:buFont typeface="+mj-lt"/>
              <a:buAutoNum type="arabicPeriod" startAt="4"/>
            </a:pPr>
            <a:r>
              <a:rPr lang="en-US" sz="1100" dirty="0"/>
              <a:t>In real life: Always use the WAN IP range your ISP gives you (could be just one IP, or a block</a:t>
            </a:r>
          </a:p>
          <a:p>
            <a:endParaRPr lang="en-US" sz="1100" dirty="0"/>
          </a:p>
        </p:txBody>
      </p:sp>
    </p:spTree>
    <p:extLst>
      <p:ext uri="{BB962C8B-B14F-4D97-AF65-F5344CB8AC3E}">
        <p14:creationId xmlns:p14="http://schemas.microsoft.com/office/powerpoint/2010/main" val="824419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56C0F-63D9-5171-B923-12C0E995B9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8B95E7A-630D-7C10-0265-5969C035BD7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BD53A31-3BDB-3261-59FD-C2D2A61CB85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546EF99-D756-1575-F0ED-520FA729568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1946059-F17C-51F5-153D-1FF7409B4CD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07DCBEBC-F6C4-A97C-2993-0E577753491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49746859-E096-C403-E3A8-CBB923527A4B}"/>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B1A8263C-E82D-4C55-7347-755943CDB793}"/>
              </a:ext>
            </a:extLst>
          </p:cNvPr>
          <p:cNvSpPr txBox="1"/>
          <p:nvPr/>
        </p:nvSpPr>
        <p:spPr>
          <a:xfrm>
            <a:off x="255938" y="460170"/>
            <a:ext cx="8195937" cy="523220"/>
          </a:xfrm>
          <a:prstGeom prst="rect">
            <a:avLst/>
          </a:prstGeom>
          <a:noFill/>
        </p:spPr>
        <p:txBody>
          <a:bodyPr wrap="square">
            <a:spAutoFit/>
          </a:bodyPr>
          <a:lstStyle/>
          <a:p>
            <a:endParaRPr lang="en-US" sz="1600" b="1" dirty="0">
              <a:solidFill>
                <a:srgbClr val="403CCF"/>
              </a:solidFill>
              <a:latin typeface="Libre Baskerville" pitchFamily="34" charset="0"/>
            </a:endParaRPr>
          </a:p>
          <a:p>
            <a:endParaRPr lang="en-US" sz="1200" dirty="0"/>
          </a:p>
        </p:txBody>
      </p:sp>
      <p:sp>
        <p:nvSpPr>
          <p:cNvPr id="5" name="Rectangle 4">
            <a:extLst>
              <a:ext uri="{FF2B5EF4-FFF2-40B4-BE49-F238E27FC236}">
                <a16:creationId xmlns:a16="http://schemas.microsoft.com/office/drawing/2014/main" id="{240AD35D-6AA7-B228-B05D-FDC3DF1D1048}"/>
              </a:ext>
            </a:extLst>
          </p:cNvPr>
          <p:cNvSpPr/>
          <p:nvPr/>
        </p:nvSpPr>
        <p:spPr>
          <a:xfrm>
            <a:off x="-55558" y="1518300"/>
            <a:ext cx="8703439" cy="1938992"/>
          </a:xfrm>
          <a:prstGeom prst="rect">
            <a:avLst/>
          </a:prstGeom>
          <a:noFill/>
        </p:spPr>
        <p:txBody>
          <a:bodyPr wrap="squar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latin typeface="Libre Baskerville" pitchFamily="34" charset="0"/>
              </a:rPr>
              <a:t>Dynamic NAT Configuration</a:t>
            </a:r>
          </a:p>
          <a:p>
            <a:pPr algn="ctr"/>
            <a:r>
              <a:rPr lang="en-US" sz="1200" b="1" dirty="0"/>
              <a:t>Using the Serial Interface's IP (Recommended for Simplicity)</a:t>
            </a:r>
          </a:p>
        </p:txBody>
      </p:sp>
    </p:spTree>
    <p:extLst>
      <p:ext uri="{BB962C8B-B14F-4D97-AF65-F5344CB8AC3E}">
        <p14:creationId xmlns:p14="http://schemas.microsoft.com/office/powerpoint/2010/main" val="3483397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FA268-0DF0-C67D-8221-A086C84707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F6AA44-44BA-F35A-FC23-467659303F98}"/>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EA94C365-F98C-0B2E-22DC-3FA51443BA4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C6297860-88CF-FBC1-7B35-5F7F04DE170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B315214-55AE-6D63-374A-C78082AE036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1EC7E93-0FFE-6445-921B-EC2FE086D927}"/>
              </a:ext>
            </a:extLst>
          </p:cNvPr>
          <p:cNvSpPr txBox="1"/>
          <p:nvPr/>
        </p:nvSpPr>
        <p:spPr>
          <a:xfrm>
            <a:off x="2726413" y="63307"/>
            <a:ext cx="4309387" cy="400110"/>
          </a:xfrm>
          <a:prstGeom prst="rect">
            <a:avLst/>
          </a:prstGeom>
          <a:noFill/>
        </p:spPr>
        <p:txBody>
          <a:bodyPr wrap="square">
            <a:spAutoFit/>
          </a:bodyPr>
          <a:lstStyle/>
          <a:p>
            <a:r>
              <a:rPr lang="en-US" sz="2000" b="1" dirty="0">
                <a:solidFill>
                  <a:srgbClr val="403CCF"/>
                </a:solidFill>
                <a:latin typeface="Libre Baskerville" pitchFamily="34" charset="0"/>
              </a:rPr>
              <a:t>Dynamic NAT Configuration</a:t>
            </a:r>
          </a:p>
        </p:txBody>
      </p:sp>
      <p:sp>
        <p:nvSpPr>
          <p:cNvPr id="17" name="TextBox 16">
            <a:extLst>
              <a:ext uri="{FF2B5EF4-FFF2-40B4-BE49-F238E27FC236}">
                <a16:creationId xmlns:a16="http://schemas.microsoft.com/office/drawing/2014/main" id="{F40B38A2-97DD-E3F0-D450-C10DBC61FAC0}"/>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006104F3-AC4D-34EE-BA2C-54C57267A3C6}"/>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6A2D2D4A-FC75-E733-BD18-D904FA2C6A43}"/>
              </a:ext>
            </a:extLst>
          </p:cNvPr>
          <p:cNvSpPr txBox="1"/>
          <p:nvPr/>
        </p:nvSpPr>
        <p:spPr>
          <a:xfrm>
            <a:off x="255938" y="460170"/>
            <a:ext cx="8195937" cy="523220"/>
          </a:xfrm>
          <a:prstGeom prst="rect">
            <a:avLst/>
          </a:prstGeom>
          <a:noFill/>
        </p:spPr>
        <p:txBody>
          <a:bodyPr wrap="square">
            <a:spAutoFit/>
          </a:bodyPr>
          <a:lstStyle/>
          <a:p>
            <a:r>
              <a:rPr lang="en-US" sz="1600" b="1" dirty="0">
                <a:solidFill>
                  <a:srgbClr val="403CCF"/>
                </a:solidFill>
                <a:latin typeface="Libre Baskerville" pitchFamily="34" charset="0"/>
              </a:rPr>
              <a:t>Network Diagram </a:t>
            </a:r>
          </a:p>
          <a:p>
            <a:endParaRPr lang="en-US" sz="1200" dirty="0"/>
          </a:p>
        </p:txBody>
      </p:sp>
      <p:sp>
        <p:nvSpPr>
          <p:cNvPr id="8" name="TextBox 7">
            <a:extLst>
              <a:ext uri="{FF2B5EF4-FFF2-40B4-BE49-F238E27FC236}">
                <a16:creationId xmlns:a16="http://schemas.microsoft.com/office/drawing/2014/main" id="{FC369017-858E-82E4-F4F4-81B3EADF0FC5}"/>
              </a:ext>
            </a:extLst>
          </p:cNvPr>
          <p:cNvSpPr txBox="1"/>
          <p:nvPr/>
        </p:nvSpPr>
        <p:spPr>
          <a:xfrm>
            <a:off x="381819" y="3205302"/>
            <a:ext cx="7813914" cy="1938992"/>
          </a:xfrm>
          <a:prstGeom prst="rect">
            <a:avLst/>
          </a:prstGeom>
          <a:noFill/>
        </p:spPr>
        <p:txBody>
          <a:bodyPr wrap="square">
            <a:spAutoFit/>
          </a:bodyPr>
          <a:lstStyle/>
          <a:p>
            <a:endParaRPr lang="en-US" sz="1600" b="1" dirty="0">
              <a:solidFill>
                <a:srgbClr val="403CCF"/>
              </a:solidFill>
              <a:latin typeface="Libre Baskerville" pitchFamily="34" charset="0"/>
            </a:endParaRPr>
          </a:p>
          <a:p>
            <a:r>
              <a:rPr lang="en-US" sz="1600" b="1" dirty="0">
                <a:solidFill>
                  <a:srgbClr val="403CCF"/>
                </a:solidFill>
                <a:latin typeface="Libre Baskerville" pitchFamily="34" charset="0"/>
              </a:rPr>
              <a:t>Steps to Apply Dynamic NAT:</a:t>
            </a:r>
          </a:p>
          <a:p>
            <a:endParaRPr lang="en-US" dirty="0"/>
          </a:p>
          <a:p>
            <a:r>
              <a:rPr lang="en-US" sz="1200" dirty="0"/>
              <a:t>First, we need to do basic configuration, Configure routing  protocol static or dynamic </a:t>
            </a:r>
          </a:p>
          <a:p>
            <a:pPr marL="342900" indent="-342900">
              <a:buFont typeface="Arial"/>
              <a:buAutoNum type="arabicParenR"/>
            </a:pPr>
            <a:r>
              <a:rPr lang="en-US" sz="1200" dirty="0"/>
              <a:t>Access List</a:t>
            </a:r>
          </a:p>
          <a:p>
            <a:pPr marL="342900" indent="-342900">
              <a:buAutoNum type="arabicParenR"/>
            </a:pPr>
            <a:r>
              <a:rPr lang="en-US" sz="1200" dirty="0"/>
              <a:t>Define Pool  &amp; Pool Name</a:t>
            </a:r>
          </a:p>
          <a:p>
            <a:pPr marL="342900" indent="-342900">
              <a:buFont typeface="Arial"/>
              <a:buAutoNum type="arabicParenR"/>
            </a:pPr>
            <a:r>
              <a:rPr lang="en-US" sz="1200" dirty="0"/>
              <a:t>Map Private IPs to Public Pool</a:t>
            </a:r>
          </a:p>
          <a:p>
            <a:pPr marL="342900" indent="-342900">
              <a:buAutoNum type="arabicParenR"/>
            </a:pPr>
            <a:r>
              <a:rPr lang="en-US" sz="1200" dirty="0"/>
              <a:t>Implement NAT at interface level</a:t>
            </a:r>
          </a:p>
          <a:p>
            <a:endParaRPr lang="en-US" dirty="0"/>
          </a:p>
        </p:txBody>
      </p:sp>
      <p:pic>
        <p:nvPicPr>
          <p:cNvPr id="14" name="Picture 13">
            <a:extLst>
              <a:ext uri="{FF2B5EF4-FFF2-40B4-BE49-F238E27FC236}">
                <a16:creationId xmlns:a16="http://schemas.microsoft.com/office/drawing/2014/main" id="{C769E902-82E4-8BDF-2DEE-E12FE5B8A25F}"/>
              </a:ext>
            </a:extLst>
          </p:cNvPr>
          <p:cNvPicPr>
            <a:picLocks noChangeAspect="1"/>
          </p:cNvPicPr>
          <p:nvPr/>
        </p:nvPicPr>
        <p:blipFill>
          <a:blip r:embed="rId3"/>
          <a:stretch>
            <a:fillRect/>
          </a:stretch>
        </p:blipFill>
        <p:spPr>
          <a:xfrm>
            <a:off x="496118" y="860280"/>
            <a:ext cx="8151763" cy="2568200"/>
          </a:xfrm>
          <a:prstGeom prst="rect">
            <a:avLst/>
          </a:prstGeom>
        </p:spPr>
      </p:pic>
    </p:spTree>
    <p:extLst>
      <p:ext uri="{BB962C8B-B14F-4D97-AF65-F5344CB8AC3E}">
        <p14:creationId xmlns:p14="http://schemas.microsoft.com/office/powerpoint/2010/main" val="1631070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6CD36-E416-CA69-3433-AC193514C0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4D5519-3645-E7C8-01AE-FC9ABF593F85}"/>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EBC63FFD-132B-C599-4A0D-595392432F8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012ECEF-4313-2C3E-3BFD-A188CBB1E24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7992F72-72EA-C67F-10EA-376C0FFA114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EF392F54-20DD-A560-5F70-499AC4B805FA}"/>
              </a:ext>
            </a:extLst>
          </p:cNvPr>
          <p:cNvSpPr txBox="1"/>
          <p:nvPr/>
        </p:nvSpPr>
        <p:spPr>
          <a:xfrm>
            <a:off x="2726413" y="63307"/>
            <a:ext cx="4614187" cy="400110"/>
          </a:xfrm>
          <a:prstGeom prst="rect">
            <a:avLst/>
          </a:prstGeom>
          <a:noFill/>
        </p:spPr>
        <p:txBody>
          <a:bodyPr wrap="square">
            <a:spAutoFit/>
          </a:bodyPr>
          <a:lstStyle/>
          <a:p>
            <a:r>
              <a:rPr lang="en-US" sz="2000" b="1" dirty="0">
                <a:solidFill>
                  <a:srgbClr val="403CCF"/>
                </a:solidFill>
                <a:latin typeface="Libre Baskerville" pitchFamily="34" charset="0"/>
              </a:rPr>
              <a:t>Dynamic NAT Configuration</a:t>
            </a:r>
          </a:p>
        </p:txBody>
      </p:sp>
      <p:sp>
        <p:nvSpPr>
          <p:cNvPr id="17" name="TextBox 16">
            <a:extLst>
              <a:ext uri="{FF2B5EF4-FFF2-40B4-BE49-F238E27FC236}">
                <a16:creationId xmlns:a16="http://schemas.microsoft.com/office/drawing/2014/main" id="{D344AA7C-8F96-7175-C389-A19874B2FA43}"/>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2DACA413-EBDC-044D-12D8-28A960E40F9A}"/>
              </a:ext>
            </a:extLst>
          </p:cNvPr>
          <p:cNvSpPr txBox="1"/>
          <p:nvPr/>
        </p:nvSpPr>
        <p:spPr>
          <a:xfrm>
            <a:off x="538454" y="814156"/>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58B26382-B6BC-34E4-A3AC-C162544BA4E8}"/>
              </a:ext>
            </a:extLst>
          </p:cNvPr>
          <p:cNvSpPr txBox="1"/>
          <p:nvPr/>
        </p:nvSpPr>
        <p:spPr>
          <a:xfrm>
            <a:off x="255938" y="460170"/>
            <a:ext cx="8195937" cy="338554"/>
          </a:xfrm>
          <a:prstGeom prst="rect">
            <a:avLst/>
          </a:prstGeom>
          <a:noFill/>
        </p:spPr>
        <p:txBody>
          <a:bodyPr wrap="square">
            <a:spAutoFit/>
          </a:bodyPr>
          <a:lstStyle/>
          <a:p>
            <a:r>
              <a:rPr lang="en-US" sz="1600" b="1" dirty="0">
                <a:solidFill>
                  <a:srgbClr val="403CCF"/>
                </a:solidFill>
                <a:latin typeface="Libre Baskerville" pitchFamily="34" charset="0"/>
              </a:rPr>
              <a:t>Configuration:</a:t>
            </a:r>
          </a:p>
        </p:txBody>
      </p:sp>
      <p:sp>
        <p:nvSpPr>
          <p:cNvPr id="8" name="TextBox 7">
            <a:extLst>
              <a:ext uri="{FF2B5EF4-FFF2-40B4-BE49-F238E27FC236}">
                <a16:creationId xmlns:a16="http://schemas.microsoft.com/office/drawing/2014/main" id="{4C168CF3-A23A-174F-4656-4DAA7CE7EE54}"/>
              </a:ext>
            </a:extLst>
          </p:cNvPr>
          <p:cNvSpPr txBox="1"/>
          <p:nvPr/>
        </p:nvSpPr>
        <p:spPr>
          <a:xfrm>
            <a:off x="80517" y="967914"/>
            <a:ext cx="4375329" cy="3046988"/>
          </a:xfrm>
          <a:prstGeom prst="rect">
            <a:avLst/>
          </a:prstGeom>
          <a:noFill/>
        </p:spPr>
        <p:txBody>
          <a:bodyPr wrap="square">
            <a:spAutoFit/>
          </a:bodyPr>
          <a:lstStyle/>
          <a:p>
            <a:r>
              <a:rPr lang="en-US" sz="1200" dirty="0">
                <a:highlight>
                  <a:srgbClr val="00FFFF"/>
                </a:highlight>
              </a:rPr>
              <a:t>R1</a:t>
            </a:r>
          </a:p>
          <a:p>
            <a:pPr marL="285750" indent="-285750">
              <a:buFont typeface="Wingdings" panose="05000000000000000000" pitchFamily="2" charset="2"/>
              <a:buChar char="q"/>
            </a:pPr>
            <a:r>
              <a:rPr lang="en-PK" sz="1200" dirty="0"/>
              <a:t>R1(config)# interface fa0/0</a:t>
            </a:r>
          </a:p>
          <a:p>
            <a:pPr marL="285750" indent="-285750">
              <a:buFont typeface="Wingdings" panose="05000000000000000000" pitchFamily="2" charset="2"/>
              <a:buChar char="q"/>
            </a:pPr>
            <a:r>
              <a:rPr lang="en-PK" sz="1200" dirty="0"/>
              <a:t>R1(config-if)# ip </a:t>
            </a:r>
            <a:r>
              <a:rPr lang="en-US" sz="1200" dirty="0"/>
              <a:t>address 200.100.50.100  255.255.255.0</a:t>
            </a:r>
            <a:endParaRPr lang="en-PK" sz="1200" dirty="0"/>
          </a:p>
          <a:p>
            <a:pPr marL="285750" indent="-285750">
              <a:buFont typeface="Wingdings" panose="05000000000000000000" pitchFamily="2" charset="2"/>
              <a:buChar char="q"/>
            </a:pPr>
            <a:r>
              <a:rPr lang="en-PK" sz="1200" dirty="0"/>
              <a:t>R1(config-if)# </a:t>
            </a:r>
            <a:r>
              <a:rPr lang="en-US" sz="1200" dirty="0"/>
              <a:t>no shutdown</a:t>
            </a:r>
          </a:p>
          <a:p>
            <a:pPr marL="285750" indent="-285750">
              <a:buFont typeface="Wingdings" panose="05000000000000000000" pitchFamily="2" charset="2"/>
              <a:buChar char="q"/>
            </a:pPr>
            <a:r>
              <a:rPr lang="en-PK" sz="1200" dirty="0"/>
              <a:t>R1(config-if)# </a:t>
            </a:r>
            <a:r>
              <a:rPr lang="en-US" sz="1200" dirty="0"/>
              <a:t>exit</a:t>
            </a:r>
          </a:p>
          <a:p>
            <a:pPr marL="285750" indent="-285750">
              <a:buFont typeface="Wingdings" panose="05000000000000000000" pitchFamily="2" charset="2"/>
              <a:buChar char="q"/>
            </a:pPr>
            <a:endParaRPr lang="en-US" sz="1200" dirty="0"/>
          </a:p>
          <a:p>
            <a:pPr marL="285750" indent="-285750">
              <a:buFont typeface="Wingdings" panose="05000000000000000000" pitchFamily="2" charset="2"/>
              <a:buChar char="q"/>
            </a:pPr>
            <a:r>
              <a:rPr lang="en-PK" sz="1200" dirty="0"/>
              <a:t>R1(config)# interface </a:t>
            </a:r>
            <a:r>
              <a:rPr lang="en-US" sz="1200" dirty="0"/>
              <a:t>s</a:t>
            </a:r>
            <a:r>
              <a:rPr lang="en-PK" sz="1200" dirty="0"/>
              <a:t>0/0</a:t>
            </a:r>
          </a:p>
          <a:p>
            <a:pPr marL="285750" indent="-285750">
              <a:buFont typeface="Wingdings" panose="05000000000000000000" pitchFamily="2" charset="2"/>
              <a:buChar char="q"/>
            </a:pPr>
            <a:r>
              <a:rPr lang="en-PK" sz="1200" dirty="0"/>
              <a:t>R1(config-if)# ip </a:t>
            </a:r>
            <a:r>
              <a:rPr lang="en-US" sz="1200" dirty="0"/>
              <a:t>address 1.1.1.1  255.0.0.0</a:t>
            </a:r>
            <a:endParaRPr lang="en-PK" sz="1200" dirty="0"/>
          </a:p>
          <a:p>
            <a:pPr marL="285750" indent="-285750">
              <a:buFont typeface="Wingdings" panose="05000000000000000000" pitchFamily="2" charset="2"/>
              <a:buChar char="q"/>
            </a:pPr>
            <a:r>
              <a:rPr lang="en-PK" sz="1200" dirty="0"/>
              <a:t>R1(config-if)# </a:t>
            </a:r>
            <a:r>
              <a:rPr lang="en-US" sz="1200" dirty="0"/>
              <a:t>no shutdown</a:t>
            </a:r>
          </a:p>
          <a:p>
            <a:pPr marL="285750" indent="-285750">
              <a:buFont typeface="Wingdings" panose="05000000000000000000" pitchFamily="2" charset="2"/>
              <a:buChar char="q"/>
            </a:pPr>
            <a:r>
              <a:rPr lang="en-PK" sz="1200" dirty="0"/>
              <a:t>R1(config-if)# </a:t>
            </a:r>
            <a:r>
              <a:rPr lang="en-US" sz="1200" dirty="0"/>
              <a:t>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R1(config)# </a:t>
            </a:r>
            <a:r>
              <a:rPr lang="en-US" sz="1200" dirty="0"/>
              <a:t>router rip</a:t>
            </a:r>
          </a:p>
          <a:p>
            <a:pPr marL="285750" indent="-285750">
              <a:buFont typeface="Wingdings" panose="05000000000000000000" pitchFamily="2" charset="2"/>
              <a:buChar char="q"/>
            </a:pPr>
            <a:r>
              <a:rPr lang="en-PK" sz="1200" dirty="0"/>
              <a:t>R1(config)# </a:t>
            </a:r>
            <a:r>
              <a:rPr lang="en-US" sz="1200" dirty="0"/>
              <a:t>network  200.100.50.0</a:t>
            </a:r>
          </a:p>
          <a:p>
            <a:pPr marL="285750" indent="-285750">
              <a:buFont typeface="Wingdings" panose="05000000000000000000" pitchFamily="2" charset="2"/>
              <a:buChar char="q"/>
            </a:pPr>
            <a:r>
              <a:rPr lang="en-PK" sz="1200" dirty="0"/>
              <a:t>R1(config)# </a:t>
            </a:r>
            <a:r>
              <a:rPr lang="en-US" sz="1200" dirty="0"/>
              <a:t>network  1.0.0.0</a:t>
            </a:r>
            <a:endParaRPr lang="en-PK" sz="1200" dirty="0"/>
          </a:p>
          <a:p>
            <a:pPr marL="285750" indent="-285750">
              <a:buFont typeface="Wingdings" panose="05000000000000000000" pitchFamily="2" charset="2"/>
              <a:buChar char="q"/>
            </a:pPr>
            <a:r>
              <a:rPr lang="en-PK" sz="1200" dirty="0"/>
              <a:t>R1(config-if)# exit</a:t>
            </a:r>
          </a:p>
        </p:txBody>
      </p:sp>
      <p:sp>
        <p:nvSpPr>
          <p:cNvPr id="11" name="TextBox 10">
            <a:extLst>
              <a:ext uri="{FF2B5EF4-FFF2-40B4-BE49-F238E27FC236}">
                <a16:creationId xmlns:a16="http://schemas.microsoft.com/office/drawing/2014/main" id="{2B5A0ED0-80F3-DBD5-1F7C-1FE4D8E8BC32}"/>
              </a:ext>
            </a:extLst>
          </p:cNvPr>
          <p:cNvSpPr txBox="1"/>
          <p:nvPr/>
        </p:nvSpPr>
        <p:spPr>
          <a:xfrm>
            <a:off x="4572000" y="967914"/>
            <a:ext cx="4572000" cy="3046988"/>
          </a:xfrm>
          <a:prstGeom prst="rect">
            <a:avLst/>
          </a:prstGeom>
          <a:noFill/>
        </p:spPr>
        <p:txBody>
          <a:bodyPr wrap="square">
            <a:spAutoFit/>
          </a:bodyPr>
          <a:lstStyle/>
          <a:p>
            <a:r>
              <a:rPr lang="en-US" sz="1200" dirty="0">
                <a:highlight>
                  <a:srgbClr val="00FFFF"/>
                </a:highlight>
              </a:rPr>
              <a:t>R2</a:t>
            </a:r>
          </a:p>
          <a:p>
            <a:pPr marL="285750" indent="-285750">
              <a:buFont typeface="Wingdings" panose="05000000000000000000" pitchFamily="2" charset="2"/>
              <a:buChar char="q"/>
            </a:pPr>
            <a:r>
              <a:rPr lang="en-PK" sz="1200" dirty="0"/>
              <a:t>R</a:t>
            </a:r>
            <a:r>
              <a:rPr lang="en-US" sz="1200" dirty="0"/>
              <a:t>2</a:t>
            </a:r>
            <a:r>
              <a:rPr lang="en-PK" sz="1200" dirty="0"/>
              <a:t>(config)# interface fa0/0</a:t>
            </a:r>
          </a:p>
          <a:p>
            <a:pPr marL="285750" indent="-285750">
              <a:buFont typeface="Wingdings" panose="05000000000000000000" pitchFamily="2" charset="2"/>
              <a:buChar char="q"/>
            </a:pPr>
            <a:r>
              <a:rPr lang="en-PK" sz="1200" dirty="0"/>
              <a:t>R</a:t>
            </a:r>
            <a:r>
              <a:rPr lang="en-US" sz="1200" dirty="0"/>
              <a:t>2</a:t>
            </a:r>
            <a:r>
              <a:rPr lang="en-PK" sz="1200" dirty="0"/>
              <a:t>(config-if)# ip </a:t>
            </a:r>
            <a:r>
              <a:rPr lang="en-US" sz="1200" dirty="0"/>
              <a:t>address 200.100.100.100  255.255.255.0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no shutdown</a:t>
            </a:r>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exit</a:t>
            </a:r>
          </a:p>
          <a:p>
            <a:endParaRPr lang="en-US" sz="1200" dirty="0"/>
          </a:p>
          <a:p>
            <a:pPr marL="285750" indent="-285750">
              <a:buFont typeface="Wingdings" panose="05000000000000000000" pitchFamily="2" charset="2"/>
              <a:buChar char="q"/>
            </a:pPr>
            <a:r>
              <a:rPr lang="en-PK" sz="1200" dirty="0"/>
              <a:t>R</a:t>
            </a:r>
            <a:r>
              <a:rPr lang="en-US" sz="1200" dirty="0"/>
              <a:t>2</a:t>
            </a:r>
            <a:r>
              <a:rPr lang="en-PK" sz="1200" dirty="0"/>
              <a:t>(config)# interface </a:t>
            </a:r>
            <a:r>
              <a:rPr lang="en-US" sz="1200" dirty="0"/>
              <a:t>s</a:t>
            </a:r>
            <a:r>
              <a:rPr lang="en-PK" sz="1200" dirty="0"/>
              <a:t>0/0</a:t>
            </a:r>
          </a:p>
          <a:p>
            <a:pPr marL="285750" indent="-285750">
              <a:buFont typeface="Wingdings" panose="05000000000000000000" pitchFamily="2" charset="2"/>
              <a:buChar char="q"/>
            </a:pPr>
            <a:r>
              <a:rPr lang="en-PK" sz="1200" dirty="0"/>
              <a:t>R</a:t>
            </a:r>
            <a:r>
              <a:rPr lang="en-US" sz="1200" dirty="0"/>
              <a:t>2</a:t>
            </a:r>
            <a:r>
              <a:rPr lang="en-PK" sz="1200" dirty="0"/>
              <a:t>(config-if)# ip </a:t>
            </a:r>
            <a:r>
              <a:rPr lang="en-US" sz="1200" dirty="0"/>
              <a:t>address 1.1.1.2  255.0.0.0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no shutdown</a:t>
            </a:r>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router rip</a:t>
            </a:r>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network  200.100.100.0</a:t>
            </a:r>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network  1.0.0.0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exit</a:t>
            </a:r>
          </a:p>
        </p:txBody>
      </p:sp>
    </p:spTree>
    <p:extLst>
      <p:ext uri="{BB962C8B-B14F-4D97-AF65-F5344CB8AC3E}">
        <p14:creationId xmlns:p14="http://schemas.microsoft.com/office/powerpoint/2010/main" val="1420844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16E99-4B62-A97F-B689-2AEDCD7EDF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368547-390B-8B26-E860-86B4DF321474}"/>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D5EE4A8-7786-207E-DF43-2BFEC977884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7E45A89-5E1F-75A9-3092-493AD7F8A06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567C0F4-8D17-ABC1-7837-0F0D5CEB3CB7}"/>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05246EF-760E-2037-5DB7-E9AAC7CBB098}"/>
              </a:ext>
            </a:extLst>
          </p:cNvPr>
          <p:cNvSpPr txBox="1"/>
          <p:nvPr/>
        </p:nvSpPr>
        <p:spPr>
          <a:xfrm>
            <a:off x="2726413" y="63307"/>
            <a:ext cx="4648054" cy="400110"/>
          </a:xfrm>
          <a:prstGeom prst="rect">
            <a:avLst/>
          </a:prstGeom>
          <a:noFill/>
        </p:spPr>
        <p:txBody>
          <a:bodyPr wrap="square">
            <a:spAutoFit/>
          </a:bodyPr>
          <a:lstStyle/>
          <a:p>
            <a:r>
              <a:rPr lang="en-US" sz="2000" b="1" dirty="0">
                <a:solidFill>
                  <a:srgbClr val="403CCF"/>
                </a:solidFill>
                <a:latin typeface="Libre Baskerville" pitchFamily="34" charset="0"/>
              </a:rPr>
              <a:t>Dynamic NAT Configuration</a:t>
            </a:r>
          </a:p>
        </p:txBody>
      </p:sp>
      <p:sp>
        <p:nvSpPr>
          <p:cNvPr id="17" name="TextBox 16">
            <a:extLst>
              <a:ext uri="{FF2B5EF4-FFF2-40B4-BE49-F238E27FC236}">
                <a16:creationId xmlns:a16="http://schemas.microsoft.com/office/drawing/2014/main" id="{A6E40C55-7EA9-A7E9-191A-851C0CD8E2EE}"/>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DD82609D-CFD3-02AD-18BE-E6DBA8EF59EF}"/>
              </a:ext>
            </a:extLst>
          </p:cNvPr>
          <p:cNvSpPr txBox="1"/>
          <p:nvPr/>
        </p:nvSpPr>
        <p:spPr>
          <a:xfrm>
            <a:off x="255938" y="460170"/>
            <a:ext cx="8195937" cy="338554"/>
          </a:xfrm>
          <a:prstGeom prst="rect">
            <a:avLst/>
          </a:prstGeom>
          <a:noFill/>
        </p:spPr>
        <p:txBody>
          <a:bodyPr wrap="square">
            <a:spAutoFit/>
          </a:bodyPr>
          <a:lstStyle/>
          <a:p>
            <a:r>
              <a:rPr lang="en-US" sz="1600" b="1" dirty="0">
                <a:solidFill>
                  <a:srgbClr val="403CCF"/>
                </a:solidFill>
                <a:latin typeface="Libre Baskerville" pitchFamily="34" charset="0"/>
              </a:rPr>
              <a:t>Configuration:</a:t>
            </a:r>
          </a:p>
        </p:txBody>
      </p:sp>
      <p:sp>
        <p:nvSpPr>
          <p:cNvPr id="6" name="TextBox 5">
            <a:extLst>
              <a:ext uri="{FF2B5EF4-FFF2-40B4-BE49-F238E27FC236}">
                <a16:creationId xmlns:a16="http://schemas.microsoft.com/office/drawing/2014/main" id="{04F5B585-2426-7C15-B9A2-0E6D776A785B}"/>
              </a:ext>
            </a:extLst>
          </p:cNvPr>
          <p:cNvSpPr txBox="1"/>
          <p:nvPr/>
        </p:nvSpPr>
        <p:spPr>
          <a:xfrm>
            <a:off x="255937" y="875581"/>
            <a:ext cx="6314195" cy="3985706"/>
          </a:xfrm>
          <a:prstGeom prst="rect">
            <a:avLst/>
          </a:prstGeom>
          <a:noFill/>
        </p:spPr>
        <p:txBody>
          <a:bodyPr wrap="square">
            <a:spAutoFit/>
          </a:bodyPr>
          <a:lstStyle/>
          <a:p>
            <a:r>
              <a:rPr lang="en-US" sz="1100" dirty="0">
                <a:highlight>
                  <a:srgbClr val="00FFFF"/>
                </a:highlight>
              </a:rPr>
              <a:t>Define Access List for Inside Network</a:t>
            </a:r>
          </a:p>
          <a:p>
            <a:pPr marL="285750" indent="-285750">
              <a:buFont typeface="Wingdings" panose="05000000000000000000" pitchFamily="2" charset="2"/>
              <a:buChar char="q"/>
            </a:pPr>
            <a:r>
              <a:rPr lang="en-US" sz="1100" dirty="0"/>
              <a:t>access-list   3   permit   200.100.50.0   0.0.0.255</a:t>
            </a:r>
          </a:p>
          <a:p>
            <a:pPr marL="171450" indent="-171450">
              <a:buFont typeface="Wingdings" panose="05000000000000000000" pitchFamily="2" charset="2"/>
              <a:buChar char="ü"/>
            </a:pPr>
            <a:r>
              <a:rPr lang="en-US" sz="1100" dirty="0"/>
              <a:t>This defines which inside IPs are allowed to be translated</a:t>
            </a:r>
          </a:p>
          <a:p>
            <a:endParaRPr lang="en-US" sz="1100" dirty="0"/>
          </a:p>
          <a:p>
            <a:pPr marL="285750" indent="-285750">
              <a:buFont typeface="Wingdings" panose="05000000000000000000" pitchFamily="2" charset="2"/>
              <a:buChar char="q"/>
            </a:pPr>
            <a:endParaRPr lang="en-US" sz="1100" dirty="0"/>
          </a:p>
          <a:p>
            <a:r>
              <a:rPr lang="en-US" sz="1100" dirty="0">
                <a:highlight>
                  <a:srgbClr val="00FFFF"/>
                </a:highlight>
              </a:rPr>
              <a:t>Define NAT Pool for Public IPs</a:t>
            </a:r>
          </a:p>
          <a:p>
            <a:pPr marL="285750" indent="-285750">
              <a:buFont typeface="Wingdings" panose="05000000000000000000" pitchFamily="2" charset="2"/>
              <a:buChar char="q"/>
            </a:pPr>
            <a:r>
              <a:rPr lang="en-US" sz="1100" dirty="0"/>
              <a:t>ip   nat pool   CCNA   1.1.1.3   1.1.1.254   netmask 255.0.0.0</a:t>
            </a:r>
          </a:p>
          <a:p>
            <a:pPr marL="171450" indent="-171450">
              <a:buFont typeface="Wingdings" panose="05000000000000000000" pitchFamily="2" charset="2"/>
              <a:buChar char="ü"/>
            </a:pPr>
            <a:r>
              <a:rPr lang="en-US" sz="1100" dirty="0"/>
              <a:t>This creates the range of Public IPs that will be used for translation </a:t>
            </a:r>
          </a:p>
          <a:p>
            <a:endParaRPr lang="en-US" sz="1100" dirty="0"/>
          </a:p>
          <a:p>
            <a:endParaRPr lang="en-US" sz="1100" dirty="0"/>
          </a:p>
          <a:p>
            <a:r>
              <a:rPr lang="en-US" sz="1100" dirty="0">
                <a:highlight>
                  <a:srgbClr val="00FFFF"/>
                </a:highlight>
              </a:rPr>
              <a:t>Map Private IPs to Public Pool</a:t>
            </a:r>
          </a:p>
          <a:p>
            <a:pPr marL="285750" indent="-285750">
              <a:buFont typeface="Wingdings" panose="05000000000000000000" pitchFamily="2" charset="2"/>
              <a:buChar char="q"/>
            </a:pPr>
            <a:r>
              <a:rPr lang="en-US" sz="1100" dirty="0"/>
              <a:t>ip   nat  inside  source  list  3  pool  CCNA</a:t>
            </a:r>
          </a:p>
          <a:p>
            <a:pPr marL="171450" indent="-171450">
              <a:buFont typeface="Wingdings" panose="05000000000000000000" pitchFamily="2" charset="2"/>
              <a:buChar char="ü"/>
            </a:pPr>
            <a:r>
              <a:rPr lang="en-US" sz="1100" dirty="0"/>
              <a:t>This connect the access list (Private IPs) to the NAT Pool (Public IPs) </a:t>
            </a:r>
          </a:p>
          <a:p>
            <a:r>
              <a:rPr lang="en-US" sz="1100" dirty="0"/>
              <a:t> </a:t>
            </a:r>
          </a:p>
          <a:p>
            <a:endParaRPr lang="en-US" sz="1100" dirty="0"/>
          </a:p>
          <a:p>
            <a:r>
              <a:rPr lang="en-US" sz="1100" dirty="0">
                <a:highlight>
                  <a:srgbClr val="00FFFF"/>
                </a:highlight>
              </a:rPr>
              <a:t>Implement NAT at interface level</a:t>
            </a:r>
          </a:p>
          <a:p>
            <a:pPr marL="285750" indent="-285750">
              <a:buFont typeface="Wingdings" panose="05000000000000000000" pitchFamily="2" charset="2"/>
              <a:buChar char="q"/>
            </a:pPr>
            <a:r>
              <a:rPr lang="en-PK" sz="1100" dirty="0"/>
              <a:t>R1(config)# interface fa0/0</a:t>
            </a:r>
          </a:p>
          <a:p>
            <a:pPr marL="285750" indent="-285750">
              <a:buFont typeface="Wingdings" panose="05000000000000000000" pitchFamily="2" charset="2"/>
              <a:buChar char="q"/>
            </a:pPr>
            <a:r>
              <a:rPr lang="en-PK" sz="1100" dirty="0"/>
              <a:t>R1(config-if)# ip </a:t>
            </a:r>
            <a:r>
              <a:rPr lang="en-US" sz="1100" dirty="0"/>
              <a:t>  </a:t>
            </a:r>
            <a:r>
              <a:rPr lang="en-PK" sz="1100" dirty="0"/>
              <a:t>nat</a:t>
            </a:r>
            <a:r>
              <a:rPr lang="en-US" sz="1100" dirty="0"/>
              <a:t>  </a:t>
            </a:r>
            <a:r>
              <a:rPr lang="en-PK" sz="1100" dirty="0"/>
              <a:t> inside</a:t>
            </a:r>
          </a:p>
          <a:p>
            <a:pPr marL="285750" indent="-285750">
              <a:buFont typeface="Wingdings" panose="05000000000000000000" pitchFamily="2" charset="2"/>
              <a:buChar char="q"/>
            </a:pPr>
            <a:r>
              <a:rPr lang="en-PK" sz="1100" dirty="0"/>
              <a:t>R1(config-if)# exit</a:t>
            </a:r>
          </a:p>
          <a:p>
            <a:pPr marL="285750" indent="-285750">
              <a:buFont typeface="Wingdings" panose="05000000000000000000" pitchFamily="2" charset="2"/>
              <a:buChar char="q"/>
            </a:pPr>
            <a:endParaRPr lang="en-PK" sz="1100" dirty="0"/>
          </a:p>
          <a:p>
            <a:pPr marL="285750" indent="-285750">
              <a:buFont typeface="Wingdings" panose="05000000000000000000" pitchFamily="2" charset="2"/>
              <a:buChar char="q"/>
            </a:pPr>
            <a:r>
              <a:rPr lang="en-PK" sz="1100" dirty="0"/>
              <a:t>R1(config)# interface s0/0</a:t>
            </a:r>
          </a:p>
          <a:p>
            <a:pPr marL="285750" indent="-285750">
              <a:buFont typeface="Wingdings" panose="05000000000000000000" pitchFamily="2" charset="2"/>
              <a:buChar char="q"/>
            </a:pPr>
            <a:r>
              <a:rPr lang="en-PK" sz="1100" dirty="0"/>
              <a:t>R1(config-if)# ip </a:t>
            </a:r>
            <a:r>
              <a:rPr lang="en-US" sz="1100" dirty="0"/>
              <a:t>  </a:t>
            </a:r>
            <a:r>
              <a:rPr lang="en-PK" sz="1100" dirty="0"/>
              <a:t>nat</a:t>
            </a:r>
            <a:r>
              <a:rPr lang="en-US" sz="1100" dirty="0"/>
              <a:t>  </a:t>
            </a:r>
            <a:r>
              <a:rPr lang="en-PK" sz="1100" dirty="0"/>
              <a:t> outside</a:t>
            </a:r>
          </a:p>
          <a:p>
            <a:pPr marL="285750" indent="-285750">
              <a:buFont typeface="Wingdings" panose="05000000000000000000" pitchFamily="2" charset="2"/>
              <a:buChar char="q"/>
            </a:pPr>
            <a:r>
              <a:rPr lang="en-PK" sz="1100" dirty="0"/>
              <a:t>R1(config-if)# exit</a:t>
            </a:r>
          </a:p>
        </p:txBody>
      </p:sp>
    </p:spTree>
    <p:extLst>
      <p:ext uri="{BB962C8B-B14F-4D97-AF65-F5344CB8AC3E}">
        <p14:creationId xmlns:p14="http://schemas.microsoft.com/office/powerpoint/2010/main" val="547354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DD1A0-1D81-10CA-7D83-281E95A6F5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F9CDB3-B3BD-4947-4E07-C1AB34A9015F}"/>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ED2E817-B046-0AB0-FBA8-52B7E183604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B3BFC94-3656-645D-E438-B1DE13BC06D7}"/>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BEA4566-58DD-B4D8-806B-25BE669345BD}"/>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B5EC5382-AA78-8A1B-6CF5-AF8624C70869}"/>
              </a:ext>
            </a:extLst>
          </p:cNvPr>
          <p:cNvSpPr txBox="1"/>
          <p:nvPr/>
        </p:nvSpPr>
        <p:spPr>
          <a:xfrm>
            <a:off x="2269067" y="63307"/>
            <a:ext cx="4529701" cy="400110"/>
          </a:xfrm>
          <a:prstGeom prst="rect">
            <a:avLst/>
          </a:prstGeom>
          <a:noFill/>
        </p:spPr>
        <p:txBody>
          <a:bodyPr wrap="square">
            <a:spAutoFit/>
          </a:bodyPr>
          <a:lstStyle/>
          <a:p>
            <a:r>
              <a:rPr lang="en-US" sz="2000" b="1" dirty="0">
                <a:solidFill>
                  <a:srgbClr val="403CCF"/>
                </a:solidFill>
                <a:latin typeface="Libre Baskerville" pitchFamily="34" charset="0"/>
              </a:rPr>
              <a:t>Dynamic NAT Configuration</a:t>
            </a:r>
          </a:p>
        </p:txBody>
      </p:sp>
      <p:sp>
        <p:nvSpPr>
          <p:cNvPr id="17" name="TextBox 16">
            <a:extLst>
              <a:ext uri="{FF2B5EF4-FFF2-40B4-BE49-F238E27FC236}">
                <a16:creationId xmlns:a16="http://schemas.microsoft.com/office/drawing/2014/main" id="{224B5BD2-7AEB-A87B-188A-33127173CFEF}"/>
              </a:ext>
            </a:extLst>
          </p:cNvPr>
          <p:cNvSpPr txBox="1"/>
          <p:nvPr/>
        </p:nvSpPr>
        <p:spPr>
          <a:xfrm>
            <a:off x="250039" y="2910424"/>
            <a:ext cx="3831803" cy="2215991"/>
          </a:xfrm>
          <a:prstGeom prst="rect">
            <a:avLst/>
          </a:prstGeom>
          <a:noFill/>
        </p:spPr>
        <p:txBody>
          <a:bodyPr wrap="square">
            <a:spAutoFit/>
          </a:bodyPr>
          <a:lstStyle/>
          <a:p>
            <a:r>
              <a:rPr lang="en-US" sz="1200" dirty="0">
                <a:highlight>
                  <a:srgbClr val="00FFFF"/>
                </a:highlight>
              </a:rPr>
              <a:t>R2</a:t>
            </a:r>
            <a:endParaRPr lang="en-US" sz="900" dirty="0">
              <a:highlight>
                <a:srgbClr val="00FFFF"/>
              </a:highlight>
            </a:endParaRPr>
          </a:p>
          <a:p>
            <a:pPr marL="285750" indent="-285750">
              <a:buFont typeface="Wingdings" panose="05000000000000000000" pitchFamily="2" charset="2"/>
              <a:buChar char="q"/>
            </a:pPr>
            <a:r>
              <a:rPr lang="en-PK" sz="900" dirty="0"/>
              <a:t>R</a:t>
            </a:r>
            <a:r>
              <a:rPr lang="en-US" sz="900" dirty="0"/>
              <a:t>2</a:t>
            </a:r>
            <a:r>
              <a:rPr lang="en-PK" sz="900" dirty="0"/>
              <a:t>(config)# interface fa0/0</a:t>
            </a:r>
          </a:p>
          <a:p>
            <a:pPr marL="285750" indent="-285750">
              <a:buFont typeface="Wingdings" panose="05000000000000000000" pitchFamily="2" charset="2"/>
              <a:buChar char="q"/>
            </a:pPr>
            <a:r>
              <a:rPr lang="en-PK" sz="900" dirty="0"/>
              <a:t>R</a:t>
            </a:r>
            <a:r>
              <a:rPr lang="en-US" sz="900" dirty="0"/>
              <a:t>2</a:t>
            </a:r>
            <a:r>
              <a:rPr lang="en-PK" sz="900" dirty="0"/>
              <a:t>(config-if)# ip </a:t>
            </a:r>
            <a:r>
              <a:rPr lang="en-US" sz="900" dirty="0"/>
              <a:t> address  200.100.100.100  255.255.255.0</a:t>
            </a:r>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(config-if)# </a:t>
            </a:r>
            <a:r>
              <a:rPr lang="en-US" sz="900" dirty="0"/>
              <a:t>no shutdown</a:t>
            </a:r>
          </a:p>
          <a:p>
            <a:pPr marL="285750" indent="-285750">
              <a:buFont typeface="Wingdings" panose="05000000000000000000" pitchFamily="2" charset="2"/>
              <a:buChar char="q"/>
            </a:pPr>
            <a:r>
              <a:rPr lang="en-PK" sz="900" dirty="0"/>
              <a:t>R</a:t>
            </a:r>
            <a:r>
              <a:rPr lang="en-US" sz="900" dirty="0"/>
              <a:t>2</a:t>
            </a:r>
            <a:r>
              <a:rPr lang="en-PK" sz="900" dirty="0"/>
              <a:t>(config-if)# exit</a:t>
            </a: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R2(config)# interface s0/0</a:t>
            </a:r>
          </a:p>
          <a:p>
            <a:pPr marL="285750" indent="-285750">
              <a:buFont typeface="Wingdings" panose="05000000000000000000" pitchFamily="2" charset="2"/>
              <a:buChar char="q"/>
            </a:pPr>
            <a:r>
              <a:rPr lang="en-US" sz="900" dirty="0"/>
              <a:t>R2(config-if)# ip address 1.1.1.1  255.0.0.0</a:t>
            </a:r>
          </a:p>
          <a:p>
            <a:pPr marL="285750" indent="-285750">
              <a:buFont typeface="Wingdings" panose="05000000000000000000" pitchFamily="2" charset="2"/>
              <a:buChar char="q"/>
            </a:pPr>
            <a:r>
              <a:rPr lang="en-US" sz="900" dirty="0"/>
              <a:t>R2(config-if)# no shutdown</a:t>
            </a:r>
          </a:p>
          <a:p>
            <a:pPr marL="285750" indent="-285750">
              <a:buFont typeface="Wingdings" panose="05000000000000000000" pitchFamily="2" charset="2"/>
              <a:buChar char="q"/>
            </a:pPr>
            <a:r>
              <a:rPr lang="en-US" sz="900" dirty="0"/>
              <a:t>R2(config-if)# exit</a:t>
            </a:r>
          </a:p>
          <a:p>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router rip</a:t>
            </a:r>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network 200.100.100.0</a:t>
            </a:r>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network 1.0.0.0</a:t>
            </a:r>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(config-if)# exit</a:t>
            </a:r>
            <a:endParaRPr lang="en-US" sz="900" dirty="0"/>
          </a:p>
        </p:txBody>
      </p:sp>
      <p:sp>
        <p:nvSpPr>
          <p:cNvPr id="6" name="TextBox 5">
            <a:extLst>
              <a:ext uri="{FF2B5EF4-FFF2-40B4-BE49-F238E27FC236}">
                <a16:creationId xmlns:a16="http://schemas.microsoft.com/office/drawing/2014/main" id="{D6ED8A7D-2472-9E78-6961-C196F4A93E74}"/>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FB6B6AB2-483A-A67E-404E-DCE637EBBBD9}"/>
              </a:ext>
            </a:extLst>
          </p:cNvPr>
          <p:cNvSpPr txBox="1"/>
          <p:nvPr/>
        </p:nvSpPr>
        <p:spPr>
          <a:xfrm>
            <a:off x="255939" y="377324"/>
            <a:ext cx="3046062" cy="276999"/>
          </a:xfrm>
          <a:prstGeom prst="rect">
            <a:avLst/>
          </a:prstGeom>
          <a:noFill/>
        </p:spPr>
        <p:txBody>
          <a:bodyPr wrap="square">
            <a:spAutoFit/>
          </a:bodyPr>
          <a:lstStyle/>
          <a:p>
            <a:r>
              <a:rPr lang="en-US" sz="1200" dirty="0">
                <a:highlight>
                  <a:srgbClr val="00FFFF"/>
                </a:highlight>
              </a:rPr>
              <a:t>Configuration Summary:</a:t>
            </a:r>
          </a:p>
        </p:txBody>
      </p:sp>
      <p:sp>
        <p:nvSpPr>
          <p:cNvPr id="8" name="TextBox 7">
            <a:extLst>
              <a:ext uri="{FF2B5EF4-FFF2-40B4-BE49-F238E27FC236}">
                <a16:creationId xmlns:a16="http://schemas.microsoft.com/office/drawing/2014/main" id="{0211A229-0BCB-D3E9-CB16-BE6AA1C3206B}"/>
              </a:ext>
            </a:extLst>
          </p:cNvPr>
          <p:cNvSpPr txBox="1"/>
          <p:nvPr/>
        </p:nvSpPr>
        <p:spPr>
          <a:xfrm>
            <a:off x="3877733" y="679889"/>
            <a:ext cx="5133677" cy="2631490"/>
          </a:xfrm>
          <a:prstGeom prst="rect">
            <a:avLst/>
          </a:prstGeom>
          <a:noFill/>
        </p:spPr>
        <p:txBody>
          <a:bodyPr wrap="square">
            <a:spAutoFit/>
          </a:bodyPr>
          <a:lstStyle/>
          <a:p>
            <a:r>
              <a:rPr lang="en-US" sz="1200" dirty="0">
                <a:highlight>
                  <a:srgbClr val="00FFFF"/>
                </a:highlight>
              </a:rPr>
              <a:t>NAT Configuration</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R1(config)# ip   nat pool   CCNA   1.1.1.3   1.1.1.254   netmask 255.0.0.0</a:t>
            </a:r>
          </a:p>
          <a:p>
            <a:pPr marL="285750" indent="-285750">
              <a:buFont typeface="Wingdings" panose="05000000000000000000" pitchFamily="2" charset="2"/>
              <a:buChar char="q"/>
            </a:pPr>
            <a:r>
              <a:rPr lang="en-US" sz="900" dirty="0"/>
              <a:t>R1(config)# ip   nat  inside  source  list  3  pool  CCNA</a:t>
            </a:r>
          </a:p>
          <a:p>
            <a:pPr marL="285750" indent="-285750">
              <a:buFont typeface="Wingdings" panose="05000000000000000000" pitchFamily="2" charset="2"/>
              <a:buChar char="q"/>
            </a:pPr>
            <a:r>
              <a:rPr lang="en-US" sz="900" dirty="0"/>
              <a:t>R1(config)# access-list   3   permit   200.100.50.0   0.0.0.255</a:t>
            </a:r>
          </a:p>
          <a:p>
            <a:pPr marL="285750" indent="-285750">
              <a:buFont typeface="Wingdings" panose="05000000000000000000" pitchFamily="2" charset="2"/>
              <a:buChar char="q"/>
            </a:pPr>
            <a:endParaRPr lang="en-PK" sz="900" dirty="0"/>
          </a:p>
          <a:p>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PK" sz="900" dirty="0"/>
              <a:t>R1(config)# interface fa0/0</a:t>
            </a:r>
          </a:p>
          <a:p>
            <a:pPr marL="285750" indent="-285750">
              <a:buFont typeface="Wingdings" panose="05000000000000000000" pitchFamily="2" charset="2"/>
              <a:buChar char="q"/>
            </a:pPr>
            <a:r>
              <a:rPr lang="en-PK" sz="900" dirty="0"/>
              <a:t>R1(config-if)# ip nat inside</a:t>
            </a:r>
          </a:p>
          <a:p>
            <a:pPr marL="285750" indent="-285750">
              <a:buFont typeface="Wingdings" panose="05000000000000000000" pitchFamily="2" charset="2"/>
              <a:buChar char="q"/>
            </a:pPr>
            <a:r>
              <a:rPr lang="en-PK" sz="900" dirty="0"/>
              <a:t>R1(config-if)# exit</a:t>
            </a:r>
          </a:p>
          <a:p>
            <a:pPr marL="285750" indent="-285750">
              <a:buFont typeface="Wingdings" panose="05000000000000000000" pitchFamily="2" charset="2"/>
              <a:buChar char="q"/>
            </a:pPr>
            <a:endParaRPr lang="en-PK" sz="900" dirty="0"/>
          </a:p>
          <a:p>
            <a:pPr marL="285750" indent="-285750">
              <a:buFont typeface="Wingdings" panose="05000000000000000000" pitchFamily="2" charset="2"/>
              <a:buChar char="q"/>
            </a:pPr>
            <a:r>
              <a:rPr lang="en-PK" sz="900" dirty="0"/>
              <a:t>R1(config)# interface s0/0</a:t>
            </a:r>
          </a:p>
          <a:p>
            <a:pPr marL="285750" indent="-285750">
              <a:buFont typeface="Wingdings" panose="05000000000000000000" pitchFamily="2" charset="2"/>
              <a:buChar char="q"/>
            </a:pPr>
            <a:r>
              <a:rPr lang="en-PK" sz="900" dirty="0"/>
              <a:t>R1(config-if)# ip nat outside</a:t>
            </a:r>
          </a:p>
          <a:p>
            <a:pPr marL="285750" indent="-285750">
              <a:buFont typeface="Wingdings" panose="05000000000000000000" pitchFamily="2" charset="2"/>
              <a:buChar char="q"/>
            </a:pPr>
            <a:r>
              <a:rPr lang="en-PK" sz="900" dirty="0"/>
              <a:t>R1(config-if)# exit</a:t>
            </a:r>
            <a:endParaRPr lang="en-US" sz="900" dirty="0"/>
          </a:p>
          <a:p>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endParaRPr lang="en-US" sz="900" dirty="0"/>
          </a:p>
        </p:txBody>
      </p:sp>
      <p:sp>
        <p:nvSpPr>
          <p:cNvPr id="12" name="TextBox 11">
            <a:extLst>
              <a:ext uri="{FF2B5EF4-FFF2-40B4-BE49-F238E27FC236}">
                <a16:creationId xmlns:a16="http://schemas.microsoft.com/office/drawing/2014/main" id="{8980ABCE-3C0B-1316-97EA-11E74DA51874}"/>
              </a:ext>
            </a:extLst>
          </p:cNvPr>
          <p:cNvSpPr txBox="1"/>
          <p:nvPr/>
        </p:nvSpPr>
        <p:spPr>
          <a:xfrm>
            <a:off x="250039" y="674378"/>
            <a:ext cx="4172423" cy="2215991"/>
          </a:xfrm>
          <a:prstGeom prst="rect">
            <a:avLst/>
          </a:prstGeom>
          <a:noFill/>
        </p:spPr>
        <p:txBody>
          <a:bodyPr wrap="square">
            <a:spAutoFit/>
          </a:bodyPr>
          <a:lstStyle/>
          <a:p>
            <a:r>
              <a:rPr lang="en-US" sz="1200" dirty="0">
                <a:highlight>
                  <a:srgbClr val="00FFFF"/>
                </a:highlight>
              </a:rPr>
              <a:t>R1</a:t>
            </a:r>
          </a:p>
          <a:p>
            <a:pPr marL="285750" indent="-285750">
              <a:buFont typeface="Wingdings" panose="05000000000000000000" pitchFamily="2" charset="2"/>
              <a:buChar char="q"/>
            </a:pPr>
            <a:r>
              <a:rPr lang="en-PK" sz="900" dirty="0"/>
              <a:t>R1(config)# interface fa0/0</a:t>
            </a:r>
          </a:p>
          <a:p>
            <a:pPr marL="285750" indent="-285750">
              <a:buFont typeface="Wingdings" panose="05000000000000000000" pitchFamily="2" charset="2"/>
              <a:buChar char="q"/>
            </a:pPr>
            <a:r>
              <a:rPr lang="en-PK" sz="900" dirty="0"/>
              <a:t>R1(config-if)# ip </a:t>
            </a:r>
            <a:r>
              <a:rPr lang="en-US" sz="900" dirty="0"/>
              <a:t> address 200.100.50.100  255.255.255.0</a:t>
            </a:r>
            <a:endParaRPr lang="en-PK" sz="900" dirty="0"/>
          </a:p>
          <a:p>
            <a:pPr marL="285750" indent="-285750">
              <a:buFont typeface="Wingdings" panose="05000000000000000000" pitchFamily="2" charset="2"/>
              <a:buChar char="q"/>
            </a:pPr>
            <a:r>
              <a:rPr lang="en-PK" sz="900" dirty="0"/>
              <a:t>R1(config-if)# </a:t>
            </a:r>
            <a:r>
              <a:rPr lang="en-US" sz="900" dirty="0"/>
              <a:t>no shutdown</a:t>
            </a:r>
            <a:endParaRPr lang="en-PK" sz="900" dirty="0"/>
          </a:p>
          <a:p>
            <a:pPr marL="285750" indent="-285750">
              <a:buFont typeface="Wingdings" panose="05000000000000000000" pitchFamily="2" charset="2"/>
              <a:buChar char="q"/>
            </a:pPr>
            <a:r>
              <a:rPr lang="en-PK" sz="900" dirty="0"/>
              <a:t>R1(config-if)# </a:t>
            </a:r>
            <a:r>
              <a:rPr lang="en-US" sz="900" dirty="0"/>
              <a:t>exit</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R1(config)# interface s0/0</a:t>
            </a:r>
          </a:p>
          <a:p>
            <a:pPr marL="285750" indent="-285750">
              <a:buFont typeface="Wingdings" panose="05000000000000000000" pitchFamily="2" charset="2"/>
              <a:buChar char="q"/>
            </a:pPr>
            <a:r>
              <a:rPr lang="en-US" sz="900" dirty="0"/>
              <a:t>R1(config-if)# ip address 1.1.1.1  255.0.0.0</a:t>
            </a:r>
          </a:p>
          <a:p>
            <a:pPr marL="285750" indent="-285750">
              <a:buFont typeface="Wingdings" panose="05000000000000000000" pitchFamily="2" charset="2"/>
              <a:buChar char="q"/>
            </a:pPr>
            <a:r>
              <a:rPr lang="en-US" sz="900" dirty="0"/>
              <a:t>R1(config-if)# no shutdown</a:t>
            </a:r>
          </a:p>
          <a:p>
            <a:pPr marL="285750" indent="-285750">
              <a:buFont typeface="Wingdings" panose="05000000000000000000" pitchFamily="2" charset="2"/>
              <a:buChar char="q"/>
            </a:pPr>
            <a:r>
              <a:rPr lang="en-US" sz="900" dirty="0"/>
              <a:t>R1(config-if)# exit</a:t>
            </a:r>
          </a:p>
          <a:p>
            <a:pPr marL="285750" indent="-285750">
              <a:buFont typeface="Wingdings" panose="05000000000000000000" pitchFamily="2" charset="2"/>
              <a:buChar char="q"/>
            </a:pPr>
            <a:endParaRPr lang="en-PK" sz="900" dirty="0"/>
          </a:p>
          <a:p>
            <a:pPr marL="285750" indent="-285750">
              <a:buFont typeface="Wingdings" panose="05000000000000000000" pitchFamily="2" charset="2"/>
              <a:buChar char="q"/>
            </a:pPr>
            <a:r>
              <a:rPr lang="en-PK" sz="900" dirty="0"/>
              <a:t>R1(config)# </a:t>
            </a:r>
            <a:r>
              <a:rPr lang="en-US" sz="900" dirty="0"/>
              <a:t>router rip</a:t>
            </a:r>
          </a:p>
          <a:p>
            <a:pPr marL="285750" indent="-285750">
              <a:buFont typeface="Wingdings" panose="05000000000000000000" pitchFamily="2" charset="2"/>
              <a:buChar char="q"/>
            </a:pPr>
            <a:r>
              <a:rPr lang="en-PK" sz="900" dirty="0"/>
              <a:t>R1(config)# </a:t>
            </a:r>
            <a:r>
              <a:rPr lang="en-US" sz="900" dirty="0"/>
              <a:t>network 200.100.50.0</a:t>
            </a:r>
          </a:p>
          <a:p>
            <a:pPr marL="285750" indent="-285750">
              <a:buFont typeface="Wingdings" panose="05000000000000000000" pitchFamily="2" charset="2"/>
              <a:buChar char="q"/>
            </a:pPr>
            <a:r>
              <a:rPr lang="en-PK" sz="900" dirty="0"/>
              <a:t>R1(config)# </a:t>
            </a:r>
            <a:r>
              <a:rPr lang="en-US" sz="900" dirty="0"/>
              <a:t>network 1.0.0.0</a:t>
            </a:r>
            <a:endParaRPr lang="en-PK" sz="900" dirty="0"/>
          </a:p>
          <a:p>
            <a:pPr marL="285750" indent="-285750">
              <a:buFont typeface="Wingdings" panose="05000000000000000000" pitchFamily="2" charset="2"/>
              <a:buChar char="q"/>
            </a:pPr>
            <a:r>
              <a:rPr lang="en-PK" sz="900" dirty="0"/>
              <a:t>R1(config-if)# exit</a:t>
            </a:r>
            <a:endParaRPr lang="en-US" sz="900" dirty="0"/>
          </a:p>
        </p:txBody>
      </p:sp>
      <p:sp>
        <p:nvSpPr>
          <p:cNvPr id="14" name="TextBox 13">
            <a:extLst>
              <a:ext uri="{FF2B5EF4-FFF2-40B4-BE49-F238E27FC236}">
                <a16:creationId xmlns:a16="http://schemas.microsoft.com/office/drawing/2014/main" id="{3B09676E-BDC1-BFA8-BFE2-B9AF1041784C}"/>
              </a:ext>
            </a:extLst>
          </p:cNvPr>
          <p:cNvSpPr txBox="1"/>
          <p:nvPr/>
        </p:nvSpPr>
        <p:spPr>
          <a:xfrm>
            <a:off x="3877733" y="3710642"/>
            <a:ext cx="4248821" cy="307777"/>
          </a:xfrm>
          <a:prstGeom prst="rect">
            <a:avLst/>
          </a:prstGeom>
          <a:noFill/>
        </p:spPr>
        <p:txBody>
          <a:bodyPr wrap="square">
            <a:spAutoFit/>
          </a:bodyPr>
          <a:lstStyle/>
          <a:p>
            <a:r>
              <a:rPr lang="en-US" b="1" dirty="0"/>
              <a:t>R1# show ip nat translations              </a:t>
            </a:r>
            <a:r>
              <a:rPr lang="en-US" dirty="0">
                <a:highlight>
                  <a:srgbClr val="00FF00"/>
                </a:highlight>
              </a:rPr>
              <a:t>Result </a:t>
            </a:r>
          </a:p>
        </p:txBody>
      </p:sp>
      <p:sp>
        <p:nvSpPr>
          <p:cNvPr id="16" name="Arrow: Right 15">
            <a:extLst>
              <a:ext uri="{FF2B5EF4-FFF2-40B4-BE49-F238E27FC236}">
                <a16:creationId xmlns:a16="http://schemas.microsoft.com/office/drawing/2014/main" id="{3D6B4A7A-B952-8193-16AC-B68AA4A63890}"/>
              </a:ext>
            </a:extLst>
          </p:cNvPr>
          <p:cNvSpPr/>
          <p:nvPr/>
        </p:nvSpPr>
        <p:spPr>
          <a:xfrm>
            <a:off x="6517753" y="3841670"/>
            <a:ext cx="364067" cy="45719"/>
          </a:xfrm>
          <a:prstGeom prst="rightArrow">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3805103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BAE73-61B4-5C2D-DFC1-18D500C756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4CA481-F6CC-33F6-292D-E672896BA711}"/>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8D79453-3998-082A-0D1B-5E3DB72EA18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3DF5FE4-DF67-1D2A-DBD4-007926DB375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C1861F9-3B6A-7797-992B-1798FA0C93B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F9F7BC09-3498-6933-93E1-70D663A684C3}"/>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2E5FC87B-8834-F00D-AA90-A3742AB77743}"/>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63089CA1-6B6F-EB33-A9F5-00E4E0D62242}"/>
              </a:ext>
            </a:extLst>
          </p:cNvPr>
          <p:cNvSpPr txBox="1"/>
          <p:nvPr/>
        </p:nvSpPr>
        <p:spPr>
          <a:xfrm>
            <a:off x="255938" y="460170"/>
            <a:ext cx="8195937" cy="523220"/>
          </a:xfrm>
          <a:prstGeom prst="rect">
            <a:avLst/>
          </a:prstGeom>
          <a:noFill/>
        </p:spPr>
        <p:txBody>
          <a:bodyPr wrap="square">
            <a:spAutoFit/>
          </a:bodyPr>
          <a:lstStyle/>
          <a:p>
            <a:endParaRPr lang="en-US" sz="1600" b="1" dirty="0">
              <a:solidFill>
                <a:srgbClr val="403CCF"/>
              </a:solidFill>
              <a:latin typeface="Libre Baskerville" pitchFamily="34" charset="0"/>
            </a:endParaRPr>
          </a:p>
          <a:p>
            <a:endParaRPr lang="en-US" sz="1200" dirty="0"/>
          </a:p>
        </p:txBody>
      </p:sp>
      <p:sp>
        <p:nvSpPr>
          <p:cNvPr id="5" name="Rectangle 4">
            <a:extLst>
              <a:ext uri="{FF2B5EF4-FFF2-40B4-BE49-F238E27FC236}">
                <a16:creationId xmlns:a16="http://schemas.microsoft.com/office/drawing/2014/main" id="{9B6F38C2-7C57-05DF-D0E0-88689AE91890}"/>
              </a:ext>
            </a:extLst>
          </p:cNvPr>
          <p:cNvSpPr/>
          <p:nvPr/>
        </p:nvSpPr>
        <p:spPr>
          <a:xfrm>
            <a:off x="-55558" y="1518300"/>
            <a:ext cx="8703439" cy="1938992"/>
          </a:xfrm>
          <a:prstGeom prst="rect">
            <a:avLst/>
          </a:prstGeom>
          <a:noFill/>
        </p:spPr>
        <p:txBody>
          <a:bodyPr wrap="squar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latin typeface="Libre Baskerville" pitchFamily="34" charset="0"/>
              </a:rPr>
              <a:t>Dynamic NAT Configuration</a:t>
            </a:r>
          </a:p>
          <a:p>
            <a:pPr algn="ctr"/>
            <a:r>
              <a:rPr lang="en-US" sz="1200" b="1" dirty="0"/>
              <a:t>Using a NAT Pool (Custom Public IP Range)</a:t>
            </a:r>
          </a:p>
        </p:txBody>
      </p:sp>
    </p:spTree>
    <p:extLst>
      <p:ext uri="{BB962C8B-B14F-4D97-AF65-F5344CB8AC3E}">
        <p14:creationId xmlns:p14="http://schemas.microsoft.com/office/powerpoint/2010/main" val="843795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06F71-4FB6-B2F5-F931-AEE31AE760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644267-0F34-DE5B-7DE4-238A191BE71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93E2153B-59F8-506B-635B-BC5DAA54E0CF}"/>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2FDE5AB-C853-00A5-E7B0-1B0DD43D445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7B809DC-6327-1DC5-CE81-C6FF9F56396A}"/>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9E74DA3-0740-AEAF-3892-FB687C0343B5}"/>
              </a:ext>
            </a:extLst>
          </p:cNvPr>
          <p:cNvSpPr txBox="1"/>
          <p:nvPr/>
        </p:nvSpPr>
        <p:spPr>
          <a:xfrm>
            <a:off x="2726413" y="63307"/>
            <a:ext cx="4309387" cy="400110"/>
          </a:xfrm>
          <a:prstGeom prst="rect">
            <a:avLst/>
          </a:prstGeom>
          <a:noFill/>
        </p:spPr>
        <p:txBody>
          <a:bodyPr wrap="square">
            <a:spAutoFit/>
          </a:bodyPr>
          <a:lstStyle/>
          <a:p>
            <a:r>
              <a:rPr lang="en-US" sz="2000" b="1" dirty="0">
                <a:solidFill>
                  <a:srgbClr val="403CCF"/>
                </a:solidFill>
                <a:latin typeface="Libre Baskerville" pitchFamily="34" charset="0"/>
              </a:rPr>
              <a:t>Dynamic NAT Configuration</a:t>
            </a:r>
          </a:p>
        </p:txBody>
      </p:sp>
      <p:sp>
        <p:nvSpPr>
          <p:cNvPr id="17" name="TextBox 16">
            <a:extLst>
              <a:ext uri="{FF2B5EF4-FFF2-40B4-BE49-F238E27FC236}">
                <a16:creationId xmlns:a16="http://schemas.microsoft.com/office/drawing/2014/main" id="{4E6F1C9E-B4C7-4515-1BE7-ED5D2A5F3044}"/>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A72B0120-2A3C-5ECC-A92B-153521AE37AF}"/>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8DAB9939-64AE-E8FB-B6F4-0A7C19033525}"/>
              </a:ext>
            </a:extLst>
          </p:cNvPr>
          <p:cNvSpPr txBox="1"/>
          <p:nvPr/>
        </p:nvSpPr>
        <p:spPr>
          <a:xfrm>
            <a:off x="255938" y="460170"/>
            <a:ext cx="8195937" cy="523220"/>
          </a:xfrm>
          <a:prstGeom prst="rect">
            <a:avLst/>
          </a:prstGeom>
          <a:noFill/>
        </p:spPr>
        <p:txBody>
          <a:bodyPr wrap="square">
            <a:spAutoFit/>
          </a:bodyPr>
          <a:lstStyle/>
          <a:p>
            <a:r>
              <a:rPr lang="en-US" sz="1600" b="1" dirty="0">
                <a:solidFill>
                  <a:srgbClr val="403CCF"/>
                </a:solidFill>
                <a:latin typeface="Libre Baskerville" pitchFamily="34" charset="0"/>
              </a:rPr>
              <a:t>Network Diagram </a:t>
            </a:r>
          </a:p>
          <a:p>
            <a:endParaRPr lang="en-US" sz="1200" dirty="0"/>
          </a:p>
        </p:txBody>
      </p:sp>
      <p:sp>
        <p:nvSpPr>
          <p:cNvPr id="8" name="TextBox 7">
            <a:extLst>
              <a:ext uri="{FF2B5EF4-FFF2-40B4-BE49-F238E27FC236}">
                <a16:creationId xmlns:a16="http://schemas.microsoft.com/office/drawing/2014/main" id="{FA750113-067E-A2BF-F1DE-4059AC693780}"/>
              </a:ext>
            </a:extLst>
          </p:cNvPr>
          <p:cNvSpPr txBox="1"/>
          <p:nvPr/>
        </p:nvSpPr>
        <p:spPr>
          <a:xfrm>
            <a:off x="381819" y="3205302"/>
            <a:ext cx="7813914" cy="1661993"/>
          </a:xfrm>
          <a:prstGeom prst="rect">
            <a:avLst/>
          </a:prstGeom>
          <a:noFill/>
        </p:spPr>
        <p:txBody>
          <a:bodyPr wrap="square">
            <a:spAutoFit/>
          </a:bodyPr>
          <a:lstStyle/>
          <a:p>
            <a:endParaRPr lang="en-US" sz="1600" b="1" dirty="0">
              <a:solidFill>
                <a:srgbClr val="403CCF"/>
              </a:solidFill>
              <a:latin typeface="Libre Baskerville" pitchFamily="34" charset="0"/>
            </a:endParaRPr>
          </a:p>
          <a:p>
            <a:r>
              <a:rPr lang="en-US" sz="1600" b="1" dirty="0">
                <a:solidFill>
                  <a:srgbClr val="403CCF"/>
                </a:solidFill>
                <a:latin typeface="Libre Baskerville" pitchFamily="34" charset="0"/>
              </a:rPr>
              <a:t>Steps to Apply Dynamic NAT:</a:t>
            </a:r>
          </a:p>
          <a:p>
            <a:endParaRPr lang="en-US" dirty="0"/>
          </a:p>
          <a:p>
            <a:r>
              <a:rPr lang="en-US" sz="1400" dirty="0"/>
              <a:t>First, we need to do basic configuration, </a:t>
            </a:r>
            <a:r>
              <a:rPr lang="en-US" dirty="0"/>
              <a:t>Configure routing  p</a:t>
            </a:r>
            <a:r>
              <a:rPr lang="en-US" sz="1400" dirty="0"/>
              <a:t>rotocol static or dynamic </a:t>
            </a:r>
          </a:p>
          <a:p>
            <a:pPr marL="342900" indent="-342900">
              <a:buAutoNum type="arabicParenR"/>
            </a:pPr>
            <a:r>
              <a:rPr lang="en-US" dirty="0"/>
              <a:t>Define Pool, Pool Name, Access List</a:t>
            </a:r>
          </a:p>
          <a:p>
            <a:pPr marL="342900" indent="-342900">
              <a:buAutoNum type="arabicParenR"/>
            </a:pPr>
            <a:r>
              <a:rPr lang="en-US" dirty="0"/>
              <a:t>Implement NAT at interface level</a:t>
            </a:r>
          </a:p>
          <a:p>
            <a:endParaRPr lang="en-US" dirty="0"/>
          </a:p>
        </p:txBody>
      </p:sp>
      <p:pic>
        <p:nvPicPr>
          <p:cNvPr id="14" name="Picture 13">
            <a:extLst>
              <a:ext uri="{FF2B5EF4-FFF2-40B4-BE49-F238E27FC236}">
                <a16:creationId xmlns:a16="http://schemas.microsoft.com/office/drawing/2014/main" id="{59A54FD6-B843-C433-0001-7EF7A814E6A2}"/>
              </a:ext>
            </a:extLst>
          </p:cNvPr>
          <p:cNvPicPr>
            <a:picLocks noChangeAspect="1"/>
          </p:cNvPicPr>
          <p:nvPr/>
        </p:nvPicPr>
        <p:blipFill>
          <a:blip r:embed="rId3"/>
          <a:stretch>
            <a:fillRect/>
          </a:stretch>
        </p:blipFill>
        <p:spPr>
          <a:xfrm>
            <a:off x="496118" y="860280"/>
            <a:ext cx="8151763" cy="2568200"/>
          </a:xfrm>
          <a:prstGeom prst="rect">
            <a:avLst/>
          </a:prstGeom>
        </p:spPr>
      </p:pic>
    </p:spTree>
    <p:extLst>
      <p:ext uri="{BB962C8B-B14F-4D97-AF65-F5344CB8AC3E}">
        <p14:creationId xmlns:p14="http://schemas.microsoft.com/office/powerpoint/2010/main" val="3527050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78963-D763-61D3-B281-B198CE9FE9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31B0D7-BA1D-5168-027F-EA7A1BD76A1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F5822FE7-3CED-E73E-8D25-86B456AAAD6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626A3C8-4690-7123-2FAA-C72041ADCA8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A144DAF-2A24-F323-E3AA-EED31BEF1238}"/>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8FFE482-CB56-703B-3023-BE7726B739ED}"/>
              </a:ext>
            </a:extLst>
          </p:cNvPr>
          <p:cNvSpPr txBox="1"/>
          <p:nvPr/>
        </p:nvSpPr>
        <p:spPr>
          <a:xfrm>
            <a:off x="2726413" y="63307"/>
            <a:ext cx="4614187" cy="400110"/>
          </a:xfrm>
          <a:prstGeom prst="rect">
            <a:avLst/>
          </a:prstGeom>
          <a:noFill/>
        </p:spPr>
        <p:txBody>
          <a:bodyPr wrap="square">
            <a:spAutoFit/>
          </a:bodyPr>
          <a:lstStyle/>
          <a:p>
            <a:r>
              <a:rPr lang="en-US" sz="2000" b="1" dirty="0">
                <a:solidFill>
                  <a:srgbClr val="403CCF"/>
                </a:solidFill>
                <a:latin typeface="Libre Baskerville" pitchFamily="34" charset="0"/>
              </a:rPr>
              <a:t>Dynamic NAT Configuration</a:t>
            </a:r>
          </a:p>
        </p:txBody>
      </p:sp>
      <p:sp>
        <p:nvSpPr>
          <p:cNvPr id="17" name="TextBox 16">
            <a:extLst>
              <a:ext uri="{FF2B5EF4-FFF2-40B4-BE49-F238E27FC236}">
                <a16:creationId xmlns:a16="http://schemas.microsoft.com/office/drawing/2014/main" id="{26D63875-60F9-0AE1-1AD3-56BA1245FF4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6E6B4D2F-E4F2-87DD-9D7C-14F022702D4F}"/>
              </a:ext>
            </a:extLst>
          </p:cNvPr>
          <p:cNvSpPr txBox="1"/>
          <p:nvPr/>
        </p:nvSpPr>
        <p:spPr>
          <a:xfrm>
            <a:off x="538454" y="814156"/>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B1C93F3D-CAEA-2D5D-A6A0-CE0ED50099A1}"/>
              </a:ext>
            </a:extLst>
          </p:cNvPr>
          <p:cNvSpPr txBox="1"/>
          <p:nvPr/>
        </p:nvSpPr>
        <p:spPr>
          <a:xfrm>
            <a:off x="255938" y="460170"/>
            <a:ext cx="8195937" cy="338554"/>
          </a:xfrm>
          <a:prstGeom prst="rect">
            <a:avLst/>
          </a:prstGeom>
          <a:noFill/>
        </p:spPr>
        <p:txBody>
          <a:bodyPr wrap="square">
            <a:spAutoFit/>
          </a:bodyPr>
          <a:lstStyle/>
          <a:p>
            <a:r>
              <a:rPr lang="en-US" sz="1600" b="1" dirty="0">
                <a:solidFill>
                  <a:srgbClr val="403CCF"/>
                </a:solidFill>
                <a:latin typeface="Libre Baskerville" pitchFamily="34" charset="0"/>
              </a:rPr>
              <a:t>Configuration:</a:t>
            </a:r>
          </a:p>
        </p:txBody>
      </p:sp>
      <p:sp>
        <p:nvSpPr>
          <p:cNvPr id="8" name="TextBox 7">
            <a:extLst>
              <a:ext uri="{FF2B5EF4-FFF2-40B4-BE49-F238E27FC236}">
                <a16:creationId xmlns:a16="http://schemas.microsoft.com/office/drawing/2014/main" id="{A1A90EE9-215F-4CF5-7DE5-1F1BB6BF46C4}"/>
              </a:ext>
            </a:extLst>
          </p:cNvPr>
          <p:cNvSpPr txBox="1"/>
          <p:nvPr/>
        </p:nvSpPr>
        <p:spPr>
          <a:xfrm>
            <a:off x="80517" y="967914"/>
            <a:ext cx="4375329" cy="3046988"/>
          </a:xfrm>
          <a:prstGeom prst="rect">
            <a:avLst/>
          </a:prstGeom>
          <a:noFill/>
        </p:spPr>
        <p:txBody>
          <a:bodyPr wrap="square">
            <a:spAutoFit/>
          </a:bodyPr>
          <a:lstStyle/>
          <a:p>
            <a:r>
              <a:rPr lang="en-US" sz="1200" dirty="0">
                <a:highlight>
                  <a:srgbClr val="00FFFF"/>
                </a:highlight>
              </a:rPr>
              <a:t>R1</a:t>
            </a:r>
          </a:p>
          <a:p>
            <a:pPr marL="285750" indent="-285750">
              <a:buFont typeface="Wingdings" panose="05000000000000000000" pitchFamily="2" charset="2"/>
              <a:buChar char="q"/>
            </a:pPr>
            <a:r>
              <a:rPr lang="en-PK" sz="1200" dirty="0"/>
              <a:t>R1(config)# interface fa0/0</a:t>
            </a:r>
          </a:p>
          <a:p>
            <a:pPr marL="285750" indent="-285750">
              <a:buFont typeface="Wingdings" panose="05000000000000000000" pitchFamily="2" charset="2"/>
              <a:buChar char="q"/>
            </a:pPr>
            <a:r>
              <a:rPr lang="en-PK" sz="1200" dirty="0"/>
              <a:t>R1(config-if)# ip </a:t>
            </a:r>
            <a:r>
              <a:rPr lang="en-US" sz="1200" dirty="0"/>
              <a:t>address 200.100.50.100  255.255.255.0</a:t>
            </a:r>
            <a:endParaRPr lang="en-PK" sz="1200" dirty="0"/>
          </a:p>
          <a:p>
            <a:pPr marL="285750" indent="-285750">
              <a:buFont typeface="Wingdings" panose="05000000000000000000" pitchFamily="2" charset="2"/>
              <a:buChar char="q"/>
            </a:pPr>
            <a:r>
              <a:rPr lang="en-PK" sz="1200" dirty="0"/>
              <a:t>R1(config-if)# </a:t>
            </a:r>
            <a:r>
              <a:rPr lang="en-US" sz="1200" dirty="0"/>
              <a:t>no shutdown</a:t>
            </a:r>
          </a:p>
          <a:p>
            <a:pPr marL="285750" indent="-285750">
              <a:buFont typeface="Wingdings" panose="05000000000000000000" pitchFamily="2" charset="2"/>
              <a:buChar char="q"/>
            </a:pPr>
            <a:r>
              <a:rPr lang="en-PK" sz="1200" dirty="0"/>
              <a:t>R1(config-if)# </a:t>
            </a:r>
            <a:r>
              <a:rPr lang="en-US" sz="1200" dirty="0"/>
              <a:t>exit</a:t>
            </a:r>
          </a:p>
          <a:p>
            <a:pPr marL="285750" indent="-285750">
              <a:buFont typeface="Wingdings" panose="05000000000000000000" pitchFamily="2" charset="2"/>
              <a:buChar char="q"/>
            </a:pPr>
            <a:endParaRPr lang="en-US" sz="1200" dirty="0"/>
          </a:p>
          <a:p>
            <a:pPr marL="285750" indent="-285750">
              <a:buFont typeface="Wingdings" panose="05000000000000000000" pitchFamily="2" charset="2"/>
              <a:buChar char="q"/>
            </a:pPr>
            <a:r>
              <a:rPr lang="en-PK" sz="1200" dirty="0"/>
              <a:t>R1(config)# interface </a:t>
            </a:r>
            <a:r>
              <a:rPr lang="en-US" sz="1200" dirty="0"/>
              <a:t>s</a:t>
            </a:r>
            <a:r>
              <a:rPr lang="en-PK" sz="1200" dirty="0"/>
              <a:t>0/0</a:t>
            </a:r>
          </a:p>
          <a:p>
            <a:pPr marL="285750" indent="-285750">
              <a:buFont typeface="Wingdings" panose="05000000000000000000" pitchFamily="2" charset="2"/>
              <a:buChar char="q"/>
            </a:pPr>
            <a:r>
              <a:rPr lang="en-PK" sz="1200" dirty="0"/>
              <a:t>R1(config-if)# ip </a:t>
            </a:r>
            <a:r>
              <a:rPr lang="en-US" sz="1200" dirty="0"/>
              <a:t>address 1.1.1.1  255.0.0.0</a:t>
            </a:r>
            <a:endParaRPr lang="en-PK" sz="1200" dirty="0"/>
          </a:p>
          <a:p>
            <a:pPr marL="285750" indent="-285750">
              <a:buFont typeface="Wingdings" panose="05000000000000000000" pitchFamily="2" charset="2"/>
              <a:buChar char="q"/>
            </a:pPr>
            <a:r>
              <a:rPr lang="en-PK" sz="1200" dirty="0"/>
              <a:t>R1(config-if)# </a:t>
            </a:r>
            <a:r>
              <a:rPr lang="en-US" sz="1200" dirty="0"/>
              <a:t>no shutdown</a:t>
            </a:r>
          </a:p>
          <a:p>
            <a:pPr marL="285750" indent="-285750">
              <a:buFont typeface="Wingdings" panose="05000000000000000000" pitchFamily="2" charset="2"/>
              <a:buChar char="q"/>
            </a:pPr>
            <a:r>
              <a:rPr lang="en-PK" sz="1200" dirty="0"/>
              <a:t>R1(config-if)# </a:t>
            </a:r>
            <a:r>
              <a:rPr lang="en-US" sz="1200" dirty="0"/>
              <a:t>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R1(config)# </a:t>
            </a:r>
            <a:r>
              <a:rPr lang="en-US" sz="1200" dirty="0"/>
              <a:t>router rip</a:t>
            </a:r>
          </a:p>
          <a:p>
            <a:pPr marL="285750" indent="-285750">
              <a:buFont typeface="Wingdings" panose="05000000000000000000" pitchFamily="2" charset="2"/>
              <a:buChar char="q"/>
            </a:pPr>
            <a:r>
              <a:rPr lang="en-PK" sz="1200" dirty="0"/>
              <a:t>R1(config)# </a:t>
            </a:r>
            <a:r>
              <a:rPr lang="en-US" sz="1200" dirty="0"/>
              <a:t>network  200.100.50.0</a:t>
            </a:r>
          </a:p>
          <a:p>
            <a:pPr marL="285750" indent="-285750">
              <a:buFont typeface="Wingdings" panose="05000000000000000000" pitchFamily="2" charset="2"/>
              <a:buChar char="q"/>
            </a:pPr>
            <a:r>
              <a:rPr lang="en-PK" sz="1200" dirty="0"/>
              <a:t>R1(config)# </a:t>
            </a:r>
            <a:r>
              <a:rPr lang="en-US" sz="1200" dirty="0"/>
              <a:t>network  1.0.0.0</a:t>
            </a:r>
            <a:endParaRPr lang="en-PK" sz="1200" dirty="0"/>
          </a:p>
          <a:p>
            <a:pPr marL="285750" indent="-285750">
              <a:buFont typeface="Wingdings" panose="05000000000000000000" pitchFamily="2" charset="2"/>
              <a:buChar char="q"/>
            </a:pPr>
            <a:r>
              <a:rPr lang="en-PK" sz="1200" dirty="0"/>
              <a:t>R1(config-if)# exit</a:t>
            </a:r>
          </a:p>
        </p:txBody>
      </p:sp>
      <p:sp>
        <p:nvSpPr>
          <p:cNvPr id="11" name="TextBox 10">
            <a:extLst>
              <a:ext uri="{FF2B5EF4-FFF2-40B4-BE49-F238E27FC236}">
                <a16:creationId xmlns:a16="http://schemas.microsoft.com/office/drawing/2014/main" id="{DF6CB0C8-4449-0D73-BBFB-A8A369F4E1B9}"/>
              </a:ext>
            </a:extLst>
          </p:cNvPr>
          <p:cNvSpPr txBox="1"/>
          <p:nvPr/>
        </p:nvSpPr>
        <p:spPr>
          <a:xfrm>
            <a:off x="4572000" y="967914"/>
            <a:ext cx="4572000" cy="3046988"/>
          </a:xfrm>
          <a:prstGeom prst="rect">
            <a:avLst/>
          </a:prstGeom>
          <a:noFill/>
        </p:spPr>
        <p:txBody>
          <a:bodyPr wrap="square">
            <a:spAutoFit/>
          </a:bodyPr>
          <a:lstStyle/>
          <a:p>
            <a:r>
              <a:rPr lang="en-US" sz="1200" dirty="0">
                <a:highlight>
                  <a:srgbClr val="00FFFF"/>
                </a:highlight>
              </a:rPr>
              <a:t>R2</a:t>
            </a:r>
          </a:p>
          <a:p>
            <a:pPr marL="285750" indent="-285750">
              <a:buFont typeface="Wingdings" panose="05000000000000000000" pitchFamily="2" charset="2"/>
              <a:buChar char="q"/>
            </a:pPr>
            <a:r>
              <a:rPr lang="en-PK" sz="1200" dirty="0"/>
              <a:t>R</a:t>
            </a:r>
            <a:r>
              <a:rPr lang="en-US" sz="1200" dirty="0"/>
              <a:t>2</a:t>
            </a:r>
            <a:r>
              <a:rPr lang="en-PK" sz="1200" dirty="0"/>
              <a:t>(config)# interface fa0/0</a:t>
            </a:r>
          </a:p>
          <a:p>
            <a:pPr marL="285750" indent="-285750">
              <a:buFont typeface="Wingdings" panose="05000000000000000000" pitchFamily="2" charset="2"/>
              <a:buChar char="q"/>
            </a:pPr>
            <a:r>
              <a:rPr lang="en-PK" sz="1200" dirty="0"/>
              <a:t>R</a:t>
            </a:r>
            <a:r>
              <a:rPr lang="en-US" sz="1200" dirty="0"/>
              <a:t>2</a:t>
            </a:r>
            <a:r>
              <a:rPr lang="en-PK" sz="1200" dirty="0"/>
              <a:t>(config-if)# ip </a:t>
            </a:r>
            <a:r>
              <a:rPr lang="en-US" sz="1200" dirty="0"/>
              <a:t>address 200.100.100.100  255.255.255.0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no shutdown</a:t>
            </a:r>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exit</a:t>
            </a:r>
          </a:p>
          <a:p>
            <a:endParaRPr lang="en-US" sz="1200" dirty="0"/>
          </a:p>
          <a:p>
            <a:pPr marL="285750" indent="-285750">
              <a:buFont typeface="Wingdings" panose="05000000000000000000" pitchFamily="2" charset="2"/>
              <a:buChar char="q"/>
            </a:pPr>
            <a:r>
              <a:rPr lang="en-PK" sz="1200" dirty="0"/>
              <a:t>R</a:t>
            </a:r>
            <a:r>
              <a:rPr lang="en-US" sz="1200" dirty="0"/>
              <a:t>2</a:t>
            </a:r>
            <a:r>
              <a:rPr lang="en-PK" sz="1200" dirty="0"/>
              <a:t>(config)# interface </a:t>
            </a:r>
            <a:r>
              <a:rPr lang="en-US" sz="1200" dirty="0"/>
              <a:t>s</a:t>
            </a:r>
            <a:r>
              <a:rPr lang="en-PK" sz="1200" dirty="0"/>
              <a:t>0/0</a:t>
            </a:r>
          </a:p>
          <a:p>
            <a:pPr marL="285750" indent="-285750">
              <a:buFont typeface="Wingdings" panose="05000000000000000000" pitchFamily="2" charset="2"/>
              <a:buChar char="q"/>
            </a:pPr>
            <a:r>
              <a:rPr lang="en-PK" sz="1200" dirty="0"/>
              <a:t>R</a:t>
            </a:r>
            <a:r>
              <a:rPr lang="en-US" sz="1200" dirty="0"/>
              <a:t>2</a:t>
            </a:r>
            <a:r>
              <a:rPr lang="en-PK" sz="1200" dirty="0"/>
              <a:t>(config-if)# ip </a:t>
            </a:r>
            <a:r>
              <a:rPr lang="en-US" sz="1200" dirty="0"/>
              <a:t>address 1.1.1.2  255.0.0.0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no shutdown</a:t>
            </a:r>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router rip</a:t>
            </a:r>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network  200.100.100.0</a:t>
            </a:r>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network  1.0.0.0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exit</a:t>
            </a:r>
          </a:p>
        </p:txBody>
      </p:sp>
    </p:spTree>
    <p:extLst>
      <p:ext uri="{BB962C8B-B14F-4D97-AF65-F5344CB8AC3E}">
        <p14:creationId xmlns:p14="http://schemas.microsoft.com/office/powerpoint/2010/main" val="515766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38361-F49F-5902-AF4A-0F16C153C1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FE56516-8647-A6C5-AB9F-A354F5C1D1D5}"/>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3DFDAD72-BE10-F23B-AC92-AF8EB0A523A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0A4836B6-8883-8971-5A00-6BE129DB300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3EFA496-E4DD-AAEA-6352-FEC2FBA0F57C}"/>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2DC89B66-0A30-D8D5-CB75-5D1C7FC7612A}"/>
              </a:ext>
            </a:extLst>
          </p:cNvPr>
          <p:cNvSpPr txBox="1"/>
          <p:nvPr/>
        </p:nvSpPr>
        <p:spPr>
          <a:xfrm>
            <a:off x="2726413" y="63307"/>
            <a:ext cx="4648054" cy="400110"/>
          </a:xfrm>
          <a:prstGeom prst="rect">
            <a:avLst/>
          </a:prstGeom>
          <a:noFill/>
        </p:spPr>
        <p:txBody>
          <a:bodyPr wrap="square">
            <a:spAutoFit/>
          </a:bodyPr>
          <a:lstStyle/>
          <a:p>
            <a:r>
              <a:rPr lang="en-US" sz="2000" b="1" dirty="0">
                <a:solidFill>
                  <a:srgbClr val="403CCF"/>
                </a:solidFill>
                <a:latin typeface="Libre Baskerville" pitchFamily="34" charset="0"/>
              </a:rPr>
              <a:t>Dynamic NAT Configuration</a:t>
            </a:r>
          </a:p>
        </p:txBody>
      </p:sp>
      <p:sp>
        <p:nvSpPr>
          <p:cNvPr id="17" name="TextBox 16">
            <a:extLst>
              <a:ext uri="{FF2B5EF4-FFF2-40B4-BE49-F238E27FC236}">
                <a16:creationId xmlns:a16="http://schemas.microsoft.com/office/drawing/2014/main" id="{BA84B327-DDDA-11AD-C42D-693D26203C64}"/>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2C7F3EFC-DD9D-E604-1132-F55162DB985E}"/>
              </a:ext>
            </a:extLst>
          </p:cNvPr>
          <p:cNvSpPr txBox="1"/>
          <p:nvPr/>
        </p:nvSpPr>
        <p:spPr>
          <a:xfrm>
            <a:off x="255938" y="460170"/>
            <a:ext cx="8195937" cy="338554"/>
          </a:xfrm>
          <a:prstGeom prst="rect">
            <a:avLst/>
          </a:prstGeom>
          <a:noFill/>
        </p:spPr>
        <p:txBody>
          <a:bodyPr wrap="square">
            <a:spAutoFit/>
          </a:bodyPr>
          <a:lstStyle/>
          <a:p>
            <a:r>
              <a:rPr lang="en-US" sz="1600" b="1" dirty="0">
                <a:solidFill>
                  <a:srgbClr val="403CCF"/>
                </a:solidFill>
                <a:latin typeface="Libre Baskerville" pitchFamily="34" charset="0"/>
              </a:rPr>
              <a:t>Configuration:</a:t>
            </a:r>
          </a:p>
        </p:txBody>
      </p:sp>
      <p:sp>
        <p:nvSpPr>
          <p:cNvPr id="8" name="TextBox 7">
            <a:extLst>
              <a:ext uri="{FF2B5EF4-FFF2-40B4-BE49-F238E27FC236}">
                <a16:creationId xmlns:a16="http://schemas.microsoft.com/office/drawing/2014/main" id="{B3FA3994-9607-AD9F-D69E-12FF753348B3}"/>
              </a:ext>
            </a:extLst>
          </p:cNvPr>
          <p:cNvSpPr txBox="1"/>
          <p:nvPr/>
        </p:nvSpPr>
        <p:spPr>
          <a:xfrm>
            <a:off x="256616" y="3127939"/>
            <a:ext cx="4417662" cy="1600438"/>
          </a:xfrm>
          <a:prstGeom prst="rect">
            <a:avLst/>
          </a:prstGeom>
          <a:noFill/>
        </p:spPr>
        <p:txBody>
          <a:bodyPr wrap="square">
            <a:spAutoFit/>
          </a:bodyPr>
          <a:lstStyle/>
          <a:p>
            <a:r>
              <a:rPr lang="en-US" dirty="0">
                <a:highlight>
                  <a:srgbClr val="00FFFF"/>
                </a:highlight>
              </a:rPr>
              <a:t>Define NAT inside &amp; outside interfaces</a:t>
            </a:r>
          </a:p>
          <a:p>
            <a:pPr marL="285750" indent="-285750">
              <a:buFont typeface="Wingdings" panose="05000000000000000000" pitchFamily="2" charset="2"/>
              <a:buChar char="q"/>
            </a:pPr>
            <a:r>
              <a:rPr lang="en-PK" sz="1200" dirty="0"/>
              <a:t>R1(config)# interface fa0/0</a:t>
            </a:r>
          </a:p>
          <a:p>
            <a:pPr marL="285750" indent="-285750">
              <a:buFont typeface="Wingdings" panose="05000000000000000000" pitchFamily="2" charset="2"/>
              <a:buChar char="q"/>
            </a:pPr>
            <a:r>
              <a:rPr lang="en-PK" sz="1200" dirty="0"/>
              <a:t>R1(config-if)# ip nat inside</a:t>
            </a:r>
          </a:p>
          <a:p>
            <a:pPr marL="285750" indent="-285750">
              <a:buFont typeface="Wingdings" panose="05000000000000000000" pitchFamily="2" charset="2"/>
              <a:buChar char="q"/>
            </a:pPr>
            <a:r>
              <a:rPr lang="en-PK" sz="1200" dirty="0"/>
              <a:t>R1(config-if)# 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R1(config)# interface s0/0</a:t>
            </a:r>
          </a:p>
          <a:p>
            <a:pPr marL="285750" indent="-285750">
              <a:buFont typeface="Wingdings" panose="05000000000000000000" pitchFamily="2" charset="2"/>
              <a:buChar char="q"/>
            </a:pPr>
            <a:r>
              <a:rPr lang="en-PK" sz="1200" dirty="0"/>
              <a:t>R1(config-if)# ip nat outside</a:t>
            </a:r>
          </a:p>
          <a:p>
            <a:pPr marL="285750" indent="-285750">
              <a:buFont typeface="Wingdings" panose="05000000000000000000" pitchFamily="2" charset="2"/>
              <a:buChar char="q"/>
            </a:pPr>
            <a:r>
              <a:rPr lang="en-PK" sz="1200" dirty="0"/>
              <a:t>R1(config-if)# exit</a:t>
            </a:r>
          </a:p>
        </p:txBody>
      </p:sp>
      <p:sp>
        <p:nvSpPr>
          <p:cNvPr id="12" name="TextBox 11">
            <a:extLst>
              <a:ext uri="{FF2B5EF4-FFF2-40B4-BE49-F238E27FC236}">
                <a16:creationId xmlns:a16="http://schemas.microsoft.com/office/drawing/2014/main" id="{5F124CA5-468B-D04C-41B7-E499101014B4}"/>
              </a:ext>
            </a:extLst>
          </p:cNvPr>
          <p:cNvSpPr txBox="1"/>
          <p:nvPr/>
        </p:nvSpPr>
        <p:spPr>
          <a:xfrm>
            <a:off x="255938" y="2400723"/>
            <a:ext cx="7008463" cy="492443"/>
          </a:xfrm>
          <a:prstGeom prst="rect">
            <a:avLst/>
          </a:prstGeom>
          <a:noFill/>
        </p:spPr>
        <p:txBody>
          <a:bodyPr wrap="square">
            <a:spAutoFit/>
          </a:bodyPr>
          <a:lstStyle/>
          <a:p>
            <a:r>
              <a:rPr lang="en-US" dirty="0">
                <a:highlight>
                  <a:srgbClr val="00FFFF"/>
                </a:highlight>
              </a:rPr>
              <a:t>Define Access List for Inside Network</a:t>
            </a:r>
          </a:p>
          <a:p>
            <a:pPr marL="285750" indent="-285750">
              <a:buFont typeface="Wingdings" panose="05000000000000000000" pitchFamily="2" charset="2"/>
              <a:buChar char="q"/>
            </a:pPr>
            <a:r>
              <a:rPr lang="en-US" sz="1200" dirty="0"/>
              <a:t>R1(config)# access-list  3  permit  200.100.50.0   0.0.0.255</a:t>
            </a:r>
          </a:p>
        </p:txBody>
      </p:sp>
      <p:sp>
        <p:nvSpPr>
          <p:cNvPr id="11" name="TextBox 10">
            <a:extLst>
              <a:ext uri="{FF2B5EF4-FFF2-40B4-BE49-F238E27FC236}">
                <a16:creationId xmlns:a16="http://schemas.microsoft.com/office/drawing/2014/main" id="{7619212D-BA0C-E938-B764-9BE096F98A40}"/>
              </a:ext>
            </a:extLst>
          </p:cNvPr>
          <p:cNvSpPr txBox="1"/>
          <p:nvPr/>
        </p:nvSpPr>
        <p:spPr>
          <a:xfrm>
            <a:off x="255938" y="1026090"/>
            <a:ext cx="7955756" cy="492443"/>
          </a:xfrm>
          <a:prstGeom prst="rect">
            <a:avLst/>
          </a:prstGeom>
          <a:noFill/>
        </p:spPr>
        <p:txBody>
          <a:bodyPr wrap="square">
            <a:spAutoFit/>
          </a:bodyPr>
          <a:lstStyle/>
          <a:p>
            <a:r>
              <a:rPr lang="en-US" dirty="0">
                <a:highlight>
                  <a:srgbClr val="00FFFF"/>
                </a:highlight>
              </a:rPr>
              <a:t>Define NAT Pool for Public IPs</a:t>
            </a:r>
          </a:p>
          <a:p>
            <a:pPr marL="285750" indent="-285750">
              <a:buFont typeface="Wingdings" panose="05000000000000000000" pitchFamily="2" charset="2"/>
              <a:buChar char="q"/>
            </a:pPr>
            <a:r>
              <a:rPr lang="en-US" sz="1200" dirty="0"/>
              <a:t>R1(config)# ip  nat  pool  CCNA  210.10.10.1   210.10.10.5  netmask  255.255.255.0</a:t>
            </a:r>
          </a:p>
        </p:txBody>
      </p:sp>
      <p:sp>
        <p:nvSpPr>
          <p:cNvPr id="16" name="TextBox 15">
            <a:extLst>
              <a:ext uri="{FF2B5EF4-FFF2-40B4-BE49-F238E27FC236}">
                <a16:creationId xmlns:a16="http://schemas.microsoft.com/office/drawing/2014/main" id="{8D097EFB-139F-DC21-5609-BF5C4242FD12}"/>
              </a:ext>
            </a:extLst>
          </p:cNvPr>
          <p:cNvSpPr txBox="1"/>
          <p:nvPr/>
        </p:nvSpPr>
        <p:spPr>
          <a:xfrm>
            <a:off x="255938" y="1725358"/>
            <a:ext cx="6017863" cy="492443"/>
          </a:xfrm>
          <a:prstGeom prst="rect">
            <a:avLst/>
          </a:prstGeom>
          <a:noFill/>
        </p:spPr>
        <p:txBody>
          <a:bodyPr wrap="square">
            <a:spAutoFit/>
          </a:bodyPr>
          <a:lstStyle/>
          <a:p>
            <a:r>
              <a:rPr lang="en-US" sz="1400" dirty="0">
                <a:highlight>
                  <a:srgbClr val="00FFFF"/>
                </a:highlight>
              </a:rPr>
              <a:t>Map Private IPs to Public Pool</a:t>
            </a:r>
          </a:p>
          <a:p>
            <a:pPr marL="171450" indent="-171450">
              <a:buFont typeface="Wingdings" panose="05000000000000000000" pitchFamily="2" charset="2"/>
              <a:buChar char="q"/>
            </a:pPr>
            <a:r>
              <a:rPr lang="en-US" sz="1200" dirty="0"/>
              <a:t>R1(config)# ip  nat  inside  source  list  3  pool  CCNA</a:t>
            </a:r>
          </a:p>
        </p:txBody>
      </p:sp>
    </p:spTree>
    <p:extLst>
      <p:ext uri="{BB962C8B-B14F-4D97-AF65-F5344CB8AC3E}">
        <p14:creationId xmlns:p14="http://schemas.microsoft.com/office/powerpoint/2010/main" val="729551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5DD25-2BA0-0E77-68C3-8D153E0703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828515C-2921-82B9-6082-8CCE43101AE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A11224E1-7770-BCAA-E85C-19FBA73DC412}"/>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C5DCA70-2472-1D45-E94D-6D41DE9AD35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8F7A2CE-D338-4132-E1E4-16C383868EF0}"/>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455E329-1791-17BE-5D7E-45815891F4A5}"/>
              </a:ext>
            </a:extLst>
          </p:cNvPr>
          <p:cNvSpPr txBox="1"/>
          <p:nvPr/>
        </p:nvSpPr>
        <p:spPr>
          <a:xfrm>
            <a:off x="2726413" y="63307"/>
            <a:ext cx="5232254" cy="400110"/>
          </a:xfrm>
          <a:prstGeom prst="rect">
            <a:avLst/>
          </a:prstGeom>
          <a:noFill/>
        </p:spPr>
        <p:txBody>
          <a:bodyPr wrap="square">
            <a:spAutoFit/>
          </a:bodyPr>
          <a:lstStyle/>
          <a:p>
            <a:r>
              <a:rPr lang="en-US" sz="2000" b="1" dirty="0">
                <a:solidFill>
                  <a:srgbClr val="403CCF"/>
                </a:solidFill>
                <a:latin typeface="Libre Baskerville" pitchFamily="34" charset="0"/>
              </a:rPr>
              <a:t>Dynamic NAT Configuration</a:t>
            </a:r>
          </a:p>
        </p:txBody>
      </p:sp>
      <p:sp>
        <p:nvSpPr>
          <p:cNvPr id="17" name="TextBox 16">
            <a:extLst>
              <a:ext uri="{FF2B5EF4-FFF2-40B4-BE49-F238E27FC236}">
                <a16:creationId xmlns:a16="http://schemas.microsoft.com/office/drawing/2014/main" id="{20C3049B-2BF2-90B5-D745-6309254A0DF1}"/>
              </a:ext>
            </a:extLst>
          </p:cNvPr>
          <p:cNvSpPr txBox="1"/>
          <p:nvPr/>
        </p:nvSpPr>
        <p:spPr>
          <a:xfrm>
            <a:off x="250039" y="2910424"/>
            <a:ext cx="3831803" cy="2215991"/>
          </a:xfrm>
          <a:prstGeom prst="rect">
            <a:avLst/>
          </a:prstGeom>
          <a:noFill/>
        </p:spPr>
        <p:txBody>
          <a:bodyPr wrap="square">
            <a:spAutoFit/>
          </a:bodyPr>
          <a:lstStyle/>
          <a:p>
            <a:r>
              <a:rPr lang="en-US" sz="1200" dirty="0">
                <a:highlight>
                  <a:srgbClr val="00FFFF"/>
                </a:highlight>
              </a:rPr>
              <a:t>R2</a:t>
            </a:r>
            <a:endParaRPr lang="en-US" sz="900" dirty="0">
              <a:highlight>
                <a:srgbClr val="00FFFF"/>
              </a:highlight>
            </a:endParaRPr>
          </a:p>
          <a:p>
            <a:pPr marL="285750" indent="-285750">
              <a:buFont typeface="Wingdings" panose="05000000000000000000" pitchFamily="2" charset="2"/>
              <a:buChar char="q"/>
            </a:pPr>
            <a:r>
              <a:rPr lang="en-PK" sz="900" dirty="0"/>
              <a:t>R</a:t>
            </a:r>
            <a:r>
              <a:rPr lang="en-US" sz="900" dirty="0"/>
              <a:t>2</a:t>
            </a:r>
            <a:r>
              <a:rPr lang="en-PK" sz="900" dirty="0"/>
              <a:t>(config)# interface fa0/0</a:t>
            </a:r>
          </a:p>
          <a:p>
            <a:pPr marL="285750" indent="-285750">
              <a:buFont typeface="Wingdings" panose="05000000000000000000" pitchFamily="2" charset="2"/>
              <a:buChar char="q"/>
            </a:pPr>
            <a:r>
              <a:rPr lang="en-PK" sz="900" dirty="0"/>
              <a:t>R</a:t>
            </a:r>
            <a:r>
              <a:rPr lang="en-US" sz="900" dirty="0"/>
              <a:t>2</a:t>
            </a:r>
            <a:r>
              <a:rPr lang="en-PK" sz="900" dirty="0"/>
              <a:t>(config-if)# ip </a:t>
            </a:r>
            <a:r>
              <a:rPr lang="en-US" sz="900" dirty="0"/>
              <a:t> address  200.100.100.100  255.255.255.0</a:t>
            </a:r>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(config-if)# </a:t>
            </a:r>
            <a:r>
              <a:rPr lang="en-US" sz="900" dirty="0"/>
              <a:t>no shutdown</a:t>
            </a:r>
          </a:p>
          <a:p>
            <a:pPr marL="285750" indent="-285750">
              <a:buFont typeface="Wingdings" panose="05000000000000000000" pitchFamily="2" charset="2"/>
              <a:buChar char="q"/>
            </a:pPr>
            <a:r>
              <a:rPr lang="en-PK" sz="900" dirty="0"/>
              <a:t>R</a:t>
            </a:r>
            <a:r>
              <a:rPr lang="en-US" sz="900" dirty="0"/>
              <a:t>2</a:t>
            </a:r>
            <a:r>
              <a:rPr lang="en-PK" sz="900" dirty="0"/>
              <a:t>(config-if)# exit</a:t>
            </a: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R2(config)# interface s0/0</a:t>
            </a:r>
          </a:p>
          <a:p>
            <a:pPr marL="285750" indent="-285750">
              <a:buFont typeface="Wingdings" panose="05000000000000000000" pitchFamily="2" charset="2"/>
              <a:buChar char="q"/>
            </a:pPr>
            <a:r>
              <a:rPr lang="en-US" sz="900" dirty="0"/>
              <a:t>R2(config-if)# ip address 1.1.1.1  255.0.0.0</a:t>
            </a:r>
          </a:p>
          <a:p>
            <a:pPr marL="285750" indent="-285750">
              <a:buFont typeface="Wingdings" panose="05000000000000000000" pitchFamily="2" charset="2"/>
              <a:buChar char="q"/>
            </a:pPr>
            <a:r>
              <a:rPr lang="en-US" sz="900" dirty="0"/>
              <a:t>R2(config-if)# no shutdown</a:t>
            </a:r>
          </a:p>
          <a:p>
            <a:pPr marL="285750" indent="-285750">
              <a:buFont typeface="Wingdings" panose="05000000000000000000" pitchFamily="2" charset="2"/>
              <a:buChar char="q"/>
            </a:pPr>
            <a:r>
              <a:rPr lang="en-US" sz="900" dirty="0"/>
              <a:t>R2(config-if)# exit</a:t>
            </a:r>
          </a:p>
          <a:p>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router rip</a:t>
            </a:r>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network 200.100.100.0</a:t>
            </a:r>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network 1.0.0.0</a:t>
            </a:r>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(config-if)# exit</a:t>
            </a:r>
            <a:endParaRPr lang="en-US" sz="900" dirty="0"/>
          </a:p>
        </p:txBody>
      </p:sp>
      <p:sp>
        <p:nvSpPr>
          <p:cNvPr id="6" name="TextBox 5">
            <a:extLst>
              <a:ext uri="{FF2B5EF4-FFF2-40B4-BE49-F238E27FC236}">
                <a16:creationId xmlns:a16="http://schemas.microsoft.com/office/drawing/2014/main" id="{534D2CA2-61CB-9477-2A7B-D7B8EB00DEDE}"/>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9C21609E-A399-1138-2CEE-C4063A379742}"/>
              </a:ext>
            </a:extLst>
          </p:cNvPr>
          <p:cNvSpPr txBox="1"/>
          <p:nvPr/>
        </p:nvSpPr>
        <p:spPr>
          <a:xfrm>
            <a:off x="255939" y="377324"/>
            <a:ext cx="3046062" cy="276999"/>
          </a:xfrm>
          <a:prstGeom prst="rect">
            <a:avLst/>
          </a:prstGeom>
          <a:noFill/>
        </p:spPr>
        <p:txBody>
          <a:bodyPr wrap="square">
            <a:spAutoFit/>
          </a:bodyPr>
          <a:lstStyle/>
          <a:p>
            <a:r>
              <a:rPr lang="en-US" sz="1200" dirty="0">
                <a:highlight>
                  <a:srgbClr val="00FFFF"/>
                </a:highlight>
              </a:rPr>
              <a:t>Configuration Summary:</a:t>
            </a:r>
          </a:p>
        </p:txBody>
      </p:sp>
      <p:sp>
        <p:nvSpPr>
          <p:cNvPr id="8" name="TextBox 7">
            <a:extLst>
              <a:ext uri="{FF2B5EF4-FFF2-40B4-BE49-F238E27FC236}">
                <a16:creationId xmlns:a16="http://schemas.microsoft.com/office/drawing/2014/main" id="{FA75E8B6-37D1-0E57-BE71-418B3FE764E6}"/>
              </a:ext>
            </a:extLst>
          </p:cNvPr>
          <p:cNvSpPr txBox="1"/>
          <p:nvPr/>
        </p:nvSpPr>
        <p:spPr>
          <a:xfrm>
            <a:off x="3877733" y="679889"/>
            <a:ext cx="5133677" cy="2631490"/>
          </a:xfrm>
          <a:prstGeom prst="rect">
            <a:avLst/>
          </a:prstGeom>
          <a:noFill/>
        </p:spPr>
        <p:txBody>
          <a:bodyPr wrap="square">
            <a:spAutoFit/>
          </a:bodyPr>
          <a:lstStyle/>
          <a:p>
            <a:r>
              <a:rPr lang="en-US" sz="1200" dirty="0">
                <a:highlight>
                  <a:srgbClr val="00FFFF"/>
                </a:highlight>
              </a:rPr>
              <a:t>NAT Configuration</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R1(config)# ip  nat  pool  CCNA  210.10.10.1  210.10.10.5  netmask  255.255.255.0</a:t>
            </a:r>
          </a:p>
          <a:p>
            <a:pPr marL="285750" indent="-285750">
              <a:buFont typeface="Wingdings" panose="05000000000000000000" pitchFamily="2" charset="2"/>
              <a:buChar char="q"/>
            </a:pPr>
            <a:r>
              <a:rPr lang="en-US" sz="900" dirty="0"/>
              <a:t>R1(config)# ip  nat  inside  source  list  3  pool  CCNA</a:t>
            </a:r>
          </a:p>
          <a:p>
            <a:pPr marL="285750" indent="-285750">
              <a:buFont typeface="Wingdings" panose="05000000000000000000" pitchFamily="2" charset="2"/>
              <a:buChar char="q"/>
            </a:pPr>
            <a:r>
              <a:rPr lang="en-US" sz="900" dirty="0"/>
              <a:t>R1(config)# access-list  3  permit  200.100.50.0   0.0.0.255</a:t>
            </a:r>
          </a:p>
          <a:p>
            <a:pPr marL="285750" indent="-285750">
              <a:buFont typeface="Wingdings" panose="05000000000000000000" pitchFamily="2" charset="2"/>
              <a:buChar char="q"/>
            </a:pPr>
            <a:endParaRPr lang="en-PK" sz="900" dirty="0"/>
          </a:p>
          <a:p>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PK" sz="900" dirty="0"/>
              <a:t>R1(config)# interface fa0/0</a:t>
            </a:r>
          </a:p>
          <a:p>
            <a:pPr marL="285750" indent="-285750">
              <a:buFont typeface="Wingdings" panose="05000000000000000000" pitchFamily="2" charset="2"/>
              <a:buChar char="q"/>
            </a:pPr>
            <a:r>
              <a:rPr lang="en-PK" sz="900" dirty="0"/>
              <a:t>R1(config-if)# ip nat inside</a:t>
            </a:r>
          </a:p>
          <a:p>
            <a:pPr marL="285750" indent="-285750">
              <a:buFont typeface="Wingdings" panose="05000000000000000000" pitchFamily="2" charset="2"/>
              <a:buChar char="q"/>
            </a:pPr>
            <a:r>
              <a:rPr lang="en-PK" sz="900" dirty="0"/>
              <a:t>R1(config-if)# exit</a:t>
            </a:r>
          </a:p>
          <a:p>
            <a:pPr marL="285750" indent="-285750">
              <a:buFont typeface="Wingdings" panose="05000000000000000000" pitchFamily="2" charset="2"/>
              <a:buChar char="q"/>
            </a:pPr>
            <a:endParaRPr lang="en-PK" sz="900" dirty="0"/>
          </a:p>
          <a:p>
            <a:pPr marL="285750" indent="-285750">
              <a:buFont typeface="Wingdings" panose="05000000000000000000" pitchFamily="2" charset="2"/>
              <a:buChar char="q"/>
            </a:pPr>
            <a:r>
              <a:rPr lang="en-PK" sz="900" dirty="0"/>
              <a:t>R1(config)# interface s0/0</a:t>
            </a:r>
          </a:p>
          <a:p>
            <a:pPr marL="285750" indent="-285750">
              <a:buFont typeface="Wingdings" panose="05000000000000000000" pitchFamily="2" charset="2"/>
              <a:buChar char="q"/>
            </a:pPr>
            <a:r>
              <a:rPr lang="en-PK" sz="900" dirty="0"/>
              <a:t>R1(config-if)# ip nat outside</a:t>
            </a:r>
          </a:p>
          <a:p>
            <a:pPr marL="285750" indent="-285750">
              <a:buFont typeface="Wingdings" panose="05000000000000000000" pitchFamily="2" charset="2"/>
              <a:buChar char="q"/>
            </a:pPr>
            <a:r>
              <a:rPr lang="en-PK" sz="900" dirty="0"/>
              <a:t>R1(config-if)# exit</a:t>
            </a:r>
            <a:endParaRPr lang="en-US" sz="900" dirty="0"/>
          </a:p>
          <a:p>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endParaRPr lang="en-US" sz="900" dirty="0"/>
          </a:p>
        </p:txBody>
      </p:sp>
      <p:sp>
        <p:nvSpPr>
          <p:cNvPr id="12" name="TextBox 11">
            <a:extLst>
              <a:ext uri="{FF2B5EF4-FFF2-40B4-BE49-F238E27FC236}">
                <a16:creationId xmlns:a16="http://schemas.microsoft.com/office/drawing/2014/main" id="{02C4CD65-1B87-70AC-4009-4EEAE9C6DD63}"/>
              </a:ext>
            </a:extLst>
          </p:cNvPr>
          <p:cNvSpPr txBox="1"/>
          <p:nvPr/>
        </p:nvSpPr>
        <p:spPr>
          <a:xfrm>
            <a:off x="250039" y="674378"/>
            <a:ext cx="4172423" cy="2215991"/>
          </a:xfrm>
          <a:prstGeom prst="rect">
            <a:avLst/>
          </a:prstGeom>
          <a:noFill/>
        </p:spPr>
        <p:txBody>
          <a:bodyPr wrap="square">
            <a:spAutoFit/>
          </a:bodyPr>
          <a:lstStyle/>
          <a:p>
            <a:r>
              <a:rPr lang="en-US" sz="1200" dirty="0">
                <a:highlight>
                  <a:srgbClr val="00FFFF"/>
                </a:highlight>
              </a:rPr>
              <a:t>R1</a:t>
            </a:r>
          </a:p>
          <a:p>
            <a:pPr marL="285750" indent="-285750">
              <a:buFont typeface="Wingdings" panose="05000000000000000000" pitchFamily="2" charset="2"/>
              <a:buChar char="q"/>
            </a:pPr>
            <a:r>
              <a:rPr lang="en-PK" sz="900" dirty="0"/>
              <a:t>R1(config)# interface fa0/0</a:t>
            </a:r>
          </a:p>
          <a:p>
            <a:pPr marL="285750" indent="-285750">
              <a:buFont typeface="Wingdings" panose="05000000000000000000" pitchFamily="2" charset="2"/>
              <a:buChar char="q"/>
            </a:pPr>
            <a:r>
              <a:rPr lang="en-PK" sz="900" dirty="0"/>
              <a:t>R1(config-if)# ip </a:t>
            </a:r>
            <a:r>
              <a:rPr lang="en-US" sz="900" dirty="0"/>
              <a:t> address 200.100.50.100  255.255.255.0</a:t>
            </a:r>
            <a:endParaRPr lang="en-PK" sz="900" dirty="0"/>
          </a:p>
          <a:p>
            <a:pPr marL="285750" indent="-285750">
              <a:buFont typeface="Wingdings" panose="05000000000000000000" pitchFamily="2" charset="2"/>
              <a:buChar char="q"/>
            </a:pPr>
            <a:r>
              <a:rPr lang="en-PK" sz="900" dirty="0"/>
              <a:t>R1(config-if)# </a:t>
            </a:r>
            <a:r>
              <a:rPr lang="en-US" sz="900" dirty="0"/>
              <a:t>no shutdown</a:t>
            </a:r>
            <a:endParaRPr lang="en-PK" sz="900" dirty="0"/>
          </a:p>
          <a:p>
            <a:pPr marL="285750" indent="-285750">
              <a:buFont typeface="Wingdings" panose="05000000000000000000" pitchFamily="2" charset="2"/>
              <a:buChar char="q"/>
            </a:pPr>
            <a:r>
              <a:rPr lang="en-PK" sz="900" dirty="0"/>
              <a:t>R1(config-if)# </a:t>
            </a:r>
            <a:r>
              <a:rPr lang="en-US" sz="900" dirty="0"/>
              <a:t>exit</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R1(config)# interface s0/0</a:t>
            </a:r>
          </a:p>
          <a:p>
            <a:pPr marL="285750" indent="-285750">
              <a:buFont typeface="Wingdings" panose="05000000000000000000" pitchFamily="2" charset="2"/>
              <a:buChar char="q"/>
            </a:pPr>
            <a:r>
              <a:rPr lang="en-US" sz="900" dirty="0"/>
              <a:t>R1(config-if)# ip address 1.1.1.1  255.0.0.0</a:t>
            </a:r>
          </a:p>
          <a:p>
            <a:pPr marL="285750" indent="-285750">
              <a:buFont typeface="Wingdings" panose="05000000000000000000" pitchFamily="2" charset="2"/>
              <a:buChar char="q"/>
            </a:pPr>
            <a:r>
              <a:rPr lang="en-US" sz="900" dirty="0"/>
              <a:t>R1(config-if)# no shutdown</a:t>
            </a:r>
          </a:p>
          <a:p>
            <a:pPr marL="285750" indent="-285750">
              <a:buFont typeface="Wingdings" panose="05000000000000000000" pitchFamily="2" charset="2"/>
              <a:buChar char="q"/>
            </a:pPr>
            <a:r>
              <a:rPr lang="en-US" sz="900" dirty="0"/>
              <a:t>R1(config-if)# exit</a:t>
            </a:r>
          </a:p>
          <a:p>
            <a:pPr marL="285750" indent="-285750">
              <a:buFont typeface="Wingdings" panose="05000000000000000000" pitchFamily="2" charset="2"/>
              <a:buChar char="q"/>
            </a:pPr>
            <a:endParaRPr lang="en-PK" sz="900" dirty="0"/>
          </a:p>
          <a:p>
            <a:pPr marL="285750" indent="-285750">
              <a:buFont typeface="Wingdings" panose="05000000000000000000" pitchFamily="2" charset="2"/>
              <a:buChar char="q"/>
            </a:pPr>
            <a:r>
              <a:rPr lang="en-PK" sz="900" dirty="0"/>
              <a:t>R1(config)# </a:t>
            </a:r>
            <a:r>
              <a:rPr lang="en-US" sz="900" dirty="0"/>
              <a:t>router rip</a:t>
            </a:r>
          </a:p>
          <a:p>
            <a:pPr marL="285750" indent="-285750">
              <a:buFont typeface="Wingdings" panose="05000000000000000000" pitchFamily="2" charset="2"/>
              <a:buChar char="q"/>
            </a:pPr>
            <a:r>
              <a:rPr lang="en-PK" sz="900" dirty="0"/>
              <a:t>R1(config)# </a:t>
            </a:r>
            <a:r>
              <a:rPr lang="en-US" sz="900" dirty="0"/>
              <a:t>network 200.100.50.0</a:t>
            </a:r>
          </a:p>
          <a:p>
            <a:pPr marL="285750" indent="-285750">
              <a:buFont typeface="Wingdings" panose="05000000000000000000" pitchFamily="2" charset="2"/>
              <a:buChar char="q"/>
            </a:pPr>
            <a:r>
              <a:rPr lang="en-PK" sz="900" dirty="0"/>
              <a:t>R1(config)# </a:t>
            </a:r>
            <a:r>
              <a:rPr lang="en-US" sz="900" dirty="0"/>
              <a:t>network 1.0.0.0</a:t>
            </a:r>
            <a:endParaRPr lang="en-PK" sz="900" dirty="0"/>
          </a:p>
          <a:p>
            <a:pPr marL="285750" indent="-285750">
              <a:buFont typeface="Wingdings" panose="05000000000000000000" pitchFamily="2" charset="2"/>
              <a:buChar char="q"/>
            </a:pPr>
            <a:r>
              <a:rPr lang="en-PK" sz="900" dirty="0"/>
              <a:t>R1(config-if)# exit</a:t>
            </a:r>
            <a:endParaRPr lang="en-US" sz="900" dirty="0"/>
          </a:p>
        </p:txBody>
      </p:sp>
      <p:sp>
        <p:nvSpPr>
          <p:cNvPr id="14" name="TextBox 13">
            <a:extLst>
              <a:ext uri="{FF2B5EF4-FFF2-40B4-BE49-F238E27FC236}">
                <a16:creationId xmlns:a16="http://schemas.microsoft.com/office/drawing/2014/main" id="{014A4D82-17A0-9087-2DCC-BD01F7E09113}"/>
              </a:ext>
            </a:extLst>
          </p:cNvPr>
          <p:cNvSpPr txBox="1"/>
          <p:nvPr/>
        </p:nvSpPr>
        <p:spPr>
          <a:xfrm>
            <a:off x="3877733" y="3710642"/>
            <a:ext cx="4248821" cy="307777"/>
          </a:xfrm>
          <a:prstGeom prst="rect">
            <a:avLst/>
          </a:prstGeom>
          <a:noFill/>
        </p:spPr>
        <p:txBody>
          <a:bodyPr wrap="square">
            <a:spAutoFit/>
          </a:bodyPr>
          <a:lstStyle/>
          <a:p>
            <a:r>
              <a:rPr lang="en-US" b="1" dirty="0"/>
              <a:t>R1# show ip nat translations              </a:t>
            </a:r>
            <a:r>
              <a:rPr lang="en-US" dirty="0">
                <a:highlight>
                  <a:srgbClr val="00FF00"/>
                </a:highlight>
              </a:rPr>
              <a:t>Result </a:t>
            </a:r>
          </a:p>
        </p:txBody>
      </p:sp>
      <p:sp>
        <p:nvSpPr>
          <p:cNvPr id="16" name="Arrow: Right 15">
            <a:extLst>
              <a:ext uri="{FF2B5EF4-FFF2-40B4-BE49-F238E27FC236}">
                <a16:creationId xmlns:a16="http://schemas.microsoft.com/office/drawing/2014/main" id="{A9D72EF0-2D5A-7850-5918-F3C905875AD0}"/>
              </a:ext>
            </a:extLst>
          </p:cNvPr>
          <p:cNvSpPr/>
          <p:nvPr/>
        </p:nvSpPr>
        <p:spPr>
          <a:xfrm>
            <a:off x="6517753" y="3841670"/>
            <a:ext cx="364067" cy="45719"/>
          </a:xfrm>
          <a:prstGeom prst="rightArrow">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1923318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856-763C-A498-726B-0E1D3601C9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A6A008A-65E0-46BC-30FB-FEA1A41A388D}"/>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6FF130D-CE80-AF8A-E44F-67710CB419E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69FA5CF-0BEF-91C0-F782-085DB9433F20}"/>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24C5156-2FE1-2F4A-8BA8-8FD7B792B037}"/>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B5002BD6-CD64-F21E-9833-F2E1411C4013}"/>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CB05C2EB-2F8B-FFA1-9DC0-C8DE8B125568}"/>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8520C071-D8FA-61D3-83F3-96CF100D0AC4}"/>
              </a:ext>
            </a:extLst>
          </p:cNvPr>
          <p:cNvSpPr txBox="1"/>
          <p:nvPr/>
        </p:nvSpPr>
        <p:spPr>
          <a:xfrm>
            <a:off x="255938" y="460170"/>
            <a:ext cx="8195937" cy="523220"/>
          </a:xfrm>
          <a:prstGeom prst="rect">
            <a:avLst/>
          </a:prstGeom>
          <a:noFill/>
        </p:spPr>
        <p:txBody>
          <a:bodyPr wrap="square">
            <a:spAutoFit/>
          </a:bodyPr>
          <a:lstStyle/>
          <a:p>
            <a:endParaRPr lang="en-US" sz="1600" b="1" dirty="0">
              <a:solidFill>
                <a:srgbClr val="403CCF"/>
              </a:solidFill>
              <a:latin typeface="Libre Baskerville" pitchFamily="34" charset="0"/>
            </a:endParaRPr>
          </a:p>
          <a:p>
            <a:endParaRPr lang="en-US" sz="1200" dirty="0"/>
          </a:p>
        </p:txBody>
      </p:sp>
      <p:sp>
        <p:nvSpPr>
          <p:cNvPr id="5" name="Rectangle 4">
            <a:extLst>
              <a:ext uri="{FF2B5EF4-FFF2-40B4-BE49-F238E27FC236}">
                <a16:creationId xmlns:a16="http://schemas.microsoft.com/office/drawing/2014/main" id="{1E10324E-171A-AFBA-B6E2-49238E9AB12B}"/>
              </a:ext>
            </a:extLst>
          </p:cNvPr>
          <p:cNvSpPr/>
          <p:nvPr/>
        </p:nvSpPr>
        <p:spPr>
          <a:xfrm>
            <a:off x="-55558" y="1518300"/>
            <a:ext cx="8703439" cy="1754326"/>
          </a:xfrm>
          <a:prstGeom prst="rect">
            <a:avLst/>
          </a:prstGeom>
          <a:noFill/>
        </p:spPr>
        <p:txBody>
          <a:bodyPr wrap="squar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latin typeface="Libre Baskerville" pitchFamily="34" charset="0"/>
              </a:rPr>
              <a:t>PAT (Port Address Translation) </a:t>
            </a:r>
            <a:endParaRPr lang="en-PK"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492331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AE812-5B51-A1B3-3661-977C95D9221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2037D76-967B-BEBF-194C-A72EFEE43753}"/>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838C015B-B962-B29D-1B95-4F15D6DF6E6F}"/>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E2C7EAF-4EAA-A84D-E12B-AA25E027299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63F938A-5AB2-68DE-D9AB-DC99D9FC1F9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63E2DD0C-11FF-A3AF-3B5A-5C76B1C5BB58}"/>
              </a:ext>
            </a:extLst>
          </p:cNvPr>
          <p:cNvSpPr txBox="1"/>
          <p:nvPr/>
        </p:nvSpPr>
        <p:spPr>
          <a:xfrm>
            <a:off x="2048933" y="63307"/>
            <a:ext cx="4986867" cy="400110"/>
          </a:xfrm>
          <a:prstGeom prst="rect">
            <a:avLst/>
          </a:prstGeom>
          <a:noFill/>
        </p:spPr>
        <p:txBody>
          <a:bodyPr wrap="square">
            <a:spAutoFit/>
          </a:bodyPr>
          <a:lstStyle/>
          <a:p>
            <a:pPr algn="ctr"/>
            <a:r>
              <a:rPr lang="en-US" sz="2000" b="1" dirty="0">
                <a:solidFill>
                  <a:srgbClr val="403CCF"/>
                </a:solidFill>
                <a:latin typeface="Libre Baskerville" pitchFamily="34" charset="0"/>
              </a:rPr>
              <a:t>PAT (Port Address Translation) </a:t>
            </a:r>
            <a:endParaRPr lang="en-PK" sz="2000"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A86D2649-1E8B-26D4-0358-FD91186E780F}"/>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F83C1683-970B-8BD3-FB87-6B34CC7CDC4E}"/>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0A9D9BD7-726B-99E5-0D06-715A11120E25}"/>
              </a:ext>
            </a:extLst>
          </p:cNvPr>
          <p:cNvSpPr txBox="1"/>
          <p:nvPr/>
        </p:nvSpPr>
        <p:spPr>
          <a:xfrm>
            <a:off x="255938" y="460170"/>
            <a:ext cx="8195937" cy="523220"/>
          </a:xfrm>
          <a:prstGeom prst="rect">
            <a:avLst/>
          </a:prstGeom>
          <a:noFill/>
        </p:spPr>
        <p:txBody>
          <a:bodyPr wrap="square">
            <a:spAutoFit/>
          </a:bodyPr>
          <a:lstStyle/>
          <a:p>
            <a:r>
              <a:rPr lang="en-US" sz="1600" b="1" dirty="0">
                <a:solidFill>
                  <a:srgbClr val="403CCF"/>
                </a:solidFill>
                <a:latin typeface="Libre Baskerville" pitchFamily="34" charset="0"/>
              </a:rPr>
              <a:t>Network Diagram </a:t>
            </a:r>
          </a:p>
          <a:p>
            <a:endParaRPr lang="en-US" sz="1200" dirty="0"/>
          </a:p>
        </p:txBody>
      </p:sp>
      <p:sp>
        <p:nvSpPr>
          <p:cNvPr id="8" name="TextBox 7">
            <a:extLst>
              <a:ext uri="{FF2B5EF4-FFF2-40B4-BE49-F238E27FC236}">
                <a16:creationId xmlns:a16="http://schemas.microsoft.com/office/drawing/2014/main" id="{24E14385-8B16-8676-9C8A-4F4EBA2145BF}"/>
              </a:ext>
            </a:extLst>
          </p:cNvPr>
          <p:cNvSpPr txBox="1"/>
          <p:nvPr/>
        </p:nvSpPr>
        <p:spPr>
          <a:xfrm>
            <a:off x="381819" y="3205302"/>
            <a:ext cx="7813914" cy="1446550"/>
          </a:xfrm>
          <a:prstGeom prst="rect">
            <a:avLst/>
          </a:prstGeom>
          <a:noFill/>
        </p:spPr>
        <p:txBody>
          <a:bodyPr wrap="square">
            <a:spAutoFit/>
          </a:bodyPr>
          <a:lstStyle/>
          <a:p>
            <a:endParaRPr lang="en-US" sz="1600" b="1" dirty="0">
              <a:solidFill>
                <a:srgbClr val="403CCF"/>
              </a:solidFill>
              <a:latin typeface="Libre Baskerville" pitchFamily="34" charset="0"/>
            </a:endParaRPr>
          </a:p>
          <a:p>
            <a:r>
              <a:rPr lang="en-US" sz="1600" b="1" dirty="0">
                <a:solidFill>
                  <a:srgbClr val="403CCF"/>
                </a:solidFill>
                <a:latin typeface="Libre Baskerville" pitchFamily="34" charset="0"/>
              </a:rPr>
              <a:t>Steps to Apply PAT (Port Address Translation) :</a:t>
            </a:r>
          </a:p>
          <a:p>
            <a:endParaRPr lang="en-US" dirty="0"/>
          </a:p>
          <a:p>
            <a:pPr marL="342900" indent="-342900">
              <a:buFont typeface="+mj-lt"/>
              <a:buAutoNum type="arabicPeriod"/>
            </a:pPr>
            <a:r>
              <a:rPr lang="en-US" sz="1400" dirty="0"/>
              <a:t>Basic configuration</a:t>
            </a:r>
          </a:p>
          <a:p>
            <a:pPr marL="342900" indent="-342900">
              <a:buFont typeface="+mj-lt"/>
              <a:buAutoNum type="arabicPeriod"/>
            </a:pPr>
            <a:r>
              <a:rPr lang="en-US" dirty="0"/>
              <a:t>Define Access Control List (ACL)</a:t>
            </a:r>
          </a:p>
          <a:p>
            <a:pPr marL="342900" indent="-342900">
              <a:buFont typeface="+mj-lt"/>
              <a:buAutoNum type="arabicPeriod"/>
            </a:pPr>
            <a:r>
              <a:rPr lang="en-US" dirty="0"/>
              <a:t>Configure (PAT) at the interface level</a:t>
            </a:r>
          </a:p>
        </p:txBody>
      </p:sp>
      <p:pic>
        <p:nvPicPr>
          <p:cNvPr id="14" name="Picture 13">
            <a:extLst>
              <a:ext uri="{FF2B5EF4-FFF2-40B4-BE49-F238E27FC236}">
                <a16:creationId xmlns:a16="http://schemas.microsoft.com/office/drawing/2014/main" id="{F32F4AB4-2D37-1691-79AF-11FC1919E0A3}"/>
              </a:ext>
            </a:extLst>
          </p:cNvPr>
          <p:cNvPicPr>
            <a:picLocks noChangeAspect="1"/>
          </p:cNvPicPr>
          <p:nvPr/>
        </p:nvPicPr>
        <p:blipFill>
          <a:blip r:embed="rId3"/>
          <a:stretch>
            <a:fillRect/>
          </a:stretch>
        </p:blipFill>
        <p:spPr>
          <a:xfrm>
            <a:off x="496118" y="860280"/>
            <a:ext cx="8151763" cy="2568200"/>
          </a:xfrm>
          <a:prstGeom prst="rect">
            <a:avLst/>
          </a:prstGeom>
        </p:spPr>
      </p:pic>
    </p:spTree>
    <p:extLst>
      <p:ext uri="{BB962C8B-B14F-4D97-AF65-F5344CB8AC3E}">
        <p14:creationId xmlns:p14="http://schemas.microsoft.com/office/powerpoint/2010/main" val="3770567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04941-8638-6033-6990-3A25C4D163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90833D4-F62A-E2AD-8647-D9A6C40C0BD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187B809-3D24-E701-3DAF-4A503E3816FE}"/>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9AE6494-0B52-29F5-3A63-A7C4F725FE4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6C0CD4F-F3E0-E5D0-3192-89937F9210EA}"/>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23FED1A-F258-5B21-D7EE-27F7BD729C8C}"/>
              </a:ext>
            </a:extLst>
          </p:cNvPr>
          <p:cNvSpPr txBox="1"/>
          <p:nvPr/>
        </p:nvSpPr>
        <p:spPr>
          <a:xfrm>
            <a:off x="2583079" y="59930"/>
            <a:ext cx="4614187" cy="400110"/>
          </a:xfrm>
          <a:prstGeom prst="rect">
            <a:avLst/>
          </a:prstGeom>
          <a:noFill/>
        </p:spPr>
        <p:txBody>
          <a:bodyPr wrap="square">
            <a:spAutoFit/>
          </a:bodyPr>
          <a:lstStyle/>
          <a:p>
            <a:pPr algn="ctr"/>
            <a:r>
              <a:rPr lang="en-US" sz="2000" b="1" dirty="0">
                <a:solidFill>
                  <a:srgbClr val="403CCF"/>
                </a:solidFill>
                <a:latin typeface="Libre Baskerville" pitchFamily="34" charset="0"/>
              </a:rPr>
              <a:t>PAT (Port Address Translation) </a:t>
            </a:r>
            <a:endParaRPr lang="en-PK" sz="2000"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497EC459-ECDA-4E64-5457-D366699BCCD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5AF41A21-6647-9878-597C-EA5B90A4D3A1}"/>
              </a:ext>
            </a:extLst>
          </p:cNvPr>
          <p:cNvSpPr txBox="1"/>
          <p:nvPr/>
        </p:nvSpPr>
        <p:spPr>
          <a:xfrm>
            <a:off x="538454" y="814156"/>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92E4691F-D404-6FF5-3D25-AC42C0D5F708}"/>
              </a:ext>
            </a:extLst>
          </p:cNvPr>
          <p:cNvSpPr txBox="1"/>
          <p:nvPr/>
        </p:nvSpPr>
        <p:spPr>
          <a:xfrm>
            <a:off x="255938" y="460170"/>
            <a:ext cx="8195937" cy="338554"/>
          </a:xfrm>
          <a:prstGeom prst="rect">
            <a:avLst/>
          </a:prstGeom>
          <a:noFill/>
        </p:spPr>
        <p:txBody>
          <a:bodyPr wrap="square">
            <a:spAutoFit/>
          </a:bodyPr>
          <a:lstStyle/>
          <a:p>
            <a:r>
              <a:rPr lang="en-US" sz="1600" b="1" dirty="0">
                <a:solidFill>
                  <a:srgbClr val="403CCF"/>
                </a:solidFill>
                <a:latin typeface="Libre Baskerville" pitchFamily="34" charset="0"/>
              </a:rPr>
              <a:t>Configuration:</a:t>
            </a:r>
          </a:p>
        </p:txBody>
      </p:sp>
      <p:sp>
        <p:nvSpPr>
          <p:cNvPr id="8" name="TextBox 7">
            <a:extLst>
              <a:ext uri="{FF2B5EF4-FFF2-40B4-BE49-F238E27FC236}">
                <a16:creationId xmlns:a16="http://schemas.microsoft.com/office/drawing/2014/main" id="{2065749F-7D5C-A50E-8AEB-665EEAF09597}"/>
              </a:ext>
            </a:extLst>
          </p:cNvPr>
          <p:cNvSpPr txBox="1"/>
          <p:nvPr/>
        </p:nvSpPr>
        <p:spPr>
          <a:xfrm>
            <a:off x="80517" y="967914"/>
            <a:ext cx="4375329" cy="3046988"/>
          </a:xfrm>
          <a:prstGeom prst="rect">
            <a:avLst/>
          </a:prstGeom>
          <a:noFill/>
        </p:spPr>
        <p:txBody>
          <a:bodyPr wrap="square">
            <a:spAutoFit/>
          </a:bodyPr>
          <a:lstStyle/>
          <a:p>
            <a:r>
              <a:rPr lang="en-US" sz="1200" dirty="0">
                <a:highlight>
                  <a:srgbClr val="00FFFF"/>
                </a:highlight>
              </a:rPr>
              <a:t>R1</a:t>
            </a:r>
          </a:p>
          <a:p>
            <a:pPr marL="285750" indent="-285750">
              <a:buFont typeface="Wingdings" panose="05000000000000000000" pitchFamily="2" charset="2"/>
              <a:buChar char="q"/>
            </a:pPr>
            <a:r>
              <a:rPr lang="en-PK" sz="1200" dirty="0"/>
              <a:t>R1(config)# interface fa0/0</a:t>
            </a:r>
          </a:p>
          <a:p>
            <a:pPr marL="285750" indent="-285750">
              <a:buFont typeface="Wingdings" panose="05000000000000000000" pitchFamily="2" charset="2"/>
              <a:buChar char="q"/>
            </a:pPr>
            <a:r>
              <a:rPr lang="en-PK" sz="1200" dirty="0"/>
              <a:t>R1(config-if)# ip </a:t>
            </a:r>
            <a:r>
              <a:rPr lang="en-US" sz="1200" dirty="0"/>
              <a:t>address 200.100.50.100  255.255.255.0</a:t>
            </a:r>
            <a:endParaRPr lang="en-PK" sz="1200" dirty="0"/>
          </a:p>
          <a:p>
            <a:pPr marL="285750" indent="-285750">
              <a:buFont typeface="Wingdings" panose="05000000000000000000" pitchFamily="2" charset="2"/>
              <a:buChar char="q"/>
            </a:pPr>
            <a:r>
              <a:rPr lang="en-PK" sz="1200" dirty="0"/>
              <a:t>R1(config-if)# </a:t>
            </a:r>
            <a:r>
              <a:rPr lang="en-US" sz="1200" dirty="0"/>
              <a:t>no shutdown</a:t>
            </a:r>
          </a:p>
          <a:p>
            <a:pPr marL="285750" indent="-285750">
              <a:buFont typeface="Wingdings" panose="05000000000000000000" pitchFamily="2" charset="2"/>
              <a:buChar char="q"/>
            </a:pPr>
            <a:r>
              <a:rPr lang="en-PK" sz="1200" dirty="0"/>
              <a:t>R1(config-if)# </a:t>
            </a:r>
            <a:r>
              <a:rPr lang="en-US" sz="1200" dirty="0"/>
              <a:t>exit</a:t>
            </a:r>
          </a:p>
          <a:p>
            <a:pPr marL="285750" indent="-285750">
              <a:buFont typeface="Wingdings" panose="05000000000000000000" pitchFamily="2" charset="2"/>
              <a:buChar char="q"/>
            </a:pPr>
            <a:endParaRPr lang="en-US" sz="1200" dirty="0"/>
          </a:p>
          <a:p>
            <a:pPr marL="285750" indent="-285750">
              <a:buFont typeface="Wingdings" panose="05000000000000000000" pitchFamily="2" charset="2"/>
              <a:buChar char="q"/>
            </a:pPr>
            <a:r>
              <a:rPr lang="en-PK" sz="1200" dirty="0"/>
              <a:t>R1(config)# interface </a:t>
            </a:r>
            <a:r>
              <a:rPr lang="en-US" sz="1200" dirty="0"/>
              <a:t>s</a:t>
            </a:r>
            <a:r>
              <a:rPr lang="en-PK" sz="1200" dirty="0"/>
              <a:t>0/0</a:t>
            </a:r>
          </a:p>
          <a:p>
            <a:pPr marL="285750" indent="-285750">
              <a:buFont typeface="Wingdings" panose="05000000000000000000" pitchFamily="2" charset="2"/>
              <a:buChar char="q"/>
            </a:pPr>
            <a:r>
              <a:rPr lang="en-PK" sz="1200" dirty="0"/>
              <a:t>R1(config-if)# ip </a:t>
            </a:r>
            <a:r>
              <a:rPr lang="en-US" sz="1200" dirty="0"/>
              <a:t>address 1.1.1.1  255.0.0.0</a:t>
            </a:r>
            <a:endParaRPr lang="en-PK" sz="1200" dirty="0"/>
          </a:p>
          <a:p>
            <a:pPr marL="285750" indent="-285750">
              <a:buFont typeface="Wingdings" panose="05000000000000000000" pitchFamily="2" charset="2"/>
              <a:buChar char="q"/>
            </a:pPr>
            <a:r>
              <a:rPr lang="en-PK" sz="1200" dirty="0"/>
              <a:t>R1(config-if)# </a:t>
            </a:r>
            <a:r>
              <a:rPr lang="en-US" sz="1200" dirty="0"/>
              <a:t>no shutdown</a:t>
            </a:r>
          </a:p>
          <a:p>
            <a:pPr marL="285750" indent="-285750">
              <a:buFont typeface="Wingdings" panose="05000000000000000000" pitchFamily="2" charset="2"/>
              <a:buChar char="q"/>
            </a:pPr>
            <a:r>
              <a:rPr lang="en-PK" sz="1200" dirty="0"/>
              <a:t>R1(config-if)# </a:t>
            </a:r>
            <a:r>
              <a:rPr lang="en-US" sz="1200" dirty="0"/>
              <a:t>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R1(config)# </a:t>
            </a:r>
            <a:r>
              <a:rPr lang="en-US" sz="1200" dirty="0"/>
              <a:t>router rip</a:t>
            </a:r>
          </a:p>
          <a:p>
            <a:pPr marL="285750" indent="-285750">
              <a:buFont typeface="Wingdings" panose="05000000000000000000" pitchFamily="2" charset="2"/>
              <a:buChar char="q"/>
            </a:pPr>
            <a:r>
              <a:rPr lang="en-PK" sz="1200" dirty="0"/>
              <a:t>R1(config)# </a:t>
            </a:r>
            <a:r>
              <a:rPr lang="en-US" sz="1200" dirty="0"/>
              <a:t>network  200.100.50.0</a:t>
            </a:r>
          </a:p>
          <a:p>
            <a:pPr marL="285750" indent="-285750">
              <a:buFont typeface="Wingdings" panose="05000000000000000000" pitchFamily="2" charset="2"/>
              <a:buChar char="q"/>
            </a:pPr>
            <a:r>
              <a:rPr lang="en-PK" sz="1200" dirty="0"/>
              <a:t>R1(config)# </a:t>
            </a:r>
            <a:r>
              <a:rPr lang="en-US" sz="1200" dirty="0"/>
              <a:t>network  1.0.0.0</a:t>
            </a:r>
            <a:endParaRPr lang="en-PK" sz="1200" dirty="0"/>
          </a:p>
          <a:p>
            <a:pPr marL="285750" indent="-285750">
              <a:buFont typeface="Wingdings" panose="05000000000000000000" pitchFamily="2" charset="2"/>
              <a:buChar char="q"/>
            </a:pPr>
            <a:r>
              <a:rPr lang="en-PK" sz="1200" dirty="0"/>
              <a:t>R1(config-if)# exit</a:t>
            </a:r>
          </a:p>
        </p:txBody>
      </p:sp>
      <p:sp>
        <p:nvSpPr>
          <p:cNvPr id="11" name="TextBox 10">
            <a:extLst>
              <a:ext uri="{FF2B5EF4-FFF2-40B4-BE49-F238E27FC236}">
                <a16:creationId xmlns:a16="http://schemas.microsoft.com/office/drawing/2014/main" id="{887F37BD-67E1-CC6E-C7D6-6DFF18C3A94B}"/>
              </a:ext>
            </a:extLst>
          </p:cNvPr>
          <p:cNvSpPr txBox="1"/>
          <p:nvPr/>
        </p:nvSpPr>
        <p:spPr>
          <a:xfrm>
            <a:off x="4572000" y="967914"/>
            <a:ext cx="4572000" cy="3046988"/>
          </a:xfrm>
          <a:prstGeom prst="rect">
            <a:avLst/>
          </a:prstGeom>
          <a:noFill/>
        </p:spPr>
        <p:txBody>
          <a:bodyPr wrap="square">
            <a:spAutoFit/>
          </a:bodyPr>
          <a:lstStyle/>
          <a:p>
            <a:r>
              <a:rPr lang="en-US" sz="1200" dirty="0">
                <a:highlight>
                  <a:srgbClr val="00FFFF"/>
                </a:highlight>
              </a:rPr>
              <a:t>R2</a:t>
            </a:r>
          </a:p>
          <a:p>
            <a:pPr marL="285750" indent="-285750">
              <a:buFont typeface="Wingdings" panose="05000000000000000000" pitchFamily="2" charset="2"/>
              <a:buChar char="q"/>
            </a:pPr>
            <a:r>
              <a:rPr lang="en-PK" sz="1200" dirty="0"/>
              <a:t>R</a:t>
            </a:r>
            <a:r>
              <a:rPr lang="en-US" sz="1200" dirty="0"/>
              <a:t>2</a:t>
            </a:r>
            <a:r>
              <a:rPr lang="en-PK" sz="1200" dirty="0"/>
              <a:t>(config)# interface fa0/0</a:t>
            </a:r>
          </a:p>
          <a:p>
            <a:pPr marL="285750" indent="-285750">
              <a:buFont typeface="Wingdings" panose="05000000000000000000" pitchFamily="2" charset="2"/>
              <a:buChar char="q"/>
            </a:pPr>
            <a:r>
              <a:rPr lang="en-PK" sz="1200" dirty="0"/>
              <a:t>R</a:t>
            </a:r>
            <a:r>
              <a:rPr lang="en-US" sz="1200" dirty="0"/>
              <a:t>2</a:t>
            </a:r>
            <a:r>
              <a:rPr lang="en-PK" sz="1200" dirty="0"/>
              <a:t>(config-if)# ip </a:t>
            </a:r>
            <a:r>
              <a:rPr lang="en-US" sz="1200" dirty="0"/>
              <a:t>address 200.100.100.100  255.255.255.0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no shutdown</a:t>
            </a:r>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exit</a:t>
            </a:r>
          </a:p>
          <a:p>
            <a:endParaRPr lang="en-US" sz="1200" dirty="0"/>
          </a:p>
          <a:p>
            <a:pPr marL="285750" indent="-285750">
              <a:buFont typeface="Wingdings" panose="05000000000000000000" pitchFamily="2" charset="2"/>
              <a:buChar char="q"/>
            </a:pPr>
            <a:r>
              <a:rPr lang="en-PK" sz="1200" dirty="0"/>
              <a:t>R</a:t>
            </a:r>
            <a:r>
              <a:rPr lang="en-US" sz="1200" dirty="0"/>
              <a:t>2</a:t>
            </a:r>
            <a:r>
              <a:rPr lang="en-PK" sz="1200" dirty="0"/>
              <a:t>(config)# interface </a:t>
            </a:r>
            <a:r>
              <a:rPr lang="en-US" sz="1200" dirty="0"/>
              <a:t>s</a:t>
            </a:r>
            <a:r>
              <a:rPr lang="en-PK" sz="1200" dirty="0"/>
              <a:t>0/0</a:t>
            </a:r>
          </a:p>
          <a:p>
            <a:pPr marL="285750" indent="-285750">
              <a:buFont typeface="Wingdings" panose="05000000000000000000" pitchFamily="2" charset="2"/>
              <a:buChar char="q"/>
            </a:pPr>
            <a:r>
              <a:rPr lang="en-PK" sz="1200" dirty="0"/>
              <a:t>R</a:t>
            </a:r>
            <a:r>
              <a:rPr lang="en-US" sz="1200" dirty="0"/>
              <a:t>2</a:t>
            </a:r>
            <a:r>
              <a:rPr lang="en-PK" sz="1200" dirty="0"/>
              <a:t>(config-if)# ip </a:t>
            </a:r>
            <a:r>
              <a:rPr lang="en-US" sz="1200" dirty="0"/>
              <a:t>address 1.1.1.2  255.0.0.0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no shutdown</a:t>
            </a:r>
          </a:p>
          <a:p>
            <a:pPr marL="285750" indent="-285750">
              <a:buFont typeface="Wingdings" panose="05000000000000000000" pitchFamily="2" charset="2"/>
              <a:buChar char="q"/>
            </a:pPr>
            <a:r>
              <a:rPr lang="en-PK" sz="1200" dirty="0"/>
              <a:t>R</a:t>
            </a:r>
            <a:r>
              <a:rPr lang="en-US" sz="1200" dirty="0"/>
              <a:t>2</a:t>
            </a:r>
            <a:r>
              <a:rPr lang="en-PK" sz="1200" dirty="0"/>
              <a:t>(config-if)# </a:t>
            </a:r>
            <a:r>
              <a:rPr lang="en-US" sz="1200" dirty="0"/>
              <a:t>exit</a:t>
            </a:r>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router rip</a:t>
            </a:r>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network  200.100.100.0</a:t>
            </a:r>
          </a:p>
          <a:p>
            <a:pPr marL="285750" indent="-285750">
              <a:buFont typeface="Wingdings" panose="05000000000000000000" pitchFamily="2" charset="2"/>
              <a:buChar char="q"/>
            </a:pPr>
            <a:r>
              <a:rPr lang="en-PK" sz="1200" dirty="0"/>
              <a:t>R</a:t>
            </a:r>
            <a:r>
              <a:rPr lang="en-US" sz="1200" dirty="0"/>
              <a:t>2</a:t>
            </a:r>
            <a:r>
              <a:rPr lang="en-PK" sz="1200" dirty="0"/>
              <a:t>(config)# </a:t>
            </a:r>
            <a:r>
              <a:rPr lang="en-US" sz="1200" dirty="0"/>
              <a:t>network  1.0.0.0</a:t>
            </a:r>
            <a:endParaRPr lang="en-PK" sz="1200" dirty="0"/>
          </a:p>
          <a:p>
            <a:pPr marL="285750" indent="-285750">
              <a:buFont typeface="Wingdings" panose="05000000000000000000" pitchFamily="2" charset="2"/>
              <a:buChar char="q"/>
            </a:pPr>
            <a:r>
              <a:rPr lang="en-PK" sz="1200" dirty="0"/>
              <a:t>R</a:t>
            </a:r>
            <a:r>
              <a:rPr lang="en-US" sz="1200" dirty="0"/>
              <a:t>2</a:t>
            </a:r>
            <a:r>
              <a:rPr lang="en-PK" sz="1200" dirty="0"/>
              <a:t>(config-if)# exit</a:t>
            </a:r>
          </a:p>
        </p:txBody>
      </p:sp>
    </p:spTree>
    <p:extLst>
      <p:ext uri="{BB962C8B-B14F-4D97-AF65-F5344CB8AC3E}">
        <p14:creationId xmlns:p14="http://schemas.microsoft.com/office/powerpoint/2010/main" val="45280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B2E4C-4609-EE5B-2706-531EBFCC75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5C00DAC-8874-BAD2-272F-BDB38DFBECD2}"/>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EA503A17-60FC-A018-9559-BBCC21FF115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8D5DA06-9BB9-1E36-A78E-5A16B3BE8C6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A735322B-E386-FB78-D95C-CC73C110504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8DD2CDC-3802-1670-EC35-80E5D98EA9C3}"/>
              </a:ext>
            </a:extLst>
          </p:cNvPr>
          <p:cNvSpPr txBox="1"/>
          <p:nvPr/>
        </p:nvSpPr>
        <p:spPr>
          <a:xfrm>
            <a:off x="2726413" y="63307"/>
            <a:ext cx="4648054" cy="400110"/>
          </a:xfrm>
          <a:prstGeom prst="rect">
            <a:avLst/>
          </a:prstGeom>
          <a:noFill/>
        </p:spPr>
        <p:txBody>
          <a:bodyPr wrap="square">
            <a:spAutoFit/>
          </a:bodyPr>
          <a:lstStyle/>
          <a:p>
            <a:pPr algn="ctr"/>
            <a:r>
              <a:rPr lang="en-US" sz="2000" b="1" dirty="0">
                <a:solidFill>
                  <a:srgbClr val="403CCF"/>
                </a:solidFill>
                <a:latin typeface="Libre Baskerville" pitchFamily="34" charset="0"/>
              </a:rPr>
              <a:t>PAT (Port Address Translation) </a:t>
            </a:r>
            <a:endParaRPr lang="en-PK" sz="2000"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0C5915F1-2B45-577E-B0DB-8935546717C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AD24D302-5F50-5DBE-DFA6-0D4F2F5D4181}"/>
              </a:ext>
            </a:extLst>
          </p:cNvPr>
          <p:cNvSpPr txBox="1"/>
          <p:nvPr/>
        </p:nvSpPr>
        <p:spPr>
          <a:xfrm>
            <a:off x="255938" y="460170"/>
            <a:ext cx="8195937" cy="338554"/>
          </a:xfrm>
          <a:prstGeom prst="rect">
            <a:avLst/>
          </a:prstGeom>
          <a:noFill/>
        </p:spPr>
        <p:txBody>
          <a:bodyPr wrap="square">
            <a:spAutoFit/>
          </a:bodyPr>
          <a:lstStyle/>
          <a:p>
            <a:r>
              <a:rPr lang="en-US" sz="1600" b="1" dirty="0">
                <a:solidFill>
                  <a:srgbClr val="403CCF"/>
                </a:solidFill>
                <a:latin typeface="Libre Baskerville" pitchFamily="34" charset="0"/>
              </a:rPr>
              <a:t>Configuration:</a:t>
            </a:r>
          </a:p>
        </p:txBody>
      </p:sp>
      <p:sp>
        <p:nvSpPr>
          <p:cNvPr id="11" name="TextBox 10">
            <a:extLst>
              <a:ext uri="{FF2B5EF4-FFF2-40B4-BE49-F238E27FC236}">
                <a16:creationId xmlns:a16="http://schemas.microsoft.com/office/drawing/2014/main" id="{8D139519-9E3B-C2A1-4D91-2CB2BA03689F}"/>
              </a:ext>
            </a:extLst>
          </p:cNvPr>
          <p:cNvSpPr txBox="1"/>
          <p:nvPr/>
        </p:nvSpPr>
        <p:spPr>
          <a:xfrm>
            <a:off x="262263" y="901377"/>
            <a:ext cx="7955756" cy="3785652"/>
          </a:xfrm>
          <a:prstGeom prst="rect">
            <a:avLst/>
          </a:prstGeom>
          <a:noFill/>
        </p:spPr>
        <p:txBody>
          <a:bodyPr wrap="square">
            <a:spAutoFit/>
          </a:bodyPr>
          <a:lstStyle/>
          <a:p>
            <a:r>
              <a:rPr lang="en-US" dirty="0">
                <a:highlight>
                  <a:srgbClr val="00FFFF"/>
                </a:highlight>
              </a:rPr>
              <a:t>Define Access List for Inside Network</a:t>
            </a:r>
          </a:p>
          <a:p>
            <a:r>
              <a:rPr lang="en-US" sz="1200" dirty="0"/>
              <a:t>R1(config)# access-list 3    permit    200.100.50.0     0.0.0.255</a:t>
            </a:r>
          </a:p>
          <a:p>
            <a:pPr marL="171450" indent="-171450">
              <a:buFont typeface="Wingdings" panose="05000000000000000000" pitchFamily="2" charset="2"/>
              <a:buChar char="ü"/>
            </a:pPr>
            <a:r>
              <a:rPr lang="en-US" sz="1000" dirty="0"/>
              <a:t>This command is used to select all IPs in the 200.100.50.0/24 network for NAT.</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r>
              <a:rPr lang="en-US" dirty="0">
                <a:highlight>
                  <a:srgbClr val="00FFFF"/>
                </a:highlight>
              </a:rPr>
              <a:t>NAT Overload (PAT) Configuration</a:t>
            </a:r>
          </a:p>
          <a:p>
            <a:r>
              <a:rPr lang="en-US" sz="1200" dirty="0"/>
              <a:t>R1(config)# ip   nat   inside   source   list   3   interface   s0/0   overload</a:t>
            </a:r>
          </a:p>
          <a:p>
            <a:pPr marL="171450" indent="-171450">
              <a:buFont typeface="Wingdings" panose="05000000000000000000" pitchFamily="2" charset="2"/>
              <a:buChar char="ü"/>
            </a:pPr>
            <a:r>
              <a:rPr lang="en-US" sz="1000" dirty="0"/>
              <a:t>This command is used to translate all IPs permitted in ACL 3 into the public IP of interface s0/0 using PAT (overload) so multiple devices can share one public IP.</a:t>
            </a:r>
          </a:p>
          <a:p>
            <a:endParaRPr lang="en-US" sz="1000" dirty="0"/>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r>
              <a:rPr lang="en-US" dirty="0">
                <a:highlight>
                  <a:srgbClr val="00FFFF"/>
                </a:highlight>
              </a:rPr>
              <a:t>Define NAT inside &amp; outside interfaces</a:t>
            </a:r>
          </a:p>
          <a:p>
            <a:pPr marL="171450" indent="-171450">
              <a:buFont typeface="Wingdings" panose="05000000000000000000" pitchFamily="2" charset="2"/>
              <a:buChar char="ü"/>
            </a:pPr>
            <a:r>
              <a:rPr lang="en-US" sz="1200" dirty="0"/>
              <a:t>R1(config)# interface fa0/0</a:t>
            </a:r>
          </a:p>
          <a:p>
            <a:pPr marL="171450" indent="-171450">
              <a:buFont typeface="Wingdings" panose="05000000000000000000" pitchFamily="2" charset="2"/>
              <a:buChar char="ü"/>
            </a:pPr>
            <a:r>
              <a:rPr lang="en-US" sz="1200" dirty="0"/>
              <a:t>R1(config-if)# ip nat inside</a:t>
            </a:r>
          </a:p>
          <a:p>
            <a:pPr marL="171450" indent="-171450">
              <a:buFont typeface="Wingdings" panose="05000000000000000000" pitchFamily="2" charset="2"/>
              <a:buChar char="ü"/>
            </a:pPr>
            <a:r>
              <a:rPr lang="en-US" sz="1200" dirty="0"/>
              <a:t>R1(config-if)# exit</a:t>
            </a:r>
          </a:p>
          <a:p>
            <a:pPr marL="171450" indent="-171450">
              <a:buFont typeface="Wingdings" panose="05000000000000000000" pitchFamily="2" charset="2"/>
              <a:buChar char="ü"/>
            </a:pPr>
            <a:endParaRPr lang="en-US" sz="1200" dirty="0"/>
          </a:p>
          <a:p>
            <a:pPr marL="171450" indent="-171450">
              <a:buFont typeface="Wingdings" panose="05000000000000000000" pitchFamily="2" charset="2"/>
              <a:buChar char="ü"/>
            </a:pPr>
            <a:r>
              <a:rPr lang="en-US" sz="1200" dirty="0"/>
              <a:t>R1(config)# interface s0/0</a:t>
            </a:r>
          </a:p>
          <a:p>
            <a:pPr marL="171450" indent="-171450">
              <a:buFont typeface="Wingdings" panose="05000000000000000000" pitchFamily="2" charset="2"/>
              <a:buChar char="ü"/>
            </a:pPr>
            <a:r>
              <a:rPr lang="en-US" sz="1200" dirty="0"/>
              <a:t>R1(config-if)# ip nat outside</a:t>
            </a:r>
          </a:p>
          <a:p>
            <a:pPr marL="171450" indent="-171450">
              <a:buFont typeface="Wingdings" panose="05000000000000000000" pitchFamily="2" charset="2"/>
              <a:buChar char="ü"/>
            </a:pPr>
            <a:r>
              <a:rPr lang="en-US" sz="1200" dirty="0"/>
              <a:t>R1(config-if)# exit</a:t>
            </a:r>
          </a:p>
        </p:txBody>
      </p:sp>
    </p:spTree>
    <p:extLst>
      <p:ext uri="{BB962C8B-B14F-4D97-AF65-F5344CB8AC3E}">
        <p14:creationId xmlns:p14="http://schemas.microsoft.com/office/powerpoint/2010/main" val="19675575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6BBAD-9627-82AF-1A78-FFE00216E4C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C98C6E-6E8A-9B9C-BDC7-AC45D83D1C67}"/>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CFE0B7D-451D-9B80-CD43-72C73754DB2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CBC8A6EE-8240-1F2D-2EE3-EBA07294499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D7EA0FC-B6FE-D20D-5FE5-945AB484AE08}"/>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F7C3C2F7-DDC9-778A-ECE8-100E98885C3C}"/>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PAT (Port Address Translation) </a:t>
            </a:r>
            <a:endParaRPr lang="en-PK" sz="2000"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9B4874AB-06AC-E4F4-6685-8374655D6B8C}"/>
              </a:ext>
            </a:extLst>
          </p:cNvPr>
          <p:cNvSpPr txBox="1"/>
          <p:nvPr/>
        </p:nvSpPr>
        <p:spPr>
          <a:xfrm>
            <a:off x="250039" y="2910424"/>
            <a:ext cx="3831803" cy="2215991"/>
          </a:xfrm>
          <a:prstGeom prst="rect">
            <a:avLst/>
          </a:prstGeom>
          <a:noFill/>
        </p:spPr>
        <p:txBody>
          <a:bodyPr wrap="square">
            <a:spAutoFit/>
          </a:bodyPr>
          <a:lstStyle/>
          <a:p>
            <a:r>
              <a:rPr lang="en-US" sz="1200" dirty="0">
                <a:highlight>
                  <a:srgbClr val="00FFFF"/>
                </a:highlight>
              </a:rPr>
              <a:t>R2</a:t>
            </a:r>
            <a:endParaRPr lang="en-US" sz="900" dirty="0">
              <a:highlight>
                <a:srgbClr val="00FFFF"/>
              </a:highlight>
            </a:endParaRPr>
          </a:p>
          <a:p>
            <a:pPr marL="285750" indent="-285750">
              <a:buFont typeface="Wingdings" panose="05000000000000000000" pitchFamily="2" charset="2"/>
              <a:buChar char="q"/>
            </a:pPr>
            <a:r>
              <a:rPr lang="en-PK" sz="900" dirty="0"/>
              <a:t>R</a:t>
            </a:r>
            <a:r>
              <a:rPr lang="en-US" sz="900" dirty="0"/>
              <a:t>2</a:t>
            </a:r>
            <a:r>
              <a:rPr lang="en-PK" sz="900" dirty="0"/>
              <a:t>(config)# interface fa0/0</a:t>
            </a:r>
          </a:p>
          <a:p>
            <a:pPr marL="285750" indent="-285750">
              <a:buFont typeface="Wingdings" panose="05000000000000000000" pitchFamily="2" charset="2"/>
              <a:buChar char="q"/>
            </a:pPr>
            <a:r>
              <a:rPr lang="en-PK" sz="900" dirty="0"/>
              <a:t>R</a:t>
            </a:r>
            <a:r>
              <a:rPr lang="en-US" sz="900" dirty="0"/>
              <a:t>2</a:t>
            </a:r>
            <a:r>
              <a:rPr lang="en-PK" sz="900" dirty="0"/>
              <a:t>(config-if)# ip </a:t>
            </a:r>
            <a:r>
              <a:rPr lang="en-US" sz="900" dirty="0"/>
              <a:t>   address    200.100.100.100    255.255.255.0</a:t>
            </a:r>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(config-if)# </a:t>
            </a:r>
            <a:r>
              <a:rPr lang="en-US" sz="900" dirty="0"/>
              <a:t>no shutdown</a:t>
            </a:r>
          </a:p>
          <a:p>
            <a:pPr marL="285750" indent="-285750">
              <a:buFont typeface="Wingdings" panose="05000000000000000000" pitchFamily="2" charset="2"/>
              <a:buChar char="q"/>
            </a:pPr>
            <a:r>
              <a:rPr lang="en-PK" sz="900" dirty="0"/>
              <a:t>R</a:t>
            </a:r>
            <a:r>
              <a:rPr lang="en-US" sz="900" dirty="0"/>
              <a:t>2</a:t>
            </a:r>
            <a:r>
              <a:rPr lang="en-PK" sz="900" dirty="0"/>
              <a:t>(config-if)# exit</a:t>
            </a: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R2(config)# interface s0/0</a:t>
            </a:r>
          </a:p>
          <a:p>
            <a:pPr marL="285750" indent="-285750">
              <a:buFont typeface="Wingdings" panose="05000000000000000000" pitchFamily="2" charset="2"/>
              <a:buChar char="q"/>
            </a:pPr>
            <a:r>
              <a:rPr lang="en-US" sz="900" dirty="0"/>
              <a:t>R2(config-if)# ip address   1.1.1.1    255.0.0.0</a:t>
            </a:r>
          </a:p>
          <a:p>
            <a:pPr marL="285750" indent="-285750">
              <a:buFont typeface="Wingdings" panose="05000000000000000000" pitchFamily="2" charset="2"/>
              <a:buChar char="q"/>
            </a:pPr>
            <a:r>
              <a:rPr lang="en-US" sz="900" dirty="0"/>
              <a:t>R2(config-if)# no shutdown</a:t>
            </a:r>
          </a:p>
          <a:p>
            <a:pPr marL="285750" indent="-285750">
              <a:buFont typeface="Wingdings" panose="05000000000000000000" pitchFamily="2" charset="2"/>
              <a:buChar char="q"/>
            </a:pPr>
            <a:r>
              <a:rPr lang="en-US" sz="900" dirty="0"/>
              <a:t>R2(config-if)# exit</a:t>
            </a:r>
          </a:p>
          <a:p>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router   rip</a:t>
            </a:r>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network   200.100.100.0</a:t>
            </a:r>
          </a:p>
          <a:p>
            <a:pPr marL="285750" indent="-285750">
              <a:buFont typeface="Wingdings" panose="05000000000000000000" pitchFamily="2" charset="2"/>
              <a:buChar char="q"/>
            </a:pPr>
            <a:r>
              <a:rPr lang="en-PK" sz="900" dirty="0"/>
              <a:t>R</a:t>
            </a:r>
            <a:r>
              <a:rPr lang="en-US" sz="900" dirty="0"/>
              <a:t>2</a:t>
            </a:r>
            <a:r>
              <a:rPr lang="en-PK" sz="900" dirty="0"/>
              <a:t>(config)# </a:t>
            </a:r>
            <a:r>
              <a:rPr lang="en-US" sz="900" dirty="0"/>
              <a:t>network   1.0.0.0</a:t>
            </a:r>
            <a:endParaRPr lang="en-PK" sz="900" dirty="0"/>
          </a:p>
          <a:p>
            <a:pPr marL="285750" indent="-285750">
              <a:buFont typeface="Wingdings" panose="05000000000000000000" pitchFamily="2" charset="2"/>
              <a:buChar char="q"/>
            </a:pPr>
            <a:r>
              <a:rPr lang="en-PK" sz="900" dirty="0"/>
              <a:t>R</a:t>
            </a:r>
            <a:r>
              <a:rPr lang="en-US" sz="900" dirty="0"/>
              <a:t>2</a:t>
            </a:r>
            <a:r>
              <a:rPr lang="en-PK" sz="900" dirty="0"/>
              <a:t>(config-if)# exit</a:t>
            </a:r>
            <a:endParaRPr lang="en-US" sz="900" dirty="0"/>
          </a:p>
        </p:txBody>
      </p:sp>
      <p:sp>
        <p:nvSpPr>
          <p:cNvPr id="6" name="TextBox 5">
            <a:extLst>
              <a:ext uri="{FF2B5EF4-FFF2-40B4-BE49-F238E27FC236}">
                <a16:creationId xmlns:a16="http://schemas.microsoft.com/office/drawing/2014/main" id="{5BA18B7A-D0A1-1A97-4014-CAD8970C339D}"/>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D4B96E72-ADE4-6C14-D2DC-F70127930E41}"/>
              </a:ext>
            </a:extLst>
          </p:cNvPr>
          <p:cNvSpPr txBox="1"/>
          <p:nvPr/>
        </p:nvSpPr>
        <p:spPr>
          <a:xfrm>
            <a:off x="255939" y="377324"/>
            <a:ext cx="3046062" cy="276999"/>
          </a:xfrm>
          <a:prstGeom prst="rect">
            <a:avLst/>
          </a:prstGeom>
          <a:noFill/>
        </p:spPr>
        <p:txBody>
          <a:bodyPr wrap="square">
            <a:spAutoFit/>
          </a:bodyPr>
          <a:lstStyle/>
          <a:p>
            <a:r>
              <a:rPr lang="en-US" sz="1200" dirty="0">
                <a:highlight>
                  <a:srgbClr val="00FFFF"/>
                </a:highlight>
              </a:rPr>
              <a:t>Configuration Summary:</a:t>
            </a:r>
          </a:p>
        </p:txBody>
      </p:sp>
      <p:sp>
        <p:nvSpPr>
          <p:cNvPr id="8" name="TextBox 7">
            <a:extLst>
              <a:ext uri="{FF2B5EF4-FFF2-40B4-BE49-F238E27FC236}">
                <a16:creationId xmlns:a16="http://schemas.microsoft.com/office/drawing/2014/main" id="{622EF1B9-9037-675A-7A87-F619BD1F1B9F}"/>
              </a:ext>
            </a:extLst>
          </p:cNvPr>
          <p:cNvSpPr txBox="1"/>
          <p:nvPr/>
        </p:nvSpPr>
        <p:spPr>
          <a:xfrm>
            <a:off x="3877733" y="679889"/>
            <a:ext cx="5133677" cy="2354491"/>
          </a:xfrm>
          <a:prstGeom prst="rect">
            <a:avLst/>
          </a:prstGeom>
          <a:noFill/>
        </p:spPr>
        <p:txBody>
          <a:bodyPr wrap="square">
            <a:spAutoFit/>
          </a:bodyPr>
          <a:lstStyle/>
          <a:p>
            <a:r>
              <a:rPr lang="en-US" sz="1200" dirty="0">
                <a:highlight>
                  <a:srgbClr val="00FFFF"/>
                </a:highlight>
              </a:rPr>
              <a:t>NAT Configuration</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R1(config)# access-list  3  permit  200.100.50.0   0.0.0.255</a:t>
            </a:r>
          </a:p>
          <a:p>
            <a:pPr marL="285750" indent="-285750">
              <a:buFont typeface="Wingdings" panose="05000000000000000000" pitchFamily="2" charset="2"/>
              <a:buChar char="q"/>
            </a:pPr>
            <a:r>
              <a:rPr lang="en-US" sz="900" dirty="0"/>
              <a:t>R1(config)# ip   nat   inside   source   list   3   interface   s0/0   overload</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PK" sz="900" dirty="0"/>
              <a:t>R1(config)# interface</a:t>
            </a:r>
            <a:r>
              <a:rPr lang="en-US" sz="900" dirty="0"/>
              <a:t>  </a:t>
            </a:r>
            <a:r>
              <a:rPr lang="en-PK" sz="900" dirty="0"/>
              <a:t> fa0/0</a:t>
            </a:r>
          </a:p>
          <a:p>
            <a:pPr marL="285750" indent="-285750">
              <a:buFont typeface="Wingdings" panose="05000000000000000000" pitchFamily="2" charset="2"/>
              <a:buChar char="q"/>
            </a:pPr>
            <a:r>
              <a:rPr lang="en-PK" sz="900" dirty="0"/>
              <a:t>R1(config-if)# ip</a:t>
            </a:r>
            <a:r>
              <a:rPr lang="en-US" sz="900" dirty="0"/>
              <a:t>  </a:t>
            </a:r>
            <a:r>
              <a:rPr lang="en-PK" sz="900" dirty="0"/>
              <a:t> nat</a:t>
            </a:r>
            <a:r>
              <a:rPr lang="en-US" sz="900" dirty="0"/>
              <a:t>  </a:t>
            </a:r>
            <a:r>
              <a:rPr lang="en-PK" sz="900" dirty="0"/>
              <a:t> inside</a:t>
            </a:r>
          </a:p>
          <a:p>
            <a:pPr marL="285750" indent="-285750">
              <a:buFont typeface="Wingdings" panose="05000000000000000000" pitchFamily="2" charset="2"/>
              <a:buChar char="q"/>
            </a:pPr>
            <a:r>
              <a:rPr lang="en-PK" sz="900" dirty="0"/>
              <a:t>R1(config-if)# exit</a:t>
            </a:r>
          </a:p>
          <a:p>
            <a:pPr marL="285750" indent="-285750">
              <a:buFont typeface="Wingdings" panose="05000000000000000000" pitchFamily="2" charset="2"/>
              <a:buChar char="q"/>
            </a:pPr>
            <a:endParaRPr lang="en-PK" sz="900" dirty="0"/>
          </a:p>
          <a:p>
            <a:pPr marL="285750" indent="-285750">
              <a:buFont typeface="Wingdings" panose="05000000000000000000" pitchFamily="2" charset="2"/>
              <a:buChar char="q"/>
            </a:pPr>
            <a:r>
              <a:rPr lang="en-PK" sz="900" dirty="0"/>
              <a:t>R1(config)# interface </a:t>
            </a:r>
            <a:r>
              <a:rPr lang="en-US" sz="900" dirty="0"/>
              <a:t> </a:t>
            </a:r>
            <a:r>
              <a:rPr lang="en-PK" sz="900" dirty="0"/>
              <a:t>s0/0</a:t>
            </a:r>
          </a:p>
          <a:p>
            <a:pPr marL="285750" indent="-285750">
              <a:buFont typeface="Wingdings" panose="05000000000000000000" pitchFamily="2" charset="2"/>
              <a:buChar char="q"/>
            </a:pPr>
            <a:r>
              <a:rPr lang="en-PK" sz="900" dirty="0"/>
              <a:t>R1(config-if)# ip</a:t>
            </a:r>
            <a:r>
              <a:rPr lang="en-US" sz="900" dirty="0"/>
              <a:t>  </a:t>
            </a:r>
            <a:r>
              <a:rPr lang="en-PK" sz="900" dirty="0"/>
              <a:t> nat </a:t>
            </a:r>
            <a:r>
              <a:rPr lang="en-US" sz="900" dirty="0"/>
              <a:t>  </a:t>
            </a:r>
            <a:r>
              <a:rPr lang="en-PK" sz="900" dirty="0"/>
              <a:t>outside</a:t>
            </a:r>
          </a:p>
          <a:p>
            <a:pPr marL="285750" indent="-285750">
              <a:buFont typeface="Wingdings" panose="05000000000000000000" pitchFamily="2" charset="2"/>
              <a:buChar char="q"/>
            </a:pPr>
            <a:r>
              <a:rPr lang="en-PK" sz="900" dirty="0"/>
              <a:t>R1(config-if)# exit</a:t>
            </a:r>
            <a:endParaRPr lang="en-US" sz="900" dirty="0"/>
          </a:p>
          <a:p>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endParaRPr lang="en-US" sz="900" dirty="0"/>
          </a:p>
        </p:txBody>
      </p:sp>
      <p:sp>
        <p:nvSpPr>
          <p:cNvPr id="12" name="TextBox 11">
            <a:extLst>
              <a:ext uri="{FF2B5EF4-FFF2-40B4-BE49-F238E27FC236}">
                <a16:creationId xmlns:a16="http://schemas.microsoft.com/office/drawing/2014/main" id="{5BDB5600-6212-747C-2038-29672E6DD538}"/>
              </a:ext>
            </a:extLst>
          </p:cNvPr>
          <p:cNvSpPr txBox="1"/>
          <p:nvPr/>
        </p:nvSpPr>
        <p:spPr>
          <a:xfrm>
            <a:off x="250039" y="674378"/>
            <a:ext cx="4172423" cy="2215991"/>
          </a:xfrm>
          <a:prstGeom prst="rect">
            <a:avLst/>
          </a:prstGeom>
          <a:noFill/>
        </p:spPr>
        <p:txBody>
          <a:bodyPr wrap="square">
            <a:spAutoFit/>
          </a:bodyPr>
          <a:lstStyle/>
          <a:p>
            <a:r>
              <a:rPr lang="en-US" sz="1200" dirty="0">
                <a:highlight>
                  <a:srgbClr val="00FFFF"/>
                </a:highlight>
              </a:rPr>
              <a:t>R1</a:t>
            </a:r>
          </a:p>
          <a:p>
            <a:pPr marL="285750" indent="-285750">
              <a:buFont typeface="Wingdings" panose="05000000000000000000" pitchFamily="2" charset="2"/>
              <a:buChar char="q"/>
            </a:pPr>
            <a:r>
              <a:rPr lang="en-PK" sz="900" dirty="0"/>
              <a:t>R1(config)# interface fa0/0</a:t>
            </a:r>
          </a:p>
          <a:p>
            <a:pPr marL="285750" indent="-285750">
              <a:buFont typeface="Wingdings" panose="05000000000000000000" pitchFamily="2" charset="2"/>
              <a:buChar char="q"/>
            </a:pPr>
            <a:r>
              <a:rPr lang="en-PK" sz="900" dirty="0"/>
              <a:t>R1(config-if)# ip </a:t>
            </a:r>
            <a:r>
              <a:rPr lang="en-US" sz="900" dirty="0"/>
              <a:t> address 200.100.50.100  255.255.255.0</a:t>
            </a:r>
            <a:endParaRPr lang="en-PK" sz="900" dirty="0"/>
          </a:p>
          <a:p>
            <a:pPr marL="285750" indent="-285750">
              <a:buFont typeface="Wingdings" panose="05000000000000000000" pitchFamily="2" charset="2"/>
              <a:buChar char="q"/>
            </a:pPr>
            <a:r>
              <a:rPr lang="en-PK" sz="900" dirty="0"/>
              <a:t>R1(config-if)# </a:t>
            </a:r>
            <a:r>
              <a:rPr lang="en-US" sz="900" dirty="0"/>
              <a:t>no shutdown</a:t>
            </a:r>
            <a:endParaRPr lang="en-PK" sz="900" dirty="0"/>
          </a:p>
          <a:p>
            <a:pPr marL="285750" indent="-285750">
              <a:buFont typeface="Wingdings" panose="05000000000000000000" pitchFamily="2" charset="2"/>
              <a:buChar char="q"/>
            </a:pPr>
            <a:r>
              <a:rPr lang="en-PK" sz="900" dirty="0"/>
              <a:t>R1(config-if)# </a:t>
            </a:r>
            <a:r>
              <a:rPr lang="en-US" sz="900" dirty="0"/>
              <a:t>exit</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sz="900" dirty="0"/>
              <a:t>R1(config)# interface s0/0</a:t>
            </a:r>
          </a:p>
          <a:p>
            <a:pPr marL="285750" indent="-285750">
              <a:buFont typeface="Wingdings" panose="05000000000000000000" pitchFamily="2" charset="2"/>
              <a:buChar char="q"/>
            </a:pPr>
            <a:r>
              <a:rPr lang="en-US" sz="900" dirty="0"/>
              <a:t>R1(config-if)# ip address 1.1.1.1  255.0.0.0</a:t>
            </a:r>
          </a:p>
          <a:p>
            <a:pPr marL="285750" indent="-285750">
              <a:buFont typeface="Wingdings" panose="05000000000000000000" pitchFamily="2" charset="2"/>
              <a:buChar char="q"/>
            </a:pPr>
            <a:r>
              <a:rPr lang="en-US" sz="900" dirty="0"/>
              <a:t>R1(config-if)# no shutdown</a:t>
            </a:r>
          </a:p>
          <a:p>
            <a:pPr marL="285750" indent="-285750">
              <a:buFont typeface="Wingdings" panose="05000000000000000000" pitchFamily="2" charset="2"/>
              <a:buChar char="q"/>
            </a:pPr>
            <a:r>
              <a:rPr lang="en-US" sz="900" dirty="0"/>
              <a:t>R1(config-if)# exit</a:t>
            </a:r>
          </a:p>
          <a:p>
            <a:pPr marL="285750" indent="-285750">
              <a:buFont typeface="Wingdings" panose="05000000000000000000" pitchFamily="2" charset="2"/>
              <a:buChar char="q"/>
            </a:pPr>
            <a:endParaRPr lang="en-PK" sz="900" dirty="0"/>
          </a:p>
          <a:p>
            <a:pPr marL="285750" indent="-285750">
              <a:buFont typeface="Wingdings" panose="05000000000000000000" pitchFamily="2" charset="2"/>
              <a:buChar char="q"/>
            </a:pPr>
            <a:r>
              <a:rPr lang="en-PK" sz="900" dirty="0"/>
              <a:t>R1(config)# </a:t>
            </a:r>
            <a:r>
              <a:rPr lang="en-US" sz="900" dirty="0"/>
              <a:t>router rip</a:t>
            </a:r>
          </a:p>
          <a:p>
            <a:pPr marL="285750" indent="-285750">
              <a:buFont typeface="Wingdings" panose="05000000000000000000" pitchFamily="2" charset="2"/>
              <a:buChar char="q"/>
            </a:pPr>
            <a:r>
              <a:rPr lang="en-PK" sz="900" dirty="0"/>
              <a:t>R1(config)# </a:t>
            </a:r>
            <a:r>
              <a:rPr lang="en-US" sz="900" dirty="0"/>
              <a:t>network 200.100.50.0</a:t>
            </a:r>
          </a:p>
          <a:p>
            <a:pPr marL="285750" indent="-285750">
              <a:buFont typeface="Wingdings" panose="05000000000000000000" pitchFamily="2" charset="2"/>
              <a:buChar char="q"/>
            </a:pPr>
            <a:r>
              <a:rPr lang="en-PK" sz="900" dirty="0"/>
              <a:t>R1(config)# </a:t>
            </a:r>
            <a:r>
              <a:rPr lang="en-US" sz="900" dirty="0"/>
              <a:t>network 1.0.0.0</a:t>
            </a:r>
            <a:endParaRPr lang="en-PK" sz="900" dirty="0"/>
          </a:p>
          <a:p>
            <a:pPr marL="285750" indent="-285750">
              <a:buFont typeface="Wingdings" panose="05000000000000000000" pitchFamily="2" charset="2"/>
              <a:buChar char="q"/>
            </a:pPr>
            <a:r>
              <a:rPr lang="en-PK" sz="900" dirty="0"/>
              <a:t>R1(config-if)# exit</a:t>
            </a:r>
            <a:endParaRPr lang="en-US" sz="900" dirty="0"/>
          </a:p>
        </p:txBody>
      </p:sp>
      <p:sp>
        <p:nvSpPr>
          <p:cNvPr id="14" name="TextBox 13">
            <a:extLst>
              <a:ext uri="{FF2B5EF4-FFF2-40B4-BE49-F238E27FC236}">
                <a16:creationId xmlns:a16="http://schemas.microsoft.com/office/drawing/2014/main" id="{BC7B3538-8CB0-5FFE-2B33-F43993B4D065}"/>
              </a:ext>
            </a:extLst>
          </p:cNvPr>
          <p:cNvSpPr txBox="1"/>
          <p:nvPr/>
        </p:nvSpPr>
        <p:spPr>
          <a:xfrm>
            <a:off x="3877733" y="3710642"/>
            <a:ext cx="4248821" cy="307777"/>
          </a:xfrm>
          <a:prstGeom prst="rect">
            <a:avLst/>
          </a:prstGeom>
          <a:noFill/>
        </p:spPr>
        <p:txBody>
          <a:bodyPr wrap="square">
            <a:spAutoFit/>
          </a:bodyPr>
          <a:lstStyle/>
          <a:p>
            <a:r>
              <a:rPr lang="en-US" b="1" dirty="0"/>
              <a:t>R1# show ip nat translations              </a:t>
            </a:r>
            <a:r>
              <a:rPr lang="en-US" dirty="0">
                <a:highlight>
                  <a:srgbClr val="00FF00"/>
                </a:highlight>
              </a:rPr>
              <a:t>Result </a:t>
            </a:r>
          </a:p>
        </p:txBody>
      </p:sp>
      <p:sp>
        <p:nvSpPr>
          <p:cNvPr id="16" name="Arrow: Right 15">
            <a:extLst>
              <a:ext uri="{FF2B5EF4-FFF2-40B4-BE49-F238E27FC236}">
                <a16:creationId xmlns:a16="http://schemas.microsoft.com/office/drawing/2014/main" id="{F97EF0DD-1D7B-9768-A190-30536B6D4E28}"/>
              </a:ext>
            </a:extLst>
          </p:cNvPr>
          <p:cNvSpPr/>
          <p:nvPr/>
        </p:nvSpPr>
        <p:spPr>
          <a:xfrm>
            <a:off x="6517753" y="3841670"/>
            <a:ext cx="364067" cy="45719"/>
          </a:xfrm>
          <a:prstGeom prst="rightArrow">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559025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6D213-44CC-373C-070D-CF389FC1880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9DC473-3225-E594-5E96-95FBC8678EF7}"/>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77145A60-6AE4-3F4D-19AC-73F2F53A44FE}"/>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CE78B051-1136-299C-E644-A8FA873B4C65}"/>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83103746-9656-EBC3-C588-7B35BE4C655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B47ACAF-12DC-1078-28A1-89C62AEAB8BB}"/>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PAT (Port Address Translation) </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23CDC1CB-E5F0-407C-3763-8A89413BBD0B}"/>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D1110F51-A40D-FB0C-7F5D-9943B6250300}"/>
              </a:ext>
            </a:extLst>
          </p:cNvPr>
          <p:cNvSpPr txBox="1"/>
          <p:nvPr/>
        </p:nvSpPr>
        <p:spPr>
          <a:xfrm>
            <a:off x="255939" y="377324"/>
            <a:ext cx="3046062" cy="276999"/>
          </a:xfrm>
          <a:prstGeom prst="rect">
            <a:avLst/>
          </a:prstGeom>
          <a:noFill/>
        </p:spPr>
        <p:txBody>
          <a:bodyPr wrap="square">
            <a:spAutoFit/>
          </a:bodyPr>
          <a:lstStyle/>
          <a:p>
            <a:r>
              <a:rPr lang="en-US" sz="1200" dirty="0">
                <a:highlight>
                  <a:srgbClr val="00FFFF"/>
                </a:highlight>
              </a:rPr>
              <a:t>Configuration Summary:</a:t>
            </a:r>
          </a:p>
        </p:txBody>
      </p:sp>
      <p:sp>
        <p:nvSpPr>
          <p:cNvPr id="12" name="TextBox 11">
            <a:extLst>
              <a:ext uri="{FF2B5EF4-FFF2-40B4-BE49-F238E27FC236}">
                <a16:creationId xmlns:a16="http://schemas.microsoft.com/office/drawing/2014/main" id="{70861B06-E115-0AD5-BFBF-CCF643FAECA4}"/>
              </a:ext>
            </a:extLst>
          </p:cNvPr>
          <p:cNvSpPr txBox="1"/>
          <p:nvPr/>
        </p:nvSpPr>
        <p:spPr>
          <a:xfrm>
            <a:off x="250039" y="674378"/>
            <a:ext cx="8597628" cy="923330"/>
          </a:xfrm>
          <a:prstGeom prst="rect">
            <a:avLst/>
          </a:prstGeom>
          <a:noFill/>
        </p:spPr>
        <p:txBody>
          <a:bodyPr wrap="square">
            <a:spAutoFit/>
          </a:bodyPr>
          <a:lstStyle/>
          <a:p>
            <a:endParaRPr lang="en-US" sz="1200" dirty="0">
              <a:highlight>
                <a:srgbClr val="00FFFF"/>
              </a:highlight>
            </a:endParaRPr>
          </a:p>
          <a:p>
            <a:r>
              <a:rPr lang="en-US" dirty="0"/>
              <a:t>In PAT, we don't need the ip nat pool command because it uses a single public IP address (usually the interface IP) for all internal devices, differentiating them by port numbers. The overload option allows multiple internal devices to share the same public IP, so a pool of IP addresses is not required.</a:t>
            </a:r>
          </a:p>
        </p:txBody>
      </p:sp>
    </p:spTree>
    <p:extLst>
      <p:ext uri="{BB962C8B-B14F-4D97-AF65-F5344CB8AC3E}">
        <p14:creationId xmlns:p14="http://schemas.microsoft.com/office/powerpoint/2010/main" val="116163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80BB0-D46C-0589-39F8-1AE328951EC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2471593-7619-0EEE-25F7-AC85E497C4E7}"/>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CEE1978-5778-798D-45CE-249E3113941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CB01376-77CC-2C79-23F2-290EB6B6C6B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53AD44E-D116-CF1F-929F-811D3DBA237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EA5C46B-FD32-AAF1-AD06-EF2D8FD77C74}"/>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NTP (Network Time Protocol)</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9157FE4D-E855-0126-7E55-383E4CB403FA}"/>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7E0162B7-7932-F6D8-24CF-404CA2C35201}"/>
              </a:ext>
            </a:extLst>
          </p:cNvPr>
          <p:cNvSpPr txBox="1"/>
          <p:nvPr/>
        </p:nvSpPr>
        <p:spPr>
          <a:xfrm>
            <a:off x="230871" y="525851"/>
            <a:ext cx="8597628" cy="2323713"/>
          </a:xfrm>
          <a:prstGeom prst="rect">
            <a:avLst/>
          </a:prstGeom>
          <a:noFill/>
        </p:spPr>
        <p:txBody>
          <a:bodyPr wrap="square">
            <a:spAutoFit/>
          </a:bodyPr>
          <a:lstStyle/>
          <a:p>
            <a:endParaRPr lang="en-US" sz="1200" dirty="0">
              <a:highlight>
                <a:srgbClr val="00FFFF"/>
              </a:highlight>
            </a:endParaRPr>
          </a:p>
          <a:p>
            <a:r>
              <a:rPr lang="en-US" b="1" dirty="0"/>
              <a:t>What is NTP?</a:t>
            </a:r>
          </a:p>
          <a:p>
            <a:r>
              <a:rPr lang="en-US" sz="1100" dirty="0"/>
              <a:t>NTP (Network Time Protocol) is used to synchronize the time of network devices to a reference time source.</a:t>
            </a:r>
          </a:p>
          <a:p>
            <a:endParaRPr lang="en-US" dirty="0"/>
          </a:p>
          <a:p>
            <a:endParaRPr lang="en-US" dirty="0"/>
          </a:p>
          <a:p>
            <a:r>
              <a:rPr lang="en-US" b="1" dirty="0"/>
              <a:t>What is the Purpose of an NTP Server?</a:t>
            </a:r>
            <a:endParaRPr lang="en-US" dirty="0"/>
          </a:p>
          <a:p>
            <a:r>
              <a:rPr lang="en-US" sz="1100" dirty="0"/>
              <a:t>An NTP (Network Time Protocol) server ensures that all devices in a network have accurate and synchronized time. This is important for:</a:t>
            </a:r>
          </a:p>
          <a:p>
            <a:endParaRPr lang="en-US" sz="1100" dirty="0"/>
          </a:p>
          <a:p>
            <a:r>
              <a:rPr lang="en-US" sz="1100" dirty="0"/>
              <a:t>✅ Logging &amp; Security – Accurate timestamps are crucial for tracking events in logs (e.g., system logs, security logs).</a:t>
            </a:r>
          </a:p>
          <a:p>
            <a:r>
              <a:rPr lang="en-US" sz="1100" dirty="0"/>
              <a:t>✅ Network Coordination – Many network protocols (e.g., authentication, file transfers) rely on synchronized time.</a:t>
            </a:r>
          </a:p>
          <a:p>
            <a:r>
              <a:rPr lang="en-US" sz="1100" dirty="0"/>
              <a:t>✅ Avoiding Errors – Some applications may fail if the time is not synchronized across devices.</a:t>
            </a:r>
          </a:p>
        </p:txBody>
      </p:sp>
    </p:spTree>
    <p:extLst>
      <p:ext uri="{BB962C8B-B14F-4D97-AF65-F5344CB8AC3E}">
        <p14:creationId xmlns:p14="http://schemas.microsoft.com/office/powerpoint/2010/main" val="51482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64761-7388-11F3-9099-80F266B347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C9F1AA-98AF-D050-AEE7-8BDCC2B4DBF9}"/>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EB07DFA-3900-05FC-9BD5-625E02FFD74E}"/>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FE178D8-A232-8AD1-8D8C-D2CC229FAA17}"/>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CC7A39A-7838-A639-2444-E453FC5B2B56}"/>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F46E75E8-6206-EBEF-9977-7808F2432F05}"/>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NTP (Network Time Protocol)</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AF5B6FD1-DE75-22B4-FD48-4AF6F59B0458}"/>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76FFC541-FED9-C5E3-589D-AD9EC6239198}"/>
              </a:ext>
            </a:extLst>
          </p:cNvPr>
          <p:cNvSpPr txBox="1"/>
          <p:nvPr/>
        </p:nvSpPr>
        <p:spPr>
          <a:xfrm>
            <a:off x="230871" y="470490"/>
            <a:ext cx="8972396" cy="3877985"/>
          </a:xfrm>
          <a:prstGeom prst="rect">
            <a:avLst/>
          </a:prstGeom>
          <a:noFill/>
        </p:spPr>
        <p:txBody>
          <a:bodyPr wrap="square">
            <a:spAutoFit/>
          </a:bodyPr>
          <a:lstStyle/>
          <a:p>
            <a:endParaRPr lang="en-US" sz="1200" dirty="0">
              <a:highlight>
                <a:srgbClr val="00FFFF"/>
              </a:highlight>
            </a:endParaRPr>
          </a:p>
          <a:p>
            <a:r>
              <a:rPr lang="en-US" b="1" dirty="0"/>
              <a:t>How NTP works in Cisco routers?</a:t>
            </a:r>
            <a:endParaRPr lang="en-US" sz="2000" b="1" dirty="0"/>
          </a:p>
          <a:p>
            <a:pPr marL="171450" indent="-171450">
              <a:buFont typeface="Wingdings" panose="05000000000000000000" pitchFamily="2" charset="2"/>
              <a:buChar char="ü"/>
            </a:pPr>
            <a:r>
              <a:rPr lang="en-US" sz="1100" dirty="0"/>
              <a:t>One device (R1) acts as the NTP Server (time source).</a:t>
            </a:r>
          </a:p>
          <a:p>
            <a:pPr marL="171450" indent="-171450">
              <a:buFont typeface="Wingdings" panose="05000000000000000000" pitchFamily="2" charset="2"/>
              <a:buChar char="ü"/>
            </a:pPr>
            <a:r>
              <a:rPr lang="en-US" sz="1100" dirty="0"/>
              <a:t>The other routers (R2, R3, R4) can be configured as NTP Clients.</a:t>
            </a:r>
          </a:p>
          <a:p>
            <a:endParaRPr lang="en-US" sz="1100" dirty="0"/>
          </a:p>
          <a:p>
            <a:endParaRPr lang="en-US" sz="1100" dirty="0"/>
          </a:p>
          <a:p>
            <a:r>
              <a:rPr lang="en-US" sz="1100" dirty="0"/>
              <a:t>If you configure R1 as the NTP Master (Server) and configure R2, R3, R4 as NTP Clients pointing to R1:</a:t>
            </a:r>
          </a:p>
          <a:p>
            <a:r>
              <a:rPr lang="en-US" sz="1100" dirty="0"/>
              <a:t>✅ All routers will get the correct time from R1 (if they have IP connectivity).</a:t>
            </a:r>
          </a:p>
          <a:p>
            <a:endParaRPr lang="en-US" sz="1100" dirty="0"/>
          </a:p>
          <a:p>
            <a:endParaRPr lang="en-US" sz="1100" dirty="0"/>
          </a:p>
          <a:p>
            <a:r>
              <a:rPr lang="en-US" sz="1100" dirty="0"/>
              <a:t>If you configure only R2 as client of R1, and R3 as client of R2, and R4 as client of R3:</a:t>
            </a:r>
          </a:p>
          <a:p>
            <a:r>
              <a:rPr lang="en-US" sz="1100" dirty="0"/>
              <a:t>✅ They will still get the time, but through a hierarchy (chain).</a:t>
            </a:r>
          </a:p>
          <a:p>
            <a:endParaRPr lang="en-US" sz="1100" dirty="0"/>
          </a:p>
          <a:p>
            <a:endParaRPr lang="en-US" sz="1100" dirty="0"/>
          </a:p>
          <a:p>
            <a:r>
              <a:rPr lang="en-US" sz="1100" dirty="0"/>
              <a:t>NTP can work directly (all point to R1) or in a hierarchy (R2 → R3 → R4).</a:t>
            </a:r>
          </a:p>
          <a:p>
            <a:r>
              <a:rPr lang="en-US" sz="1100" dirty="0"/>
              <a:t>For accuracy, it’s better if all devices point to the same main NTP source (R1 in this case).</a:t>
            </a:r>
          </a:p>
          <a:p>
            <a:endParaRPr lang="en-US" sz="1100" dirty="0"/>
          </a:p>
          <a:p>
            <a:endParaRPr lang="en-US" sz="1100" dirty="0"/>
          </a:p>
          <a:p>
            <a:endParaRPr lang="en-US" sz="1100" dirty="0"/>
          </a:p>
          <a:p>
            <a:pPr marL="171450" indent="-171450">
              <a:buFont typeface="Wingdings" panose="05000000000000000000" pitchFamily="2" charset="2"/>
              <a:buChar char="ü"/>
            </a:pPr>
            <a:r>
              <a:rPr lang="en-US" sz="1100" dirty="0"/>
              <a:t>Computers (PCs, laptops, servers, etc.) can also act as NTP clients. If your R1 router is configured as an NTP server, then any device (router, switch, computer) that supports NTP can synchronize its time with R1.</a:t>
            </a:r>
          </a:p>
          <a:p>
            <a:pPr marL="171450" indent="-171450">
              <a:buFont typeface="Wingdings" panose="05000000000000000000" pitchFamily="2" charset="2"/>
              <a:buChar char="ü"/>
            </a:pPr>
            <a:r>
              <a:rPr lang="en-US" sz="1100" dirty="0"/>
              <a:t>You just need to point the computer’s NTP settings to R1’s IP address.</a:t>
            </a:r>
          </a:p>
        </p:txBody>
      </p:sp>
    </p:spTree>
    <p:extLst>
      <p:ext uri="{BB962C8B-B14F-4D97-AF65-F5344CB8AC3E}">
        <p14:creationId xmlns:p14="http://schemas.microsoft.com/office/powerpoint/2010/main" val="17747115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A5589-34FD-8459-0799-EF5AD31C9A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697E81C-49F8-1FF7-5A9D-E7AAB9DE1E0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D92EFA75-9FD1-C49C-A23B-A3F529F46C5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AFEF7B6-6772-8871-680A-2C3672CB8B55}"/>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78AB1FB-CE00-94C9-89B9-4D1E7C1AEA7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B9CD1E7-FC50-D5CD-FC05-2FEAAFDBA610}"/>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NTP (Network Time Protocol)</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3FAB414F-7990-2A8E-E995-46EBAE6E5EEA}"/>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0761E5AD-140B-76EF-246A-5BB73EFE9402}"/>
              </a:ext>
            </a:extLst>
          </p:cNvPr>
          <p:cNvSpPr txBox="1"/>
          <p:nvPr/>
        </p:nvSpPr>
        <p:spPr>
          <a:xfrm>
            <a:off x="250039" y="674378"/>
            <a:ext cx="8597628" cy="4139595"/>
          </a:xfrm>
          <a:prstGeom prst="rect">
            <a:avLst/>
          </a:prstGeom>
          <a:noFill/>
        </p:spPr>
        <p:txBody>
          <a:bodyPr wrap="square">
            <a:spAutoFit/>
          </a:bodyPr>
          <a:lstStyle/>
          <a:p>
            <a:r>
              <a:rPr lang="en-US" b="1" dirty="0"/>
              <a:t>Example:</a:t>
            </a:r>
          </a:p>
          <a:p>
            <a:endParaRPr lang="en-US" sz="2000" b="1" dirty="0"/>
          </a:p>
          <a:p>
            <a:r>
              <a:rPr lang="en-US" sz="1100" dirty="0"/>
              <a:t>If your router is an NTP server, then:</a:t>
            </a: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ü"/>
            </a:pPr>
            <a:r>
              <a:rPr lang="en-US" sz="1100" dirty="0"/>
              <a:t>Your computers and devices (clients) will sync their clocks with the router.</a:t>
            </a:r>
          </a:p>
          <a:p>
            <a:pPr marL="171450" indent="-171450">
              <a:buFont typeface="Wingdings" panose="05000000000000000000" pitchFamily="2" charset="2"/>
              <a:buChar char="ü"/>
            </a:pPr>
            <a:endParaRPr lang="en-US" sz="1100" dirty="0"/>
          </a:p>
          <a:p>
            <a:pPr marL="285750" indent="-285750">
              <a:buFont typeface="Wingdings" panose="05000000000000000000" pitchFamily="2" charset="2"/>
              <a:buChar char="ü"/>
            </a:pPr>
            <a:r>
              <a:rPr lang="en-US" sz="1100" dirty="0"/>
              <a:t>If the router's time is accurate, all devices will have the same, correct time.</a:t>
            </a:r>
          </a:p>
          <a:p>
            <a:pPr marL="171450" indent="-171450">
              <a:buFont typeface="Wingdings" panose="05000000000000000000" pitchFamily="2" charset="2"/>
              <a:buChar char="ü"/>
            </a:pPr>
            <a:endParaRPr lang="en-US" sz="1100" dirty="0"/>
          </a:p>
          <a:p>
            <a:pPr marL="285750" indent="-285750">
              <a:buFont typeface="Wingdings" panose="05000000000000000000" pitchFamily="2" charset="2"/>
              <a:buChar char="ü"/>
            </a:pPr>
            <a:r>
              <a:rPr lang="en-US" sz="1100" dirty="0"/>
              <a:t>If the router is not properly synced, clients may get incorrect timestamps.</a:t>
            </a:r>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endParaRPr lang="en-US" sz="1100" dirty="0"/>
          </a:p>
          <a:p>
            <a:r>
              <a:rPr lang="en-US" b="1" dirty="0"/>
              <a:t>Can NTP be a separate server?</a:t>
            </a:r>
          </a:p>
          <a:p>
            <a:r>
              <a:rPr lang="en-US" sz="1100" dirty="0"/>
              <a:t>Yes, NTP can be a dedicated server that provides accurate time synchronization to other devices</a:t>
            </a:r>
          </a:p>
          <a:p>
            <a:endParaRPr lang="en-US" sz="1100" dirty="0"/>
          </a:p>
          <a:p>
            <a:endParaRPr lang="en-US" sz="1100" dirty="0"/>
          </a:p>
          <a:p>
            <a:endParaRPr lang="en-US" sz="1100" dirty="0"/>
          </a:p>
          <a:p>
            <a:r>
              <a:rPr lang="en-US" b="1" dirty="0"/>
              <a:t>Can a router be configured as an NTP server?</a:t>
            </a:r>
          </a:p>
          <a:p>
            <a:r>
              <a:rPr lang="en-US" sz="1100" dirty="0"/>
              <a:t>Yes, a router can be configured as an NTP server to provide time synchronization to other network devices.</a:t>
            </a:r>
          </a:p>
          <a:p>
            <a:endParaRPr lang="en-US" sz="1100" dirty="0"/>
          </a:p>
        </p:txBody>
      </p:sp>
    </p:spTree>
    <p:extLst>
      <p:ext uri="{BB962C8B-B14F-4D97-AF65-F5344CB8AC3E}">
        <p14:creationId xmlns:p14="http://schemas.microsoft.com/office/powerpoint/2010/main" val="5592184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E4347-ADD2-8BFC-9588-0AA94AFC8F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DDB55C6-EEDE-DDA4-1014-8A0317DDBC1A}"/>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D1672BCB-4CD4-DCAE-D420-B0AA50B2A299}"/>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D8197A7-1CF3-99C6-26F3-4AF2926D50DC}"/>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4EF83F60-5305-0475-2B60-924B12A73160}"/>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6624C7A0-B84F-B2F3-8421-7476B94D5A44}"/>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NTP (Network Time Protocol)</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61495576-4790-245B-2AF7-AA00B08D77CD}"/>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9C478B9C-F3B3-1ADF-0AB6-E7CB67313EAD}"/>
              </a:ext>
            </a:extLst>
          </p:cNvPr>
          <p:cNvSpPr txBox="1"/>
          <p:nvPr/>
        </p:nvSpPr>
        <p:spPr>
          <a:xfrm>
            <a:off x="220279" y="384806"/>
            <a:ext cx="4842787" cy="3662541"/>
          </a:xfrm>
          <a:prstGeom prst="rect">
            <a:avLst/>
          </a:prstGeom>
          <a:noFill/>
        </p:spPr>
        <p:txBody>
          <a:bodyPr wrap="square">
            <a:spAutoFit/>
          </a:bodyPr>
          <a:lstStyle/>
          <a:p>
            <a:endParaRPr lang="en-US" sz="1200" dirty="0">
              <a:highlight>
                <a:srgbClr val="00FFFF"/>
              </a:highlight>
            </a:endParaRPr>
          </a:p>
          <a:p>
            <a:r>
              <a:rPr lang="en-US" b="1" dirty="0"/>
              <a:t>NTP as a separate server:</a:t>
            </a:r>
          </a:p>
          <a:p>
            <a:endParaRPr lang="en-US" dirty="0"/>
          </a:p>
          <a:p>
            <a:pPr marL="285750" indent="-285750">
              <a:buFont typeface="Wingdings" panose="05000000000000000000" pitchFamily="2" charset="2"/>
              <a:buChar char="q"/>
            </a:pPr>
            <a:r>
              <a:rPr lang="en-US" sz="1100" dirty="0"/>
              <a:t>Router</a:t>
            </a:r>
            <a:r>
              <a:rPr lang="en-PK" sz="1100" dirty="0"/>
              <a:t>(config)# interface </a:t>
            </a:r>
            <a:r>
              <a:rPr lang="en-US" sz="1100" dirty="0"/>
              <a:t> </a:t>
            </a:r>
            <a:r>
              <a:rPr lang="en-PK" sz="1100" dirty="0"/>
              <a:t>fa0/0</a:t>
            </a:r>
          </a:p>
          <a:p>
            <a:pPr marL="285750" indent="-285750">
              <a:buFont typeface="Wingdings" panose="05000000000000000000" pitchFamily="2" charset="2"/>
              <a:buChar char="q"/>
            </a:pPr>
            <a:r>
              <a:rPr lang="en-US" sz="1100" dirty="0"/>
              <a:t>Router</a:t>
            </a:r>
            <a:r>
              <a:rPr lang="en-PK" sz="1100" dirty="0"/>
              <a:t>(config-if)# ip </a:t>
            </a:r>
            <a:r>
              <a:rPr lang="en-US" sz="1100" dirty="0"/>
              <a:t> address 192.168.1.1   255.255.255.0</a:t>
            </a:r>
            <a:endParaRPr lang="en-PK" sz="1100" dirty="0"/>
          </a:p>
          <a:p>
            <a:pPr marL="285750" indent="-285750">
              <a:buFont typeface="Wingdings" panose="05000000000000000000" pitchFamily="2" charset="2"/>
              <a:buChar char="q"/>
            </a:pPr>
            <a:r>
              <a:rPr lang="en-US" sz="1100" dirty="0"/>
              <a:t>Router</a:t>
            </a:r>
            <a:r>
              <a:rPr lang="en-PK" sz="1100" dirty="0"/>
              <a:t>(config-if)# </a:t>
            </a:r>
            <a:r>
              <a:rPr lang="en-US" sz="1100" dirty="0"/>
              <a:t>no shutdown</a:t>
            </a:r>
            <a:endParaRPr lang="en-PK" sz="1100" dirty="0"/>
          </a:p>
          <a:p>
            <a:pPr marL="285750" indent="-285750">
              <a:buFont typeface="Wingdings" panose="05000000000000000000" pitchFamily="2" charset="2"/>
              <a:buChar char="q"/>
            </a:pPr>
            <a:r>
              <a:rPr lang="en-US" sz="1100" dirty="0"/>
              <a:t>Router</a:t>
            </a:r>
            <a:r>
              <a:rPr lang="en-PK" sz="1100" dirty="0"/>
              <a:t>(config-if)# </a:t>
            </a:r>
            <a:r>
              <a:rPr lang="en-US" sz="1100" dirty="0"/>
              <a:t>exit</a:t>
            </a:r>
          </a:p>
          <a:p>
            <a:pPr marL="285750" indent="-285750">
              <a:buFont typeface="Wingdings" panose="05000000000000000000" pitchFamily="2" charset="2"/>
              <a:buChar char="q"/>
            </a:pPr>
            <a:r>
              <a:rPr lang="en-US" sz="1100" dirty="0"/>
              <a:t>Router</a:t>
            </a:r>
            <a:r>
              <a:rPr lang="en-PK" sz="1100" dirty="0"/>
              <a:t>(config)# </a:t>
            </a:r>
            <a:r>
              <a:rPr lang="en-US" sz="1100" dirty="0"/>
              <a:t>ntp server  192.168.1.2</a:t>
            </a:r>
          </a:p>
          <a:p>
            <a:pPr marL="285750" indent="-285750">
              <a:buFont typeface="Wingdings" panose="05000000000000000000" pitchFamily="2" charset="2"/>
              <a:buChar char="q"/>
            </a:pPr>
            <a:endParaRPr lang="en-US" sz="1100" dirty="0"/>
          </a:p>
          <a:p>
            <a:pPr marL="285750" indent="-285750">
              <a:buFont typeface="Wingdings" panose="05000000000000000000" pitchFamily="2" charset="2"/>
              <a:buChar char="q"/>
            </a:pPr>
            <a:endParaRPr lang="en-PK" sz="1100" dirty="0"/>
          </a:p>
          <a:p>
            <a:r>
              <a:rPr lang="en-US" sz="1100" dirty="0"/>
              <a:t>	</a:t>
            </a: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endParaRPr lang="en-US" sz="900" dirty="0"/>
          </a:p>
          <a:p>
            <a:r>
              <a:rPr lang="en-US" sz="1100" b="1" dirty="0"/>
              <a:t>Result: </a:t>
            </a:r>
          </a:p>
          <a:p>
            <a:r>
              <a:rPr lang="en-US" sz="1000" b="1" dirty="0">
                <a:highlight>
                  <a:srgbClr val="00FF00"/>
                </a:highlight>
              </a:rPr>
              <a:t>Router# show ntp status</a:t>
            </a:r>
          </a:p>
          <a:p>
            <a:r>
              <a:rPr lang="en-US" sz="1000" b="1" dirty="0">
                <a:highlight>
                  <a:srgbClr val="00FF00"/>
                </a:highlight>
              </a:rPr>
              <a:t>Router# show ntp associations</a:t>
            </a:r>
          </a:p>
          <a:p>
            <a:r>
              <a:rPr lang="en-US" sz="1000" b="1" dirty="0">
                <a:highlight>
                  <a:srgbClr val="00FF00"/>
                </a:highlight>
              </a:rPr>
              <a:t>Router# show clock</a:t>
            </a:r>
          </a:p>
          <a:p>
            <a:endParaRPr lang="en-US" sz="900" dirty="0"/>
          </a:p>
          <a:p>
            <a:endParaRPr lang="en-US" dirty="0"/>
          </a:p>
        </p:txBody>
      </p:sp>
      <p:pic>
        <p:nvPicPr>
          <p:cNvPr id="7" name="Picture 6">
            <a:extLst>
              <a:ext uri="{FF2B5EF4-FFF2-40B4-BE49-F238E27FC236}">
                <a16:creationId xmlns:a16="http://schemas.microsoft.com/office/drawing/2014/main" id="{673C34CB-9C33-A666-87D8-1CFE198EB1B0}"/>
              </a:ext>
            </a:extLst>
          </p:cNvPr>
          <p:cNvPicPr>
            <a:picLocks noChangeAspect="1"/>
          </p:cNvPicPr>
          <p:nvPr/>
        </p:nvPicPr>
        <p:blipFill>
          <a:blip r:embed="rId3"/>
          <a:stretch>
            <a:fillRect/>
          </a:stretch>
        </p:blipFill>
        <p:spPr>
          <a:xfrm>
            <a:off x="4851401" y="770005"/>
            <a:ext cx="4292600" cy="3035660"/>
          </a:xfrm>
          <a:prstGeom prst="rect">
            <a:avLst/>
          </a:prstGeom>
        </p:spPr>
      </p:pic>
    </p:spTree>
    <p:extLst>
      <p:ext uri="{BB962C8B-B14F-4D97-AF65-F5344CB8AC3E}">
        <p14:creationId xmlns:p14="http://schemas.microsoft.com/office/powerpoint/2010/main" val="40579881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2D37B-17D4-E108-ABAD-D9A96B6F996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881284-EB03-63E1-016B-9A5A1F79A32C}"/>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9D14F202-3E95-FAAA-1350-6981248E5EB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D9C5132-DB60-330B-7742-1F072707FFF2}"/>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D570E692-11EA-FD83-2884-D07FB0F11A1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EBF2527-FE43-3D3E-C0B1-AD3EABF4D000}"/>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NTP (Network Time Protocol)</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72E3A669-5724-F953-ED2E-AD8448FDE38C}"/>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DB56D7E6-BB0B-F1A4-FC71-EAC9CE485AA8}"/>
              </a:ext>
            </a:extLst>
          </p:cNvPr>
          <p:cNvSpPr txBox="1"/>
          <p:nvPr/>
        </p:nvSpPr>
        <p:spPr>
          <a:xfrm>
            <a:off x="220279" y="384806"/>
            <a:ext cx="4842787" cy="3831818"/>
          </a:xfrm>
          <a:prstGeom prst="rect">
            <a:avLst/>
          </a:prstGeom>
          <a:noFill/>
        </p:spPr>
        <p:txBody>
          <a:bodyPr wrap="square">
            <a:spAutoFit/>
          </a:bodyPr>
          <a:lstStyle/>
          <a:p>
            <a:endParaRPr lang="en-US" sz="1200" dirty="0">
              <a:highlight>
                <a:srgbClr val="00FFFF"/>
              </a:highlight>
            </a:endParaRPr>
          </a:p>
          <a:p>
            <a:r>
              <a:rPr lang="en-US" b="1" dirty="0"/>
              <a:t>Router as NTP server:</a:t>
            </a:r>
          </a:p>
          <a:p>
            <a:endParaRPr lang="en-US" dirty="0"/>
          </a:p>
          <a:p>
            <a:pPr marL="285750" indent="-285750">
              <a:buFont typeface="Wingdings" panose="05000000000000000000" pitchFamily="2" charset="2"/>
              <a:buChar char="q"/>
            </a:pPr>
            <a:r>
              <a:rPr lang="en-US" sz="1100" dirty="0"/>
              <a:t>Router# clock set 12:30:00 27 AUG 2025</a:t>
            </a:r>
          </a:p>
          <a:p>
            <a:pPr marL="285750" indent="-285750">
              <a:buFont typeface="Wingdings" panose="05000000000000000000" pitchFamily="2" charset="2"/>
              <a:buChar char="q"/>
            </a:pPr>
            <a:r>
              <a:rPr lang="en-US" sz="1100" dirty="0"/>
              <a:t>Router# configure terminal</a:t>
            </a:r>
          </a:p>
          <a:p>
            <a:pPr marL="285750" indent="-285750">
              <a:buFont typeface="Wingdings" panose="05000000000000000000" pitchFamily="2" charset="2"/>
              <a:buChar char="q"/>
            </a:pPr>
            <a:r>
              <a:rPr lang="en-US" sz="1100" dirty="0"/>
              <a:t>Router</a:t>
            </a:r>
            <a:r>
              <a:rPr lang="en-PK" sz="1100" dirty="0"/>
              <a:t>(config)# interface </a:t>
            </a:r>
            <a:r>
              <a:rPr lang="en-US" sz="1100" dirty="0"/>
              <a:t> </a:t>
            </a:r>
            <a:r>
              <a:rPr lang="en-PK" sz="1100" dirty="0"/>
              <a:t>fa0/0</a:t>
            </a:r>
          </a:p>
          <a:p>
            <a:pPr marL="285750" indent="-285750">
              <a:buFont typeface="Wingdings" panose="05000000000000000000" pitchFamily="2" charset="2"/>
              <a:buChar char="q"/>
            </a:pPr>
            <a:r>
              <a:rPr lang="en-US" sz="1100" dirty="0"/>
              <a:t>Router</a:t>
            </a:r>
            <a:r>
              <a:rPr lang="en-PK" sz="1100" dirty="0"/>
              <a:t>(config-if)# ip </a:t>
            </a:r>
            <a:r>
              <a:rPr lang="en-US" sz="1100" dirty="0"/>
              <a:t> address 192.168.1.1   255.255.255.0</a:t>
            </a:r>
            <a:endParaRPr lang="en-PK" sz="1100" dirty="0"/>
          </a:p>
          <a:p>
            <a:pPr marL="285750" indent="-285750">
              <a:buFont typeface="Wingdings" panose="05000000000000000000" pitchFamily="2" charset="2"/>
              <a:buChar char="q"/>
            </a:pPr>
            <a:r>
              <a:rPr lang="en-US" sz="1100" dirty="0"/>
              <a:t>Router</a:t>
            </a:r>
            <a:r>
              <a:rPr lang="en-PK" sz="1100" dirty="0"/>
              <a:t>(config-if)# </a:t>
            </a:r>
            <a:r>
              <a:rPr lang="en-US" sz="1100" dirty="0"/>
              <a:t>no shutdown</a:t>
            </a:r>
            <a:endParaRPr lang="en-PK" sz="1100" dirty="0"/>
          </a:p>
          <a:p>
            <a:pPr marL="285750" indent="-285750">
              <a:buFont typeface="Wingdings" panose="05000000000000000000" pitchFamily="2" charset="2"/>
              <a:buChar char="q"/>
            </a:pPr>
            <a:r>
              <a:rPr lang="en-US" sz="1100" dirty="0"/>
              <a:t>Router</a:t>
            </a:r>
            <a:r>
              <a:rPr lang="en-PK" sz="1100" dirty="0"/>
              <a:t>(config-if)# </a:t>
            </a:r>
            <a:r>
              <a:rPr lang="en-US" sz="1100" dirty="0"/>
              <a:t>exit</a:t>
            </a:r>
          </a:p>
          <a:p>
            <a:pPr marL="285750" indent="-285750">
              <a:buFont typeface="Wingdings" panose="05000000000000000000" pitchFamily="2" charset="2"/>
              <a:buChar char="q"/>
            </a:pPr>
            <a:endParaRPr lang="en-US" sz="1100" dirty="0"/>
          </a:p>
          <a:p>
            <a:pPr marL="285750" indent="-285750">
              <a:buFont typeface="Wingdings" panose="05000000000000000000" pitchFamily="2" charset="2"/>
              <a:buChar char="q"/>
            </a:pPr>
            <a:r>
              <a:rPr lang="en-US" sz="1100" dirty="0"/>
              <a:t>Router</a:t>
            </a:r>
            <a:r>
              <a:rPr lang="en-PK" sz="1100" dirty="0"/>
              <a:t>(config)# </a:t>
            </a:r>
            <a:r>
              <a:rPr lang="en-US" sz="1100" dirty="0"/>
              <a:t>ntp master</a:t>
            </a:r>
          </a:p>
          <a:p>
            <a:pPr marL="285750" indent="-285750">
              <a:buFont typeface="Wingdings" panose="05000000000000000000" pitchFamily="2" charset="2"/>
              <a:buChar char="q"/>
            </a:pPr>
            <a:r>
              <a:rPr lang="en-US" sz="1100" dirty="0"/>
              <a:t>Router</a:t>
            </a:r>
            <a:r>
              <a:rPr lang="en-PK" sz="1100" dirty="0"/>
              <a:t>(config)# </a:t>
            </a:r>
            <a:r>
              <a:rPr lang="en-US" sz="1100" dirty="0"/>
              <a:t>ntp server 192.168.1.1</a:t>
            </a:r>
          </a:p>
          <a:p>
            <a:endParaRPr lang="en-US" sz="1100" dirty="0"/>
          </a:p>
          <a:p>
            <a:pPr marL="285750" indent="-285750">
              <a:buFont typeface="Wingdings" panose="05000000000000000000" pitchFamily="2" charset="2"/>
              <a:buChar char="q"/>
            </a:pPr>
            <a:endParaRPr lang="en-PK" sz="1100" dirty="0"/>
          </a:p>
          <a:p>
            <a:pPr marL="285750" indent="-285750">
              <a:buFont typeface="Wingdings" panose="05000000000000000000" pitchFamily="2" charset="2"/>
              <a:buChar char="q"/>
            </a:pPr>
            <a:endParaRPr lang="en-US" sz="900" dirty="0"/>
          </a:p>
          <a:p>
            <a:endParaRPr lang="en-US" sz="900" dirty="0"/>
          </a:p>
          <a:p>
            <a:endParaRPr lang="en-US" sz="900" dirty="0"/>
          </a:p>
          <a:p>
            <a:r>
              <a:rPr lang="en-US" sz="1100" b="1" dirty="0"/>
              <a:t>Result: </a:t>
            </a:r>
          </a:p>
          <a:p>
            <a:r>
              <a:rPr lang="en-US" sz="1000" b="1" dirty="0">
                <a:highlight>
                  <a:srgbClr val="00FF00"/>
                </a:highlight>
              </a:rPr>
              <a:t>Router# show ntp status</a:t>
            </a:r>
          </a:p>
          <a:p>
            <a:r>
              <a:rPr lang="en-US" sz="1000" b="1" dirty="0">
                <a:highlight>
                  <a:srgbClr val="00FF00"/>
                </a:highlight>
              </a:rPr>
              <a:t>Router# show ntp associations</a:t>
            </a:r>
          </a:p>
          <a:p>
            <a:r>
              <a:rPr lang="en-US" sz="1000" b="1" dirty="0">
                <a:highlight>
                  <a:srgbClr val="00FF00"/>
                </a:highlight>
              </a:rPr>
              <a:t>Router# show clock</a:t>
            </a:r>
          </a:p>
          <a:p>
            <a:endParaRPr lang="en-US" dirty="0"/>
          </a:p>
        </p:txBody>
      </p:sp>
      <p:pic>
        <p:nvPicPr>
          <p:cNvPr id="7" name="Picture 6">
            <a:extLst>
              <a:ext uri="{FF2B5EF4-FFF2-40B4-BE49-F238E27FC236}">
                <a16:creationId xmlns:a16="http://schemas.microsoft.com/office/drawing/2014/main" id="{66F1FAC3-229E-6D9B-03F1-B74901243B28}"/>
              </a:ext>
            </a:extLst>
          </p:cNvPr>
          <p:cNvPicPr>
            <a:picLocks noChangeAspect="1"/>
          </p:cNvPicPr>
          <p:nvPr/>
        </p:nvPicPr>
        <p:blipFill>
          <a:blip r:embed="rId3"/>
          <a:stretch>
            <a:fillRect/>
          </a:stretch>
        </p:blipFill>
        <p:spPr>
          <a:xfrm>
            <a:off x="4851401" y="770005"/>
            <a:ext cx="4292600" cy="3035660"/>
          </a:xfrm>
          <a:prstGeom prst="rect">
            <a:avLst/>
          </a:prstGeom>
        </p:spPr>
      </p:pic>
    </p:spTree>
    <p:extLst>
      <p:ext uri="{BB962C8B-B14F-4D97-AF65-F5344CB8AC3E}">
        <p14:creationId xmlns:p14="http://schemas.microsoft.com/office/powerpoint/2010/main" val="3161208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241E9-BB7A-E74B-E5E1-2F14190FD68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DBC122-63CC-46E6-D0A9-935EC6061EF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51A33FF-FDE3-1B98-C281-0082BC98DDE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E83FEC6-D97A-31DD-0B1E-A4D28B63F0A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1CFC89E-093D-D230-C4AA-5B598C9A02D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DCBC797-8445-1C2C-2765-AA11EB9D345D}"/>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NTP (Network Time Protocol)</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FDF3FB47-1402-BDD7-A6F0-B64933A151CC}"/>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63C93264-7FB7-E40D-1EC4-366BBE988DAD}"/>
              </a:ext>
            </a:extLst>
          </p:cNvPr>
          <p:cNvSpPr txBox="1"/>
          <p:nvPr/>
        </p:nvSpPr>
        <p:spPr>
          <a:xfrm>
            <a:off x="220279" y="263362"/>
            <a:ext cx="6578490" cy="4785926"/>
          </a:xfrm>
          <a:prstGeom prst="rect">
            <a:avLst/>
          </a:prstGeom>
          <a:noFill/>
        </p:spPr>
        <p:txBody>
          <a:bodyPr wrap="square">
            <a:spAutoFit/>
          </a:bodyPr>
          <a:lstStyle/>
          <a:p>
            <a:endParaRPr lang="en-US" sz="1200" dirty="0">
              <a:highlight>
                <a:srgbClr val="00FFFF"/>
              </a:highlight>
            </a:endParaRPr>
          </a:p>
          <a:p>
            <a:r>
              <a:rPr lang="en-US" b="1" dirty="0"/>
              <a:t>Router as NTP server:</a:t>
            </a:r>
          </a:p>
          <a:p>
            <a:endParaRPr lang="en-US" dirty="0"/>
          </a:p>
          <a:p>
            <a:pPr marL="285750" indent="-285750">
              <a:buFont typeface="Wingdings" panose="05000000000000000000" pitchFamily="2" charset="2"/>
              <a:buChar char="q"/>
            </a:pPr>
            <a:r>
              <a:rPr lang="en-US" sz="1100" dirty="0"/>
              <a:t>Router# clock set 12:30:00 27 AUG 2025</a:t>
            </a:r>
          </a:p>
          <a:p>
            <a:pPr marL="285750" indent="-285750">
              <a:buFont typeface="Wingdings" panose="05000000000000000000" pitchFamily="2" charset="2"/>
              <a:buChar char="q"/>
            </a:pPr>
            <a:r>
              <a:rPr lang="en-US" sz="1100" dirty="0"/>
              <a:t>Router# configure terminal</a:t>
            </a:r>
          </a:p>
          <a:p>
            <a:pPr marL="285750" indent="-285750">
              <a:buFont typeface="Wingdings" panose="05000000000000000000" pitchFamily="2" charset="2"/>
              <a:buChar char="q"/>
            </a:pPr>
            <a:r>
              <a:rPr lang="en-US" sz="1100" dirty="0"/>
              <a:t>Router</a:t>
            </a:r>
            <a:r>
              <a:rPr lang="en-PK" sz="1100" dirty="0"/>
              <a:t>(config)# interface </a:t>
            </a:r>
            <a:r>
              <a:rPr lang="en-US" sz="1100" dirty="0"/>
              <a:t>  s</a:t>
            </a:r>
            <a:r>
              <a:rPr lang="en-PK" sz="1100" dirty="0"/>
              <a:t>0/0</a:t>
            </a:r>
          </a:p>
          <a:p>
            <a:pPr marL="285750" indent="-285750">
              <a:buFont typeface="Wingdings" panose="05000000000000000000" pitchFamily="2" charset="2"/>
              <a:buChar char="q"/>
            </a:pPr>
            <a:r>
              <a:rPr lang="en-US" sz="1100" dirty="0"/>
              <a:t>Router</a:t>
            </a:r>
            <a:r>
              <a:rPr lang="en-PK" sz="1100" dirty="0"/>
              <a:t>(config-if)# ip </a:t>
            </a:r>
            <a:r>
              <a:rPr lang="en-US" sz="1100" dirty="0"/>
              <a:t>  address  1.1.1.1   255.255.255.0</a:t>
            </a:r>
            <a:endParaRPr lang="en-PK" sz="1100" dirty="0"/>
          </a:p>
          <a:p>
            <a:pPr marL="285750" indent="-285750">
              <a:buFont typeface="Wingdings" panose="05000000000000000000" pitchFamily="2" charset="2"/>
              <a:buChar char="q"/>
            </a:pPr>
            <a:r>
              <a:rPr lang="en-US" sz="1100" dirty="0"/>
              <a:t>Router</a:t>
            </a:r>
            <a:r>
              <a:rPr lang="en-PK" sz="1100" dirty="0"/>
              <a:t>(config-if)# </a:t>
            </a:r>
            <a:r>
              <a:rPr lang="en-US" sz="1100" dirty="0"/>
              <a:t>no shutdown</a:t>
            </a:r>
            <a:endParaRPr lang="en-PK" sz="1100" dirty="0"/>
          </a:p>
          <a:p>
            <a:pPr marL="285750" indent="-285750">
              <a:buFont typeface="Wingdings" panose="05000000000000000000" pitchFamily="2" charset="2"/>
              <a:buChar char="q"/>
            </a:pPr>
            <a:r>
              <a:rPr lang="en-US" sz="1100" dirty="0"/>
              <a:t>Router</a:t>
            </a:r>
            <a:r>
              <a:rPr lang="en-PK" sz="1100" dirty="0"/>
              <a:t>(config-if)# </a:t>
            </a:r>
            <a:r>
              <a:rPr lang="en-US" sz="1100" dirty="0"/>
              <a:t>exit</a:t>
            </a:r>
          </a:p>
          <a:p>
            <a:pPr marL="285750" indent="-285750">
              <a:buFont typeface="Wingdings" panose="05000000000000000000" pitchFamily="2" charset="2"/>
              <a:buChar char="q"/>
            </a:pPr>
            <a:r>
              <a:rPr lang="en-US" sz="1100" dirty="0"/>
              <a:t>Router</a:t>
            </a:r>
            <a:r>
              <a:rPr lang="en-PK" sz="1100" dirty="0"/>
              <a:t>(config)# </a:t>
            </a:r>
            <a:r>
              <a:rPr lang="en-US" sz="1100" dirty="0"/>
              <a:t>ntp master</a:t>
            </a:r>
          </a:p>
          <a:p>
            <a:pPr marL="285750" indent="-285750">
              <a:buFont typeface="Wingdings" panose="05000000000000000000" pitchFamily="2" charset="2"/>
              <a:buChar char="q"/>
            </a:pPr>
            <a:r>
              <a:rPr lang="en-US" sz="1100" dirty="0"/>
              <a:t>Router</a:t>
            </a:r>
            <a:r>
              <a:rPr lang="en-PK" sz="1100" dirty="0"/>
              <a:t>(config)# </a:t>
            </a:r>
            <a:r>
              <a:rPr lang="en-US" sz="1100" dirty="0"/>
              <a:t>ntp server 1.1.1.1</a:t>
            </a:r>
          </a:p>
          <a:p>
            <a:pPr marL="285750" indent="-285750">
              <a:buFont typeface="Wingdings" panose="05000000000000000000" pitchFamily="2" charset="2"/>
              <a:buChar char="q"/>
            </a:pPr>
            <a:endParaRPr lang="en-US" sz="1100" dirty="0"/>
          </a:p>
          <a:p>
            <a:pPr marL="285750" indent="-285750">
              <a:buFont typeface="Wingdings" panose="05000000000000000000" pitchFamily="2" charset="2"/>
              <a:buChar char="q"/>
            </a:pPr>
            <a:r>
              <a:rPr lang="en-US" sz="1100" dirty="0"/>
              <a:t>Router(config)#router   rip</a:t>
            </a:r>
          </a:p>
          <a:p>
            <a:pPr marL="285750" indent="-285750">
              <a:buFont typeface="Wingdings" panose="05000000000000000000" pitchFamily="2" charset="2"/>
              <a:buChar char="q"/>
            </a:pPr>
            <a:r>
              <a:rPr lang="en-US" sz="1100" dirty="0"/>
              <a:t>Router(config# network   1.0.0.0</a:t>
            </a:r>
          </a:p>
          <a:p>
            <a:endParaRPr lang="en-US" sz="1100" dirty="0"/>
          </a:p>
          <a:p>
            <a:r>
              <a:rPr lang="en-US" sz="1100" dirty="0"/>
              <a:t>Configure IPs and routing protocol like RIP or OSPF etc. on all routers</a:t>
            </a:r>
          </a:p>
          <a:p>
            <a:r>
              <a:rPr lang="en-US" sz="1100" dirty="0"/>
              <a:t>And then configure them as NTP Client like below commands </a:t>
            </a:r>
          </a:p>
          <a:p>
            <a:endParaRPr lang="en-US" sz="1100" dirty="0"/>
          </a:p>
          <a:p>
            <a:r>
              <a:rPr lang="pt-BR" sz="1100" dirty="0"/>
              <a:t>R2(config)# ntp   server   1.1.1.1</a:t>
            </a:r>
            <a:endParaRPr lang="en-US" sz="1100" dirty="0"/>
          </a:p>
          <a:p>
            <a:r>
              <a:rPr lang="pt-BR" sz="1100" dirty="0"/>
              <a:t>R3(config)# ntp   server   1.1.1.1</a:t>
            </a:r>
          </a:p>
          <a:p>
            <a:r>
              <a:rPr lang="pt-BR" sz="1100" dirty="0"/>
              <a:t>R4(config)# ntp   server   1.1.1.1</a:t>
            </a:r>
            <a:endParaRPr lang="en-PK" sz="1100" dirty="0"/>
          </a:p>
          <a:p>
            <a:pPr marL="285750" indent="-285750">
              <a:buFont typeface="Wingdings" panose="05000000000000000000" pitchFamily="2" charset="2"/>
              <a:buChar char="q"/>
            </a:pPr>
            <a:endParaRPr lang="en-US" sz="1100" dirty="0"/>
          </a:p>
          <a:p>
            <a:r>
              <a:rPr lang="en-US" sz="1100" b="1" dirty="0">
                <a:highlight>
                  <a:srgbClr val="00FFFF"/>
                </a:highlight>
              </a:rPr>
              <a:t>Router#show clock 	        Result</a:t>
            </a:r>
            <a:endParaRPr lang="en-US" sz="900" dirty="0"/>
          </a:p>
          <a:p>
            <a:endParaRPr lang="en-US" sz="900" dirty="0"/>
          </a:p>
          <a:p>
            <a:endParaRPr lang="en-US" sz="900" dirty="0"/>
          </a:p>
          <a:p>
            <a:pPr marL="171450" indent="-171450">
              <a:buFont typeface="Wingdings" panose="05000000000000000000" pitchFamily="2" charset="2"/>
              <a:buChar char="ü"/>
            </a:pPr>
            <a:r>
              <a:rPr lang="en-US" sz="900" dirty="0"/>
              <a:t>NTP doesn’t care if the interface is Serial, FastEthernet, GigabitEthernet, etc.</a:t>
            </a:r>
          </a:p>
          <a:p>
            <a:pPr marL="171450" indent="-171450">
              <a:buFont typeface="Wingdings" panose="05000000000000000000" pitchFamily="2" charset="2"/>
              <a:buChar char="ü"/>
            </a:pPr>
            <a:endParaRPr lang="en-US" sz="900" dirty="0"/>
          </a:p>
          <a:p>
            <a:pPr marL="171450" indent="-171450">
              <a:buFont typeface="Wingdings" panose="05000000000000000000" pitchFamily="2" charset="2"/>
              <a:buChar char="ü"/>
            </a:pPr>
            <a:r>
              <a:rPr lang="en-US" sz="900" dirty="0"/>
              <a:t>The routers have IP connectivity between them.You configure the NTP client to point to the NTP server’s IP.</a:t>
            </a:r>
          </a:p>
        </p:txBody>
      </p:sp>
      <p:pic>
        <p:nvPicPr>
          <p:cNvPr id="7" name="Picture 6">
            <a:extLst>
              <a:ext uri="{FF2B5EF4-FFF2-40B4-BE49-F238E27FC236}">
                <a16:creationId xmlns:a16="http://schemas.microsoft.com/office/drawing/2014/main" id="{8562E45C-F69B-10FB-3E51-359C65C3EC9A}"/>
              </a:ext>
            </a:extLst>
          </p:cNvPr>
          <p:cNvPicPr>
            <a:picLocks noChangeAspect="1"/>
          </p:cNvPicPr>
          <p:nvPr/>
        </p:nvPicPr>
        <p:blipFill>
          <a:blip r:embed="rId3"/>
          <a:stretch>
            <a:fillRect/>
          </a:stretch>
        </p:blipFill>
        <p:spPr>
          <a:xfrm>
            <a:off x="4851401" y="770005"/>
            <a:ext cx="4292600" cy="3035660"/>
          </a:xfrm>
          <a:prstGeom prst="rect">
            <a:avLst/>
          </a:prstGeom>
        </p:spPr>
      </p:pic>
      <p:sp>
        <p:nvSpPr>
          <p:cNvPr id="8" name="Arrow: Right 7">
            <a:extLst>
              <a:ext uri="{FF2B5EF4-FFF2-40B4-BE49-F238E27FC236}">
                <a16:creationId xmlns:a16="http://schemas.microsoft.com/office/drawing/2014/main" id="{7B29A663-DA81-0BFA-4396-784CF607F8A7}"/>
              </a:ext>
            </a:extLst>
          </p:cNvPr>
          <p:cNvSpPr/>
          <p:nvPr/>
        </p:nvSpPr>
        <p:spPr>
          <a:xfrm>
            <a:off x="1820300" y="4170305"/>
            <a:ext cx="364067" cy="45719"/>
          </a:xfrm>
          <a:prstGeom prst="rightArrow">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18099605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1C027-8FF4-278B-B896-549222D7ADC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82DEE3-3B1B-6416-525D-495EC5745A2E}"/>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9BE94947-7837-C5ED-B80C-BCB4A1E9D74B}"/>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571FFE5-CB26-8FB0-AF21-61E5BE1755EC}"/>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EC8991B-F57F-F4E3-5F70-EAF76AC63C8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ECFF6D84-1981-B2C6-925F-CD034768CAE4}"/>
              </a:ext>
            </a:extLst>
          </p:cNvPr>
          <p:cNvSpPr txBox="1"/>
          <p:nvPr/>
        </p:nvSpPr>
        <p:spPr>
          <a:xfrm>
            <a:off x="2260601" y="63307"/>
            <a:ext cx="4538168" cy="400110"/>
          </a:xfrm>
          <a:prstGeom prst="rect">
            <a:avLst/>
          </a:prstGeom>
          <a:noFill/>
        </p:spPr>
        <p:txBody>
          <a:bodyPr wrap="square">
            <a:spAutoFit/>
          </a:bodyPr>
          <a:lstStyle/>
          <a:p>
            <a:pPr algn="ctr"/>
            <a:r>
              <a:rPr lang="en-US" sz="2000" b="1" dirty="0">
                <a:solidFill>
                  <a:srgbClr val="403CCF"/>
                </a:solidFill>
                <a:latin typeface="Libre Baskerville" pitchFamily="34" charset="0"/>
              </a:rPr>
              <a:t>NTP (Network Time Protocol)</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0D04807B-8AB6-D053-E0CC-362779EF3443}"/>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132FAA8E-2D6C-664B-85FF-D643C7473724}"/>
              </a:ext>
            </a:extLst>
          </p:cNvPr>
          <p:cNvSpPr txBox="1"/>
          <p:nvPr/>
        </p:nvSpPr>
        <p:spPr>
          <a:xfrm>
            <a:off x="220280" y="468347"/>
            <a:ext cx="7492854" cy="3477875"/>
          </a:xfrm>
          <a:prstGeom prst="rect">
            <a:avLst/>
          </a:prstGeom>
          <a:noFill/>
        </p:spPr>
        <p:txBody>
          <a:bodyPr wrap="square">
            <a:spAutoFit/>
          </a:bodyPr>
          <a:lstStyle/>
          <a:p>
            <a:r>
              <a:rPr lang="en-US" b="1" dirty="0"/>
              <a:t>How to set Computers </a:t>
            </a:r>
            <a:r>
              <a:rPr lang="en-US" b="1" dirty="0" err="1"/>
              <a:t>etc</a:t>
            </a:r>
            <a:r>
              <a:rPr lang="en-US" b="1" dirty="0"/>
              <a:t> as NTP client in real and in CISCO Packet tracer</a:t>
            </a:r>
          </a:p>
          <a:p>
            <a:endParaRPr lang="en-US" dirty="0"/>
          </a:p>
          <a:p>
            <a:endParaRPr lang="en-US" dirty="0"/>
          </a:p>
          <a:p>
            <a:r>
              <a:rPr lang="en-US" sz="1200" b="1" dirty="0"/>
              <a:t>On Windows (real PC/laptop):</a:t>
            </a:r>
          </a:p>
          <a:p>
            <a:pPr marL="171450" indent="-171450">
              <a:buFont typeface="Wingdings" panose="05000000000000000000" pitchFamily="2" charset="2"/>
              <a:buChar char="ü"/>
            </a:pPr>
            <a:r>
              <a:rPr lang="en-US" sz="1100" dirty="0"/>
              <a:t>Go to Control Panel → Date and Time → Internet Time → Change settings.</a:t>
            </a:r>
          </a:p>
          <a:p>
            <a:pPr marL="171450" indent="-171450">
              <a:buFont typeface="Wingdings" panose="05000000000000000000" pitchFamily="2" charset="2"/>
              <a:buChar char="ü"/>
            </a:pPr>
            <a:r>
              <a:rPr lang="en-US" sz="1100" dirty="0"/>
              <a:t>Tick Synchronize with an Internet time server.</a:t>
            </a:r>
          </a:p>
          <a:p>
            <a:pPr marL="171450" indent="-171450">
              <a:buFont typeface="Wingdings" panose="05000000000000000000" pitchFamily="2" charset="2"/>
              <a:buChar char="ü"/>
            </a:pPr>
            <a:r>
              <a:rPr lang="en-US" sz="1100" dirty="0"/>
              <a:t>Enter your NTP Server’s IP (for example, your R1 router’s IP 10.0.0.1).</a:t>
            </a:r>
          </a:p>
          <a:p>
            <a:pPr marL="171450" indent="-171450">
              <a:buFont typeface="Wingdings" panose="05000000000000000000" pitchFamily="2" charset="2"/>
              <a:buChar char="ü"/>
            </a:pPr>
            <a:r>
              <a:rPr lang="en-US" sz="1100" dirty="0"/>
              <a:t>Click Update now → then OK.</a:t>
            </a:r>
          </a:p>
          <a:p>
            <a:endParaRPr lang="en-US" sz="1100" dirty="0"/>
          </a:p>
          <a:p>
            <a:r>
              <a:rPr lang="en-US" sz="1100" dirty="0"/>
              <a:t>You can also check with Command Prompt:  w32tm /query /status</a:t>
            </a:r>
          </a:p>
          <a:p>
            <a:endParaRPr lang="en-US" sz="1100" dirty="0"/>
          </a:p>
          <a:p>
            <a:endParaRPr lang="en-US" sz="1100" dirty="0"/>
          </a:p>
          <a:p>
            <a:endParaRPr lang="en-US" sz="1100" dirty="0"/>
          </a:p>
          <a:p>
            <a:endParaRPr lang="en-US" sz="1100" dirty="0"/>
          </a:p>
          <a:p>
            <a:endParaRPr lang="en-US" sz="1100" dirty="0"/>
          </a:p>
          <a:p>
            <a:endParaRPr lang="en-US" sz="1100" dirty="0"/>
          </a:p>
          <a:p>
            <a:r>
              <a:rPr lang="en-US" sz="1200" b="1" dirty="0"/>
              <a:t>Cisco Packet Tracer PCs</a:t>
            </a:r>
          </a:p>
          <a:p>
            <a:pPr marL="171450" indent="-171450">
              <a:buFont typeface="Wingdings" panose="05000000000000000000" pitchFamily="2" charset="2"/>
              <a:buChar char="ü"/>
            </a:pPr>
            <a:r>
              <a:rPr lang="en-US" sz="1100" dirty="0"/>
              <a:t>A PC in Packet Tracer cannot sync its clock to a router.</a:t>
            </a:r>
          </a:p>
          <a:p>
            <a:pPr marL="171450" indent="-171450">
              <a:buFont typeface="Wingdings" panose="05000000000000000000" pitchFamily="2" charset="2"/>
              <a:buChar char="ü"/>
            </a:pPr>
            <a:r>
              <a:rPr lang="en-US" sz="1100" dirty="0"/>
              <a:t>Only Cisco routers and switches support NTP in Packet Tracer.</a:t>
            </a:r>
          </a:p>
        </p:txBody>
      </p:sp>
    </p:spTree>
    <p:extLst>
      <p:ext uri="{BB962C8B-B14F-4D97-AF65-F5344CB8AC3E}">
        <p14:creationId xmlns:p14="http://schemas.microsoft.com/office/powerpoint/2010/main" val="2788329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3F7CF-9BA8-0B6A-BC89-C334CD6D2E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76F3F51-40BE-B336-F396-5A01C38DFE19}"/>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1D9D6C6-9AD4-128C-172A-CFB268B763F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4AA23510-2BD0-02C6-9B50-792F00FEEFE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7E999EA4-DA0D-6D3B-0AAF-B0A16C3ED53D}"/>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F3AE3667-AA89-9C66-A579-807F50C86829}"/>
              </a:ext>
            </a:extLst>
          </p:cNvPr>
          <p:cNvSpPr txBox="1"/>
          <p:nvPr/>
        </p:nvSpPr>
        <p:spPr>
          <a:xfrm>
            <a:off x="863600" y="63307"/>
            <a:ext cx="7526867"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DNS, SNMP Syslog , </a:t>
            </a:r>
            <a:r>
              <a:rPr lang="en-US" sz="2000" b="1" dirty="0" err="1">
                <a:solidFill>
                  <a:srgbClr val="403CCF"/>
                </a:solidFill>
                <a:latin typeface="Libre Baskerville" pitchFamily="34" charset="0"/>
              </a:rPr>
              <a:t>Qos</a:t>
            </a:r>
            <a:r>
              <a:rPr lang="en-US" sz="2000" b="1" dirty="0">
                <a:solidFill>
                  <a:srgbClr val="403CCF"/>
                </a:solidFill>
                <a:latin typeface="Libre Baskerville" pitchFamily="34" charset="0"/>
              </a:rPr>
              <a:t> , function of FTP and TFTP in a network </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68C10A5E-F550-CC9B-647A-DB44845CB873}"/>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D82B12FD-B986-AA84-57A5-E9F4A9A1F78D}"/>
              </a:ext>
            </a:extLst>
          </p:cNvPr>
          <p:cNvSpPr txBox="1"/>
          <p:nvPr/>
        </p:nvSpPr>
        <p:spPr>
          <a:xfrm>
            <a:off x="220280" y="771193"/>
            <a:ext cx="8771320" cy="3693319"/>
          </a:xfrm>
          <a:prstGeom prst="rect">
            <a:avLst/>
          </a:prstGeom>
          <a:noFill/>
        </p:spPr>
        <p:txBody>
          <a:bodyPr wrap="square">
            <a:spAutoFit/>
          </a:bodyPr>
          <a:lstStyle/>
          <a:p>
            <a:endParaRPr lang="en-US" sz="1200" dirty="0">
              <a:highlight>
                <a:srgbClr val="00FFFF"/>
              </a:highlight>
            </a:endParaRPr>
          </a:p>
          <a:p>
            <a:r>
              <a:rPr lang="en-US" sz="2000" dirty="0">
                <a:highlight>
                  <a:srgbClr val="00FFFF"/>
                </a:highlight>
              </a:rPr>
              <a:t>DNS (Domain Name System)</a:t>
            </a:r>
          </a:p>
          <a:p>
            <a:endParaRPr lang="en-US" dirty="0"/>
          </a:p>
          <a:p>
            <a:r>
              <a:rPr lang="en-US" sz="1200" dirty="0"/>
              <a:t>DNS translates domain names (e.g., google.com) into IP addresses (e.g., 142.250.182.14), allowing users to access websites without remembering numerical IPs.</a:t>
            </a:r>
          </a:p>
          <a:p>
            <a:endParaRPr lang="en-US" sz="1200" dirty="0"/>
          </a:p>
          <a:p>
            <a:endParaRPr lang="en-US" sz="1200" dirty="0"/>
          </a:p>
          <a:p>
            <a:r>
              <a:rPr lang="en-US" sz="2000" dirty="0">
                <a:highlight>
                  <a:srgbClr val="00FFFF"/>
                </a:highlight>
              </a:rPr>
              <a:t>SNMP (Simple Network Management Protocol)</a:t>
            </a:r>
          </a:p>
          <a:p>
            <a:pPr marL="285750" indent="-285750">
              <a:buFont typeface="Wingdings" panose="05000000000000000000" pitchFamily="2" charset="2"/>
              <a:buChar char="q"/>
            </a:pPr>
            <a:endParaRPr lang="en-PK" sz="1200" dirty="0"/>
          </a:p>
          <a:p>
            <a:r>
              <a:rPr lang="en-US" sz="1200" dirty="0"/>
              <a:t>SNMP is used to monitor and manage network devices (routers, switches, servers) by collecting performance data and sending alerts if issues arise.</a:t>
            </a:r>
          </a:p>
          <a:p>
            <a:endParaRPr lang="en-US" sz="1200" dirty="0"/>
          </a:p>
          <a:p>
            <a:r>
              <a:rPr lang="en-US" b="1" dirty="0"/>
              <a:t>Application used for SNMP:</a:t>
            </a:r>
          </a:p>
          <a:p>
            <a:pPr marL="228600" indent="-228600">
              <a:buFont typeface="+mj-lt"/>
              <a:buAutoNum type="arabicPeriod"/>
            </a:pPr>
            <a:r>
              <a:rPr lang="en-US" sz="1200" dirty="0"/>
              <a:t>Cisco LMS (Cisco Lifecycle Management Suite)</a:t>
            </a:r>
          </a:p>
          <a:p>
            <a:pPr marL="228600" indent="-228600">
              <a:buFont typeface="+mj-lt"/>
              <a:buAutoNum type="arabicPeriod"/>
            </a:pPr>
            <a:r>
              <a:rPr lang="en-US" sz="1200" dirty="0"/>
              <a:t>Cisco Prime</a:t>
            </a:r>
          </a:p>
          <a:p>
            <a:pPr marL="228600" indent="-228600">
              <a:buFont typeface="+mj-lt"/>
              <a:buAutoNum type="arabicPeriod"/>
            </a:pPr>
            <a:r>
              <a:rPr lang="en-US" sz="1200" dirty="0"/>
              <a:t>SolarWinds Network Performance Monitor</a:t>
            </a:r>
          </a:p>
          <a:p>
            <a:pPr marL="228600" indent="-228600">
              <a:buFont typeface="+mj-lt"/>
              <a:buAutoNum type="arabicPeriod"/>
            </a:pPr>
            <a:r>
              <a:rPr lang="en-US" sz="1200" dirty="0"/>
              <a:t>PRTG Network Monitor</a:t>
            </a:r>
          </a:p>
          <a:p>
            <a:pPr marL="228600" indent="-228600">
              <a:buFont typeface="+mj-lt"/>
              <a:buAutoNum type="arabicPeriod"/>
            </a:pPr>
            <a:r>
              <a:rPr lang="en-US" sz="1200" dirty="0"/>
              <a:t>Nagios</a:t>
            </a:r>
          </a:p>
        </p:txBody>
      </p:sp>
    </p:spTree>
    <p:extLst>
      <p:ext uri="{BB962C8B-B14F-4D97-AF65-F5344CB8AC3E}">
        <p14:creationId xmlns:p14="http://schemas.microsoft.com/office/powerpoint/2010/main" val="27838789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3DF42-BE25-5F40-E8C0-4077BC1018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044FE29-E79E-1AE3-AC50-6EAFBD343844}"/>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889DA1BB-E707-FD53-5D97-2FB8E81CC8F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38A0995-89CA-C977-689C-F414E3B7F4B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716ECF5C-1FC9-65F7-3F3F-704E6504E85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2372BF2C-6C4F-5EA2-F0A0-1E375E6A1080}"/>
              </a:ext>
            </a:extLst>
          </p:cNvPr>
          <p:cNvSpPr txBox="1"/>
          <p:nvPr/>
        </p:nvSpPr>
        <p:spPr>
          <a:xfrm>
            <a:off x="863600" y="63307"/>
            <a:ext cx="7526867"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DNS, SNMP Syslog , </a:t>
            </a:r>
            <a:r>
              <a:rPr lang="en-US" sz="2000" b="1" dirty="0" err="1">
                <a:solidFill>
                  <a:srgbClr val="403CCF"/>
                </a:solidFill>
                <a:latin typeface="Libre Baskerville" pitchFamily="34" charset="0"/>
              </a:rPr>
              <a:t>Qos</a:t>
            </a:r>
            <a:r>
              <a:rPr lang="en-US" sz="2000" b="1" dirty="0">
                <a:solidFill>
                  <a:srgbClr val="403CCF"/>
                </a:solidFill>
                <a:latin typeface="Libre Baskerville" pitchFamily="34" charset="0"/>
              </a:rPr>
              <a:t> , function of FTP and TFPF in a network </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F3C82765-D6EE-D180-3275-B3C71A421B90}"/>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CC891DD6-0FDF-6101-1C45-363E78D72700}"/>
              </a:ext>
            </a:extLst>
          </p:cNvPr>
          <p:cNvSpPr txBox="1"/>
          <p:nvPr/>
        </p:nvSpPr>
        <p:spPr>
          <a:xfrm>
            <a:off x="220280" y="771193"/>
            <a:ext cx="8771320" cy="2400657"/>
          </a:xfrm>
          <a:prstGeom prst="rect">
            <a:avLst/>
          </a:prstGeom>
          <a:noFill/>
        </p:spPr>
        <p:txBody>
          <a:bodyPr wrap="square">
            <a:spAutoFit/>
          </a:bodyPr>
          <a:lstStyle/>
          <a:p>
            <a:endParaRPr lang="en-US" sz="900" dirty="0"/>
          </a:p>
          <a:p>
            <a:r>
              <a:rPr lang="en-US" sz="2000" dirty="0">
                <a:highlight>
                  <a:srgbClr val="00FFFF"/>
                </a:highlight>
              </a:rPr>
              <a:t>Syslog (System Logging Protocol)</a:t>
            </a:r>
          </a:p>
          <a:p>
            <a:endParaRPr lang="en-US" sz="900" dirty="0"/>
          </a:p>
          <a:p>
            <a:r>
              <a:rPr lang="en-US" dirty="0"/>
              <a:t>Syslog is a protocol that records system events and logs from network devices (firewalls, routers, servers) for troubleshooting and security analysis.</a:t>
            </a:r>
          </a:p>
          <a:p>
            <a:endParaRPr lang="en-US" dirty="0"/>
          </a:p>
          <a:p>
            <a:r>
              <a:rPr lang="en-US" b="1" dirty="0"/>
              <a:t>Application used for Syslog:</a:t>
            </a:r>
            <a:endParaRPr lang="en-US" dirty="0"/>
          </a:p>
          <a:p>
            <a:pPr marL="342900" indent="-342900">
              <a:buFont typeface="+mj-lt"/>
              <a:buAutoNum type="arabicPeriod"/>
            </a:pPr>
            <a:r>
              <a:rPr lang="en-US" dirty="0"/>
              <a:t>Kiwi Syslog</a:t>
            </a:r>
          </a:p>
          <a:p>
            <a:pPr marL="342900" indent="-342900">
              <a:buFont typeface="+mj-lt"/>
              <a:buAutoNum type="arabicPeriod"/>
            </a:pPr>
            <a:r>
              <a:rPr lang="en-US" dirty="0"/>
              <a:t>SolarWinds Kiwi Syslog</a:t>
            </a:r>
          </a:p>
          <a:p>
            <a:pPr marL="342900" indent="-342900">
              <a:buFont typeface="+mj-lt"/>
              <a:buAutoNum type="arabicPeriod"/>
            </a:pPr>
            <a:r>
              <a:rPr lang="en-US" dirty="0" err="1"/>
              <a:t>Graylog</a:t>
            </a:r>
            <a:endParaRPr lang="en-US" dirty="0"/>
          </a:p>
          <a:p>
            <a:pPr marL="342900" indent="-342900">
              <a:buFont typeface="+mj-lt"/>
              <a:buAutoNum type="arabicPeriod"/>
            </a:pPr>
            <a:r>
              <a:rPr lang="en-US" dirty="0"/>
              <a:t>Splunk</a:t>
            </a:r>
          </a:p>
        </p:txBody>
      </p:sp>
    </p:spTree>
    <p:extLst>
      <p:ext uri="{BB962C8B-B14F-4D97-AF65-F5344CB8AC3E}">
        <p14:creationId xmlns:p14="http://schemas.microsoft.com/office/powerpoint/2010/main" val="1322263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58128-47CE-76DB-2C45-0D8A7A9D809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CD2D18-D85E-2429-25C2-D67A0CB8261C}"/>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89DC5BF-4EF6-CAC2-7610-2FBEA6BDAED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BDE6F73-34E7-3A0A-9B93-C005B50D3AD0}"/>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74EEC80-DE0A-C60B-BD2F-6DDCD1B56750}"/>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11AB02AE-FFC6-83E7-6B71-9D24CD747962}"/>
              </a:ext>
            </a:extLst>
          </p:cNvPr>
          <p:cNvSpPr txBox="1"/>
          <p:nvPr/>
        </p:nvSpPr>
        <p:spPr>
          <a:xfrm>
            <a:off x="863600" y="63307"/>
            <a:ext cx="7526867"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DNS, SNMP Syslog , </a:t>
            </a:r>
            <a:r>
              <a:rPr lang="en-US" sz="2000" b="1" dirty="0" err="1">
                <a:solidFill>
                  <a:srgbClr val="403CCF"/>
                </a:solidFill>
                <a:latin typeface="Libre Baskerville" pitchFamily="34" charset="0"/>
              </a:rPr>
              <a:t>Qos</a:t>
            </a:r>
            <a:r>
              <a:rPr lang="en-US" sz="2000" b="1" dirty="0">
                <a:solidFill>
                  <a:srgbClr val="403CCF"/>
                </a:solidFill>
                <a:latin typeface="Libre Baskerville" pitchFamily="34" charset="0"/>
              </a:rPr>
              <a:t> , function of FTP and TFPF in a network </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DE65A358-CF09-DAC2-756B-E5AEA5B84D81}"/>
              </a:ext>
            </a:extLst>
          </p:cNvPr>
          <p:cNvSpPr txBox="1"/>
          <p:nvPr/>
        </p:nvSpPr>
        <p:spPr>
          <a:xfrm>
            <a:off x="220280" y="1313345"/>
            <a:ext cx="8703439" cy="523220"/>
          </a:xfrm>
          <a:prstGeom prst="rect">
            <a:avLst/>
          </a:prstGeom>
          <a:noFill/>
        </p:spPr>
        <p:txBody>
          <a:bodyPr wrap="square">
            <a:spAutoFit/>
          </a:bodyPr>
          <a:lstStyle/>
          <a:p>
            <a:endParaRPr lang="en-US" dirty="0"/>
          </a:p>
          <a:p>
            <a:pPr algn="just"/>
            <a:endParaRPr lang="en-PK" dirty="0"/>
          </a:p>
        </p:txBody>
      </p:sp>
      <p:sp>
        <p:nvSpPr>
          <p:cNvPr id="12" name="TextBox 11">
            <a:extLst>
              <a:ext uri="{FF2B5EF4-FFF2-40B4-BE49-F238E27FC236}">
                <a16:creationId xmlns:a16="http://schemas.microsoft.com/office/drawing/2014/main" id="{13CBE993-92CE-A140-1005-C049BC2798C9}"/>
              </a:ext>
            </a:extLst>
          </p:cNvPr>
          <p:cNvSpPr txBox="1"/>
          <p:nvPr/>
        </p:nvSpPr>
        <p:spPr>
          <a:xfrm>
            <a:off x="220280" y="771193"/>
            <a:ext cx="8771320" cy="3524042"/>
          </a:xfrm>
          <a:prstGeom prst="rect">
            <a:avLst/>
          </a:prstGeom>
          <a:noFill/>
        </p:spPr>
        <p:txBody>
          <a:bodyPr wrap="square">
            <a:spAutoFit/>
          </a:bodyPr>
          <a:lstStyle/>
          <a:p>
            <a:endParaRPr lang="en-US" sz="900" dirty="0"/>
          </a:p>
          <a:p>
            <a:endParaRPr lang="en-US" sz="2000" dirty="0">
              <a:highlight>
                <a:srgbClr val="00FFFF"/>
              </a:highlight>
            </a:endParaRPr>
          </a:p>
          <a:p>
            <a:r>
              <a:rPr lang="en-US" sz="2000" dirty="0">
                <a:highlight>
                  <a:srgbClr val="00FFFF"/>
                </a:highlight>
              </a:rPr>
              <a:t>FTP (File Transfer Protocol) Function</a:t>
            </a:r>
            <a:endParaRPr lang="en-US" sz="900" dirty="0"/>
          </a:p>
          <a:p>
            <a:r>
              <a:rPr lang="en-US" dirty="0"/>
              <a:t>FTP transfers files between computers over a network. </a:t>
            </a:r>
          </a:p>
          <a:p>
            <a:r>
              <a:rPr lang="en-US" dirty="0"/>
              <a:t>It is used for uploading and downloading files from servers but is less secure compared to SFTP.</a:t>
            </a:r>
          </a:p>
          <a:p>
            <a:endParaRPr lang="en-US" dirty="0"/>
          </a:p>
          <a:p>
            <a:endParaRPr lang="en-US" dirty="0"/>
          </a:p>
          <a:p>
            <a:endParaRPr lang="en-US" dirty="0"/>
          </a:p>
          <a:p>
            <a:endParaRPr lang="en-US" dirty="0"/>
          </a:p>
          <a:p>
            <a:endParaRPr lang="en-US" dirty="0"/>
          </a:p>
          <a:p>
            <a:r>
              <a:rPr lang="en-US" sz="2000" dirty="0">
                <a:highlight>
                  <a:srgbClr val="00FFFF"/>
                </a:highlight>
              </a:rPr>
              <a:t>TFTP (Trivial File Transfer Protocol) Function</a:t>
            </a:r>
          </a:p>
          <a:p>
            <a:r>
              <a:rPr lang="en-US" dirty="0"/>
              <a:t>TFTP is a simpler version of FTP, used mainly for transferring configuration files to network devices (e.g., routers, switches). It lacks authentication and security.</a:t>
            </a:r>
          </a:p>
          <a:p>
            <a:endParaRPr lang="en-US" dirty="0"/>
          </a:p>
          <a:p>
            <a:r>
              <a:rPr lang="en-US" dirty="0"/>
              <a:t>Like when we save/restore backup of router configuration in TFTP server.</a:t>
            </a:r>
          </a:p>
        </p:txBody>
      </p:sp>
    </p:spTree>
    <p:extLst>
      <p:ext uri="{BB962C8B-B14F-4D97-AF65-F5344CB8AC3E}">
        <p14:creationId xmlns:p14="http://schemas.microsoft.com/office/powerpoint/2010/main" val="12456009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E8B04-E477-AD61-77E0-C9FAF5B68D8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4F16A28-8C71-40A5-D128-6AB32937B17B}"/>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1F11379-DF6B-3277-BED7-00FC2F833CC7}"/>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3E7DC3D-94E7-9D82-AB21-E2A8964B72F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9246029-5488-C433-31CB-687F73EFDDEB}"/>
              </a:ext>
            </a:extLst>
          </p:cNvPr>
          <p:cNvSpPr txBox="1"/>
          <p:nvPr/>
        </p:nvSpPr>
        <p:spPr>
          <a:xfrm>
            <a:off x="710563" y="110395"/>
            <a:ext cx="7526867" cy="400110"/>
          </a:xfrm>
          <a:prstGeom prst="rect">
            <a:avLst/>
          </a:prstGeom>
          <a:noFill/>
        </p:spPr>
        <p:txBody>
          <a:bodyPr wrap="square">
            <a:spAutoFit/>
          </a:bodyPr>
          <a:lstStyle/>
          <a:p>
            <a:pPr algn="ctr"/>
            <a:r>
              <a:rPr lang="en-US" sz="2000" b="1" dirty="0">
                <a:solidFill>
                  <a:srgbClr val="403CCF"/>
                </a:solidFill>
                <a:latin typeface="Libre Baskerville" pitchFamily="34" charset="0"/>
              </a:rPr>
              <a:t>Configuration DCHP </a:t>
            </a:r>
            <a:endParaRPr lang="en-PK" sz="2000" b="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93EE0026-9AA1-446C-FBB5-4006D48D2F7D}"/>
              </a:ext>
            </a:extLst>
          </p:cNvPr>
          <p:cNvSpPr txBox="1"/>
          <p:nvPr/>
        </p:nvSpPr>
        <p:spPr>
          <a:xfrm>
            <a:off x="169480" y="485361"/>
            <a:ext cx="5071387" cy="4339650"/>
          </a:xfrm>
          <a:prstGeom prst="rect">
            <a:avLst/>
          </a:prstGeom>
          <a:noFill/>
        </p:spPr>
        <p:txBody>
          <a:bodyPr wrap="square">
            <a:spAutoFit/>
          </a:bodyPr>
          <a:lstStyle/>
          <a:p>
            <a:pPr marL="285750" indent="-285750">
              <a:buFont typeface="Wingdings" panose="05000000000000000000" pitchFamily="2" charset="2"/>
              <a:buChar char="ü"/>
            </a:pPr>
            <a:r>
              <a:rPr lang="en-US" dirty="0">
                <a:highlight>
                  <a:srgbClr val="00FFFF"/>
                </a:highlight>
              </a:rPr>
              <a:t>Dynamic Host Configuration Protocl</a:t>
            </a:r>
          </a:p>
          <a:p>
            <a:pPr marL="285750" indent="-285750">
              <a:buFont typeface="Wingdings" panose="05000000000000000000" pitchFamily="2" charset="2"/>
              <a:buChar char="ü"/>
            </a:pPr>
            <a:r>
              <a:rPr lang="en-US" dirty="0">
                <a:highlight>
                  <a:srgbClr val="00FFFF"/>
                </a:highlight>
              </a:rPr>
              <a:t>To Assign IPs dynamically to all the systems</a:t>
            </a:r>
          </a:p>
          <a:p>
            <a:endParaRPr lang="en-US" dirty="0"/>
          </a:p>
          <a:p>
            <a:pPr marL="171450" indent="-171450">
              <a:buFont typeface="Wingdings" panose="05000000000000000000" pitchFamily="2" charset="2"/>
              <a:buChar char="q"/>
            </a:pPr>
            <a:r>
              <a:rPr lang="en-US" sz="1200" dirty="0"/>
              <a:t>Router&gt;</a:t>
            </a:r>
          </a:p>
          <a:p>
            <a:pPr marL="171450" indent="-171450">
              <a:buFont typeface="Wingdings" panose="05000000000000000000" pitchFamily="2" charset="2"/>
              <a:buChar char="q"/>
            </a:pPr>
            <a:r>
              <a:rPr lang="en-US" sz="1200" dirty="0"/>
              <a:t>Router&gt;en</a:t>
            </a:r>
          </a:p>
          <a:p>
            <a:pPr marL="171450" indent="-171450">
              <a:buFont typeface="Wingdings" panose="05000000000000000000" pitchFamily="2" charset="2"/>
              <a:buChar char="q"/>
            </a:pPr>
            <a:r>
              <a:rPr lang="en-US" sz="1200" dirty="0"/>
              <a:t>Router#configure  t</a:t>
            </a:r>
          </a:p>
          <a:p>
            <a:pPr marL="171450" indent="-171450">
              <a:buFont typeface="Wingdings" panose="05000000000000000000" pitchFamily="2" charset="2"/>
              <a:buChar char="q"/>
            </a:pPr>
            <a:r>
              <a:rPr lang="en-US" sz="1200" dirty="0"/>
              <a:t>Router(config)#interface fa0/0</a:t>
            </a:r>
          </a:p>
          <a:p>
            <a:pPr marL="171450" indent="-171450">
              <a:buFont typeface="Wingdings" panose="05000000000000000000" pitchFamily="2" charset="2"/>
              <a:buChar char="q"/>
            </a:pPr>
            <a:r>
              <a:rPr lang="en-US" sz="1200" dirty="0"/>
              <a:t>Router(config-if)#ip address   192.168.1.1   255.255.255.0</a:t>
            </a:r>
          </a:p>
          <a:p>
            <a:pPr marL="171450" indent="-171450">
              <a:buFont typeface="Wingdings" panose="05000000000000000000" pitchFamily="2" charset="2"/>
              <a:buChar char="q"/>
            </a:pPr>
            <a:r>
              <a:rPr lang="en-US" sz="1200" dirty="0"/>
              <a:t>Router(config-if)#no   shutdown</a:t>
            </a:r>
          </a:p>
          <a:p>
            <a:pPr marL="171450" indent="-171450">
              <a:buFont typeface="Wingdings" panose="05000000000000000000" pitchFamily="2" charset="2"/>
              <a:buChar char="q"/>
            </a:pPr>
            <a:r>
              <a:rPr lang="en-US" sz="1200" dirty="0"/>
              <a:t>Router(config-if)#exit</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Router(config)#ip   dhcp   pool   CCNA</a:t>
            </a:r>
          </a:p>
          <a:p>
            <a:pPr marL="171450" indent="-171450">
              <a:buFont typeface="Wingdings" panose="05000000000000000000" pitchFamily="2" charset="2"/>
              <a:buChar char="q"/>
            </a:pPr>
            <a:r>
              <a:rPr lang="en-US" sz="1200" dirty="0"/>
              <a:t>Router(dhcp-config)#network   192.168.1.0   255.255.255.0</a:t>
            </a:r>
          </a:p>
          <a:p>
            <a:pPr marL="171450" indent="-171450">
              <a:buFont typeface="Wingdings" panose="05000000000000000000" pitchFamily="2" charset="2"/>
              <a:buChar char="q"/>
            </a:pPr>
            <a:r>
              <a:rPr lang="en-US" sz="1200" dirty="0"/>
              <a:t>Router(dhcp-config)#default-router   192.168.1.1</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endParaRPr lang="en-US" dirty="0">
              <a:highlight>
                <a:srgbClr val="00FFFF"/>
              </a:highlight>
            </a:endParaRPr>
          </a:p>
          <a:p>
            <a:r>
              <a:rPr lang="en-US" dirty="0">
                <a:highlight>
                  <a:srgbClr val="00FFFF"/>
                </a:highlight>
              </a:rPr>
              <a:t>How to exclude a range of IPs</a:t>
            </a:r>
            <a:endParaRPr lang="en-US" sz="1200" dirty="0"/>
          </a:p>
          <a:p>
            <a:pPr marL="171450" indent="-171450">
              <a:buFont typeface="Wingdings" panose="05000000000000000000" pitchFamily="2" charset="2"/>
              <a:buChar char="q"/>
            </a:pPr>
            <a:r>
              <a:rPr lang="en-US" sz="1200" dirty="0"/>
              <a:t>Router(config)#ip dhcp excluded-address  192.168.1.2 192.168.1.20</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endParaRPr lang="en-US" sz="1200" dirty="0"/>
          </a:p>
          <a:p>
            <a:r>
              <a:rPr lang="en-US" dirty="0">
                <a:highlight>
                  <a:srgbClr val="00FFFF"/>
                </a:highlight>
              </a:rPr>
              <a:t>To exclude a single IP address</a:t>
            </a:r>
          </a:p>
          <a:p>
            <a:pPr marL="171450" indent="-171450">
              <a:buFont typeface="Wingdings" panose="05000000000000000000" pitchFamily="2" charset="2"/>
              <a:buChar char="q"/>
            </a:pPr>
            <a:r>
              <a:rPr lang="en-US" sz="1200" dirty="0"/>
              <a:t>Router(config)#ip dhcp excluded-address 192.168.1.10</a:t>
            </a:r>
          </a:p>
        </p:txBody>
      </p:sp>
      <p:pic>
        <p:nvPicPr>
          <p:cNvPr id="7" name="Picture 6">
            <a:extLst>
              <a:ext uri="{FF2B5EF4-FFF2-40B4-BE49-F238E27FC236}">
                <a16:creationId xmlns:a16="http://schemas.microsoft.com/office/drawing/2014/main" id="{8B65AE23-AB65-A984-9579-978BCE380E1A}"/>
              </a:ext>
            </a:extLst>
          </p:cNvPr>
          <p:cNvPicPr>
            <a:picLocks noChangeAspect="1"/>
          </p:cNvPicPr>
          <p:nvPr/>
        </p:nvPicPr>
        <p:blipFill>
          <a:blip r:embed="rId3"/>
          <a:stretch>
            <a:fillRect/>
          </a:stretch>
        </p:blipFill>
        <p:spPr>
          <a:xfrm>
            <a:off x="5181600" y="1008581"/>
            <a:ext cx="3962400" cy="4132852"/>
          </a:xfrm>
          <a:prstGeom prst="rect">
            <a:avLst/>
          </a:prstGeom>
        </p:spPr>
      </p:pic>
    </p:spTree>
    <p:extLst>
      <p:ext uri="{BB962C8B-B14F-4D97-AF65-F5344CB8AC3E}">
        <p14:creationId xmlns:p14="http://schemas.microsoft.com/office/powerpoint/2010/main" val="2288822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DEC6-7AA7-D8D3-67E3-5162592C0BC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3D6EC5B-B796-7E5A-84DC-F5CC68DB2C6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60C2B36-425E-3751-2ADF-DF6590209DF0}"/>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DD4D7D1-F9F9-251B-442F-9C0A0F56389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46E77A3-39E8-DCFC-A8DB-571A143BDD0A}"/>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6319B7C8-9C82-090A-ADA7-9E500DCDEC53}"/>
              </a:ext>
            </a:extLst>
          </p:cNvPr>
          <p:cNvSpPr txBox="1"/>
          <p:nvPr/>
        </p:nvSpPr>
        <p:spPr>
          <a:xfrm>
            <a:off x="240418" y="798637"/>
            <a:ext cx="6400653" cy="1600438"/>
          </a:xfrm>
          <a:prstGeom prst="rect">
            <a:avLst/>
          </a:prstGeom>
          <a:noFill/>
        </p:spPr>
        <p:txBody>
          <a:bodyPr wrap="square">
            <a:spAutoFit/>
          </a:bodyPr>
          <a:lstStyle/>
          <a:p>
            <a:r>
              <a:rPr lang="en-US" dirty="0">
                <a:highlight>
                  <a:srgbClr val="00FFFF"/>
                </a:highlight>
              </a:rPr>
              <a:t>FHRP:</a:t>
            </a:r>
          </a:p>
          <a:p>
            <a:pPr marL="285750" indent="-285750">
              <a:buFont typeface="Wingdings" panose="05000000000000000000" pitchFamily="2" charset="2"/>
              <a:buChar char="ü"/>
            </a:pPr>
            <a:r>
              <a:rPr lang="en-US" sz="1200" dirty="0"/>
              <a:t>First Hop redundancy protocol</a:t>
            </a:r>
          </a:p>
          <a:p>
            <a:pPr marL="285750" indent="-285750">
              <a:buFont typeface="Wingdings" panose="05000000000000000000" pitchFamily="2" charset="2"/>
              <a:buChar char="ü"/>
            </a:pPr>
            <a:r>
              <a:rPr lang="en-US" sz="1200" dirty="0"/>
              <a:t>2</a:t>
            </a:r>
            <a:r>
              <a:rPr lang="en-US" sz="1200" baseline="30000" dirty="0"/>
              <a:t>nd</a:t>
            </a:r>
            <a:r>
              <a:rPr lang="en-US" sz="1200" dirty="0"/>
              <a:t> Name High Availability</a:t>
            </a:r>
          </a:p>
          <a:p>
            <a:pPr marL="285750" indent="-285750">
              <a:buFont typeface="Wingdings" panose="05000000000000000000" pitchFamily="2" charset="2"/>
              <a:buChar char="ü"/>
            </a:pPr>
            <a:r>
              <a:rPr lang="en-US" sz="1200" dirty="0"/>
              <a:t>3</a:t>
            </a:r>
            <a:r>
              <a:rPr lang="en-US" sz="1200" baseline="30000" dirty="0"/>
              <a:t>rd</a:t>
            </a:r>
            <a:r>
              <a:rPr lang="en-US" sz="1200" dirty="0"/>
              <a:t> Name Layer 3 redundancy </a:t>
            </a:r>
          </a:p>
          <a:p>
            <a:pPr marL="285750" indent="-285750">
              <a:buFont typeface="Wingdings" panose="05000000000000000000" pitchFamily="2" charset="2"/>
              <a:buChar char="ü"/>
            </a:pPr>
            <a:r>
              <a:rPr lang="en-US" sz="1200" dirty="0"/>
              <a:t>4</a:t>
            </a:r>
            <a:r>
              <a:rPr lang="en-US" sz="1200" baseline="30000" dirty="0"/>
              <a:t>th</a:t>
            </a:r>
            <a:r>
              <a:rPr lang="en-US" sz="1200" dirty="0"/>
              <a:t> Name  Gateway redundancy</a:t>
            </a:r>
          </a:p>
          <a:p>
            <a:endParaRPr lang="en-US" sz="1200" dirty="0"/>
          </a:p>
          <a:p>
            <a:endParaRPr lang="en-US" sz="1200" dirty="0"/>
          </a:p>
          <a:p>
            <a:r>
              <a:rPr lang="en-US" sz="1200" dirty="0"/>
              <a:t>Suppose we have a network and different users are connected to it  </a:t>
            </a:r>
          </a:p>
        </p:txBody>
      </p:sp>
      <p:pic>
        <p:nvPicPr>
          <p:cNvPr id="5" name="Picture 4">
            <a:extLst>
              <a:ext uri="{FF2B5EF4-FFF2-40B4-BE49-F238E27FC236}">
                <a16:creationId xmlns:a16="http://schemas.microsoft.com/office/drawing/2014/main" id="{063109CD-E44E-B624-4209-6833921A3D9A}"/>
              </a:ext>
            </a:extLst>
          </p:cNvPr>
          <p:cNvPicPr>
            <a:picLocks noChangeAspect="1"/>
          </p:cNvPicPr>
          <p:nvPr/>
        </p:nvPicPr>
        <p:blipFill>
          <a:blip r:embed="rId3"/>
          <a:stretch>
            <a:fillRect/>
          </a:stretch>
        </p:blipFill>
        <p:spPr>
          <a:xfrm>
            <a:off x="240418" y="2614519"/>
            <a:ext cx="5212929" cy="2256528"/>
          </a:xfrm>
          <a:prstGeom prst="rect">
            <a:avLst/>
          </a:prstGeom>
        </p:spPr>
      </p:pic>
      <p:sp>
        <p:nvSpPr>
          <p:cNvPr id="8" name="Oval 7">
            <a:extLst>
              <a:ext uri="{FF2B5EF4-FFF2-40B4-BE49-F238E27FC236}">
                <a16:creationId xmlns:a16="http://schemas.microsoft.com/office/drawing/2014/main" id="{AD25C9A6-8E19-5BB0-CC3B-97B53C44D352}"/>
              </a:ext>
            </a:extLst>
          </p:cNvPr>
          <p:cNvSpPr/>
          <p:nvPr/>
        </p:nvSpPr>
        <p:spPr>
          <a:xfrm>
            <a:off x="5440073" y="3767773"/>
            <a:ext cx="3377386" cy="11541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If this link is down then whole network is down</a:t>
            </a:r>
          </a:p>
          <a:p>
            <a:pPr algn="ctr"/>
            <a:r>
              <a:rPr lang="en-US" dirty="0"/>
              <a:t>It is called </a:t>
            </a:r>
            <a:r>
              <a:rPr lang="en-US" b="1" dirty="0"/>
              <a:t>single point failure</a:t>
            </a:r>
            <a:endParaRPr lang="en-PK" b="1" dirty="0"/>
          </a:p>
        </p:txBody>
      </p:sp>
      <p:sp>
        <p:nvSpPr>
          <p:cNvPr id="11" name="Arrow: Left 10">
            <a:extLst>
              <a:ext uri="{FF2B5EF4-FFF2-40B4-BE49-F238E27FC236}">
                <a16:creationId xmlns:a16="http://schemas.microsoft.com/office/drawing/2014/main" id="{FA44DCFA-BABF-6E42-E755-05D9AA3C722D}"/>
              </a:ext>
            </a:extLst>
          </p:cNvPr>
          <p:cNvSpPr/>
          <p:nvPr/>
        </p:nvSpPr>
        <p:spPr>
          <a:xfrm rot="1761787">
            <a:off x="4105911" y="3897069"/>
            <a:ext cx="1396211" cy="11272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19542040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A7EB7-6A4D-988E-C132-1C83C2CC175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5C4C5A3-7566-BBDC-6513-A4E13B50C8C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CF98E49-D6C5-F97B-763C-70D8AC881B1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E483C29-5D77-1BFC-90F3-42584C527B44}"/>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15B53949-836F-6F4C-E519-751E7CB3276B}"/>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B6F5D16F-4C72-1C6F-8406-DFD12DF2F250}"/>
              </a:ext>
            </a:extLst>
          </p:cNvPr>
          <p:cNvSpPr txBox="1"/>
          <p:nvPr/>
        </p:nvSpPr>
        <p:spPr>
          <a:xfrm>
            <a:off x="257351" y="935611"/>
            <a:ext cx="7752115" cy="892552"/>
          </a:xfrm>
          <a:prstGeom prst="rect">
            <a:avLst/>
          </a:prstGeom>
          <a:noFill/>
        </p:spPr>
        <p:txBody>
          <a:bodyPr wrap="square">
            <a:spAutoFit/>
          </a:bodyPr>
          <a:lstStyle/>
          <a:p>
            <a:r>
              <a:rPr lang="en-US" sz="1200" dirty="0"/>
              <a:t>To solve this problem, we install a second router into the network. If one link goes down, the second link can be used.</a:t>
            </a:r>
          </a:p>
          <a:p>
            <a:endParaRPr lang="en-US" dirty="0"/>
          </a:p>
          <a:p>
            <a:endParaRPr lang="en-US" dirty="0"/>
          </a:p>
        </p:txBody>
      </p:sp>
      <p:pic>
        <p:nvPicPr>
          <p:cNvPr id="7" name="Picture 6">
            <a:extLst>
              <a:ext uri="{FF2B5EF4-FFF2-40B4-BE49-F238E27FC236}">
                <a16:creationId xmlns:a16="http://schemas.microsoft.com/office/drawing/2014/main" id="{E965F862-A286-35FE-E560-BFACDD776FB8}"/>
              </a:ext>
            </a:extLst>
          </p:cNvPr>
          <p:cNvPicPr>
            <a:picLocks noChangeAspect="1"/>
          </p:cNvPicPr>
          <p:nvPr/>
        </p:nvPicPr>
        <p:blipFill>
          <a:blip r:embed="rId3"/>
          <a:stretch>
            <a:fillRect/>
          </a:stretch>
        </p:blipFill>
        <p:spPr>
          <a:xfrm>
            <a:off x="1" y="1667343"/>
            <a:ext cx="9144000" cy="3476157"/>
          </a:xfrm>
          <a:prstGeom prst="rect">
            <a:avLst/>
          </a:prstGeom>
        </p:spPr>
      </p:pic>
      <p:sp>
        <p:nvSpPr>
          <p:cNvPr id="12" name="Rectangle 11">
            <a:extLst>
              <a:ext uri="{FF2B5EF4-FFF2-40B4-BE49-F238E27FC236}">
                <a16:creationId xmlns:a16="http://schemas.microsoft.com/office/drawing/2014/main" id="{50A3846F-FF8C-A52F-49E2-300718B90807}"/>
              </a:ext>
            </a:extLst>
          </p:cNvPr>
          <p:cNvSpPr/>
          <p:nvPr/>
        </p:nvSpPr>
        <p:spPr>
          <a:xfrm>
            <a:off x="4902200" y="2082800"/>
            <a:ext cx="474133" cy="220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R1</a:t>
            </a:r>
            <a:endParaRPr lang="en-PK" dirty="0"/>
          </a:p>
        </p:txBody>
      </p:sp>
      <p:sp>
        <p:nvSpPr>
          <p:cNvPr id="13" name="Rectangle 12">
            <a:extLst>
              <a:ext uri="{FF2B5EF4-FFF2-40B4-BE49-F238E27FC236}">
                <a16:creationId xmlns:a16="http://schemas.microsoft.com/office/drawing/2014/main" id="{125A52D4-B3F0-4F6E-DA8A-22BFD9A2DDFD}"/>
              </a:ext>
            </a:extLst>
          </p:cNvPr>
          <p:cNvSpPr/>
          <p:nvPr/>
        </p:nvSpPr>
        <p:spPr>
          <a:xfrm>
            <a:off x="4902199" y="4334934"/>
            <a:ext cx="474133" cy="220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R2</a:t>
            </a:r>
            <a:endParaRPr lang="en-PK" dirty="0"/>
          </a:p>
        </p:txBody>
      </p:sp>
      <p:sp>
        <p:nvSpPr>
          <p:cNvPr id="5" name="TextBox 4">
            <a:extLst>
              <a:ext uri="{FF2B5EF4-FFF2-40B4-BE49-F238E27FC236}">
                <a16:creationId xmlns:a16="http://schemas.microsoft.com/office/drawing/2014/main" id="{661ADA3D-C205-066B-9906-3B0CCA643FB4}"/>
              </a:ext>
            </a:extLst>
          </p:cNvPr>
          <p:cNvSpPr txBox="1"/>
          <p:nvPr/>
        </p:nvSpPr>
        <p:spPr>
          <a:xfrm>
            <a:off x="4296832" y="2359851"/>
            <a:ext cx="1079500" cy="246221"/>
          </a:xfrm>
          <a:prstGeom prst="rect">
            <a:avLst/>
          </a:prstGeom>
          <a:noFill/>
        </p:spPr>
        <p:txBody>
          <a:bodyPr wrap="square">
            <a:spAutoFit/>
          </a:bodyPr>
          <a:lstStyle/>
          <a:p>
            <a:r>
              <a:rPr lang="en-US" sz="1000" dirty="0"/>
              <a:t>192.168.1.1</a:t>
            </a:r>
            <a:endParaRPr lang="en-PK" sz="1000" dirty="0"/>
          </a:p>
        </p:txBody>
      </p:sp>
      <p:sp>
        <p:nvSpPr>
          <p:cNvPr id="11" name="TextBox 10">
            <a:extLst>
              <a:ext uri="{FF2B5EF4-FFF2-40B4-BE49-F238E27FC236}">
                <a16:creationId xmlns:a16="http://schemas.microsoft.com/office/drawing/2014/main" id="{C8D07F1B-6FCE-E7BD-E550-E91C5299655B}"/>
              </a:ext>
            </a:extLst>
          </p:cNvPr>
          <p:cNvSpPr txBox="1"/>
          <p:nvPr/>
        </p:nvSpPr>
        <p:spPr>
          <a:xfrm>
            <a:off x="0" y="3414123"/>
            <a:ext cx="974618" cy="230832"/>
          </a:xfrm>
          <a:prstGeom prst="rect">
            <a:avLst/>
          </a:prstGeom>
          <a:noFill/>
        </p:spPr>
        <p:txBody>
          <a:bodyPr wrap="square">
            <a:spAutoFit/>
          </a:bodyPr>
          <a:lstStyle/>
          <a:p>
            <a:r>
              <a:rPr lang="en-PK" sz="900" dirty="0"/>
              <a:t>192.168.1.</a:t>
            </a:r>
            <a:r>
              <a:rPr lang="en-US" sz="900" dirty="0"/>
              <a:t>5</a:t>
            </a:r>
            <a:endParaRPr lang="en-PK" sz="900" dirty="0"/>
          </a:p>
        </p:txBody>
      </p:sp>
      <p:sp>
        <p:nvSpPr>
          <p:cNvPr id="15" name="TextBox 14">
            <a:extLst>
              <a:ext uri="{FF2B5EF4-FFF2-40B4-BE49-F238E27FC236}">
                <a16:creationId xmlns:a16="http://schemas.microsoft.com/office/drawing/2014/main" id="{B40118D7-E3F0-A95C-CCE5-56B74CE057FD}"/>
              </a:ext>
            </a:extLst>
          </p:cNvPr>
          <p:cNvSpPr txBox="1"/>
          <p:nvPr/>
        </p:nvSpPr>
        <p:spPr>
          <a:xfrm>
            <a:off x="26219" y="1872000"/>
            <a:ext cx="992275" cy="230832"/>
          </a:xfrm>
          <a:prstGeom prst="rect">
            <a:avLst/>
          </a:prstGeom>
          <a:noFill/>
        </p:spPr>
        <p:txBody>
          <a:bodyPr wrap="square">
            <a:spAutoFit/>
          </a:bodyPr>
          <a:lstStyle/>
          <a:p>
            <a:r>
              <a:rPr lang="en-US" sz="900" dirty="0"/>
              <a:t>192.168.1.3</a:t>
            </a:r>
            <a:endParaRPr lang="en-PK" sz="900" dirty="0"/>
          </a:p>
        </p:txBody>
      </p:sp>
      <p:sp>
        <p:nvSpPr>
          <p:cNvPr id="17" name="TextBox 16">
            <a:extLst>
              <a:ext uri="{FF2B5EF4-FFF2-40B4-BE49-F238E27FC236}">
                <a16:creationId xmlns:a16="http://schemas.microsoft.com/office/drawing/2014/main" id="{38221617-F6B4-2921-4F6F-6989B49142DB}"/>
              </a:ext>
            </a:extLst>
          </p:cNvPr>
          <p:cNvSpPr txBox="1"/>
          <p:nvPr/>
        </p:nvSpPr>
        <p:spPr>
          <a:xfrm>
            <a:off x="4523315" y="4064482"/>
            <a:ext cx="1231900" cy="246221"/>
          </a:xfrm>
          <a:prstGeom prst="rect">
            <a:avLst/>
          </a:prstGeom>
          <a:noFill/>
        </p:spPr>
        <p:txBody>
          <a:bodyPr wrap="square">
            <a:spAutoFit/>
          </a:bodyPr>
          <a:lstStyle/>
          <a:p>
            <a:r>
              <a:rPr lang="en-US" sz="1000" dirty="0"/>
              <a:t>192.168.1.2</a:t>
            </a:r>
            <a:endParaRPr lang="en-PK" sz="1000" dirty="0"/>
          </a:p>
        </p:txBody>
      </p:sp>
      <p:sp>
        <p:nvSpPr>
          <p:cNvPr id="19" name="TextBox 18">
            <a:extLst>
              <a:ext uri="{FF2B5EF4-FFF2-40B4-BE49-F238E27FC236}">
                <a16:creationId xmlns:a16="http://schemas.microsoft.com/office/drawing/2014/main" id="{568D970B-4E61-9DF2-5E5E-60D4AC5A2B38}"/>
              </a:ext>
            </a:extLst>
          </p:cNvPr>
          <p:cNvSpPr txBox="1"/>
          <p:nvPr/>
        </p:nvSpPr>
        <p:spPr>
          <a:xfrm>
            <a:off x="29601" y="2643061"/>
            <a:ext cx="4631266" cy="230832"/>
          </a:xfrm>
          <a:prstGeom prst="rect">
            <a:avLst/>
          </a:prstGeom>
          <a:noFill/>
        </p:spPr>
        <p:txBody>
          <a:bodyPr wrap="square">
            <a:spAutoFit/>
          </a:bodyPr>
          <a:lstStyle/>
          <a:p>
            <a:pPr marL="0" lvl="0" indent="0" defTabSz="914400" eaLnBrk="1" fontAlgn="auto" latinLnBrk="0" hangingPunct="1">
              <a:buSzTx/>
              <a:buFont typeface="Arial"/>
              <a:buNone/>
              <a:tabLst/>
              <a:defRPr/>
            </a:pPr>
            <a:r>
              <a:rPr lang="en-US" sz="900" dirty="0"/>
              <a:t>192.168.1.4</a:t>
            </a:r>
            <a:endParaRPr lang="en-PK" sz="900" dirty="0"/>
          </a:p>
        </p:txBody>
      </p:sp>
      <p:sp>
        <p:nvSpPr>
          <p:cNvPr id="21" name="TextBox 20">
            <a:extLst>
              <a:ext uri="{FF2B5EF4-FFF2-40B4-BE49-F238E27FC236}">
                <a16:creationId xmlns:a16="http://schemas.microsoft.com/office/drawing/2014/main" id="{A0F63DB9-C04A-49C9-84BA-0D18CF2E8C3D}"/>
              </a:ext>
            </a:extLst>
          </p:cNvPr>
          <p:cNvSpPr txBox="1"/>
          <p:nvPr/>
        </p:nvSpPr>
        <p:spPr>
          <a:xfrm>
            <a:off x="5888567" y="2113630"/>
            <a:ext cx="732366"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1.1.1.1</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3" name="TextBox 22">
            <a:extLst>
              <a:ext uri="{FF2B5EF4-FFF2-40B4-BE49-F238E27FC236}">
                <a16:creationId xmlns:a16="http://schemas.microsoft.com/office/drawing/2014/main" id="{8437BF55-A90A-27FB-B881-779CB9E423ED}"/>
              </a:ext>
            </a:extLst>
          </p:cNvPr>
          <p:cNvSpPr txBox="1"/>
          <p:nvPr/>
        </p:nvSpPr>
        <p:spPr>
          <a:xfrm>
            <a:off x="7584019" y="3437171"/>
            <a:ext cx="67170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2.1.1.2</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5" name="TextBox 24">
            <a:extLst>
              <a:ext uri="{FF2B5EF4-FFF2-40B4-BE49-F238E27FC236}">
                <a16:creationId xmlns:a16="http://schemas.microsoft.com/office/drawing/2014/main" id="{2E4D7590-AA13-E456-A581-227F028DDBEC}"/>
              </a:ext>
            </a:extLst>
          </p:cNvPr>
          <p:cNvSpPr txBox="1"/>
          <p:nvPr/>
        </p:nvSpPr>
        <p:spPr>
          <a:xfrm>
            <a:off x="5888567" y="3961668"/>
            <a:ext cx="61383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2.1.1.1</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7" name="TextBox 26">
            <a:extLst>
              <a:ext uri="{FF2B5EF4-FFF2-40B4-BE49-F238E27FC236}">
                <a16:creationId xmlns:a16="http://schemas.microsoft.com/office/drawing/2014/main" id="{C3AEF65C-A750-1191-9C4B-EAC79CB73C84}"/>
              </a:ext>
            </a:extLst>
          </p:cNvPr>
          <p:cNvSpPr txBox="1"/>
          <p:nvPr/>
        </p:nvSpPr>
        <p:spPr>
          <a:xfrm>
            <a:off x="7507819" y="2497861"/>
            <a:ext cx="57591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1.1.1.2</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9" name="TextBox 28">
            <a:extLst>
              <a:ext uri="{FF2B5EF4-FFF2-40B4-BE49-F238E27FC236}">
                <a16:creationId xmlns:a16="http://schemas.microsoft.com/office/drawing/2014/main" id="{FBC726EE-C7ED-EF26-730B-A399FF7316AA}"/>
              </a:ext>
            </a:extLst>
          </p:cNvPr>
          <p:cNvSpPr txBox="1"/>
          <p:nvPr/>
        </p:nvSpPr>
        <p:spPr>
          <a:xfrm>
            <a:off x="0" y="4265540"/>
            <a:ext cx="1079500" cy="230832"/>
          </a:xfrm>
          <a:prstGeom prst="rect">
            <a:avLst/>
          </a:prstGeom>
          <a:noFill/>
        </p:spPr>
        <p:txBody>
          <a:bodyPr wrap="square">
            <a:spAutoFit/>
          </a:bodyPr>
          <a:lstStyle/>
          <a:p>
            <a:pPr marL="0" lvl="0" indent="0" defTabSz="914400" eaLnBrk="1" fontAlgn="auto" latinLnBrk="0" hangingPunct="1">
              <a:buSzTx/>
              <a:buFont typeface="Arial"/>
              <a:buNone/>
              <a:tabLst/>
              <a:defRPr/>
            </a:pPr>
            <a:r>
              <a:rPr lang="en-PK" sz="900" dirty="0"/>
              <a:t>192.168.1.</a:t>
            </a:r>
            <a:r>
              <a:rPr lang="en-US" sz="900" dirty="0"/>
              <a:t>6</a:t>
            </a:r>
            <a:endParaRPr lang="en-PK" sz="900" dirty="0"/>
          </a:p>
        </p:txBody>
      </p:sp>
    </p:spTree>
    <p:extLst>
      <p:ext uri="{BB962C8B-B14F-4D97-AF65-F5344CB8AC3E}">
        <p14:creationId xmlns:p14="http://schemas.microsoft.com/office/powerpoint/2010/main" val="4329388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7C44-4131-FF24-C75C-7127A09FD9E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2F745E3-620F-5492-55F6-67CD03DB4D9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B092F49-2D70-22D8-AC74-273B0F02183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EA874D9-8E50-4ED2-26A3-44354F5AD5D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E1E8CC9-88B5-8752-6EA3-51E37BBFB0E2}"/>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9FADDE1A-8903-C9EE-59B4-73E7B55C782E}"/>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34F77209-5799-8588-A8D1-AD7BE0C1BBAC}"/>
              </a:ext>
            </a:extLst>
          </p:cNvPr>
          <p:cNvSpPr txBox="1"/>
          <p:nvPr/>
        </p:nvSpPr>
        <p:spPr>
          <a:xfrm>
            <a:off x="121501" y="1017044"/>
            <a:ext cx="8666899" cy="2954655"/>
          </a:xfrm>
          <a:prstGeom prst="rect">
            <a:avLst/>
          </a:prstGeom>
          <a:noFill/>
        </p:spPr>
        <p:txBody>
          <a:bodyPr wrap="square">
            <a:spAutoFit/>
          </a:bodyPr>
          <a:lstStyle/>
          <a:p>
            <a:r>
              <a:rPr lang="en-US" dirty="0"/>
              <a:t>But If R1 link is down then you won't be able to use R2 link because it is different gateway , so to solve this issue.</a:t>
            </a:r>
          </a:p>
          <a:p>
            <a:endParaRPr lang="en-US" dirty="0"/>
          </a:p>
          <a:p>
            <a:r>
              <a:rPr lang="en-US" dirty="0">
                <a:highlight>
                  <a:srgbClr val="00FFFF"/>
                </a:highlight>
              </a:rPr>
              <a:t>Three Protocols are used:</a:t>
            </a:r>
          </a:p>
          <a:p>
            <a:endParaRPr lang="en-US" dirty="0"/>
          </a:p>
          <a:p>
            <a:r>
              <a:rPr lang="en-US" sz="1200" b="1" dirty="0"/>
              <a:t>HSRP</a:t>
            </a:r>
            <a:r>
              <a:rPr lang="en-US" sz="1200" dirty="0"/>
              <a:t>  Hot Standby routing protocol</a:t>
            </a:r>
          </a:p>
          <a:p>
            <a:r>
              <a:rPr lang="en-US" sz="1200" dirty="0"/>
              <a:t> </a:t>
            </a:r>
          </a:p>
          <a:p>
            <a:r>
              <a:rPr lang="en-US" sz="1200" b="1" dirty="0"/>
              <a:t>VRRP</a:t>
            </a:r>
            <a:r>
              <a:rPr lang="en-US" sz="1200" dirty="0"/>
              <a:t>  Virtual router redundancy protocol</a:t>
            </a:r>
          </a:p>
          <a:p>
            <a:r>
              <a:rPr lang="en-US" sz="1200" dirty="0"/>
              <a:t> </a:t>
            </a:r>
          </a:p>
          <a:p>
            <a:r>
              <a:rPr lang="en-US" sz="1200" b="1" dirty="0"/>
              <a:t>GLBP</a:t>
            </a:r>
            <a:r>
              <a:rPr lang="en-US" sz="1200" dirty="0"/>
              <a:t>  Gateway load balancing protocol</a:t>
            </a:r>
          </a:p>
          <a:p>
            <a:endParaRPr lang="en-US" dirty="0"/>
          </a:p>
          <a:p>
            <a:endParaRPr lang="en-US" dirty="0"/>
          </a:p>
          <a:p>
            <a:endParaRPr lang="en-US" dirty="0"/>
          </a:p>
          <a:p>
            <a:r>
              <a:rPr lang="en-US" b="1" dirty="0">
                <a:highlight>
                  <a:srgbClr val="00FFFF"/>
                </a:highlight>
              </a:rPr>
              <a:t>These three protocols will solve the gateway IP issue.</a:t>
            </a:r>
            <a:endParaRPr lang="en-PK" b="1" dirty="0">
              <a:highlight>
                <a:srgbClr val="00FFFF"/>
              </a:highlight>
            </a:endParaRPr>
          </a:p>
        </p:txBody>
      </p:sp>
    </p:spTree>
    <p:extLst>
      <p:ext uri="{BB962C8B-B14F-4D97-AF65-F5344CB8AC3E}">
        <p14:creationId xmlns:p14="http://schemas.microsoft.com/office/powerpoint/2010/main" val="31618764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A4718-EEB1-4531-6EB9-758B5F7B043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8481A65-86E3-CE24-9C91-4BA219497C7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CAC7284-C44B-4724-4357-758A7A6BD9F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810C029-E63A-7A21-7FF9-5C4D09CDD8C4}"/>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149AE98-A90A-B2B7-70F2-0DDA3498A779}"/>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FD28F606-E4DB-5F56-BEA5-36789CB398F6}"/>
              </a:ext>
            </a:extLst>
          </p:cNvPr>
          <p:cNvSpPr txBox="1"/>
          <p:nvPr/>
        </p:nvSpPr>
        <p:spPr>
          <a:xfrm>
            <a:off x="257351" y="935611"/>
            <a:ext cx="7752115" cy="477054"/>
          </a:xfrm>
          <a:prstGeom prst="rect">
            <a:avLst/>
          </a:prstGeom>
          <a:noFill/>
        </p:spPr>
        <p:txBody>
          <a:bodyPr wrap="square">
            <a:spAutoFit/>
          </a:bodyPr>
          <a:lstStyle/>
          <a:p>
            <a:r>
              <a:rPr lang="en-US" sz="1600" dirty="0">
                <a:highlight>
                  <a:srgbClr val="00FFFF"/>
                </a:highlight>
              </a:rPr>
              <a:t>HSRP</a:t>
            </a:r>
          </a:p>
          <a:p>
            <a:r>
              <a:rPr lang="en-US" sz="900" dirty="0"/>
              <a:t>Can be configured on Cisco Packet tracer</a:t>
            </a:r>
          </a:p>
        </p:txBody>
      </p:sp>
      <p:pic>
        <p:nvPicPr>
          <p:cNvPr id="7" name="Picture 6">
            <a:extLst>
              <a:ext uri="{FF2B5EF4-FFF2-40B4-BE49-F238E27FC236}">
                <a16:creationId xmlns:a16="http://schemas.microsoft.com/office/drawing/2014/main" id="{1CE94AB1-7B06-D20E-6D55-B62B1A488CBA}"/>
              </a:ext>
            </a:extLst>
          </p:cNvPr>
          <p:cNvPicPr>
            <a:picLocks noChangeAspect="1"/>
          </p:cNvPicPr>
          <p:nvPr/>
        </p:nvPicPr>
        <p:blipFill>
          <a:blip r:embed="rId3"/>
          <a:stretch>
            <a:fillRect/>
          </a:stretch>
        </p:blipFill>
        <p:spPr>
          <a:xfrm>
            <a:off x="1" y="1667343"/>
            <a:ext cx="9144000" cy="3476157"/>
          </a:xfrm>
          <a:prstGeom prst="rect">
            <a:avLst/>
          </a:prstGeom>
        </p:spPr>
      </p:pic>
      <p:sp>
        <p:nvSpPr>
          <p:cNvPr id="12" name="Rectangle 11">
            <a:extLst>
              <a:ext uri="{FF2B5EF4-FFF2-40B4-BE49-F238E27FC236}">
                <a16:creationId xmlns:a16="http://schemas.microsoft.com/office/drawing/2014/main" id="{34C78336-92BE-C173-E8C4-041DFCC52C44}"/>
              </a:ext>
            </a:extLst>
          </p:cNvPr>
          <p:cNvSpPr/>
          <p:nvPr/>
        </p:nvSpPr>
        <p:spPr>
          <a:xfrm>
            <a:off x="4902200" y="2082800"/>
            <a:ext cx="474133" cy="220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R1</a:t>
            </a:r>
            <a:endParaRPr lang="en-PK" dirty="0"/>
          </a:p>
        </p:txBody>
      </p:sp>
      <p:sp>
        <p:nvSpPr>
          <p:cNvPr id="13" name="Rectangle 12">
            <a:extLst>
              <a:ext uri="{FF2B5EF4-FFF2-40B4-BE49-F238E27FC236}">
                <a16:creationId xmlns:a16="http://schemas.microsoft.com/office/drawing/2014/main" id="{2075BCDA-C020-7CE8-7D26-05C446253693}"/>
              </a:ext>
            </a:extLst>
          </p:cNvPr>
          <p:cNvSpPr/>
          <p:nvPr/>
        </p:nvSpPr>
        <p:spPr>
          <a:xfrm>
            <a:off x="4902199" y="4334934"/>
            <a:ext cx="474133" cy="220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R2</a:t>
            </a:r>
            <a:endParaRPr lang="en-PK" dirty="0"/>
          </a:p>
        </p:txBody>
      </p:sp>
      <p:sp>
        <p:nvSpPr>
          <p:cNvPr id="5" name="TextBox 4">
            <a:extLst>
              <a:ext uri="{FF2B5EF4-FFF2-40B4-BE49-F238E27FC236}">
                <a16:creationId xmlns:a16="http://schemas.microsoft.com/office/drawing/2014/main" id="{4AA96163-6A31-1EBB-B7E6-806FC96AB262}"/>
              </a:ext>
            </a:extLst>
          </p:cNvPr>
          <p:cNvSpPr txBox="1"/>
          <p:nvPr/>
        </p:nvSpPr>
        <p:spPr>
          <a:xfrm>
            <a:off x="4296832" y="2359851"/>
            <a:ext cx="1079500" cy="246221"/>
          </a:xfrm>
          <a:prstGeom prst="rect">
            <a:avLst/>
          </a:prstGeom>
          <a:noFill/>
        </p:spPr>
        <p:txBody>
          <a:bodyPr wrap="square">
            <a:spAutoFit/>
          </a:bodyPr>
          <a:lstStyle/>
          <a:p>
            <a:r>
              <a:rPr lang="en-US" sz="1000" dirty="0"/>
              <a:t>192.168.1.1</a:t>
            </a:r>
            <a:endParaRPr lang="en-PK" sz="1000" dirty="0"/>
          </a:p>
        </p:txBody>
      </p:sp>
      <p:sp>
        <p:nvSpPr>
          <p:cNvPr id="11" name="TextBox 10">
            <a:extLst>
              <a:ext uri="{FF2B5EF4-FFF2-40B4-BE49-F238E27FC236}">
                <a16:creationId xmlns:a16="http://schemas.microsoft.com/office/drawing/2014/main" id="{26E4B1CE-FBE1-363F-F35D-3C87CF2C6535}"/>
              </a:ext>
            </a:extLst>
          </p:cNvPr>
          <p:cNvSpPr txBox="1"/>
          <p:nvPr/>
        </p:nvSpPr>
        <p:spPr>
          <a:xfrm>
            <a:off x="3351" y="3551667"/>
            <a:ext cx="974618" cy="415498"/>
          </a:xfrm>
          <a:prstGeom prst="rect">
            <a:avLst/>
          </a:prstGeom>
          <a:noFill/>
        </p:spPr>
        <p:txBody>
          <a:bodyPr wrap="square">
            <a:spAutoFit/>
          </a:bodyPr>
          <a:lstStyle/>
          <a:p>
            <a:pPr>
              <a:defRPr/>
            </a:pPr>
            <a:r>
              <a:rPr lang="en-PK" sz="700" dirty="0"/>
              <a:t>192.168.1.</a:t>
            </a:r>
            <a:r>
              <a:rPr lang="en-US" sz="700" dirty="0"/>
              <a:t>5</a:t>
            </a:r>
          </a:p>
          <a:p>
            <a:pPr>
              <a:defRPr/>
            </a:pPr>
            <a:r>
              <a:rPr lang="en-US" sz="700" dirty="0"/>
              <a:t>255.255.255.0</a:t>
            </a:r>
          </a:p>
          <a:p>
            <a:pPr>
              <a:defRPr/>
            </a:pPr>
            <a:r>
              <a:rPr lang="en-US" sz="700" dirty="0"/>
              <a:t>192.168.1.10</a:t>
            </a:r>
            <a:endParaRPr lang="en-PK" sz="700" dirty="0"/>
          </a:p>
        </p:txBody>
      </p:sp>
      <p:sp>
        <p:nvSpPr>
          <p:cNvPr id="15" name="TextBox 14">
            <a:extLst>
              <a:ext uri="{FF2B5EF4-FFF2-40B4-BE49-F238E27FC236}">
                <a16:creationId xmlns:a16="http://schemas.microsoft.com/office/drawing/2014/main" id="{CA7B6277-15B8-30E4-3E70-B1CBAA0214BC}"/>
              </a:ext>
            </a:extLst>
          </p:cNvPr>
          <p:cNvSpPr txBox="1"/>
          <p:nvPr/>
        </p:nvSpPr>
        <p:spPr>
          <a:xfrm>
            <a:off x="0" y="2024160"/>
            <a:ext cx="992275" cy="415498"/>
          </a:xfrm>
          <a:prstGeom prst="rect">
            <a:avLst/>
          </a:prstGeom>
          <a:noFill/>
        </p:spPr>
        <p:txBody>
          <a:bodyPr wrap="square">
            <a:spAutoFit/>
          </a:bodyPr>
          <a:lstStyle/>
          <a:p>
            <a:r>
              <a:rPr lang="en-US" sz="700" dirty="0"/>
              <a:t>192.168.1.3</a:t>
            </a:r>
          </a:p>
          <a:p>
            <a:r>
              <a:rPr lang="en-US" sz="700" dirty="0"/>
              <a:t>255.255.255.0</a:t>
            </a:r>
          </a:p>
          <a:p>
            <a:r>
              <a:rPr lang="en-US" sz="700" dirty="0"/>
              <a:t>192.168.1.10</a:t>
            </a:r>
            <a:endParaRPr lang="en-PK" sz="700" dirty="0"/>
          </a:p>
        </p:txBody>
      </p:sp>
      <p:sp>
        <p:nvSpPr>
          <p:cNvPr id="17" name="TextBox 16">
            <a:extLst>
              <a:ext uri="{FF2B5EF4-FFF2-40B4-BE49-F238E27FC236}">
                <a16:creationId xmlns:a16="http://schemas.microsoft.com/office/drawing/2014/main" id="{344BAAE4-FA6E-9CEE-C308-9C76D8491B62}"/>
              </a:ext>
            </a:extLst>
          </p:cNvPr>
          <p:cNvSpPr txBox="1"/>
          <p:nvPr/>
        </p:nvSpPr>
        <p:spPr>
          <a:xfrm>
            <a:off x="4523315" y="4064482"/>
            <a:ext cx="1231900" cy="246221"/>
          </a:xfrm>
          <a:prstGeom prst="rect">
            <a:avLst/>
          </a:prstGeom>
          <a:noFill/>
        </p:spPr>
        <p:txBody>
          <a:bodyPr wrap="square">
            <a:spAutoFit/>
          </a:bodyPr>
          <a:lstStyle/>
          <a:p>
            <a:r>
              <a:rPr lang="en-US" sz="1000" dirty="0"/>
              <a:t>192.168.1.2</a:t>
            </a:r>
            <a:endParaRPr lang="en-PK" sz="1000" dirty="0"/>
          </a:p>
        </p:txBody>
      </p:sp>
      <p:sp>
        <p:nvSpPr>
          <p:cNvPr id="19" name="TextBox 18">
            <a:extLst>
              <a:ext uri="{FF2B5EF4-FFF2-40B4-BE49-F238E27FC236}">
                <a16:creationId xmlns:a16="http://schemas.microsoft.com/office/drawing/2014/main" id="{AB29D8AC-3FEA-E74B-9D7F-BB21B4484BB6}"/>
              </a:ext>
            </a:extLst>
          </p:cNvPr>
          <p:cNvSpPr txBox="1"/>
          <p:nvPr/>
        </p:nvSpPr>
        <p:spPr>
          <a:xfrm>
            <a:off x="0" y="2813766"/>
            <a:ext cx="974618" cy="415498"/>
          </a:xfrm>
          <a:prstGeom prst="rect">
            <a:avLst/>
          </a:prstGeom>
          <a:noFill/>
        </p:spPr>
        <p:txBody>
          <a:bodyPr wrap="square">
            <a:spAutoFit/>
          </a:bodyPr>
          <a:lstStyle/>
          <a:p>
            <a:pPr marL="0" lvl="0" indent="0" defTabSz="914400" eaLnBrk="1" fontAlgn="auto" latinLnBrk="0" hangingPunct="1">
              <a:buSzTx/>
              <a:buFont typeface="Arial"/>
              <a:buNone/>
              <a:tabLst/>
              <a:defRPr/>
            </a:pPr>
            <a:r>
              <a:rPr lang="en-US" sz="700" dirty="0"/>
              <a:t>192.168.1.4</a:t>
            </a:r>
          </a:p>
          <a:p>
            <a:pPr marL="0" lvl="0" indent="0" defTabSz="914400" eaLnBrk="1" fontAlgn="auto" latinLnBrk="0" hangingPunct="1">
              <a:buSzTx/>
              <a:buFont typeface="Arial"/>
              <a:buNone/>
              <a:tabLst/>
              <a:defRPr/>
            </a:pPr>
            <a:r>
              <a:rPr lang="en-US" sz="700" dirty="0"/>
              <a:t>255.255.255.0</a:t>
            </a:r>
          </a:p>
          <a:p>
            <a:pPr marL="0" lvl="0" indent="0" defTabSz="914400" eaLnBrk="1" fontAlgn="auto" latinLnBrk="0" hangingPunct="1">
              <a:buSzTx/>
              <a:buFont typeface="Arial"/>
              <a:buNone/>
              <a:tabLst/>
              <a:defRPr/>
            </a:pPr>
            <a:r>
              <a:rPr lang="en-US" sz="700" dirty="0"/>
              <a:t>192.168.1.10</a:t>
            </a:r>
            <a:endParaRPr lang="en-PK" sz="700" dirty="0"/>
          </a:p>
        </p:txBody>
      </p:sp>
      <p:sp>
        <p:nvSpPr>
          <p:cNvPr id="21" name="TextBox 20">
            <a:extLst>
              <a:ext uri="{FF2B5EF4-FFF2-40B4-BE49-F238E27FC236}">
                <a16:creationId xmlns:a16="http://schemas.microsoft.com/office/drawing/2014/main" id="{721759C2-403A-5F77-56F3-754D8D1AD5CE}"/>
              </a:ext>
            </a:extLst>
          </p:cNvPr>
          <p:cNvSpPr txBox="1"/>
          <p:nvPr/>
        </p:nvSpPr>
        <p:spPr>
          <a:xfrm>
            <a:off x="5888567" y="2113630"/>
            <a:ext cx="732366"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1.1.1.1</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3" name="TextBox 22">
            <a:extLst>
              <a:ext uri="{FF2B5EF4-FFF2-40B4-BE49-F238E27FC236}">
                <a16:creationId xmlns:a16="http://schemas.microsoft.com/office/drawing/2014/main" id="{D098446D-D18E-5CEE-D90A-67790DB31FF6}"/>
              </a:ext>
            </a:extLst>
          </p:cNvPr>
          <p:cNvSpPr txBox="1"/>
          <p:nvPr/>
        </p:nvSpPr>
        <p:spPr>
          <a:xfrm>
            <a:off x="7584019" y="3437171"/>
            <a:ext cx="67170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2.1.1.2</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5" name="TextBox 24">
            <a:extLst>
              <a:ext uri="{FF2B5EF4-FFF2-40B4-BE49-F238E27FC236}">
                <a16:creationId xmlns:a16="http://schemas.microsoft.com/office/drawing/2014/main" id="{02F2284C-AB76-15DA-4056-F9B2428A58EF}"/>
              </a:ext>
            </a:extLst>
          </p:cNvPr>
          <p:cNvSpPr txBox="1"/>
          <p:nvPr/>
        </p:nvSpPr>
        <p:spPr>
          <a:xfrm>
            <a:off x="5888567" y="3961668"/>
            <a:ext cx="61383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2.1.1.1</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7" name="TextBox 26">
            <a:extLst>
              <a:ext uri="{FF2B5EF4-FFF2-40B4-BE49-F238E27FC236}">
                <a16:creationId xmlns:a16="http://schemas.microsoft.com/office/drawing/2014/main" id="{845C1664-896D-3749-0178-5FC8B1A608D9}"/>
              </a:ext>
            </a:extLst>
          </p:cNvPr>
          <p:cNvSpPr txBox="1"/>
          <p:nvPr/>
        </p:nvSpPr>
        <p:spPr>
          <a:xfrm>
            <a:off x="7507819" y="2497861"/>
            <a:ext cx="57591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1.1.1.2</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9" name="TextBox 28">
            <a:extLst>
              <a:ext uri="{FF2B5EF4-FFF2-40B4-BE49-F238E27FC236}">
                <a16:creationId xmlns:a16="http://schemas.microsoft.com/office/drawing/2014/main" id="{7F5C4F15-A34B-1D5D-A591-419DA517B852}"/>
              </a:ext>
            </a:extLst>
          </p:cNvPr>
          <p:cNvSpPr txBox="1"/>
          <p:nvPr/>
        </p:nvSpPr>
        <p:spPr>
          <a:xfrm>
            <a:off x="0" y="4445000"/>
            <a:ext cx="1079500" cy="415498"/>
          </a:xfrm>
          <a:prstGeom prst="rect">
            <a:avLst/>
          </a:prstGeom>
          <a:noFill/>
        </p:spPr>
        <p:txBody>
          <a:bodyPr wrap="square">
            <a:spAutoFit/>
          </a:bodyPr>
          <a:lstStyle/>
          <a:p>
            <a:pPr marL="0" lvl="0" indent="0" defTabSz="914400" eaLnBrk="1" fontAlgn="auto" latinLnBrk="0" hangingPunct="1">
              <a:buSzTx/>
              <a:buFont typeface="Arial"/>
              <a:buNone/>
              <a:tabLst/>
              <a:defRPr/>
            </a:pPr>
            <a:r>
              <a:rPr lang="en-PK" sz="700" dirty="0"/>
              <a:t>192.168.1.</a:t>
            </a:r>
            <a:r>
              <a:rPr lang="en-US" sz="700" dirty="0"/>
              <a:t>6</a:t>
            </a:r>
          </a:p>
          <a:p>
            <a:pPr marL="0" lvl="0" indent="0" defTabSz="914400" eaLnBrk="1" fontAlgn="auto" latinLnBrk="0" hangingPunct="1">
              <a:buSzTx/>
              <a:buFont typeface="Arial"/>
              <a:buNone/>
              <a:tabLst/>
              <a:defRPr/>
            </a:pPr>
            <a:r>
              <a:rPr lang="en-US" sz="700" dirty="0"/>
              <a:t>255.255.255.0</a:t>
            </a:r>
          </a:p>
          <a:p>
            <a:pPr marL="0" lvl="0" indent="0" defTabSz="914400" eaLnBrk="1" fontAlgn="auto" latinLnBrk="0" hangingPunct="1">
              <a:buSzTx/>
              <a:buFont typeface="Arial"/>
              <a:buNone/>
              <a:tabLst/>
              <a:defRPr/>
            </a:pPr>
            <a:r>
              <a:rPr lang="en-US" sz="700" dirty="0"/>
              <a:t>192.168.1.10</a:t>
            </a:r>
            <a:endParaRPr lang="en-PK" sz="700" dirty="0"/>
          </a:p>
        </p:txBody>
      </p:sp>
      <p:sp>
        <p:nvSpPr>
          <p:cNvPr id="8" name="TextBox 7">
            <a:extLst>
              <a:ext uri="{FF2B5EF4-FFF2-40B4-BE49-F238E27FC236}">
                <a16:creationId xmlns:a16="http://schemas.microsoft.com/office/drawing/2014/main" id="{D2196505-200F-6111-A8D1-83874852C576}"/>
              </a:ext>
            </a:extLst>
          </p:cNvPr>
          <p:cNvSpPr txBox="1"/>
          <p:nvPr/>
        </p:nvSpPr>
        <p:spPr>
          <a:xfrm>
            <a:off x="3939117" y="3120152"/>
            <a:ext cx="1816098"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192.168.1.10  (Virtual IP)</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8617921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50F78-0FE8-A805-902F-015AB8FEE1D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93CAF98-C780-CC4A-3560-4072F586272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9ED5B1B-9494-BEB8-5E21-A895DB82A71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AE35F91-9CD3-4E7C-3FB2-45FBF4184E7C}"/>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BD98DD6-BF73-663D-F56D-2C2D32F528B7}"/>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A5ED20B5-71B5-83E5-4F24-0C4C294E56E9}"/>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6D61BE49-F25D-4168-84BC-A72CEF3B96BF}"/>
              </a:ext>
            </a:extLst>
          </p:cNvPr>
          <p:cNvSpPr txBox="1"/>
          <p:nvPr/>
        </p:nvSpPr>
        <p:spPr>
          <a:xfrm>
            <a:off x="65612" y="937136"/>
            <a:ext cx="9019121" cy="3908762"/>
          </a:xfrm>
          <a:prstGeom prst="rect">
            <a:avLst/>
          </a:prstGeom>
          <a:noFill/>
        </p:spPr>
        <p:txBody>
          <a:bodyPr wrap="square">
            <a:spAutoFit/>
          </a:bodyPr>
          <a:lstStyle/>
          <a:p>
            <a:r>
              <a:rPr lang="en-US" b="1" dirty="0">
                <a:highlight>
                  <a:srgbClr val="00FFFF"/>
                </a:highlight>
              </a:rPr>
              <a:t>HSRP  (Hot Standby routing protocol)</a:t>
            </a:r>
          </a:p>
          <a:p>
            <a:endParaRPr lang="en-US" dirty="0"/>
          </a:p>
          <a:p>
            <a:pPr marL="285750" indent="-285750" algn="just">
              <a:buFont typeface="Wingdings" panose="05000000000000000000" pitchFamily="2" charset="2"/>
              <a:buChar char="ü"/>
            </a:pPr>
            <a:r>
              <a:rPr lang="en-US" sz="1100" dirty="0"/>
              <a:t>There are two roles: Active and Standby (one router will be active, and the other will be on standby).</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 default priority is 100.</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 router with the higher priority becomes the active router. (We can increase/decrease the priority )</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Every 3 seconds, the active router sends a Hello packet to the standby router to indicate that it is active. The standby router waits for 10 seconds (hold time). If no Hello packet is received within 10 seconds, the standby router takes over as the active router.</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By default, preemption is disabled in HSRP. This means that if an active router fails and the standby router takes over, the original active router will not automatically reclaim its role when it comes back online—unless the new active router goes into standby mode or a re-election occurs.</a:t>
            </a:r>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r>
              <a:rPr lang="en-US" sz="1100" dirty="0"/>
              <a:t>HSRP is Cisco proprietary.</a:t>
            </a:r>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r>
              <a:rPr lang="en-US" sz="1100" dirty="0"/>
              <a:t>HSRP uses a virtual IP address that hosts use as their default gateway.</a:t>
            </a:r>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r>
              <a:rPr lang="en-US" sz="1100" dirty="0"/>
              <a:t>In HSRP, routers share one common Virtual IP address.</a:t>
            </a:r>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r>
              <a:rPr lang="en-US" sz="1100" dirty="0"/>
              <a:t>This Virtual IP is what computers (hosts) use as their default gateway.</a:t>
            </a:r>
          </a:p>
        </p:txBody>
      </p:sp>
    </p:spTree>
    <p:extLst>
      <p:ext uri="{BB962C8B-B14F-4D97-AF65-F5344CB8AC3E}">
        <p14:creationId xmlns:p14="http://schemas.microsoft.com/office/powerpoint/2010/main" val="2871061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9EE4-9EBB-2F1F-B759-1C8DD30192D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517140E-989E-C3DE-0D24-35E2305E2BA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61767F7-1406-9C30-6E45-2C423B5BB360}"/>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72E7E57-A68D-5FD1-ED24-21B3364C9F68}"/>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21D10C7-F6C3-317D-81AB-3970B8309FB3}"/>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7707DC0D-80DF-9D82-B12D-9A1783170A33}"/>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345E72ED-0465-D227-5358-56A057D8821A}"/>
              </a:ext>
            </a:extLst>
          </p:cNvPr>
          <p:cNvSpPr txBox="1"/>
          <p:nvPr/>
        </p:nvSpPr>
        <p:spPr>
          <a:xfrm>
            <a:off x="65612" y="937136"/>
            <a:ext cx="9019121" cy="4062651"/>
          </a:xfrm>
          <a:prstGeom prst="rect">
            <a:avLst/>
          </a:prstGeom>
          <a:noFill/>
        </p:spPr>
        <p:txBody>
          <a:bodyPr wrap="square">
            <a:spAutoFit/>
          </a:bodyPr>
          <a:lstStyle/>
          <a:p>
            <a:r>
              <a:rPr lang="en-US" b="1" dirty="0">
                <a:highlight>
                  <a:srgbClr val="00FFFF"/>
                </a:highlight>
              </a:rPr>
              <a:t>HSRP  (Hot Standby routing protocol)</a:t>
            </a:r>
          </a:p>
          <a:p>
            <a:endParaRPr lang="en-US" dirty="0"/>
          </a:p>
          <a:p>
            <a:pPr marL="285750" indent="-285750" algn="just">
              <a:buFont typeface="Wingdings" panose="05000000000000000000" pitchFamily="2" charset="2"/>
              <a:buChar char="ü"/>
            </a:pPr>
            <a:r>
              <a:rPr lang="en-US" sz="1100" dirty="0"/>
              <a:t>The Virtual IP is configured on both routers during HSRP setup.</a:t>
            </a:r>
          </a:p>
          <a:p>
            <a:pPr algn="just"/>
            <a:endParaRPr lang="en-US" sz="1100" dirty="0"/>
          </a:p>
          <a:p>
            <a:pPr marL="285750" indent="-285750" algn="just">
              <a:buFont typeface="Wingdings" panose="05000000000000000000" pitchFamily="2" charset="2"/>
              <a:buChar char="ü"/>
            </a:pPr>
            <a:r>
              <a:rPr lang="en-US" sz="1100" dirty="0"/>
              <a:t>But: Only the Active router actually uses it (answers ARP, sends packets).The Standby router just waits quietly.</a:t>
            </a:r>
          </a:p>
          <a:p>
            <a:pPr algn="just"/>
            <a:endParaRPr lang="en-US" sz="1100" dirty="0"/>
          </a:p>
          <a:p>
            <a:pPr marL="285750" indent="-285750" algn="just">
              <a:buFont typeface="Wingdings" panose="05000000000000000000" pitchFamily="2" charset="2"/>
              <a:buChar char="ü"/>
            </a:pPr>
            <a:r>
              <a:rPr lang="en-US" sz="1100" dirty="0"/>
              <a:t>Computers still keep sending packets to the same gateway IP (VIP) → they don’t notice the change.</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endParaRPr lang="en-US" sz="1100" dirty="0"/>
          </a:p>
          <a:p>
            <a:pPr algn="just"/>
            <a:r>
              <a:rPr lang="en-US" sz="1600" b="1" dirty="0">
                <a:highlight>
                  <a:srgbClr val="00FFFF"/>
                </a:highlight>
              </a:rPr>
              <a:t>In both HSRP :</a:t>
            </a:r>
          </a:p>
          <a:p>
            <a:pPr algn="just"/>
            <a:endParaRPr lang="en-US" sz="1100" dirty="0"/>
          </a:p>
          <a:p>
            <a:pPr marL="171450" indent="-171450" algn="just">
              <a:buFont typeface="Wingdings" panose="05000000000000000000" pitchFamily="2" charset="2"/>
              <a:buChar char="ü"/>
            </a:pPr>
            <a:r>
              <a:rPr lang="en-US" sz="1100" dirty="0"/>
              <a:t>The real IP is configured on the router’s physical interface (e.g., GigabitEthernet0/0).</a:t>
            </a:r>
          </a:p>
          <a:p>
            <a:pPr marL="171450" indent="-171450" algn="just">
              <a:buFont typeface="Wingdings" panose="05000000000000000000" pitchFamily="2" charset="2"/>
              <a:buChar char="ü"/>
            </a:pPr>
            <a:r>
              <a:rPr lang="en-US" sz="1100" dirty="0"/>
              <a:t>The virtual IP (VIP) is also configured under the same interface in the HSRP configuration.</a:t>
            </a:r>
          </a:p>
          <a:p>
            <a:pPr marL="171450" indent="-171450" algn="just">
              <a:buFont typeface="Wingdings" panose="05000000000000000000" pitchFamily="2" charset="2"/>
              <a:buChar char="ü"/>
            </a:pPr>
            <a:r>
              <a:rPr lang="en-US" sz="1100" dirty="0"/>
              <a:t>Hosts use the virtual IP as their default gateway, while the real IP is used only for router management or routing protocols.</a:t>
            </a:r>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endParaRPr lang="en-US" sz="1100" dirty="0"/>
          </a:p>
          <a:p>
            <a:pPr algn="just"/>
            <a:r>
              <a:rPr lang="en-US" sz="1600" b="1" dirty="0">
                <a:highlight>
                  <a:srgbClr val="00FFFF"/>
                </a:highlight>
              </a:rPr>
              <a:t>In both HSRP:</a:t>
            </a:r>
            <a:r>
              <a:rPr lang="en-US" sz="1100" dirty="0"/>
              <a:t> </a:t>
            </a:r>
          </a:p>
          <a:p>
            <a:pPr algn="just"/>
            <a:r>
              <a:rPr lang="en-US" sz="1100" dirty="0"/>
              <a:t>the real IPs (physical) of the routers and the virtual IP (VIP) must all be in the same subnet.</a:t>
            </a:r>
          </a:p>
          <a:p>
            <a:pPr algn="just"/>
            <a:r>
              <a:rPr lang="en-US" sz="1100" dirty="0"/>
              <a:t>Example:</a:t>
            </a:r>
          </a:p>
          <a:p>
            <a:pPr algn="just"/>
            <a:r>
              <a:rPr lang="en-US" sz="1100" dirty="0"/>
              <a:t>R1 Fa0/0 (physical IP): 192.168.1.1/24</a:t>
            </a:r>
          </a:p>
          <a:p>
            <a:pPr algn="just"/>
            <a:r>
              <a:rPr lang="en-US" sz="1100" dirty="0"/>
              <a:t>R2 Fa0/0 (physical IP): 192.168.1.2/24</a:t>
            </a:r>
          </a:p>
          <a:p>
            <a:pPr algn="just"/>
            <a:r>
              <a:rPr lang="en-US" sz="1100" dirty="0"/>
              <a:t>Virtual IP (shared gateway): 192.168.1.10/24</a:t>
            </a:r>
          </a:p>
        </p:txBody>
      </p:sp>
    </p:spTree>
    <p:extLst>
      <p:ext uri="{BB962C8B-B14F-4D97-AF65-F5344CB8AC3E}">
        <p14:creationId xmlns:p14="http://schemas.microsoft.com/office/powerpoint/2010/main" val="29534480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A51E3-323C-5D1A-A3B0-2504081F24B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2EB0EE0-157D-FFB0-333B-405C4828149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8331A6D-1150-0486-6486-458DD1346A1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E8684CA-725A-1EC8-C720-15CB35D4152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9E02DBE-B7F0-47BA-2A36-6259BB07019A}"/>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E679DF2D-8E4F-1BB1-44A1-BE93AF7D8C00}"/>
              </a:ext>
            </a:extLst>
          </p:cNvPr>
          <p:cNvSpPr txBox="1"/>
          <p:nvPr/>
        </p:nvSpPr>
        <p:spPr>
          <a:xfrm>
            <a:off x="274285" y="1307760"/>
            <a:ext cx="3815116" cy="3939540"/>
          </a:xfrm>
          <a:prstGeom prst="rect">
            <a:avLst/>
          </a:prstGeom>
          <a:noFill/>
        </p:spPr>
        <p:txBody>
          <a:bodyPr wrap="square">
            <a:spAutoFit/>
          </a:bodyPr>
          <a:lstStyle/>
          <a:p>
            <a:r>
              <a:rPr lang="en-US" sz="1600" b="1" dirty="0">
                <a:highlight>
                  <a:srgbClr val="00FFFF"/>
                </a:highlight>
              </a:rPr>
              <a:t>R1:</a:t>
            </a:r>
          </a:p>
          <a:p>
            <a:r>
              <a:rPr lang="en-US" sz="900" dirty="0"/>
              <a:t>Router&gt; enable</a:t>
            </a:r>
          </a:p>
          <a:p>
            <a:r>
              <a:rPr lang="en-US" sz="900" dirty="0"/>
              <a:t>Router# configure terminal</a:t>
            </a:r>
          </a:p>
          <a:p>
            <a:endParaRPr lang="en-US" sz="900" dirty="0"/>
          </a:p>
          <a:p>
            <a:r>
              <a:rPr lang="en-US" sz="900" dirty="0"/>
              <a:t>Router(config)# interface FastEthernet0/0</a:t>
            </a:r>
          </a:p>
          <a:p>
            <a:r>
              <a:rPr lang="en-US" sz="900" dirty="0"/>
              <a:t>Router(config-if)# ip   address   192.168.1.1   255.255.255.0</a:t>
            </a:r>
          </a:p>
          <a:p>
            <a:r>
              <a:rPr lang="en-US" sz="900" dirty="0"/>
              <a:t>Router(config-if)# no   shutdown</a:t>
            </a:r>
          </a:p>
          <a:p>
            <a:r>
              <a:rPr lang="en-US" sz="900" dirty="0"/>
              <a:t>Router(config-if)# exit</a:t>
            </a:r>
          </a:p>
          <a:p>
            <a:endParaRPr lang="en-US" sz="900" dirty="0"/>
          </a:p>
          <a:p>
            <a:r>
              <a:rPr lang="en-US" sz="900" dirty="0"/>
              <a:t>Router(config)# interface   Serial0/0</a:t>
            </a:r>
          </a:p>
          <a:p>
            <a:r>
              <a:rPr lang="en-US" sz="900" dirty="0"/>
              <a:t>Router(config-if)# ip   address   1.1.1.1   255.0.0.0</a:t>
            </a:r>
          </a:p>
          <a:p>
            <a:r>
              <a:rPr lang="en-US" sz="900" dirty="0"/>
              <a:t>Router(config-if)# no   shutdown</a:t>
            </a:r>
          </a:p>
          <a:p>
            <a:r>
              <a:rPr lang="en-US" sz="900" dirty="0"/>
              <a:t>Router(config-if)# exit</a:t>
            </a:r>
          </a:p>
          <a:p>
            <a:endParaRPr lang="en-US" sz="900" dirty="0"/>
          </a:p>
          <a:p>
            <a:r>
              <a:rPr lang="en-US" sz="900" dirty="0"/>
              <a:t>Router(config)# router   ospf   30</a:t>
            </a:r>
          </a:p>
          <a:p>
            <a:r>
              <a:rPr lang="en-US" sz="900" dirty="0"/>
              <a:t>Router(config-router)# network  192.168.1.0    0.0.0.255   area  0</a:t>
            </a:r>
          </a:p>
          <a:p>
            <a:r>
              <a:rPr lang="en-US" sz="900" dirty="0"/>
              <a:t>Router(config-router)# network   1.0.0.0    0.255.255.255   area  0</a:t>
            </a:r>
          </a:p>
          <a:p>
            <a:r>
              <a:rPr lang="en-US" sz="900" dirty="0"/>
              <a:t>Router(config-router)# exit</a:t>
            </a:r>
          </a:p>
          <a:p>
            <a:endParaRPr lang="en-US" sz="900" dirty="0"/>
          </a:p>
          <a:p>
            <a:r>
              <a:rPr lang="en-US" sz="900" dirty="0"/>
              <a:t>Router(config)# interface FastEthernet0/0</a:t>
            </a:r>
          </a:p>
          <a:p>
            <a:r>
              <a:rPr lang="en-US" sz="900" dirty="0"/>
              <a:t>Router(config-if)# standby  1  ip   192.168.1.10</a:t>
            </a:r>
          </a:p>
          <a:p>
            <a:r>
              <a:rPr lang="en-US" sz="900" dirty="0"/>
              <a:t>Router(config-if)# standby  1  priority  120</a:t>
            </a:r>
          </a:p>
          <a:p>
            <a:r>
              <a:rPr lang="en-US" sz="900" dirty="0"/>
              <a:t>Router(config-if)# standby 1  preempt</a:t>
            </a:r>
          </a:p>
          <a:p>
            <a:r>
              <a:rPr lang="en-US" sz="900" dirty="0"/>
              <a:t>Router(config-if)# exit</a:t>
            </a:r>
          </a:p>
          <a:p>
            <a:endParaRPr lang="en-US" sz="900" dirty="0"/>
          </a:p>
          <a:p>
            <a:r>
              <a:rPr lang="en-US" sz="900" dirty="0">
                <a:highlight>
                  <a:srgbClr val="00FF00"/>
                </a:highlight>
              </a:rPr>
              <a:t>Standby 1 means HSRP group number</a:t>
            </a:r>
          </a:p>
          <a:p>
            <a:r>
              <a:rPr lang="en-US" sz="900" dirty="0">
                <a:highlight>
                  <a:srgbClr val="00FF00"/>
                </a:highlight>
              </a:rPr>
              <a:t>Or Group id </a:t>
            </a:r>
          </a:p>
        </p:txBody>
      </p:sp>
      <p:sp>
        <p:nvSpPr>
          <p:cNvPr id="5" name="TextBox 4">
            <a:extLst>
              <a:ext uri="{FF2B5EF4-FFF2-40B4-BE49-F238E27FC236}">
                <a16:creationId xmlns:a16="http://schemas.microsoft.com/office/drawing/2014/main" id="{9DFBBE3A-33DE-0DAB-0664-E2773ED89A3C}"/>
              </a:ext>
            </a:extLst>
          </p:cNvPr>
          <p:cNvSpPr txBox="1"/>
          <p:nvPr/>
        </p:nvSpPr>
        <p:spPr>
          <a:xfrm>
            <a:off x="62440" y="818281"/>
            <a:ext cx="8395760" cy="307777"/>
          </a:xfrm>
          <a:prstGeom prst="rect">
            <a:avLst/>
          </a:prstGeom>
          <a:noFill/>
        </p:spPr>
        <p:txBody>
          <a:bodyPr wrap="square">
            <a:spAutoFit/>
          </a:bodyPr>
          <a:lstStyle/>
          <a:p>
            <a:r>
              <a:rPr lang="en-US" b="1" dirty="0">
                <a:highlight>
                  <a:srgbClr val="00FFFF"/>
                </a:highlight>
              </a:rPr>
              <a:t>Configuration of HSRP  (Hot Standby routing protocol):  follow the above network diagram</a:t>
            </a:r>
          </a:p>
        </p:txBody>
      </p:sp>
      <p:sp>
        <p:nvSpPr>
          <p:cNvPr id="7" name="TextBox 6">
            <a:extLst>
              <a:ext uri="{FF2B5EF4-FFF2-40B4-BE49-F238E27FC236}">
                <a16:creationId xmlns:a16="http://schemas.microsoft.com/office/drawing/2014/main" id="{C8D617A4-ECFE-12DC-C8CF-91BC30215378}"/>
              </a:ext>
            </a:extLst>
          </p:cNvPr>
          <p:cNvSpPr txBox="1"/>
          <p:nvPr/>
        </p:nvSpPr>
        <p:spPr>
          <a:xfrm>
            <a:off x="4331582" y="1307760"/>
            <a:ext cx="4572000" cy="3385542"/>
          </a:xfrm>
          <a:prstGeom prst="rect">
            <a:avLst/>
          </a:prstGeom>
          <a:noFill/>
        </p:spPr>
        <p:txBody>
          <a:bodyPr wrap="square">
            <a:spAutoFit/>
          </a:bodyPr>
          <a:lstStyle/>
          <a:p>
            <a:r>
              <a:rPr lang="en-US" sz="1600" b="1" dirty="0">
                <a:highlight>
                  <a:srgbClr val="00FFFF"/>
                </a:highlight>
              </a:rPr>
              <a:t>R2:</a:t>
            </a:r>
          </a:p>
          <a:p>
            <a:r>
              <a:rPr lang="en-US" sz="900" dirty="0"/>
              <a:t>Router&gt; enable</a:t>
            </a:r>
          </a:p>
          <a:p>
            <a:r>
              <a:rPr lang="en-US" sz="900" dirty="0"/>
              <a:t>Router# configure terminal</a:t>
            </a:r>
          </a:p>
          <a:p>
            <a:endParaRPr lang="en-US" sz="900" dirty="0"/>
          </a:p>
          <a:p>
            <a:r>
              <a:rPr lang="en-US" sz="900" dirty="0"/>
              <a:t>Router(config)# interface FastEthernet0/0</a:t>
            </a:r>
          </a:p>
          <a:p>
            <a:r>
              <a:rPr lang="en-US" sz="900" dirty="0"/>
              <a:t>Router(config-if)# ip   address   192.168.1.2   255.255.255.0</a:t>
            </a:r>
          </a:p>
          <a:p>
            <a:r>
              <a:rPr lang="en-US" sz="900" dirty="0"/>
              <a:t>Router(config-if)# no   shutdown</a:t>
            </a:r>
          </a:p>
          <a:p>
            <a:r>
              <a:rPr lang="en-US" sz="900" dirty="0"/>
              <a:t>Router(config-if)# exit</a:t>
            </a:r>
          </a:p>
          <a:p>
            <a:endParaRPr lang="en-US" sz="900" dirty="0"/>
          </a:p>
          <a:p>
            <a:r>
              <a:rPr lang="en-US" sz="900" dirty="0"/>
              <a:t>Router(config)# interface   Serial0/0</a:t>
            </a:r>
          </a:p>
          <a:p>
            <a:r>
              <a:rPr lang="en-US" sz="900" dirty="0"/>
              <a:t>Router(config-if)# ip   address   2.1.1.1   255.0.0.0</a:t>
            </a:r>
          </a:p>
          <a:p>
            <a:r>
              <a:rPr lang="en-US" sz="900" dirty="0"/>
              <a:t>Router(config-if)# exit</a:t>
            </a:r>
          </a:p>
          <a:p>
            <a:endParaRPr lang="en-US" sz="900" dirty="0"/>
          </a:p>
          <a:p>
            <a:endParaRPr lang="en-US" sz="900" dirty="0"/>
          </a:p>
          <a:p>
            <a:r>
              <a:rPr lang="en-US" sz="900" dirty="0"/>
              <a:t>Router(config)# router   ospf   30</a:t>
            </a:r>
          </a:p>
          <a:p>
            <a:r>
              <a:rPr lang="en-US" sz="900" dirty="0"/>
              <a:t>Router(config-router)# network 192.168.1.0   0.0.0.255   area  0</a:t>
            </a:r>
          </a:p>
          <a:p>
            <a:r>
              <a:rPr lang="en-US" sz="900" dirty="0"/>
              <a:t>Router(config-router)# network 2.0.0.0   0.255.255.255  area  0</a:t>
            </a:r>
          </a:p>
          <a:p>
            <a:r>
              <a:rPr lang="en-US" sz="900" dirty="0"/>
              <a:t>Router(config-router)# exit</a:t>
            </a:r>
          </a:p>
          <a:p>
            <a:endParaRPr lang="en-US" sz="900" dirty="0"/>
          </a:p>
          <a:p>
            <a:r>
              <a:rPr lang="en-US" sz="900" dirty="0"/>
              <a:t>Router(config)# interface FastEthernet0/0</a:t>
            </a:r>
          </a:p>
          <a:p>
            <a:r>
              <a:rPr lang="en-US" sz="900" dirty="0"/>
              <a:t>Router(config-if)# standby 1   ip   192.168.1.10</a:t>
            </a:r>
          </a:p>
          <a:p>
            <a:r>
              <a:rPr lang="en-US" sz="900" dirty="0"/>
              <a:t>Router(config-if)# standby 1  preempt</a:t>
            </a:r>
          </a:p>
          <a:p>
            <a:r>
              <a:rPr lang="en-US" sz="900" dirty="0"/>
              <a:t>Router(config-if)# exit</a:t>
            </a:r>
          </a:p>
        </p:txBody>
      </p:sp>
      <p:sp>
        <p:nvSpPr>
          <p:cNvPr id="11" name="TextBox 10">
            <a:extLst>
              <a:ext uri="{FF2B5EF4-FFF2-40B4-BE49-F238E27FC236}">
                <a16:creationId xmlns:a16="http://schemas.microsoft.com/office/drawing/2014/main" id="{4D1196F3-F2AF-D158-B7EA-F743F4C7AE99}"/>
              </a:ext>
            </a:extLst>
          </p:cNvPr>
          <p:cNvSpPr txBox="1"/>
          <p:nvPr/>
        </p:nvSpPr>
        <p:spPr>
          <a:xfrm>
            <a:off x="2946400" y="4613394"/>
            <a:ext cx="4572000" cy="553998"/>
          </a:xfrm>
          <a:prstGeom prst="rect">
            <a:avLst/>
          </a:prstGeom>
          <a:noFill/>
        </p:spPr>
        <p:txBody>
          <a:bodyPr wrap="square">
            <a:spAutoFit/>
          </a:bodyPr>
          <a:lstStyle/>
          <a:p>
            <a:r>
              <a:rPr lang="en-US" sz="1000" dirty="0">
                <a:highlight>
                  <a:srgbClr val="00FF00"/>
                </a:highlight>
              </a:rPr>
              <a:t>Result:</a:t>
            </a:r>
          </a:p>
          <a:p>
            <a:r>
              <a:rPr lang="en-US" sz="1000" dirty="0">
                <a:highlight>
                  <a:srgbClr val="00FF00"/>
                </a:highlight>
              </a:rPr>
              <a:t>Router# show standby brief</a:t>
            </a:r>
          </a:p>
          <a:p>
            <a:r>
              <a:rPr lang="en-US" sz="1000" dirty="0">
                <a:highlight>
                  <a:srgbClr val="00FF00"/>
                </a:highlight>
              </a:rPr>
              <a:t>Router# show standby</a:t>
            </a:r>
            <a:endParaRPr lang="en-PK" sz="1000" dirty="0">
              <a:highlight>
                <a:srgbClr val="00FF00"/>
              </a:highlight>
            </a:endParaRPr>
          </a:p>
        </p:txBody>
      </p:sp>
    </p:spTree>
    <p:extLst>
      <p:ext uri="{BB962C8B-B14F-4D97-AF65-F5344CB8AC3E}">
        <p14:creationId xmlns:p14="http://schemas.microsoft.com/office/powerpoint/2010/main" val="11664645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0A675-7A8A-4A7D-E23D-193E8257312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9E9D2A6-C55C-88D3-79B4-9A7DE3ACC65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5206524-1222-9A68-0009-19DD03D84D2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DFD5AA99-7CD0-B555-6F96-AFC810D230E6}"/>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ADF8F22-DB37-A576-7685-397A6BE3549F}"/>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31B95CA3-F78A-9873-AEA2-383897694244}"/>
              </a:ext>
            </a:extLst>
          </p:cNvPr>
          <p:cNvSpPr txBox="1"/>
          <p:nvPr/>
        </p:nvSpPr>
        <p:spPr>
          <a:xfrm>
            <a:off x="257351" y="935611"/>
            <a:ext cx="7752115" cy="477054"/>
          </a:xfrm>
          <a:prstGeom prst="rect">
            <a:avLst/>
          </a:prstGeom>
          <a:noFill/>
        </p:spPr>
        <p:txBody>
          <a:bodyPr wrap="square">
            <a:spAutoFit/>
          </a:bodyPr>
          <a:lstStyle/>
          <a:p>
            <a:r>
              <a:rPr lang="en-US" sz="1600" dirty="0">
                <a:highlight>
                  <a:srgbClr val="00FFFF"/>
                </a:highlight>
              </a:rPr>
              <a:t>VRRP</a:t>
            </a:r>
          </a:p>
          <a:p>
            <a:r>
              <a:rPr lang="en-US" sz="900" dirty="0"/>
              <a:t>Requires GNS3</a:t>
            </a:r>
          </a:p>
        </p:txBody>
      </p:sp>
      <p:pic>
        <p:nvPicPr>
          <p:cNvPr id="7" name="Picture 6">
            <a:extLst>
              <a:ext uri="{FF2B5EF4-FFF2-40B4-BE49-F238E27FC236}">
                <a16:creationId xmlns:a16="http://schemas.microsoft.com/office/drawing/2014/main" id="{EFE46C14-5D5A-4A35-E1A3-1DB3C909C284}"/>
              </a:ext>
            </a:extLst>
          </p:cNvPr>
          <p:cNvPicPr>
            <a:picLocks noChangeAspect="1"/>
          </p:cNvPicPr>
          <p:nvPr/>
        </p:nvPicPr>
        <p:blipFill>
          <a:blip r:embed="rId3"/>
          <a:stretch>
            <a:fillRect/>
          </a:stretch>
        </p:blipFill>
        <p:spPr>
          <a:xfrm>
            <a:off x="1" y="1667343"/>
            <a:ext cx="9144000" cy="3476157"/>
          </a:xfrm>
          <a:prstGeom prst="rect">
            <a:avLst/>
          </a:prstGeom>
        </p:spPr>
      </p:pic>
      <p:sp>
        <p:nvSpPr>
          <p:cNvPr id="12" name="Rectangle 11">
            <a:extLst>
              <a:ext uri="{FF2B5EF4-FFF2-40B4-BE49-F238E27FC236}">
                <a16:creationId xmlns:a16="http://schemas.microsoft.com/office/drawing/2014/main" id="{EA74384A-2488-3E07-9878-6413BD25AC66}"/>
              </a:ext>
            </a:extLst>
          </p:cNvPr>
          <p:cNvSpPr/>
          <p:nvPr/>
        </p:nvSpPr>
        <p:spPr>
          <a:xfrm>
            <a:off x="4902200" y="2082800"/>
            <a:ext cx="474133" cy="220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R1</a:t>
            </a:r>
            <a:endParaRPr lang="en-PK" dirty="0"/>
          </a:p>
        </p:txBody>
      </p:sp>
      <p:sp>
        <p:nvSpPr>
          <p:cNvPr id="13" name="Rectangle 12">
            <a:extLst>
              <a:ext uri="{FF2B5EF4-FFF2-40B4-BE49-F238E27FC236}">
                <a16:creationId xmlns:a16="http://schemas.microsoft.com/office/drawing/2014/main" id="{732A2A57-5ECA-EAFF-3E8F-A883F6D1FAF2}"/>
              </a:ext>
            </a:extLst>
          </p:cNvPr>
          <p:cNvSpPr/>
          <p:nvPr/>
        </p:nvSpPr>
        <p:spPr>
          <a:xfrm>
            <a:off x="4902199" y="4334934"/>
            <a:ext cx="474133" cy="220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R2</a:t>
            </a:r>
            <a:endParaRPr lang="en-PK" dirty="0"/>
          </a:p>
        </p:txBody>
      </p:sp>
      <p:sp>
        <p:nvSpPr>
          <p:cNvPr id="5" name="TextBox 4">
            <a:extLst>
              <a:ext uri="{FF2B5EF4-FFF2-40B4-BE49-F238E27FC236}">
                <a16:creationId xmlns:a16="http://schemas.microsoft.com/office/drawing/2014/main" id="{B584DD0F-8B8F-1675-CF69-6ED7171CA27B}"/>
              </a:ext>
            </a:extLst>
          </p:cNvPr>
          <p:cNvSpPr txBox="1"/>
          <p:nvPr/>
        </p:nvSpPr>
        <p:spPr>
          <a:xfrm>
            <a:off x="4296832" y="2359851"/>
            <a:ext cx="1079500" cy="246221"/>
          </a:xfrm>
          <a:prstGeom prst="rect">
            <a:avLst/>
          </a:prstGeom>
          <a:noFill/>
        </p:spPr>
        <p:txBody>
          <a:bodyPr wrap="square">
            <a:spAutoFit/>
          </a:bodyPr>
          <a:lstStyle/>
          <a:p>
            <a:r>
              <a:rPr lang="en-US" sz="1000" dirty="0"/>
              <a:t>192.168.1.1</a:t>
            </a:r>
            <a:endParaRPr lang="en-PK" sz="1000" dirty="0"/>
          </a:p>
        </p:txBody>
      </p:sp>
      <p:sp>
        <p:nvSpPr>
          <p:cNvPr id="11" name="TextBox 10">
            <a:extLst>
              <a:ext uri="{FF2B5EF4-FFF2-40B4-BE49-F238E27FC236}">
                <a16:creationId xmlns:a16="http://schemas.microsoft.com/office/drawing/2014/main" id="{56756ADD-E1C9-76B6-ECBA-E10A9C771BEE}"/>
              </a:ext>
            </a:extLst>
          </p:cNvPr>
          <p:cNvSpPr txBox="1"/>
          <p:nvPr/>
        </p:nvSpPr>
        <p:spPr>
          <a:xfrm>
            <a:off x="0" y="3414123"/>
            <a:ext cx="974618" cy="230832"/>
          </a:xfrm>
          <a:prstGeom prst="rect">
            <a:avLst/>
          </a:prstGeom>
          <a:noFill/>
        </p:spPr>
        <p:txBody>
          <a:bodyPr wrap="square">
            <a:spAutoFit/>
          </a:bodyPr>
          <a:lstStyle/>
          <a:p>
            <a:r>
              <a:rPr lang="en-PK" sz="900" dirty="0"/>
              <a:t>192.168.1.</a:t>
            </a:r>
            <a:r>
              <a:rPr lang="en-US" sz="900" dirty="0"/>
              <a:t>5</a:t>
            </a:r>
            <a:endParaRPr lang="en-PK" sz="900" dirty="0"/>
          </a:p>
        </p:txBody>
      </p:sp>
      <p:sp>
        <p:nvSpPr>
          <p:cNvPr id="15" name="TextBox 14">
            <a:extLst>
              <a:ext uri="{FF2B5EF4-FFF2-40B4-BE49-F238E27FC236}">
                <a16:creationId xmlns:a16="http://schemas.microsoft.com/office/drawing/2014/main" id="{2D991777-984D-E69D-C3F1-4FCAEDEF316B}"/>
              </a:ext>
            </a:extLst>
          </p:cNvPr>
          <p:cNvSpPr txBox="1"/>
          <p:nvPr/>
        </p:nvSpPr>
        <p:spPr>
          <a:xfrm>
            <a:off x="26219" y="1872000"/>
            <a:ext cx="992275" cy="230832"/>
          </a:xfrm>
          <a:prstGeom prst="rect">
            <a:avLst/>
          </a:prstGeom>
          <a:noFill/>
        </p:spPr>
        <p:txBody>
          <a:bodyPr wrap="square">
            <a:spAutoFit/>
          </a:bodyPr>
          <a:lstStyle/>
          <a:p>
            <a:r>
              <a:rPr lang="en-US" sz="900" dirty="0"/>
              <a:t>192.168.1.3</a:t>
            </a:r>
            <a:endParaRPr lang="en-PK" sz="900" dirty="0"/>
          </a:p>
        </p:txBody>
      </p:sp>
      <p:sp>
        <p:nvSpPr>
          <p:cNvPr id="17" name="TextBox 16">
            <a:extLst>
              <a:ext uri="{FF2B5EF4-FFF2-40B4-BE49-F238E27FC236}">
                <a16:creationId xmlns:a16="http://schemas.microsoft.com/office/drawing/2014/main" id="{BFB4481A-212D-721C-8D92-50038AD80D47}"/>
              </a:ext>
            </a:extLst>
          </p:cNvPr>
          <p:cNvSpPr txBox="1"/>
          <p:nvPr/>
        </p:nvSpPr>
        <p:spPr>
          <a:xfrm>
            <a:off x="4523315" y="4064482"/>
            <a:ext cx="1231900" cy="246221"/>
          </a:xfrm>
          <a:prstGeom prst="rect">
            <a:avLst/>
          </a:prstGeom>
          <a:noFill/>
        </p:spPr>
        <p:txBody>
          <a:bodyPr wrap="square">
            <a:spAutoFit/>
          </a:bodyPr>
          <a:lstStyle/>
          <a:p>
            <a:r>
              <a:rPr lang="en-US" sz="1000" dirty="0"/>
              <a:t>192.168.1.2</a:t>
            </a:r>
            <a:endParaRPr lang="en-PK" sz="1000" dirty="0"/>
          </a:p>
        </p:txBody>
      </p:sp>
      <p:sp>
        <p:nvSpPr>
          <p:cNvPr id="19" name="TextBox 18">
            <a:extLst>
              <a:ext uri="{FF2B5EF4-FFF2-40B4-BE49-F238E27FC236}">
                <a16:creationId xmlns:a16="http://schemas.microsoft.com/office/drawing/2014/main" id="{1A552F4C-7534-8C1F-1C1E-DB9A08B8412B}"/>
              </a:ext>
            </a:extLst>
          </p:cNvPr>
          <p:cNvSpPr txBox="1"/>
          <p:nvPr/>
        </p:nvSpPr>
        <p:spPr>
          <a:xfrm>
            <a:off x="29601" y="2643061"/>
            <a:ext cx="4631266" cy="230832"/>
          </a:xfrm>
          <a:prstGeom prst="rect">
            <a:avLst/>
          </a:prstGeom>
          <a:noFill/>
        </p:spPr>
        <p:txBody>
          <a:bodyPr wrap="square">
            <a:spAutoFit/>
          </a:bodyPr>
          <a:lstStyle/>
          <a:p>
            <a:pPr marL="0" lvl="0" indent="0" defTabSz="914400" eaLnBrk="1" fontAlgn="auto" latinLnBrk="0" hangingPunct="1">
              <a:buSzTx/>
              <a:buFont typeface="Arial"/>
              <a:buNone/>
              <a:tabLst/>
              <a:defRPr/>
            </a:pPr>
            <a:r>
              <a:rPr lang="en-US" sz="900" dirty="0"/>
              <a:t>192.168.1.4</a:t>
            </a:r>
            <a:endParaRPr lang="en-PK" sz="900" dirty="0"/>
          </a:p>
        </p:txBody>
      </p:sp>
      <p:sp>
        <p:nvSpPr>
          <p:cNvPr id="21" name="TextBox 20">
            <a:extLst>
              <a:ext uri="{FF2B5EF4-FFF2-40B4-BE49-F238E27FC236}">
                <a16:creationId xmlns:a16="http://schemas.microsoft.com/office/drawing/2014/main" id="{799590B0-6D92-AB80-66AB-B921FF590613}"/>
              </a:ext>
            </a:extLst>
          </p:cNvPr>
          <p:cNvSpPr txBox="1"/>
          <p:nvPr/>
        </p:nvSpPr>
        <p:spPr>
          <a:xfrm>
            <a:off x="5888567" y="2113630"/>
            <a:ext cx="732366"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1.1.1.1</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3" name="TextBox 22">
            <a:extLst>
              <a:ext uri="{FF2B5EF4-FFF2-40B4-BE49-F238E27FC236}">
                <a16:creationId xmlns:a16="http://schemas.microsoft.com/office/drawing/2014/main" id="{6831719F-21DA-AF79-146F-05E88843BE01}"/>
              </a:ext>
            </a:extLst>
          </p:cNvPr>
          <p:cNvSpPr txBox="1"/>
          <p:nvPr/>
        </p:nvSpPr>
        <p:spPr>
          <a:xfrm>
            <a:off x="7584019" y="3437171"/>
            <a:ext cx="67170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2.1.1.2</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5" name="TextBox 24">
            <a:extLst>
              <a:ext uri="{FF2B5EF4-FFF2-40B4-BE49-F238E27FC236}">
                <a16:creationId xmlns:a16="http://schemas.microsoft.com/office/drawing/2014/main" id="{60EE0C72-C764-8DBB-E545-8FDF8EE04FDB}"/>
              </a:ext>
            </a:extLst>
          </p:cNvPr>
          <p:cNvSpPr txBox="1"/>
          <p:nvPr/>
        </p:nvSpPr>
        <p:spPr>
          <a:xfrm>
            <a:off x="5888567" y="3961668"/>
            <a:ext cx="61383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2.1.1.1</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7" name="TextBox 26">
            <a:extLst>
              <a:ext uri="{FF2B5EF4-FFF2-40B4-BE49-F238E27FC236}">
                <a16:creationId xmlns:a16="http://schemas.microsoft.com/office/drawing/2014/main" id="{0C3ACBC4-0938-33AC-1672-C9BBFBF71856}"/>
              </a:ext>
            </a:extLst>
          </p:cNvPr>
          <p:cNvSpPr txBox="1"/>
          <p:nvPr/>
        </p:nvSpPr>
        <p:spPr>
          <a:xfrm>
            <a:off x="7507819" y="2497861"/>
            <a:ext cx="57591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1.1.1.2</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9" name="TextBox 28">
            <a:extLst>
              <a:ext uri="{FF2B5EF4-FFF2-40B4-BE49-F238E27FC236}">
                <a16:creationId xmlns:a16="http://schemas.microsoft.com/office/drawing/2014/main" id="{F76B5449-4DA4-4797-5ADF-ECB030B0375C}"/>
              </a:ext>
            </a:extLst>
          </p:cNvPr>
          <p:cNvSpPr txBox="1"/>
          <p:nvPr/>
        </p:nvSpPr>
        <p:spPr>
          <a:xfrm>
            <a:off x="0" y="4265540"/>
            <a:ext cx="1079500" cy="230832"/>
          </a:xfrm>
          <a:prstGeom prst="rect">
            <a:avLst/>
          </a:prstGeom>
          <a:noFill/>
        </p:spPr>
        <p:txBody>
          <a:bodyPr wrap="square">
            <a:spAutoFit/>
          </a:bodyPr>
          <a:lstStyle/>
          <a:p>
            <a:pPr marL="0" lvl="0" indent="0" defTabSz="914400" eaLnBrk="1" fontAlgn="auto" latinLnBrk="0" hangingPunct="1">
              <a:buSzTx/>
              <a:buFont typeface="Arial"/>
              <a:buNone/>
              <a:tabLst/>
              <a:defRPr/>
            </a:pPr>
            <a:r>
              <a:rPr lang="en-PK" sz="900" dirty="0"/>
              <a:t>192.168.1.</a:t>
            </a:r>
            <a:r>
              <a:rPr lang="en-US" sz="900" dirty="0"/>
              <a:t>6</a:t>
            </a:r>
            <a:endParaRPr lang="en-PK" sz="900" dirty="0"/>
          </a:p>
        </p:txBody>
      </p:sp>
      <p:sp>
        <p:nvSpPr>
          <p:cNvPr id="8" name="TextBox 7">
            <a:extLst>
              <a:ext uri="{FF2B5EF4-FFF2-40B4-BE49-F238E27FC236}">
                <a16:creationId xmlns:a16="http://schemas.microsoft.com/office/drawing/2014/main" id="{80A65AE0-ED79-F453-2E1A-2370837FC802}"/>
              </a:ext>
            </a:extLst>
          </p:cNvPr>
          <p:cNvSpPr txBox="1"/>
          <p:nvPr/>
        </p:nvSpPr>
        <p:spPr>
          <a:xfrm>
            <a:off x="3939117" y="3120152"/>
            <a:ext cx="1816098"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192.168.1.10  (Virtual IP)</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307373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1EC24-7655-80BD-0043-0B712005B8C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AF524AA-1B53-24C0-69D5-A394F990EFE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EE8F6A0-34C1-08B0-F6E4-1513899D6CE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B1E2D9D-8EF4-7427-4D9B-A3D52891615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B414E17B-22A3-7D7B-9B45-4BFC116719C6}"/>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575B30B4-5157-4C77-0187-F0EB532E4A98}"/>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AC6BE02A-EDF0-C5D0-4394-FB535E8790AD}"/>
              </a:ext>
            </a:extLst>
          </p:cNvPr>
          <p:cNvSpPr txBox="1"/>
          <p:nvPr/>
        </p:nvSpPr>
        <p:spPr>
          <a:xfrm>
            <a:off x="62439" y="845248"/>
            <a:ext cx="9019121" cy="3493264"/>
          </a:xfrm>
          <a:prstGeom prst="rect">
            <a:avLst/>
          </a:prstGeom>
          <a:noFill/>
        </p:spPr>
        <p:txBody>
          <a:bodyPr wrap="square">
            <a:spAutoFit/>
          </a:bodyPr>
          <a:lstStyle/>
          <a:p>
            <a:r>
              <a:rPr lang="en-US" b="1" dirty="0">
                <a:highlight>
                  <a:srgbClr val="00FFFF"/>
                </a:highlight>
              </a:rPr>
              <a:t>VRRP (Virtual Router Redundancy Protocol</a:t>
            </a:r>
          </a:p>
          <a:p>
            <a:endParaRPr lang="en-US" dirty="0"/>
          </a:p>
          <a:p>
            <a:pPr marL="285750" indent="-285750" algn="just">
              <a:buFont typeface="Wingdings" panose="05000000000000000000" pitchFamily="2" charset="2"/>
              <a:buChar char="ü"/>
            </a:pPr>
            <a:r>
              <a:rPr lang="en-US" sz="1100" dirty="0"/>
              <a:t>Open-standard  protocol.</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VRRP and HSRP function similarly, but the key difference is that VRRP is open standard, while HSRP is Cisco proprietary.</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 election process follows the master and backup concept.</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 router with the highest priority becomes the master router.</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If priorities are the same, the router with the highest IP address becomes the master.</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Hello packets are sent every 1 second, with a hold time of 3 seconds.</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If the master router fails, the backup router takes over after 3 seconds.</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Preemption is enabled by default. If a master router goes down and later comes back online, it will automatically reclaim its role as the master</a:t>
            </a:r>
            <a:r>
              <a:rPr lang="en-US" dirty="0"/>
              <a:t>.</a:t>
            </a:r>
          </a:p>
          <a:p>
            <a:pPr marL="285750" indent="-285750" algn="just">
              <a:buFont typeface="Wingdings" panose="05000000000000000000" pitchFamily="2" charset="2"/>
              <a:buChar char="ü"/>
            </a:pPr>
            <a:endParaRPr lang="en-US" dirty="0"/>
          </a:p>
        </p:txBody>
      </p:sp>
    </p:spTree>
    <p:extLst>
      <p:ext uri="{BB962C8B-B14F-4D97-AF65-F5344CB8AC3E}">
        <p14:creationId xmlns:p14="http://schemas.microsoft.com/office/powerpoint/2010/main" val="34956702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F1A5-DBA9-27C3-FCEA-D818846F9EF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BF012ED-D823-2923-ACCD-15464DC1816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79F40ED-266C-E4F1-C156-220E4670F65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49C56F2-9DB0-002C-0437-77796E60B47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5B6FB11-CD1C-6F49-9BFB-CB73B2E9A364}"/>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085B62B9-0B64-C746-8CFB-9C25D3EF5761}"/>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0C42C9D3-8AD0-B74B-30DE-A2BB51FB567A}"/>
              </a:ext>
            </a:extLst>
          </p:cNvPr>
          <p:cNvSpPr txBox="1"/>
          <p:nvPr/>
        </p:nvSpPr>
        <p:spPr>
          <a:xfrm>
            <a:off x="62439" y="845248"/>
            <a:ext cx="9019121" cy="4016484"/>
          </a:xfrm>
          <a:prstGeom prst="rect">
            <a:avLst/>
          </a:prstGeom>
          <a:noFill/>
        </p:spPr>
        <p:txBody>
          <a:bodyPr wrap="square">
            <a:spAutoFit/>
          </a:bodyPr>
          <a:lstStyle/>
          <a:p>
            <a:r>
              <a:rPr lang="en-US" b="1" dirty="0">
                <a:highlight>
                  <a:srgbClr val="00FFFF"/>
                </a:highlight>
              </a:rPr>
              <a:t>VRRP (Virtual Router Redundancy Protocol)</a:t>
            </a:r>
          </a:p>
          <a:p>
            <a:pPr algn="just"/>
            <a:endParaRPr lang="en-US" sz="1100" dirty="0"/>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VRRP defines a virtual router that is represented by a virtual IP address (VIP).</a:t>
            </a:r>
          </a:p>
          <a:p>
            <a:pPr marL="285750" indent="-285750" algn="just">
              <a:buFont typeface="Wingdings" panose="05000000000000000000" pitchFamily="2" charset="2"/>
              <a:buChar char="ü"/>
            </a:pPr>
            <a:r>
              <a:rPr lang="en-US" sz="1100" dirty="0"/>
              <a:t>Hosts use this virtual IP as their default gateway.</a:t>
            </a:r>
          </a:p>
          <a:p>
            <a:pPr marL="285750" indent="-285750" algn="just">
              <a:buFont typeface="Wingdings" panose="05000000000000000000" pitchFamily="2" charset="2"/>
              <a:buChar char="ü"/>
            </a:pPr>
            <a:r>
              <a:rPr lang="en-US" sz="1100" dirty="0"/>
              <a:t>If the Master fails, the Backup takes over and starts using the same virtual IP and virtual MAC, so hosts see no change.</a:t>
            </a:r>
          </a:p>
          <a:p>
            <a:pPr algn="just"/>
            <a:endParaRPr lang="en-US" sz="1100" dirty="0"/>
          </a:p>
          <a:p>
            <a:pPr algn="just"/>
            <a:r>
              <a:rPr lang="en-US" sz="1100" dirty="0"/>
              <a:t>👉 So, in configuration, you configure a Virtual IP (VIP) under the VRRP group. The "virtual router" is just the concept of this VRRP group—it does not have a separate physical entity.</a:t>
            </a:r>
          </a:p>
          <a:p>
            <a:pPr algn="just"/>
            <a:endParaRPr lang="en-US" sz="1100" dirty="0"/>
          </a:p>
          <a:p>
            <a:pPr algn="just"/>
            <a:r>
              <a:rPr lang="en-US" sz="1600" b="1" dirty="0">
                <a:highlight>
                  <a:srgbClr val="00FFFF"/>
                </a:highlight>
              </a:rPr>
              <a:t>In  VRRP :</a:t>
            </a:r>
          </a:p>
          <a:p>
            <a:pPr algn="just"/>
            <a:endParaRPr lang="en-US" sz="1100" dirty="0"/>
          </a:p>
          <a:p>
            <a:pPr algn="just"/>
            <a:r>
              <a:rPr lang="en-US" sz="1100" dirty="0"/>
              <a:t>The real IP is configured on the router’s physical interface (e.g., GigabitEthernet0/0).</a:t>
            </a:r>
          </a:p>
          <a:p>
            <a:pPr algn="just"/>
            <a:r>
              <a:rPr lang="en-US" sz="1100" dirty="0"/>
              <a:t>The virtual IP (VIP) is also configured under the same interface in the VRRP configuration.</a:t>
            </a:r>
          </a:p>
          <a:p>
            <a:pPr algn="just"/>
            <a:r>
              <a:rPr lang="en-US" sz="1100" dirty="0"/>
              <a:t>Hosts use the virtual IP as their default gateway, while the real IP is used only for router management or routing protocols.</a:t>
            </a:r>
          </a:p>
          <a:p>
            <a:pPr algn="just"/>
            <a:endParaRPr lang="en-US" sz="1100" dirty="0"/>
          </a:p>
          <a:p>
            <a:pPr algn="just"/>
            <a:r>
              <a:rPr lang="en-US" sz="1600" b="1" dirty="0">
                <a:highlight>
                  <a:srgbClr val="00FFFF"/>
                </a:highlight>
              </a:rPr>
              <a:t>In VRRP: </a:t>
            </a:r>
          </a:p>
          <a:p>
            <a:pPr algn="just"/>
            <a:r>
              <a:rPr lang="en-US" sz="1100" dirty="0"/>
              <a:t>the real IPs (physical) of the routers and the virtual IP (VIP) must all be in the same subnet.</a:t>
            </a:r>
          </a:p>
          <a:p>
            <a:pPr algn="just"/>
            <a:r>
              <a:rPr lang="en-US" sz="1100" dirty="0"/>
              <a:t>Example:</a:t>
            </a:r>
          </a:p>
          <a:p>
            <a:pPr algn="just"/>
            <a:r>
              <a:rPr lang="en-US" sz="1100" dirty="0"/>
              <a:t>R1 Fa0/0 (physical IP): 192.168.1.1/24</a:t>
            </a:r>
          </a:p>
          <a:p>
            <a:pPr algn="just"/>
            <a:r>
              <a:rPr lang="en-US" sz="1100" dirty="0"/>
              <a:t>R2 Fa0/0 (physical IP): 192.168.1.2/24</a:t>
            </a:r>
          </a:p>
          <a:p>
            <a:pPr algn="just"/>
            <a:r>
              <a:rPr lang="en-US" sz="1100" dirty="0"/>
              <a:t>Virtual IP (shared gateway): 192.168.1.254/24</a:t>
            </a:r>
          </a:p>
        </p:txBody>
      </p:sp>
    </p:spTree>
    <p:extLst>
      <p:ext uri="{BB962C8B-B14F-4D97-AF65-F5344CB8AC3E}">
        <p14:creationId xmlns:p14="http://schemas.microsoft.com/office/powerpoint/2010/main" val="13434251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6253A-11DA-82FD-62D6-A5FB65C156D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EE9201A-762B-E236-C17F-2DBB881D0C7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C65BD5B-11CB-43B5-4E5A-2BD8BB9800B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801D5C4-3DD3-8CE7-32E9-7BB690B8540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E3A857C-1554-C486-6010-A4F40ACF80F5}"/>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C1F33077-CFF3-6EA4-0F5F-DD58B54CA141}"/>
              </a:ext>
            </a:extLst>
          </p:cNvPr>
          <p:cNvSpPr txBox="1"/>
          <p:nvPr/>
        </p:nvSpPr>
        <p:spPr>
          <a:xfrm>
            <a:off x="274285" y="1307760"/>
            <a:ext cx="3815116" cy="3385542"/>
          </a:xfrm>
          <a:prstGeom prst="rect">
            <a:avLst/>
          </a:prstGeom>
          <a:noFill/>
        </p:spPr>
        <p:txBody>
          <a:bodyPr wrap="square">
            <a:spAutoFit/>
          </a:bodyPr>
          <a:lstStyle/>
          <a:p>
            <a:r>
              <a:rPr lang="en-US" sz="1600" b="1" dirty="0">
                <a:highlight>
                  <a:srgbClr val="00FFFF"/>
                </a:highlight>
              </a:rPr>
              <a:t>R1:</a:t>
            </a:r>
          </a:p>
          <a:p>
            <a:r>
              <a:rPr lang="en-US" sz="900" dirty="0"/>
              <a:t>Router&gt; enable</a:t>
            </a:r>
          </a:p>
          <a:p>
            <a:r>
              <a:rPr lang="en-US" sz="900" dirty="0"/>
              <a:t>Router# configure terminal</a:t>
            </a:r>
          </a:p>
          <a:p>
            <a:endParaRPr lang="en-US" sz="900" dirty="0"/>
          </a:p>
          <a:p>
            <a:r>
              <a:rPr lang="en-US" sz="900" dirty="0"/>
              <a:t>Router(config)# interface FastEthernet0/0</a:t>
            </a:r>
          </a:p>
          <a:p>
            <a:r>
              <a:rPr lang="en-US" sz="900" dirty="0"/>
              <a:t>Router(config-if)# ip   address   192.168.1.1   255.255.255.0</a:t>
            </a:r>
          </a:p>
          <a:p>
            <a:r>
              <a:rPr lang="en-US" sz="900" dirty="0"/>
              <a:t>Router(config-if)# no   shutdown</a:t>
            </a:r>
          </a:p>
          <a:p>
            <a:r>
              <a:rPr lang="en-US" sz="900" dirty="0"/>
              <a:t>Router(config-if)# exit</a:t>
            </a:r>
          </a:p>
          <a:p>
            <a:endParaRPr lang="en-US" sz="900" dirty="0"/>
          </a:p>
          <a:p>
            <a:r>
              <a:rPr lang="en-US" sz="900" dirty="0"/>
              <a:t>Router(config)# interface   Serial0/0</a:t>
            </a:r>
          </a:p>
          <a:p>
            <a:r>
              <a:rPr lang="en-US" sz="900" dirty="0"/>
              <a:t>Router(config-if)# ip   address   1.1.1.1   255.0.0.0</a:t>
            </a:r>
          </a:p>
          <a:p>
            <a:r>
              <a:rPr lang="en-US" sz="900" dirty="0"/>
              <a:t>Router(config-if)# no   shutdown</a:t>
            </a:r>
          </a:p>
          <a:p>
            <a:r>
              <a:rPr lang="en-US" sz="900" dirty="0"/>
              <a:t>Router(config-if)# exit</a:t>
            </a:r>
          </a:p>
          <a:p>
            <a:endParaRPr lang="en-US" sz="900" dirty="0"/>
          </a:p>
          <a:p>
            <a:r>
              <a:rPr lang="en-US" sz="900" dirty="0"/>
              <a:t>Router(config)# router   ospf   30</a:t>
            </a:r>
          </a:p>
          <a:p>
            <a:r>
              <a:rPr lang="en-US" sz="900" dirty="0"/>
              <a:t>Router(config-router)# network  192.168.1.0    0.0.0.255   area  0</a:t>
            </a:r>
          </a:p>
          <a:p>
            <a:r>
              <a:rPr lang="en-US" sz="900" dirty="0"/>
              <a:t>Router(config-router)# network   1.0.0.0    0.255.255.255   area  0</a:t>
            </a:r>
          </a:p>
          <a:p>
            <a:r>
              <a:rPr lang="en-US" sz="900" dirty="0"/>
              <a:t>Router(config-router)# exit</a:t>
            </a:r>
          </a:p>
          <a:p>
            <a:endParaRPr lang="en-US" sz="900" dirty="0"/>
          </a:p>
          <a:p>
            <a:r>
              <a:rPr lang="en-US" sz="900" dirty="0"/>
              <a:t>Router(config)# interface FastEthernet0/0</a:t>
            </a:r>
          </a:p>
          <a:p>
            <a:r>
              <a:rPr lang="en-US" sz="900" dirty="0"/>
              <a:t>Router(config-if)# VRRP  1  ip   192.168.1.10</a:t>
            </a:r>
          </a:p>
          <a:p>
            <a:r>
              <a:rPr lang="en-US" sz="900" dirty="0"/>
              <a:t>Router(config-if)# VRRP  1  priority  120</a:t>
            </a:r>
          </a:p>
          <a:p>
            <a:r>
              <a:rPr lang="en-US" sz="900" dirty="0"/>
              <a:t>Router(config-if)# exit</a:t>
            </a:r>
          </a:p>
        </p:txBody>
      </p:sp>
      <p:sp>
        <p:nvSpPr>
          <p:cNvPr id="5" name="TextBox 4">
            <a:extLst>
              <a:ext uri="{FF2B5EF4-FFF2-40B4-BE49-F238E27FC236}">
                <a16:creationId xmlns:a16="http://schemas.microsoft.com/office/drawing/2014/main" id="{A616145E-5F75-98E8-AC00-BB80D9E8B9AF}"/>
              </a:ext>
            </a:extLst>
          </p:cNvPr>
          <p:cNvSpPr txBox="1"/>
          <p:nvPr/>
        </p:nvSpPr>
        <p:spPr>
          <a:xfrm>
            <a:off x="62440" y="818281"/>
            <a:ext cx="8395760" cy="307777"/>
          </a:xfrm>
          <a:prstGeom prst="rect">
            <a:avLst/>
          </a:prstGeom>
          <a:noFill/>
        </p:spPr>
        <p:txBody>
          <a:bodyPr wrap="square">
            <a:spAutoFit/>
          </a:bodyPr>
          <a:lstStyle/>
          <a:p>
            <a:r>
              <a:rPr lang="en-US" b="1" dirty="0">
                <a:highlight>
                  <a:srgbClr val="00FFFF"/>
                </a:highlight>
              </a:rPr>
              <a:t>Configuration of VRRP (Virtual Router Redundancy Protocol) :  follow the above network diagram</a:t>
            </a:r>
          </a:p>
        </p:txBody>
      </p:sp>
      <p:sp>
        <p:nvSpPr>
          <p:cNvPr id="7" name="TextBox 6">
            <a:extLst>
              <a:ext uri="{FF2B5EF4-FFF2-40B4-BE49-F238E27FC236}">
                <a16:creationId xmlns:a16="http://schemas.microsoft.com/office/drawing/2014/main" id="{90E5D604-9416-F151-1C33-C656D8C7F001}"/>
              </a:ext>
            </a:extLst>
          </p:cNvPr>
          <p:cNvSpPr txBox="1"/>
          <p:nvPr/>
        </p:nvSpPr>
        <p:spPr>
          <a:xfrm>
            <a:off x="4331582" y="1307760"/>
            <a:ext cx="4572000" cy="3247043"/>
          </a:xfrm>
          <a:prstGeom prst="rect">
            <a:avLst/>
          </a:prstGeom>
          <a:noFill/>
        </p:spPr>
        <p:txBody>
          <a:bodyPr wrap="square">
            <a:spAutoFit/>
          </a:bodyPr>
          <a:lstStyle/>
          <a:p>
            <a:r>
              <a:rPr lang="en-US" sz="1600" b="1" dirty="0">
                <a:highlight>
                  <a:srgbClr val="00FFFF"/>
                </a:highlight>
              </a:rPr>
              <a:t>R2:</a:t>
            </a:r>
          </a:p>
          <a:p>
            <a:r>
              <a:rPr lang="en-US" sz="900" dirty="0"/>
              <a:t>Router&gt; enable</a:t>
            </a:r>
          </a:p>
          <a:p>
            <a:r>
              <a:rPr lang="en-US" sz="900" dirty="0"/>
              <a:t>Router# configure terminal</a:t>
            </a:r>
          </a:p>
          <a:p>
            <a:endParaRPr lang="en-US" sz="900" dirty="0"/>
          </a:p>
          <a:p>
            <a:r>
              <a:rPr lang="en-US" sz="900" dirty="0"/>
              <a:t>Router(config)# interface FastEthernet0/0</a:t>
            </a:r>
          </a:p>
          <a:p>
            <a:r>
              <a:rPr lang="en-US" sz="900" dirty="0"/>
              <a:t>Router(config-if)# ip   address   192.168.1.2   255.255.255.0</a:t>
            </a:r>
          </a:p>
          <a:p>
            <a:r>
              <a:rPr lang="en-US" sz="900" dirty="0"/>
              <a:t>Router(config-if)# no   shutdown</a:t>
            </a:r>
          </a:p>
          <a:p>
            <a:r>
              <a:rPr lang="en-US" sz="900" dirty="0"/>
              <a:t>Router(config-if)# exit</a:t>
            </a:r>
          </a:p>
          <a:p>
            <a:endParaRPr lang="en-US" sz="900" dirty="0"/>
          </a:p>
          <a:p>
            <a:r>
              <a:rPr lang="en-US" sz="900" dirty="0"/>
              <a:t>Router(config)# interface   Serial0/0</a:t>
            </a:r>
          </a:p>
          <a:p>
            <a:r>
              <a:rPr lang="en-US" sz="900" dirty="0"/>
              <a:t>Router(config-if)# ip   address   2.1.1.1   255.0.0.0</a:t>
            </a:r>
          </a:p>
          <a:p>
            <a:r>
              <a:rPr lang="en-US" sz="900" dirty="0"/>
              <a:t>Router(config-if)# exit</a:t>
            </a:r>
          </a:p>
          <a:p>
            <a:endParaRPr lang="en-US" sz="900" dirty="0"/>
          </a:p>
          <a:p>
            <a:endParaRPr lang="en-US" sz="900" dirty="0"/>
          </a:p>
          <a:p>
            <a:r>
              <a:rPr lang="en-US" sz="900" dirty="0"/>
              <a:t>Router(config)# router   ospf   30</a:t>
            </a:r>
          </a:p>
          <a:p>
            <a:r>
              <a:rPr lang="en-US" sz="900" dirty="0"/>
              <a:t>Router(config-router)# network 192.168.1.0   0.0.0.255   area  0</a:t>
            </a:r>
          </a:p>
          <a:p>
            <a:r>
              <a:rPr lang="en-US" sz="900" dirty="0"/>
              <a:t>Router(config-router)# network 2.0.0.0   0.255.255.255  area  0</a:t>
            </a:r>
          </a:p>
          <a:p>
            <a:r>
              <a:rPr lang="en-US" sz="900" dirty="0"/>
              <a:t>Router(config-router)# exit</a:t>
            </a:r>
          </a:p>
          <a:p>
            <a:endParaRPr lang="en-US" sz="900" dirty="0"/>
          </a:p>
          <a:p>
            <a:r>
              <a:rPr lang="en-US" sz="900" dirty="0"/>
              <a:t>Router(config)# interface FastEthernet0/0</a:t>
            </a:r>
          </a:p>
          <a:p>
            <a:r>
              <a:rPr lang="en-US" sz="900" dirty="0"/>
              <a:t>Router(config-if)# VRRP  1  ip   192.168.1.10</a:t>
            </a:r>
          </a:p>
          <a:p>
            <a:r>
              <a:rPr lang="en-US" sz="900" dirty="0"/>
              <a:t>Router(config-if)# exit</a:t>
            </a:r>
          </a:p>
        </p:txBody>
      </p:sp>
      <p:sp>
        <p:nvSpPr>
          <p:cNvPr id="11" name="TextBox 10">
            <a:extLst>
              <a:ext uri="{FF2B5EF4-FFF2-40B4-BE49-F238E27FC236}">
                <a16:creationId xmlns:a16="http://schemas.microsoft.com/office/drawing/2014/main" id="{E0900D1D-2640-BE2D-237C-5F94E9F965AA}"/>
              </a:ext>
            </a:extLst>
          </p:cNvPr>
          <p:cNvSpPr txBox="1"/>
          <p:nvPr/>
        </p:nvSpPr>
        <p:spPr>
          <a:xfrm>
            <a:off x="2946400" y="4613394"/>
            <a:ext cx="4572000" cy="400110"/>
          </a:xfrm>
          <a:prstGeom prst="rect">
            <a:avLst/>
          </a:prstGeom>
          <a:noFill/>
        </p:spPr>
        <p:txBody>
          <a:bodyPr wrap="square">
            <a:spAutoFit/>
          </a:bodyPr>
          <a:lstStyle/>
          <a:p>
            <a:r>
              <a:rPr lang="en-US" sz="1000" dirty="0">
                <a:highlight>
                  <a:srgbClr val="00FF00"/>
                </a:highlight>
              </a:rPr>
              <a:t>Result:</a:t>
            </a:r>
          </a:p>
          <a:p>
            <a:r>
              <a:rPr lang="en-US" sz="1000" dirty="0">
                <a:highlight>
                  <a:srgbClr val="00FF00"/>
                </a:highlight>
              </a:rPr>
              <a:t>Router# show VRRP brief</a:t>
            </a:r>
          </a:p>
        </p:txBody>
      </p:sp>
    </p:spTree>
    <p:extLst>
      <p:ext uri="{BB962C8B-B14F-4D97-AF65-F5344CB8AC3E}">
        <p14:creationId xmlns:p14="http://schemas.microsoft.com/office/powerpoint/2010/main" val="6133737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8E2B7-AA67-F952-A9ED-8A3C70277A9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8590B73-AE8D-FE01-2072-8B855DE237F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4B38DA8-C2F7-0EE0-B22E-C02C45D3F97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66A6F84-9F6F-73E9-F1ED-DB361CDD61AD}"/>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2CB67321-E7B9-2A44-EF66-57908FA42FFE}"/>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D30D552B-FB5B-4E06-6C27-071D8EFADEF0}"/>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464727D5-5C98-241E-8F28-C8FCAE97E5D6}"/>
              </a:ext>
            </a:extLst>
          </p:cNvPr>
          <p:cNvSpPr txBox="1"/>
          <p:nvPr/>
        </p:nvSpPr>
        <p:spPr>
          <a:xfrm>
            <a:off x="62439" y="845248"/>
            <a:ext cx="9019121" cy="3077766"/>
          </a:xfrm>
          <a:prstGeom prst="rect">
            <a:avLst/>
          </a:prstGeom>
          <a:noFill/>
        </p:spPr>
        <p:txBody>
          <a:bodyPr wrap="square">
            <a:spAutoFit/>
          </a:bodyPr>
          <a:lstStyle/>
          <a:p>
            <a:r>
              <a:rPr lang="en-US" b="1" dirty="0">
                <a:highlight>
                  <a:srgbClr val="00FFFF"/>
                </a:highlight>
              </a:rPr>
              <a:t>HSRP VS VRRP</a:t>
            </a:r>
          </a:p>
          <a:p>
            <a:endParaRPr lang="en-US" sz="2000" dirty="0">
              <a:highlight>
                <a:srgbClr val="00FFFF"/>
              </a:highlight>
            </a:endParaRPr>
          </a:p>
          <a:p>
            <a:r>
              <a:rPr lang="en-US" b="1" dirty="0">
                <a:highlight>
                  <a:srgbClr val="00FFFF"/>
                </a:highlight>
              </a:rPr>
              <a:t>HSRP</a:t>
            </a:r>
          </a:p>
          <a:p>
            <a:pPr marL="171450" indent="-171450">
              <a:buFont typeface="Wingdings" panose="05000000000000000000" pitchFamily="2" charset="2"/>
              <a:buChar char="ü"/>
            </a:pPr>
            <a:r>
              <a:rPr lang="en-US" sz="1100" dirty="0"/>
              <a:t>Virtual IP: Created and shared between routers.</a:t>
            </a:r>
          </a:p>
          <a:p>
            <a:pPr marL="171450" indent="-171450">
              <a:buFont typeface="Wingdings" panose="05000000000000000000" pitchFamily="2" charset="2"/>
              <a:buChar char="ü"/>
            </a:pPr>
            <a:r>
              <a:rPr lang="en-US" sz="1100" dirty="0"/>
              <a:t>One router = Active, another = Standby.</a:t>
            </a:r>
          </a:p>
          <a:p>
            <a:pPr marL="171450" indent="-171450">
              <a:buFont typeface="Wingdings" panose="05000000000000000000" pitchFamily="2" charset="2"/>
              <a:buChar char="ü"/>
            </a:pPr>
            <a:r>
              <a:rPr lang="en-US" sz="1100" dirty="0"/>
              <a:t>Computers use the Virtual IP as their default gateway.</a:t>
            </a:r>
          </a:p>
          <a:p>
            <a:pPr marL="171450" indent="-171450">
              <a:buFont typeface="Wingdings" panose="05000000000000000000" pitchFamily="2" charset="2"/>
              <a:buChar char="ü"/>
            </a:pPr>
            <a:r>
              <a:rPr lang="en-US" sz="1100" dirty="0"/>
              <a:t>The Active router owns the VIP and responds.</a:t>
            </a:r>
          </a:p>
          <a:p>
            <a:pPr marL="171450" indent="-171450">
              <a:buFont typeface="Wingdings" panose="05000000000000000000" pitchFamily="2" charset="2"/>
              <a:buChar char="ü"/>
            </a:pPr>
            <a:r>
              <a:rPr lang="en-US" sz="1100" dirty="0"/>
              <a:t>Preemption is OFF by default (router won’t take role back automatically unless enabled).</a:t>
            </a:r>
          </a:p>
          <a:p>
            <a:endParaRPr lang="en-US" sz="1100" dirty="0"/>
          </a:p>
          <a:p>
            <a:endParaRPr lang="en-US" sz="1100" dirty="0"/>
          </a:p>
          <a:p>
            <a:r>
              <a:rPr lang="en-US" b="1" dirty="0">
                <a:highlight>
                  <a:srgbClr val="00FFFF"/>
                </a:highlight>
              </a:rPr>
              <a:t>VRRP</a:t>
            </a:r>
          </a:p>
          <a:p>
            <a:pPr marL="171450" indent="-171450">
              <a:buFont typeface="Wingdings" panose="05000000000000000000" pitchFamily="2" charset="2"/>
              <a:buChar char="ü"/>
            </a:pPr>
            <a:r>
              <a:rPr lang="en-US" sz="1100" dirty="0"/>
              <a:t>Creates a Virtual Router (which is basically a combination of a Virtual IP + Virtual MAC).</a:t>
            </a:r>
          </a:p>
          <a:p>
            <a:pPr marL="171450" indent="-171450">
              <a:buFont typeface="Wingdings" panose="05000000000000000000" pitchFamily="2" charset="2"/>
              <a:buChar char="ü"/>
            </a:pPr>
            <a:r>
              <a:rPr lang="en-US" sz="1100" dirty="0"/>
              <a:t>Multiple routers form a VRRP group.</a:t>
            </a:r>
          </a:p>
          <a:p>
            <a:pPr marL="171450" indent="-171450">
              <a:buFont typeface="Wingdings" panose="05000000000000000000" pitchFamily="2" charset="2"/>
              <a:buChar char="ü"/>
            </a:pPr>
            <a:r>
              <a:rPr lang="en-US" sz="1100" dirty="0"/>
              <a:t>One router is Master, others are Backups.</a:t>
            </a:r>
          </a:p>
          <a:p>
            <a:pPr marL="171450" indent="-171450">
              <a:buFont typeface="Wingdings" panose="05000000000000000000" pitchFamily="2" charset="2"/>
              <a:buChar char="ü"/>
            </a:pPr>
            <a:r>
              <a:rPr lang="en-US" sz="1100" dirty="0"/>
              <a:t>The Virtual Router is seen by computers as the gateway.</a:t>
            </a:r>
          </a:p>
          <a:p>
            <a:pPr marL="171450" indent="-171450">
              <a:buFont typeface="Wingdings" panose="05000000000000000000" pitchFamily="2" charset="2"/>
              <a:buChar char="ü"/>
            </a:pPr>
            <a:r>
              <a:rPr lang="en-US" sz="1100" dirty="0"/>
              <a:t>Preemption is ON by default (if a higher-priority router comes back, it reclaims Master role).</a:t>
            </a:r>
          </a:p>
        </p:txBody>
      </p:sp>
    </p:spTree>
    <p:extLst>
      <p:ext uri="{BB962C8B-B14F-4D97-AF65-F5344CB8AC3E}">
        <p14:creationId xmlns:p14="http://schemas.microsoft.com/office/powerpoint/2010/main" val="16783585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0E183-44C3-D239-419F-40F92591ADE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F6DE0CB-461F-96DE-4631-02FD475E392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813BC10-7F4D-5925-6878-4EA512D58F8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73E341F-C472-114F-66FF-FFA763A790C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5A0C524-1917-A2D8-BF9C-0F0D069E660E}"/>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E0576797-483A-6264-ABCA-CACC0EBBEBD8}"/>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B4706470-1341-2523-D13C-3F95E756F2BA}"/>
              </a:ext>
            </a:extLst>
          </p:cNvPr>
          <p:cNvSpPr txBox="1"/>
          <p:nvPr/>
        </p:nvSpPr>
        <p:spPr>
          <a:xfrm>
            <a:off x="62439" y="845248"/>
            <a:ext cx="9019121" cy="3416320"/>
          </a:xfrm>
          <a:prstGeom prst="rect">
            <a:avLst/>
          </a:prstGeom>
          <a:noFill/>
        </p:spPr>
        <p:txBody>
          <a:bodyPr wrap="square">
            <a:spAutoFit/>
          </a:bodyPr>
          <a:lstStyle/>
          <a:p>
            <a:r>
              <a:rPr lang="en-US" b="1" dirty="0">
                <a:highlight>
                  <a:srgbClr val="00FFFF"/>
                </a:highlight>
              </a:rPr>
              <a:t>Maximum Routers in a group</a:t>
            </a:r>
          </a:p>
          <a:p>
            <a:endParaRPr lang="en-US" sz="2000" dirty="0">
              <a:highlight>
                <a:srgbClr val="00FFFF"/>
              </a:highlight>
            </a:endParaRPr>
          </a:p>
          <a:p>
            <a:r>
              <a:rPr lang="en-US" b="1" dirty="0">
                <a:highlight>
                  <a:srgbClr val="00FFFF"/>
                </a:highlight>
              </a:rPr>
              <a:t>HSRP</a:t>
            </a:r>
          </a:p>
          <a:p>
            <a:pPr marL="171450" indent="-171450">
              <a:buFont typeface="Wingdings" panose="05000000000000000000" pitchFamily="2" charset="2"/>
              <a:buChar char="ü"/>
            </a:pPr>
            <a:r>
              <a:rPr lang="en-US" sz="1100" dirty="0"/>
              <a:t>Max routers in one group: 256 (group numbers 0–255).</a:t>
            </a:r>
          </a:p>
          <a:p>
            <a:pPr marL="171450" indent="-171450">
              <a:buFont typeface="Wingdings" panose="05000000000000000000" pitchFamily="2" charset="2"/>
              <a:buChar char="ü"/>
            </a:pPr>
            <a:r>
              <a:rPr lang="en-US" sz="1100" dirty="0"/>
              <a:t>But in a single group, you effectively have 1 active + 1 standby (others remain in listen state).</a:t>
            </a:r>
          </a:p>
          <a:p>
            <a:pPr marL="171450" indent="-171450">
              <a:buFont typeface="Wingdings" panose="05000000000000000000" pitchFamily="2" charset="2"/>
              <a:buChar char="ü"/>
            </a:pPr>
            <a:r>
              <a:rPr lang="en-US" sz="1100" dirty="0"/>
              <a:t>You can configure multiple groups (called HSRP load sharing).</a:t>
            </a:r>
          </a:p>
          <a:p>
            <a:pPr marL="171450" indent="-171450">
              <a:buFont typeface="Wingdings" panose="05000000000000000000" pitchFamily="2" charset="2"/>
              <a:buChar char="ü"/>
            </a:pPr>
            <a:endParaRPr lang="en-US" sz="1100" dirty="0"/>
          </a:p>
          <a:p>
            <a:r>
              <a:rPr lang="en-US" sz="1100" dirty="0"/>
              <a:t>👉 HSRP → usually 2 routers (1 active + 1 standby), but technically up to 256 can join the group (others just listen).</a:t>
            </a:r>
          </a:p>
          <a:p>
            <a:endParaRPr lang="en-US" sz="1100" dirty="0"/>
          </a:p>
          <a:p>
            <a:endParaRPr lang="en-US" sz="1100" dirty="0"/>
          </a:p>
          <a:p>
            <a:endParaRPr lang="en-US" sz="1100" dirty="0"/>
          </a:p>
          <a:p>
            <a:endParaRPr lang="en-US" sz="1100" dirty="0"/>
          </a:p>
          <a:p>
            <a:r>
              <a:rPr lang="en-US" b="1" dirty="0">
                <a:highlight>
                  <a:srgbClr val="00FFFF"/>
                </a:highlight>
              </a:rPr>
              <a:t>VRRP</a:t>
            </a:r>
          </a:p>
          <a:p>
            <a:pPr marL="171450" indent="-171450">
              <a:buFont typeface="Wingdings" panose="05000000000000000000" pitchFamily="2" charset="2"/>
              <a:buChar char="ü"/>
            </a:pPr>
            <a:r>
              <a:rPr lang="en-US" sz="1100" dirty="0"/>
              <a:t>Max routers in one group: 255 (group numbers 1–255).</a:t>
            </a:r>
          </a:p>
          <a:p>
            <a:pPr marL="171450" indent="-171450">
              <a:buFont typeface="Wingdings" panose="05000000000000000000" pitchFamily="2" charset="2"/>
              <a:buChar char="ü"/>
            </a:pPr>
            <a:r>
              <a:rPr lang="en-US" sz="1100" dirty="0"/>
              <a:t>In one group, you have 1 master + multiple backups.</a:t>
            </a:r>
          </a:p>
          <a:p>
            <a:pPr marL="171450" indent="-171450">
              <a:buFont typeface="Wingdings" panose="05000000000000000000" pitchFamily="2" charset="2"/>
              <a:buChar char="ü"/>
            </a:pPr>
            <a:r>
              <a:rPr lang="en-US" sz="1100" dirty="0"/>
              <a:t>Backups can be more than one, so failover can cascade if the master fails.</a:t>
            </a:r>
          </a:p>
          <a:p>
            <a:pPr marL="171450" indent="-171450">
              <a:buFont typeface="Wingdings" panose="05000000000000000000" pitchFamily="2" charset="2"/>
              <a:buChar char="ü"/>
            </a:pPr>
            <a:endParaRPr lang="en-US" sz="1100" dirty="0"/>
          </a:p>
          <a:p>
            <a:r>
              <a:rPr lang="en-US" sz="1100" dirty="0"/>
              <a:t>👉 VRRP → 1 master + multiple backups (up to 255 in total).</a:t>
            </a:r>
          </a:p>
        </p:txBody>
      </p:sp>
    </p:spTree>
    <p:extLst>
      <p:ext uri="{BB962C8B-B14F-4D97-AF65-F5344CB8AC3E}">
        <p14:creationId xmlns:p14="http://schemas.microsoft.com/office/powerpoint/2010/main" val="25469916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6AA6-419F-CED9-861D-B5525B53410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0E2789D-2623-B411-D881-24257C023DE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1FDF29A-4744-7BE0-209C-7710988E3A95}"/>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74A1B17F-8CB5-1986-8C9E-975572556890}"/>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3AB59B4-50DA-C477-C784-E2AD9F7D38D7}"/>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BD866CD4-762E-FF2E-6F14-5301BE9DFB3B}"/>
              </a:ext>
            </a:extLst>
          </p:cNvPr>
          <p:cNvSpPr txBox="1"/>
          <p:nvPr/>
        </p:nvSpPr>
        <p:spPr>
          <a:xfrm>
            <a:off x="257351" y="935611"/>
            <a:ext cx="7752115" cy="477054"/>
          </a:xfrm>
          <a:prstGeom prst="rect">
            <a:avLst/>
          </a:prstGeom>
          <a:noFill/>
        </p:spPr>
        <p:txBody>
          <a:bodyPr wrap="square">
            <a:spAutoFit/>
          </a:bodyPr>
          <a:lstStyle/>
          <a:p>
            <a:r>
              <a:rPr lang="en-US" sz="1600" dirty="0">
                <a:highlight>
                  <a:srgbClr val="00FFFF"/>
                </a:highlight>
              </a:rPr>
              <a:t>GLBP</a:t>
            </a:r>
          </a:p>
          <a:p>
            <a:r>
              <a:rPr lang="en-US" sz="900" dirty="0"/>
              <a:t>Requires GNS3</a:t>
            </a:r>
          </a:p>
        </p:txBody>
      </p:sp>
      <p:pic>
        <p:nvPicPr>
          <p:cNvPr id="7" name="Picture 6">
            <a:extLst>
              <a:ext uri="{FF2B5EF4-FFF2-40B4-BE49-F238E27FC236}">
                <a16:creationId xmlns:a16="http://schemas.microsoft.com/office/drawing/2014/main" id="{2945DB07-16F8-B620-4735-D7D8252953B7}"/>
              </a:ext>
            </a:extLst>
          </p:cNvPr>
          <p:cNvPicPr>
            <a:picLocks noChangeAspect="1"/>
          </p:cNvPicPr>
          <p:nvPr/>
        </p:nvPicPr>
        <p:blipFill>
          <a:blip r:embed="rId3"/>
          <a:stretch>
            <a:fillRect/>
          </a:stretch>
        </p:blipFill>
        <p:spPr>
          <a:xfrm>
            <a:off x="1" y="1667343"/>
            <a:ext cx="9144000" cy="3476157"/>
          </a:xfrm>
          <a:prstGeom prst="rect">
            <a:avLst/>
          </a:prstGeom>
        </p:spPr>
      </p:pic>
      <p:sp>
        <p:nvSpPr>
          <p:cNvPr id="12" name="Rectangle 11">
            <a:extLst>
              <a:ext uri="{FF2B5EF4-FFF2-40B4-BE49-F238E27FC236}">
                <a16:creationId xmlns:a16="http://schemas.microsoft.com/office/drawing/2014/main" id="{8A2482E0-918B-5C65-A8E0-3C459076759B}"/>
              </a:ext>
            </a:extLst>
          </p:cNvPr>
          <p:cNvSpPr/>
          <p:nvPr/>
        </p:nvSpPr>
        <p:spPr>
          <a:xfrm>
            <a:off x="4902200" y="2082800"/>
            <a:ext cx="474133" cy="220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R1</a:t>
            </a:r>
            <a:endParaRPr lang="en-PK" dirty="0"/>
          </a:p>
        </p:txBody>
      </p:sp>
      <p:sp>
        <p:nvSpPr>
          <p:cNvPr id="13" name="Rectangle 12">
            <a:extLst>
              <a:ext uri="{FF2B5EF4-FFF2-40B4-BE49-F238E27FC236}">
                <a16:creationId xmlns:a16="http://schemas.microsoft.com/office/drawing/2014/main" id="{4DB7D532-8AE6-DD06-E11A-9858F1DA5F44}"/>
              </a:ext>
            </a:extLst>
          </p:cNvPr>
          <p:cNvSpPr/>
          <p:nvPr/>
        </p:nvSpPr>
        <p:spPr>
          <a:xfrm>
            <a:off x="4902199" y="4334934"/>
            <a:ext cx="474133" cy="220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R2</a:t>
            </a:r>
            <a:endParaRPr lang="en-PK" dirty="0"/>
          </a:p>
        </p:txBody>
      </p:sp>
      <p:sp>
        <p:nvSpPr>
          <p:cNvPr id="5" name="TextBox 4">
            <a:extLst>
              <a:ext uri="{FF2B5EF4-FFF2-40B4-BE49-F238E27FC236}">
                <a16:creationId xmlns:a16="http://schemas.microsoft.com/office/drawing/2014/main" id="{00960485-384C-C602-250F-CDBF1BF27B49}"/>
              </a:ext>
            </a:extLst>
          </p:cNvPr>
          <p:cNvSpPr txBox="1"/>
          <p:nvPr/>
        </p:nvSpPr>
        <p:spPr>
          <a:xfrm>
            <a:off x="4296832" y="2359851"/>
            <a:ext cx="1079500" cy="246221"/>
          </a:xfrm>
          <a:prstGeom prst="rect">
            <a:avLst/>
          </a:prstGeom>
          <a:noFill/>
        </p:spPr>
        <p:txBody>
          <a:bodyPr wrap="square">
            <a:spAutoFit/>
          </a:bodyPr>
          <a:lstStyle/>
          <a:p>
            <a:r>
              <a:rPr lang="en-US" sz="1000" dirty="0"/>
              <a:t>192.168.1.1</a:t>
            </a:r>
            <a:endParaRPr lang="en-PK" sz="1000" dirty="0"/>
          </a:p>
        </p:txBody>
      </p:sp>
      <p:sp>
        <p:nvSpPr>
          <p:cNvPr id="11" name="TextBox 10">
            <a:extLst>
              <a:ext uri="{FF2B5EF4-FFF2-40B4-BE49-F238E27FC236}">
                <a16:creationId xmlns:a16="http://schemas.microsoft.com/office/drawing/2014/main" id="{5B860F8D-1024-C455-C584-4A9AC1EF93D7}"/>
              </a:ext>
            </a:extLst>
          </p:cNvPr>
          <p:cNvSpPr txBox="1"/>
          <p:nvPr/>
        </p:nvSpPr>
        <p:spPr>
          <a:xfrm>
            <a:off x="0" y="3414123"/>
            <a:ext cx="974618" cy="230832"/>
          </a:xfrm>
          <a:prstGeom prst="rect">
            <a:avLst/>
          </a:prstGeom>
          <a:noFill/>
        </p:spPr>
        <p:txBody>
          <a:bodyPr wrap="square">
            <a:spAutoFit/>
          </a:bodyPr>
          <a:lstStyle/>
          <a:p>
            <a:r>
              <a:rPr lang="en-PK" sz="900" dirty="0"/>
              <a:t>192.168.1.</a:t>
            </a:r>
            <a:r>
              <a:rPr lang="en-US" sz="900" dirty="0"/>
              <a:t>5</a:t>
            </a:r>
            <a:endParaRPr lang="en-PK" sz="900" dirty="0"/>
          </a:p>
        </p:txBody>
      </p:sp>
      <p:sp>
        <p:nvSpPr>
          <p:cNvPr id="15" name="TextBox 14">
            <a:extLst>
              <a:ext uri="{FF2B5EF4-FFF2-40B4-BE49-F238E27FC236}">
                <a16:creationId xmlns:a16="http://schemas.microsoft.com/office/drawing/2014/main" id="{429DBDA5-91F4-C685-087D-7370B48610F4}"/>
              </a:ext>
            </a:extLst>
          </p:cNvPr>
          <p:cNvSpPr txBox="1"/>
          <p:nvPr/>
        </p:nvSpPr>
        <p:spPr>
          <a:xfrm>
            <a:off x="26219" y="1872000"/>
            <a:ext cx="992275" cy="230832"/>
          </a:xfrm>
          <a:prstGeom prst="rect">
            <a:avLst/>
          </a:prstGeom>
          <a:noFill/>
        </p:spPr>
        <p:txBody>
          <a:bodyPr wrap="square">
            <a:spAutoFit/>
          </a:bodyPr>
          <a:lstStyle/>
          <a:p>
            <a:r>
              <a:rPr lang="en-US" sz="900" dirty="0"/>
              <a:t>192.168.1.3</a:t>
            </a:r>
            <a:endParaRPr lang="en-PK" sz="900" dirty="0"/>
          </a:p>
        </p:txBody>
      </p:sp>
      <p:sp>
        <p:nvSpPr>
          <p:cNvPr id="17" name="TextBox 16">
            <a:extLst>
              <a:ext uri="{FF2B5EF4-FFF2-40B4-BE49-F238E27FC236}">
                <a16:creationId xmlns:a16="http://schemas.microsoft.com/office/drawing/2014/main" id="{2E649057-913D-596B-C41A-CE1AD0DC34C9}"/>
              </a:ext>
            </a:extLst>
          </p:cNvPr>
          <p:cNvSpPr txBox="1"/>
          <p:nvPr/>
        </p:nvSpPr>
        <p:spPr>
          <a:xfrm>
            <a:off x="4523315" y="4064482"/>
            <a:ext cx="1231900" cy="246221"/>
          </a:xfrm>
          <a:prstGeom prst="rect">
            <a:avLst/>
          </a:prstGeom>
          <a:noFill/>
        </p:spPr>
        <p:txBody>
          <a:bodyPr wrap="square">
            <a:spAutoFit/>
          </a:bodyPr>
          <a:lstStyle/>
          <a:p>
            <a:r>
              <a:rPr lang="en-US" sz="1000" dirty="0"/>
              <a:t>192.168.1.2</a:t>
            </a:r>
            <a:endParaRPr lang="en-PK" sz="1000" dirty="0"/>
          </a:p>
        </p:txBody>
      </p:sp>
      <p:sp>
        <p:nvSpPr>
          <p:cNvPr id="19" name="TextBox 18">
            <a:extLst>
              <a:ext uri="{FF2B5EF4-FFF2-40B4-BE49-F238E27FC236}">
                <a16:creationId xmlns:a16="http://schemas.microsoft.com/office/drawing/2014/main" id="{47D08AC0-DBF0-D428-57D6-C0FC592D92B1}"/>
              </a:ext>
            </a:extLst>
          </p:cNvPr>
          <p:cNvSpPr txBox="1"/>
          <p:nvPr/>
        </p:nvSpPr>
        <p:spPr>
          <a:xfrm>
            <a:off x="29601" y="2643061"/>
            <a:ext cx="4631266" cy="230832"/>
          </a:xfrm>
          <a:prstGeom prst="rect">
            <a:avLst/>
          </a:prstGeom>
          <a:noFill/>
        </p:spPr>
        <p:txBody>
          <a:bodyPr wrap="square">
            <a:spAutoFit/>
          </a:bodyPr>
          <a:lstStyle/>
          <a:p>
            <a:pPr marL="0" lvl="0" indent="0" defTabSz="914400" eaLnBrk="1" fontAlgn="auto" latinLnBrk="0" hangingPunct="1">
              <a:buSzTx/>
              <a:buFont typeface="Arial"/>
              <a:buNone/>
              <a:tabLst/>
              <a:defRPr/>
            </a:pPr>
            <a:r>
              <a:rPr lang="en-US" sz="900" dirty="0"/>
              <a:t>192.168.1.4</a:t>
            </a:r>
            <a:endParaRPr lang="en-PK" sz="900" dirty="0"/>
          </a:p>
        </p:txBody>
      </p:sp>
      <p:sp>
        <p:nvSpPr>
          <p:cNvPr id="21" name="TextBox 20">
            <a:extLst>
              <a:ext uri="{FF2B5EF4-FFF2-40B4-BE49-F238E27FC236}">
                <a16:creationId xmlns:a16="http://schemas.microsoft.com/office/drawing/2014/main" id="{5513DE1B-4B80-1CE4-6478-8D5675969029}"/>
              </a:ext>
            </a:extLst>
          </p:cNvPr>
          <p:cNvSpPr txBox="1"/>
          <p:nvPr/>
        </p:nvSpPr>
        <p:spPr>
          <a:xfrm>
            <a:off x="5888567" y="2113630"/>
            <a:ext cx="732366"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1.1.1.1</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3" name="TextBox 22">
            <a:extLst>
              <a:ext uri="{FF2B5EF4-FFF2-40B4-BE49-F238E27FC236}">
                <a16:creationId xmlns:a16="http://schemas.microsoft.com/office/drawing/2014/main" id="{0C5A9042-D575-B901-C24B-6EC85B946D78}"/>
              </a:ext>
            </a:extLst>
          </p:cNvPr>
          <p:cNvSpPr txBox="1"/>
          <p:nvPr/>
        </p:nvSpPr>
        <p:spPr>
          <a:xfrm>
            <a:off x="7584019" y="3437171"/>
            <a:ext cx="67170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2.1.1.2</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5" name="TextBox 24">
            <a:extLst>
              <a:ext uri="{FF2B5EF4-FFF2-40B4-BE49-F238E27FC236}">
                <a16:creationId xmlns:a16="http://schemas.microsoft.com/office/drawing/2014/main" id="{E6979A8B-02D4-3430-59C8-D358E378E506}"/>
              </a:ext>
            </a:extLst>
          </p:cNvPr>
          <p:cNvSpPr txBox="1"/>
          <p:nvPr/>
        </p:nvSpPr>
        <p:spPr>
          <a:xfrm>
            <a:off x="5888567" y="3961668"/>
            <a:ext cx="61383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2.1.1.1</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7" name="TextBox 26">
            <a:extLst>
              <a:ext uri="{FF2B5EF4-FFF2-40B4-BE49-F238E27FC236}">
                <a16:creationId xmlns:a16="http://schemas.microsoft.com/office/drawing/2014/main" id="{016A1432-480E-8183-EA37-5C52F8DE1782}"/>
              </a:ext>
            </a:extLst>
          </p:cNvPr>
          <p:cNvSpPr txBox="1"/>
          <p:nvPr/>
        </p:nvSpPr>
        <p:spPr>
          <a:xfrm>
            <a:off x="7507819" y="2497861"/>
            <a:ext cx="57591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1.1.1.2</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9" name="TextBox 28">
            <a:extLst>
              <a:ext uri="{FF2B5EF4-FFF2-40B4-BE49-F238E27FC236}">
                <a16:creationId xmlns:a16="http://schemas.microsoft.com/office/drawing/2014/main" id="{6A61FB77-D765-8E28-A49C-FFFFFB0224B0}"/>
              </a:ext>
            </a:extLst>
          </p:cNvPr>
          <p:cNvSpPr txBox="1"/>
          <p:nvPr/>
        </p:nvSpPr>
        <p:spPr>
          <a:xfrm>
            <a:off x="0" y="4265540"/>
            <a:ext cx="1079500" cy="230832"/>
          </a:xfrm>
          <a:prstGeom prst="rect">
            <a:avLst/>
          </a:prstGeom>
          <a:noFill/>
        </p:spPr>
        <p:txBody>
          <a:bodyPr wrap="square">
            <a:spAutoFit/>
          </a:bodyPr>
          <a:lstStyle/>
          <a:p>
            <a:pPr marL="0" lvl="0" indent="0" defTabSz="914400" eaLnBrk="1" fontAlgn="auto" latinLnBrk="0" hangingPunct="1">
              <a:buSzTx/>
              <a:buFont typeface="Arial"/>
              <a:buNone/>
              <a:tabLst/>
              <a:defRPr/>
            </a:pPr>
            <a:r>
              <a:rPr lang="en-PK" sz="900" dirty="0"/>
              <a:t>192.168.1.</a:t>
            </a:r>
            <a:r>
              <a:rPr lang="en-US" sz="900" dirty="0"/>
              <a:t>6</a:t>
            </a:r>
            <a:endParaRPr lang="en-PK" sz="900" dirty="0"/>
          </a:p>
        </p:txBody>
      </p:sp>
      <p:sp>
        <p:nvSpPr>
          <p:cNvPr id="8" name="TextBox 7">
            <a:extLst>
              <a:ext uri="{FF2B5EF4-FFF2-40B4-BE49-F238E27FC236}">
                <a16:creationId xmlns:a16="http://schemas.microsoft.com/office/drawing/2014/main" id="{6EA7C5EA-1DE9-4E36-A852-6BE7CF13FDFF}"/>
              </a:ext>
            </a:extLst>
          </p:cNvPr>
          <p:cNvSpPr txBox="1"/>
          <p:nvPr/>
        </p:nvSpPr>
        <p:spPr>
          <a:xfrm>
            <a:off x="3939117" y="3120152"/>
            <a:ext cx="1816098"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cs typeface="Arial"/>
                <a:sym typeface="Arial"/>
              </a:rPr>
              <a:t>192.168.1.10  (Virtual IP)</a:t>
            </a:r>
            <a:endParaRPr kumimoji="0" lang="en-PK" sz="10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8676328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E4C0C-7793-CBF2-EB19-4087C37AA9F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4CBAD4F-91FF-3793-54A0-EC3723232A2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8D1188E3-BD86-A689-7307-858B64730D1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16A9CDB-9000-2362-D425-DEACF2D98B18}"/>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01EBAF29-4BDE-13E6-16EE-11C49040107B}"/>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6CA30B69-843A-BEC2-71EB-7DBE3B8918D5}"/>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249F140E-5CF3-9D98-DD85-81D47C9A40D6}"/>
              </a:ext>
            </a:extLst>
          </p:cNvPr>
          <p:cNvSpPr txBox="1"/>
          <p:nvPr/>
        </p:nvSpPr>
        <p:spPr>
          <a:xfrm>
            <a:off x="62439" y="845248"/>
            <a:ext cx="9019121" cy="4078039"/>
          </a:xfrm>
          <a:prstGeom prst="rect">
            <a:avLst/>
          </a:prstGeom>
          <a:noFill/>
        </p:spPr>
        <p:txBody>
          <a:bodyPr wrap="square">
            <a:spAutoFit/>
          </a:bodyPr>
          <a:lstStyle/>
          <a:p>
            <a:r>
              <a:rPr lang="en-US" b="1" dirty="0">
                <a:highlight>
                  <a:srgbClr val="00FFFF"/>
                </a:highlight>
              </a:rPr>
              <a:t>GLBP (Gateway Load Balancing Protocol)</a:t>
            </a:r>
          </a:p>
          <a:p>
            <a:endParaRPr lang="en-US" sz="2000" dirty="0">
              <a:highlight>
                <a:srgbClr val="00FFFF"/>
              </a:highlight>
            </a:endParaRPr>
          </a:p>
          <a:p>
            <a:pPr marL="285750" indent="-285750" algn="just">
              <a:buFont typeface="Wingdings" panose="05000000000000000000" pitchFamily="2" charset="2"/>
              <a:buChar char="ü"/>
            </a:pPr>
            <a:r>
              <a:rPr lang="en-US" sz="900" dirty="0"/>
              <a:t>Cisco proprietary protocol</a:t>
            </a:r>
          </a:p>
          <a:p>
            <a:pPr marL="285750" indent="-285750" algn="just">
              <a:buFont typeface="Wingdings" panose="05000000000000000000" pitchFamily="2" charset="2"/>
              <a:buChar char="ü"/>
            </a:pPr>
            <a:r>
              <a:rPr lang="en-US" sz="900" dirty="0"/>
              <a:t>Provides gateway redundancy and load balancing</a:t>
            </a:r>
          </a:p>
          <a:p>
            <a:pPr marL="285750" indent="-285750" algn="just">
              <a:buFont typeface="Wingdings" panose="05000000000000000000" pitchFamily="2" charset="2"/>
              <a:buChar char="ü"/>
            </a:pPr>
            <a:r>
              <a:rPr lang="en-US" sz="900" dirty="0"/>
              <a:t>Uses a Virtual IP for hosts as the default gateway</a:t>
            </a:r>
          </a:p>
          <a:p>
            <a:pPr marL="285750" indent="-285750" algn="just">
              <a:buFont typeface="Wingdings" panose="05000000000000000000" pitchFamily="2" charset="2"/>
              <a:buChar char="ü"/>
            </a:pPr>
            <a:endParaRPr lang="en-US" sz="900" dirty="0"/>
          </a:p>
          <a:p>
            <a:pPr marL="285750" indent="-285750" algn="just">
              <a:buFont typeface="Wingdings" panose="05000000000000000000" pitchFamily="2" charset="2"/>
              <a:buChar char="ü"/>
            </a:pPr>
            <a:r>
              <a:rPr lang="en-US" sz="900" dirty="0"/>
              <a:t>One router elected as AVG (Active Virtual Gateway)</a:t>
            </a:r>
          </a:p>
          <a:p>
            <a:pPr marL="285750" indent="-285750" algn="just">
              <a:buFont typeface="Wingdings" panose="05000000000000000000" pitchFamily="2" charset="2"/>
              <a:buChar char="ü"/>
            </a:pPr>
            <a:r>
              <a:rPr lang="en-US" sz="900" dirty="0"/>
              <a:t>Other routers become AVFs (Active Virtual Forwarders)</a:t>
            </a:r>
          </a:p>
          <a:p>
            <a:pPr marL="285750" indent="-285750" algn="just">
              <a:buFont typeface="Wingdings" panose="05000000000000000000" pitchFamily="2" charset="2"/>
              <a:buChar char="ü"/>
            </a:pPr>
            <a:endParaRPr lang="en-US" sz="900" dirty="0"/>
          </a:p>
          <a:p>
            <a:pPr marL="285750" indent="-285750" algn="just">
              <a:buFont typeface="Wingdings" panose="05000000000000000000" pitchFamily="2" charset="2"/>
              <a:buChar char="ü"/>
            </a:pPr>
            <a:r>
              <a:rPr lang="en-US" sz="900" dirty="0"/>
              <a:t>AVG router will be active, remaining all standby router will be AVF</a:t>
            </a:r>
          </a:p>
          <a:p>
            <a:pPr marL="285750" indent="-285750" algn="just">
              <a:buFont typeface="Wingdings" panose="05000000000000000000" pitchFamily="2" charset="2"/>
              <a:buChar char="ü"/>
            </a:pPr>
            <a:endParaRPr lang="en-US" sz="900" dirty="0"/>
          </a:p>
          <a:p>
            <a:pPr marL="285750" indent="-285750" algn="just">
              <a:buFont typeface="Wingdings" panose="05000000000000000000" pitchFamily="2" charset="2"/>
              <a:buChar char="ü"/>
            </a:pPr>
            <a:r>
              <a:rPr lang="en-US" sz="900" dirty="0"/>
              <a:t>AVG manages the group and assigns virtual MAC addresses to AVF and to himself </a:t>
            </a:r>
          </a:p>
          <a:p>
            <a:pPr marL="285750" indent="-285750" algn="just">
              <a:buFont typeface="Wingdings" panose="05000000000000000000" pitchFamily="2" charset="2"/>
              <a:buChar char="ü"/>
            </a:pPr>
            <a:r>
              <a:rPr lang="en-US" sz="900" dirty="0"/>
              <a:t>AVG has lists of all the virtual MAC addresses (Including AVG Virtual MAC and AVF Virtual MAC)</a:t>
            </a:r>
          </a:p>
          <a:p>
            <a:pPr marL="285750" indent="-285750" algn="just">
              <a:buFont typeface="Wingdings" panose="05000000000000000000" pitchFamily="2" charset="2"/>
              <a:buChar char="ü"/>
            </a:pPr>
            <a:r>
              <a:rPr lang="en-US" sz="900" dirty="0"/>
              <a:t>In GLBP, virtual IP will be same for all routers but  virtual MAC addresses will be different</a:t>
            </a:r>
          </a:p>
          <a:p>
            <a:pPr marL="285750" indent="-285750" algn="just">
              <a:buFont typeface="Wingdings" panose="05000000000000000000" pitchFamily="2" charset="2"/>
              <a:buChar char="ü"/>
            </a:pPr>
            <a:r>
              <a:rPr lang="en-US" sz="900" dirty="0"/>
              <a:t>AVG has two roles , it is AVG and also AVF</a:t>
            </a:r>
          </a:p>
          <a:p>
            <a:pPr marL="285750" indent="-285750" algn="just">
              <a:buFont typeface="Wingdings" panose="05000000000000000000" pitchFamily="2" charset="2"/>
              <a:buChar char="ü"/>
            </a:pPr>
            <a:endParaRPr lang="en-US" sz="900" dirty="0"/>
          </a:p>
          <a:p>
            <a:pPr marL="285750" indent="-285750" algn="just">
              <a:buFont typeface="Wingdings" panose="05000000000000000000" pitchFamily="2" charset="2"/>
              <a:buChar char="ü"/>
            </a:pPr>
            <a:r>
              <a:rPr lang="en-US" sz="900" dirty="0"/>
              <a:t>Each AVF forwards traffic using its virtual MAC</a:t>
            </a:r>
          </a:p>
          <a:p>
            <a:pPr marL="285750" indent="-285750" algn="just">
              <a:buFont typeface="Wingdings" panose="05000000000000000000" pitchFamily="2" charset="2"/>
              <a:buChar char="ü"/>
            </a:pPr>
            <a:r>
              <a:rPr lang="en-US" sz="900" dirty="0"/>
              <a:t>AVG replies to ARP with different virtual MACs to balance traffic</a:t>
            </a:r>
          </a:p>
          <a:p>
            <a:pPr marL="285750" indent="-285750" algn="just">
              <a:buFont typeface="Wingdings" panose="05000000000000000000" pitchFamily="2" charset="2"/>
              <a:buChar char="ü"/>
            </a:pPr>
            <a:r>
              <a:rPr lang="en-US" sz="900" dirty="0"/>
              <a:t>If an AVF fails, another router takes over its MAC</a:t>
            </a:r>
          </a:p>
          <a:p>
            <a:pPr marL="285750" indent="-285750" algn="just">
              <a:buFont typeface="Wingdings" panose="05000000000000000000" pitchFamily="2" charset="2"/>
              <a:buChar char="ü"/>
            </a:pPr>
            <a:endParaRPr lang="en-US" sz="900" dirty="0"/>
          </a:p>
          <a:p>
            <a:pPr marL="285750" indent="-285750" algn="just">
              <a:buFont typeface="Wingdings" panose="05000000000000000000" pitchFamily="2" charset="2"/>
              <a:buChar char="ü"/>
            </a:pPr>
            <a:r>
              <a:rPr lang="en-US" sz="900" dirty="0"/>
              <a:t>Election is same like HSRP</a:t>
            </a:r>
          </a:p>
          <a:p>
            <a:pPr marL="285750" indent="-285750" algn="just">
              <a:buFont typeface="Wingdings" panose="05000000000000000000" pitchFamily="2" charset="2"/>
              <a:buChar char="ü"/>
            </a:pPr>
            <a:r>
              <a:rPr lang="en-US" sz="900" dirty="0"/>
              <a:t>Election based on priority (default 100)</a:t>
            </a:r>
          </a:p>
          <a:p>
            <a:pPr marL="285750" indent="-285750" algn="just">
              <a:buFont typeface="Wingdings" panose="05000000000000000000" pitchFamily="2" charset="2"/>
              <a:buChar char="ü"/>
            </a:pPr>
            <a:r>
              <a:rPr lang="en-US" sz="900" dirty="0"/>
              <a:t>Higher priority wins, if tie then highest IP</a:t>
            </a:r>
          </a:p>
          <a:p>
            <a:pPr marL="285750" indent="-285750" algn="just">
              <a:buFont typeface="Wingdings" panose="05000000000000000000" pitchFamily="2" charset="2"/>
              <a:buChar char="ü"/>
            </a:pPr>
            <a:r>
              <a:rPr lang="en-US" sz="900" dirty="0"/>
              <a:t>Redundancy: no single point of failure</a:t>
            </a:r>
          </a:p>
          <a:p>
            <a:pPr marL="285750" indent="-285750" algn="just">
              <a:buFont typeface="Wingdings" panose="05000000000000000000" pitchFamily="2" charset="2"/>
              <a:buChar char="ü"/>
            </a:pPr>
            <a:endParaRPr lang="en-US" sz="900" dirty="0"/>
          </a:p>
          <a:p>
            <a:pPr marL="285750" indent="-285750" algn="just">
              <a:buFont typeface="Wingdings" panose="05000000000000000000" pitchFamily="2" charset="2"/>
              <a:buChar char="ü"/>
            </a:pPr>
            <a:r>
              <a:rPr lang="en-US" sz="900" dirty="0"/>
              <a:t>Built in Load balancing: all routers forward traffic.</a:t>
            </a:r>
          </a:p>
          <a:p>
            <a:pPr marL="285750" indent="-285750" algn="just">
              <a:buFont typeface="Wingdings" panose="05000000000000000000" pitchFamily="2" charset="2"/>
              <a:buChar char="ü"/>
            </a:pPr>
            <a:r>
              <a:rPr lang="en-US" sz="900" dirty="0"/>
              <a:t>Preemption is disabled by default in GLBP</a:t>
            </a:r>
          </a:p>
        </p:txBody>
      </p:sp>
    </p:spTree>
    <p:extLst>
      <p:ext uri="{BB962C8B-B14F-4D97-AF65-F5344CB8AC3E}">
        <p14:creationId xmlns:p14="http://schemas.microsoft.com/office/powerpoint/2010/main" val="36093169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F8E20-C00B-E1C2-8358-F8DD6684ED8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DEF5B74-488A-F84B-2859-8B23A67A4DA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092AFB02-F8BC-BE66-1090-8564E9855BD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BE10459-8A8D-2A82-C024-75E2B2AFF590}"/>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F2F45B3-F3E1-77CA-8BCA-258F9FA09E98}"/>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DFA62F28-A746-311A-B933-DA21BBC0C6BE}"/>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3862C250-6FEE-76A2-4CB9-82663C4EF421}"/>
              </a:ext>
            </a:extLst>
          </p:cNvPr>
          <p:cNvSpPr txBox="1"/>
          <p:nvPr/>
        </p:nvSpPr>
        <p:spPr>
          <a:xfrm>
            <a:off x="62439" y="845248"/>
            <a:ext cx="9019121" cy="4324261"/>
          </a:xfrm>
          <a:prstGeom prst="rect">
            <a:avLst/>
          </a:prstGeom>
          <a:noFill/>
        </p:spPr>
        <p:txBody>
          <a:bodyPr wrap="square">
            <a:spAutoFit/>
          </a:bodyPr>
          <a:lstStyle/>
          <a:p>
            <a:r>
              <a:rPr lang="en-US" b="1" dirty="0">
                <a:highlight>
                  <a:srgbClr val="00FFFF"/>
                </a:highlight>
              </a:rPr>
              <a:t>Working of GLBP:</a:t>
            </a:r>
          </a:p>
          <a:p>
            <a:endParaRPr lang="en-US" sz="2000" dirty="0">
              <a:highlight>
                <a:srgbClr val="00FFFF"/>
              </a:highlight>
            </a:endParaRPr>
          </a:p>
          <a:p>
            <a:pPr algn="just"/>
            <a:r>
              <a:rPr lang="en-US" sz="1000" dirty="0">
                <a:highlight>
                  <a:srgbClr val="00FFFF"/>
                </a:highlight>
              </a:rPr>
              <a:t>For example, </a:t>
            </a:r>
          </a:p>
          <a:p>
            <a:pPr algn="just"/>
            <a:r>
              <a:rPr lang="en-US" sz="1000" dirty="0"/>
              <a:t>If there are 4 packets, two packets will be sent through the active router, and the other two packets will be sent through the standby routers. In GLBP, the standby routers actively participate in forwarding traffic, balancing the load. If necessary, a standby router can become active to ensure load balancing.</a:t>
            </a:r>
          </a:p>
          <a:p>
            <a:pPr algn="just"/>
            <a:endParaRPr lang="en-US" sz="1000" dirty="0"/>
          </a:p>
          <a:p>
            <a:pPr algn="just"/>
            <a:endParaRPr lang="en-US" sz="1000" dirty="0"/>
          </a:p>
          <a:p>
            <a:pPr marL="171450" indent="-171450" algn="just">
              <a:buFont typeface="Wingdings" panose="05000000000000000000" pitchFamily="2" charset="2"/>
              <a:buChar char="ü"/>
            </a:pPr>
            <a:r>
              <a:rPr lang="en-US" sz="1000" dirty="0"/>
              <a:t>One router becomes the Active Virtual Gateway (AVG).</a:t>
            </a:r>
          </a:p>
          <a:p>
            <a:pPr marL="171450" indent="-171450" algn="just">
              <a:buFont typeface="Wingdings" panose="05000000000000000000" pitchFamily="2" charset="2"/>
              <a:buChar char="ü"/>
            </a:pPr>
            <a:r>
              <a:rPr lang="en-US" sz="1000" dirty="0"/>
              <a:t>The AVG assigns a virtual MAC address to each router in the group.</a:t>
            </a:r>
          </a:p>
          <a:p>
            <a:pPr marL="171450" indent="-171450" algn="just">
              <a:buFont typeface="Wingdings" panose="05000000000000000000" pitchFamily="2" charset="2"/>
              <a:buChar char="ü"/>
            </a:pPr>
            <a:r>
              <a:rPr lang="en-US" sz="1000" dirty="0"/>
              <a:t>Other routers become Active Virtual Forwarders (AVFs).</a:t>
            </a:r>
          </a:p>
          <a:p>
            <a:pPr marL="171450" indent="-171450" algn="just">
              <a:buFont typeface="Wingdings" panose="05000000000000000000" pitchFamily="2" charset="2"/>
              <a:buChar char="ü"/>
            </a:pPr>
            <a:r>
              <a:rPr lang="en-US" sz="1000" dirty="0"/>
              <a:t>Each AVF is responsible for forwarding traffic using its assigned virtual MAC.</a:t>
            </a:r>
          </a:p>
          <a:p>
            <a:pPr marL="171450" indent="-171450" algn="just">
              <a:buFont typeface="Wingdings" panose="05000000000000000000" pitchFamily="2" charset="2"/>
              <a:buChar char="ü"/>
            </a:pPr>
            <a:r>
              <a:rPr lang="en-US" sz="1000" dirty="0"/>
              <a:t>When a host sends an ARP request for the gateway IP:</a:t>
            </a:r>
          </a:p>
          <a:p>
            <a:pPr marL="171450" indent="-171450" algn="just">
              <a:buFont typeface="Wingdings" panose="05000000000000000000" pitchFamily="2" charset="2"/>
              <a:buChar char="ü"/>
            </a:pPr>
            <a:r>
              <a:rPr lang="en-US" sz="1000" dirty="0"/>
              <a:t>The AVG replies with a different virtual MAC address each time (using round-robin, or another load-balancing method).</a:t>
            </a:r>
          </a:p>
          <a:p>
            <a:pPr algn="just"/>
            <a:endParaRPr lang="en-US" sz="1000" dirty="0"/>
          </a:p>
          <a:p>
            <a:pPr algn="just"/>
            <a:endParaRPr lang="en-US" sz="1000" dirty="0"/>
          </a:p>
          <a:p>
            <a:pPr algn="just"/>
            <a:r>
              <a:rPr lang="en-US" sz="1000" dirty="0">
                <a:highlight>
                  <a:srgbClr val="00FFFF"/>
                </a:highlight>
              </a:rPr>
              <a:t>Example:</a:t>
            </a:r>
          </a:p>
          <a:p>
            <a:pPr algn="just"/>
            <a:r>
              <a:rPr lang="en-US" sz="1000" dirty="0"/>
              <a:t>1st host gets MAC of Router1 (AVF1).</a:t>
            </a:r>
          </a:p>
          <a:p>
            <a:pPr algn="just"/>
            <a:r>
              <a:rPr lang="en-US" sz="1000" dirty="0"/>
              <a:t>2nd host gets MAC of Router2 (AVF2).</a:t>
            </a:r>
          </a:p>
          <a:p>
            <a:pPr algn="just"/>
            <a:r>
              <a:rPr lang="en-US" sz="1000" dirty="0"/>
              <a:t>3rd host gets MAC of Router3 (AVF3).</a:t>
            </a:r>
          </a:p>
          <a:p>
            <a:pPr algn="just"/>
            <a:r>
              <a:rPr lang="en-US" sz="1000" dirty="0"/>
              <a:t>Then it repeats.</a:t>
            </a:r>
          </a:p>
          <a:p>
            <a:pPr algn="just"/>
            <a:endParaRPr lang="en-US" sz="1000" dirty="0"/>
          </a:p>
          <a:p>
            <a:pPr algn="just"/>
            <a:endParaRPr lang="en-US" sz="1000" dirty="0"/>
          </a:p>
          <a:p>
            <a:pPr algn="just"/>
            <a:endParaRPr lang="en-US" sz="1000" dirty="0"/>
          </a:p>
          <a:p>
            <a:pPr algn="just"/>
            <a:r>
              <a:rPr lang="en-US" sz="1000" b="1" dirty="0"/>
              <a:t>This way, all routers can forward traffic at the same time, achieving load sharing + redundancy.</a:t>
            </a:r>
          </a:p>
          <a:p>
            <a:pPr algn="just"/>
            <a:r>
              <a:rPr lang="en-US" sz="1000" b="1" dirty="0"/>
              <a:t>👉 In short: AVG = manager, AVFs = workers, and hosts are distributed across them in a round-robin fashion.</a:t>
            </a:r>
          </a:p>
          <a:p>
            <a:pPr algn="just"/>
            <a:endParaRPr lang="en-US" sz="1100" dirty="0"/>
          </a:p>
        </p:txBody>
      </p:sp>
    </p:spTree>
    <p:extLst>
      <p:ext uri="{BB962C8B-B14F-4D97-AF65-F5344CB8AC3E}">
        <p14:creationId xmlns:p14="http://schemas.microsoft.com/office/powerpoint/2010/main" val="41159579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A63E-9B5B-6835-14D4-2F8B32DE253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00D5142-767D-F8A9-7F70-642C227257F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408ED27-3340-FF50-4595-43802F091ED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57474B4-451A-E06B-59D1-7BDBB225B1DD}"/>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5C489B3-1157-57F3-C7DA-C6592B4163E5}"/>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ECCE836A-CEA4-7A55-224B-12767B7F2D8F}"/>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7C183B0E-CB17-D95E-1C1A-AD9F91A31071}"/>
              </a:ext>
            </a:extLst>
          </p:cNvPr>
          <p:cNvSpPr txBox="1"/>
          <p:nvPr/>
        </p:nvSpPr>
        <p:spPr>
          <a:xfrm>
            <a:off x="62439" y="845248"/>
            <a:ext cx="9019121" cy="4124206"/>
          </a:xfrm>
          <a:prstGeom prst="rect">
            <a:avLst/>
          </a:prstGeom>
          <a:noFill/>
        </p:spPr>
        <p:txBody>
          <a:bodyPr wrap="square">
            <a:spAutoFit/>
          </a:bodyPr>
          <a:lstStyle/>
          <a:p>
            <a:r>
              <a:rPr lang="en-US" b="1" dirty="0">
                <a:highlight>
                  <a:srgbClr val="00FFFF"/>
                </a:highlight>
              </a:rPr>
              <a:t>Working of GLBP:</a:t>
            </a:r>
          </a:p>
          <a:p>
            <a:endParaRPr lang="en-US" sz="2000" dirty="0">
              <a:highlight>
                <a:srgbClr val="00FFFF"/>
              </a:highlight>
            </a:endParaRPr>
          </a:p>
          <a:p>
            <a:pPr algn="just"/>
            <a:r>
              <a:rPr lang="en-US" sz="1000" b="1" dirty="0"/>
              <a:t>👍 By default in GLBP, the load is equally distributed</a:t>
            </a:r>
          </a:p>
          <a:p>
            <a:pPr algn="just"/>
            <a:endParaRPr lang="en-US" sz="1100" dirty="0">
              <a:highlight>
                <a:srgbClr val="00FFFF"/>
              </a:highlight>
            </a:endParaRPr>
          </a:p>
          <a:p>
            <a:pPr algn="just"/>
            <a:r>
              <a:rPr lang="en-US" sz="1600" dirty="0">
                <a:highlight>
                  <a:srgbClr val="00FFFF"/>
                </a:highlight>
              </a:rPr>
              <a:t>GLBP Load-Balancing Methods:</a:t>
            </a:r>
          </a:p>
          <a:p>
            <a:pPr algn="just"/>
            <a:endParaRPr lang="en-US" sz="1100" dirty="0"/>
          </a:p>
          <a:p>
            <a:pPr algn="just"/>
            <a:r>
              <a:rPr lang="en-US" sz="1000" dirty="0">
                <a:highlight>
                  <a:srgbClr val="00FF00"/>
                </a:highlight>
              </a:rPr>
              <a:t>Round-Robin (default):</a:t>
            </a:r>
          </a:p>
          <a:p>
            <a:pPr marL="171450" indent="-171450" algn="just">
              <a:buFont typeface="Wingdings" panose="05000000000000000000" pitchFamily="2" charset="2"/>
              <a:buChar char="ü"/>
            </a:pPr>
            <a:r>
              <a:rPr lang="en-US" sz="1000" dirty="0"/>
              <a:t>AVG replies to each ARP request with the MAC of the next AVF in sequence.</a:t>
            </a:r>
          </a:p>
          <a:p>
            <a:pPr marL="171450" indent="-171450" algn="just">
              <a:buFont typeface="Wingdings" panose="05000000000000000000" pitchFamily="2" charset="2"/>
              <a:buChar char="ü"/>
            </a:pPr>
            <a:r>
              <a:rPr lang="en-US" sz="1000" dirty="0"/>
              <a:t>Hosts are evenly distributed across all AVFs.</a:t>
            </a:r>
          </a:p>
          <a:p>
            <a:pPr marL="171450" indent="-171450" algn="just">
              <a:buFont typeface="Wingdings" panose="05000000000000000000" pitchFamily="2" charset="2"/>
              <a:buChar char="ü"/>
            </a:pPr>
            <a:r>
              <a:rPr lang="en-US" sz="1000" dirty="0"/>
              <a:t>This is the one that gives equal distribution.</a:t>
            </a:r>
          </a:p>
          <a:p>
            <a:pPr algn="just"/>
            <a:endParaRPr lang="en-US" sz="1000" dirty="0"/>
          </a:p>
          <a:p>
            <a:pPr algn="just"/>
            <a:endParaRPr lang="en-US" sz="1000" dirty="0"/>
          </a:p>
          <a:p>
            <a:pPr algn="just"/>
            <a:r>
              <a:rPr lang="en-US" sz="1000" dirty="0">
                <a:highlight>
                  <a:srgbClr val="00FF00"/>
                </a:highlight>
              </a:rPr>
              <a:t>Weighted:</a:t>
            </a:r>
          </a:p>
          <a:p>
            <a:pPr marL="171450" indent="-171450" algn="just">
              <a:buFont typeface="Wingdings" panose="05000000000000000000" pitchFamily="2" charset="2"/>
              <a:buChar char="ü"/>
            </a:pPr>
            <a:r>
              <a:rPr lang="en-US" sz="1000" dirty="0"/>
              <a:t>AVG assigns MAC addresses based on a weight value you configure.</a:t>
            </a:r>
          </a:p>
          <a:p>
            <a:pPr marL="171450" indent="-171450" algn="just">
              <a:buFont typeface="Wingdings" panose="05000000000000000000" pitchFamily="2" charset="2"/>
              <a:buChar char="ü"/>
            </a:pPr>
            <a:r>
              <a:rPr lang="en-US" sz="1000" dirty="0"/>
              <a:t>Example: Router1 has weight 100, Router2 has weight 50 → Router1 will get twice as many hosts as Router2.</a:t>
            </a:r>
          </a:p>
          <a:p>
            <a:pPr algn="just"/>
            <a:endParaRPr lang="en-US" sz="1000" dirty="0"/>
          </a:p>
          <a:p>
            <a:pPr algn="just"/>
            <a:endParaRPr lang="en-US" sz="1000" dirty="0"/>
          </a:p>
          <a:p>
            <a:pPr algn="just"/>
            <a:r>
              <a:rPr lang="en-US" sz="1000" dirty="0">
                <a:highlight>
                  <a:srgbClr val="00FF00"/>
                </a:highlight>
              </a:rPr>
              <a:t>Host-Dependent:</a:t>
            </a:r>
          </a:p>
          <a:p>
            <a:pPr marL="171450" indent="-171450" algn="just">
              <a:buFont typeface="Wingdings" panose="05000000000000000000" pitchFamily="2" charset="2"/>
              <a:buChar char="ü"/>
            </a:pPr>
            <a:r>
              <a:rPr lang="en-US" sz="1000" dirty="0"/>
              <a:t>A host always gets the same AVF (same MAC) for every ARP request.</a:t>
            </a:r>
          </a:p>
          <a:p>
            <a:pPr marL="171450" indent="-171450" algn="just">
              <a:buFont typeface="Wingdings" panose="05000000000000000000" pitchFamily="2" charset="2"/>
              <a:buChar char="ü"/>
            </a:pPr>
            <a:r>
              <a:rPr lang="en-US" sz="1000" dirty="0"/>
              <a:t>Good for consistency, but doesn’t guarantee equal load distribution.</a:t>
            </a:r>
          </a:p>
          <a:p>
            <a:pPr algn="just"/>
            <a:endParaRPr lang="en-US" sz="1000" dirty="0"/>
          </a:p>
          <a:p>
            <a:pPr algn="just"/>
            <a:endParaRPr lang="en-US" sz="1000" dirty="0"/>
          </a:p>
          <a:p>
            <a:pPr algn="just"/>
            <a:r>
              <a:rPr lang="en-US" sz="1000" dirty="0">
                <a:highlight>
                  <a:srgbClr val="00FFFF"/>
                </a:highlight>
              </a:rPr>
              <a:t>Finally: </a:t>
            </a:r>
          </a:p>
          <a:p>
            <a:pPr algn="just"/>
            <a:r>
              <a:rPr lang="en-US" sz="1000" dirty="0"/>
              <a:t>Yes, with default (round-robin), load is equally distributed across routers. If you want unequal distribution, you use weighted mode.</a:t>
            </a:r>
          </a:p>
        </p:txBody>
      </p:sp>
    </p:spTree>
    <p:extLst>
      <p:ext uri="{BB962C8B-B14F-4D97-AF65-F5344CB8AC3E}">
        <p14:creationId xmlns:p14="http://schemas.microsoft.com/office/powerpoint/2010/main" val="12013547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09EC-5DE5-5845-12C4-7C3738556F1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C1AB548-BEFD-76B1-A04C-515AD41F165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B505CB5-A36A-AF8E-EC8B-FD7F8D7B3AE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3B16E4F-5889-6C7F-1D6E-75BAC23D0377}"/>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F7A05CA-573A-5624-924A-D387B1745C8A}"/>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87F454D8-25A5-F231-CC99-6D114FFD7589}"/>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76E4C0CC-2066-6B49-06FF-1B6FCDA5EA48}"/>
              </a:ext>
            </a:extLst>
          </p:cNvPr>
          <p:cNvSpPr txBox="1"/>
          <p:nvPr/>
        </p:nvSpPr>
        <p:spPr>
          <a:xfrm>
            <a:off x="62439" y="845248"/>
            <a:ext cx="9019121" cy="2816156"/>
          </a:xfrm>
          <a:prstGeom prst="rect">
            <a:avLst/>
          </a:prstGeom>
          <a:noFill/>
        </p:spPr>
        <p:txBody>
          <a:bodyPr wrap="square">
            <a:spAutoFit/>
          </a:bodyPr>
          <a:lstStyle/>
          <a:p>
            <a:r>
              <a:rPr lang="en-US" b="1" dirty="0">
                <a:highlight>
                  <a:srgbClr val="00FFFF"/>
                </a:highlight>
              </a:rPr>
              <a:t>Can AVG forward the traffic ?</a:t>
            </a:r>
          </a:p>
          <a:p>
            <a:endParaRPr lang="en-US" sz="2000" dirty="0">
              <a:highlight>
                <a:srgbClr val="00FFFF"/>
              </a:highlight>
            </a:endParaRPr>
          </a:p>
          <a:p>
            <a:pPr marL="171450" indent="-171450" algn="just">
              <a:buFont typeface="Wingdings" panose="05000000000000000000" pitchFamily="2" charset="2"/>
              <a:buChar char="ü"/>
            </a:pPr>
            <a:r>
              <a:rPr lang="en-US" sz="1100" dirty="0"/>
              <a:t>Yes</a:t>
            </a:r>
          </a:p>
          <a:p>
            <a:pPr marL="171450" indent="-171450" algn="just">
              <a:buFont typeface="Wingdings" panose="05000000000000000000" pitchFamily="2" charset="2"/>
              <a:buChar char="ü"/>
            </a:pPr>
            <a:r>
              <a:rPr lang="en-US" sz="1100" dirty="0"/>
              <a:t>The AVG is also one of the routers in the GLBP group.</a:t>
            </a:r>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So, while it plays the manager role (assigning virtual MACs), it can also be an Active Virtual Forwarder (AVF) at the same time.</a:t>
            </a:r>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The AVG does not forward all group traffic.</a:t>
            </a:r>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It only forwards the share of traffic that belongs to it (like any other AVF).</a:t>
            </a:r>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endParaRPr lang="en-US" sz="1100" dirty="0"/>
          </a:p>
          <a:p>
            <a:pPr algn="just"/>
            <a:r>
              <a:rPr lang="en-US" sz="1100" dirty="0"/>
              <a:t>👉 Every ARP request for the Virtual IP goes to the AVG, and the AVG decides which AVF’s MAC to reply with.</a:t>
            </a:r>
          </a:p>
        </p:txBody>
      </p:sp>
    </p:spTree>
    <p:extLst>
      <p:ext uri="{BB962C8B-B14F-4D97-AF65-F5344CB8AC3E}">
        <p14:creationId xmlns:p14="http://schemas.microsoft.com/office/powerpoint/2010/main" val="9240490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E276B-46B1-21D5-0598-AC7FF37956C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D22346A-3392-3FC9-573A-313DFEB5A3C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A713B52-583E-B347-B811-00809B60FE10}"/>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36BA91B-E332-56A0-393C-132EAAFF143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6A62C3C-092F-5842-7804-47C587048DCB}"/>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08A2168E-70D5-8E72-3CA0-8C4AC0C5193A}"/>
              </a:ext>
            </a:extLst>
          </p:cNvPr>
          <p:cNvSpPr txBox="1"/>
          <p:nvPr/>
        </p:nvSpPr>
        <p:spPr>
          <a:xfrm>
            <a:off x="257351" y="935611"/>
            <a:ext cx="7752115" cy="523220"/>
          </a:xfrm>
          <a:prstGeom prst="rect">
            <a:avLst/>
          </a:prstGeom>
          <a:noFill/>
        </p:spPr>
        <p:txBody>
          <a:bodyPr wrap="square">
            <a:spAutoFit/>
          </a:bodyPr>
          <a:lstStyle/>
          <a:p>
            <a:endParaRPr lang="en-US" dirty="0"/>
          </a:p>
          <a:p>
            <a:endParaRPr lang="en-US" dirty="0"/>
          </a:p>
        </p:txBody>
      </p:sp>
      <p:sp>
        <p:nvSpPr>
          <p:cNvPr id="5" name="TextBox 4">
            <a:extLst>
              <a:ext uri="{FF2B5EF4-FFF2-40B4-BE49-F238E27FC236}">
                <a16:creationId xmlns:a16="http://schemas.microsoft.com/office/drawing/2014/main" id="{0AE9B939-4420-9D62-8948-89346499CDE6}"/>
              </a:ext>
            </a:extLst>
          </p:cNvPr>
          <p:cNvSpPr txBox="1"/>
          <p:nvPr/>
        </p:nvSpPr>
        <p:spPr>
          <a:xfrm>
            <a:off x="62439" y="761785"/>
            <a:ext cx="9019121" cy="4355038"/>
          </a:xfrm>
          <a:prstGeom prst="rect">
            <a:avLst/>
          </a:prstGeom>
          <a:noFill/>
        </p:spPr>
        <p:txBody>
          <a:bodyPr wrap="square">
            <a:spAutoFit/>
          </a:bodyPr>
          <a:lstStyle/>
          <a:p>
            <a:r>
              <a:rPr lang="en-US" b="1" dirty="0">
                <a:highlight>
                  <a:srgbClr val="00FFFF"/>
                </a:highlight>
              </a:rPr>
              <a:t>GLBP (Gateway Load Balancing Protocol)</a:t>
            </a:r>
          </a:p>
          <a:p>
            <a:endParaRPr lang="en-US" sz="2000" dirty="0">
              <a:highlight>
                <a:srgbClr val="00FFFF"/>
              </a:highlight>
            </a:endParaRPr>
          </a:p>
          <a:p>
            <a:pPr algn="just"/>
            <a:r>
              <a:rPr lang="en-US" sz="1200" b="1" dirty="0">
                <a:highlight>
                  <a:srgbClr val="00FFFF"/>
                </a:highlight>
              </a:rPr>
              <a:t>Example :</a:t>
            </a:r>
          </a:p>
          <a:p>
            <a:pPr algn="just"/>
            <a:endParaRPr lang="en-US" sz="1100" dirty="0"/>
          </a:p>
          <a:p>
            <a:pPr algn="just"/>
            <a:r>
              <a:rPr lang="en-US" sz="1100" dirty="0">
                <a:highlight>
                  <a:srgbClr val="00FF00"/>
                </a:highlight>
              </a:rPr>
              <a:t>Routers:</a:t>
            </a:r>
          </a:p>
          <a:p>
            <a:pPr marL="171450" indent="-171450" algn="just">
              <a:buFont typeface="Wingdings" panose="05000000000000000000" pitchFamily="2" charset="2"/>
              <a:buChar char="ü"/>
            </a:pPr>
            <a:r>
              <a:rPr lang="en-US" sz="1100" dirty="0"/>
              <a:t>R1 → elected as AVG + also an AVF</a:t>
            </a:r>
          </a:p>
          <a:p>
            <a:pPr marL="171450" indent="-171450" algn="just">
              <a:buFont typeface="Wingdings" panose="05000000000000000000" pitchFamily="2" charset="2"/>
              <a:buChar char="ü"/>
            </a:pPr>
            <a:r>
              <a:rPr lang="en-US" sz="1100" dirty="0"/>
              <a:t>R2 → only an AVF</a:t>
            </a:r>
          </a:p>
          <a:p>
            <a:pPr algn="just"/>
            <a:endParaRPr lang="en-US" sz="1100" dirty="0"/>
          </a:p>
          <a:p>
            <a:pPr algn="just"/>
            <a:r>
              <a:rPr lang="en-US" sz="1100" dirty="0"/>
              <a:t>Virtual IP (VIP): 192.168.1.10 (used by both PCs as default gateway)</a:t>
            </a:r>
          </a:p>
          <a:p>
            <a:pPr algn="just"/>
            <a:endParaRPr lang="en-US" sz="1100" dirty="0"/>
          </a:p>
          <a:p>
            <a:pPr algn="just"/>
            <a:r>
              <a:rPr lang="en-US" sz="1100" dirty="0">
                <a:highlight>
                  <a:srgbClr val="00FF00"/>
                </a:highlight>
              </a:rPr>
              <a:t>Virtual MACs:</a:t>
            </a:r>
          </a:p>
          <a:p>
            <a:pPr marL="171450" indent="-171450" algn="just">
              <a:buFont typeface="Wingdings" panose="05000000000000000000" pitchFamily="2" charset="2"/>
              <a:buChar char="ü"/>
            </a:pPr>
            <a:r>
              <a:rPr lang="en-US" sz="1100" dirty="0"/>
              <a:t>R1 gets MAC1</a:t>
            </a:r>
          </a:p>
          <a:p>
            <a:pPr marL="171450" indent="-171450" algn="just">
              <a:buFont typeface="Wingdings" panose="05000000000000000000" pitchFamily="2" charset="2"/>
              <a:buChar char="ü"/>
            </a:pPr>
            <a:r>
              <a:rPr lang="en-US" sz="1100" dirty="0"/>
              <a:t>R2 gets MAC2</a:t>
            </a:r>
          </a:p>
          <a:p>
            <a:pPr algn="just"/>
            <a:endParaRPr lang="en-US" sz="1100" dirty="0"/>
          </a:p>
          <a:p>
            <a:pPr algn="just"/>
            <a:r>
              <a:rPr lang="en-US" sz="1100" dirty="0">
                <a:highlight>
                  <a:srgbClr val="00FF00"/>
                </a:highlight>
              </a:rPr>
              <a:t>PC1 asks: “Who has IP 192.168.1.10?” (ARP request).</a:t>
            </a:r>
          </a:p>
          <a:p>
            <a:pPr marL="171450" indent="-171450" algn="just">
              <a:buFont typeface="Wingdings" panose="05000000000000000000" pitchFamily="2" charset="2"/>
              <a:buChar char="ü"/>
            </a:pPr>
            <a:r>
              <a:rPr lang="en-US" sz="1100" dirty="0"/>
              <a:t>AVG (R1) replies with MAC1.</a:t>
            </a:r>
          </a:p>
          <a:p>
            <a:pPr marL="171450" indent="-171450" algn="just">
              <a:buFont typeface="Wingdings" panose="05000000000000000000" pitchFamily="2" charset="2"/>
              <a:buChar char="ü"/>
            </a:pPr>
            <a:r>
              <a:rPr lang="en-US" sz="1100" dirty="0"/>
              <a:t>Now PC1 sends all its traffic directly to R1 (AVF).</a:t>
            </a:r>
          </a:p>
          <a:p>
            <a:pPr algn="just"/>
            <a:endParaRPr lang="en-US" sz="1100" dirty="0"/>
          </a:p>
          <a:p>
            <a:pPr algn="just"/>
            <a:r>
              <a:rPr lang="en-US" sz="1100" dirty="0">
                <a:highlight>
                  <a:srgbClr val="00FF00"/>
                </a:highlight>
              </a:rPr>
              <a:t>PC2 asks: “Who has IP 192.168.1.10?” (ARP request).</a:t>
            </a:r>
          </a:p>
          <a:p>
            <a:pPr marL="171450" indent="-171450" algn="just">
              <a:buFont typeface="Wingdings" panose="05000000000000000000" pitchFamily="2" charset="2"/>
              <a:buChar char="ü"/>
            </a:pPr>
            <a:r>
              <a:rPr lang="en-US" sz="1100" dirty="0"/>
              <a:t>AVG (R1) replies with MAC2.</a:t>
            </a:r>
          </a:p>
          <a:p>
            <a:pPr marL="171450" indent="-171450" algn="just">
              <a:buFont typeface="Wingdings" panose="05000000000000000000" pitchFamily="2" charset="2"/>
              <a:buChar char="ü"/>
            </a:pPr>
            <a:r>
              <a:rPr lang="en-US" sz="1100" dirty="0"/>
              <a:t>Now PC2 sends all its traffic directly to R2 (AVF).</a:t>
            </a:r>
          </a:p>
          <a:p>
            <a:pPr algn="just"/>
            <a:endParaRPr lang="en-US" sz="1100" dirty="0"/>
          </a:p>
          <a:p>
            <a:pPr algn="just"/>
            <a:endParaRPr lang="en-US" sz="1100" dirty="0"/>
          </a:p>
          <a:p>
            <a:pPr algn="just"/>
            <a:r>
              <a:rPr lang="en-US" sz="1100" dirty="0">
                <a:highlight>
                  <a:srgbClr val="00FFFF"/>
                </a:highlight>
              </a:rPr>
              <a:t>Both PCs are using the same gateway IP (192.168.1.10), but their traffic goes to different routers, balancing the load.</a:t>
            </a:r>
          </a:p>
        </p:txBody>
      </p:sp>
    </p:spTree>
    <p:extLst>
      <p:ext uri="{BB962C8B-B14F-4D97-AF65-F5344CB8AC3E}">
        <p14:creationId xmlns:p14="http://schemas.microsoft.com/office/powerpoint/2010/main" val="9117016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6185E-B687-8488-17AE-E07C5EAC1B9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EB2C34E-A5A0-205B-4FA9-9D33AA24127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6111DD5-9697-70A4-10D4-EB82305EF25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216B97F-499F-419C-72F0-59A5223B0F1A}"/>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38F078D-32B5-4777-346B-4D886A2EBBE8}"/>
              </a:ext>
            </a:extLst>
          </p:cNvPr>
          <p:cNvSpPr txBox="1"/>
          <p:nvPr/>
        </p:nvSpPr>
        <p:spPr>
          <a:xfrm>
            <a:off x="381819" y="110395"/>
            <a:ext cx="8521763" cy="707886"/>
          </a:xfrm>
          <a:prstGeom prst="rect">
            <a:avLst/>
          </a:prstGeom>
          <a:noFill/>
        </p:spPr>
        <p:txBody>
          <a:bodyPr wrap="square">
            <a:spAutoFit/>
          </a:bodyPr>
          <a:lstStyle/>
          <a:p>
            <a:pPr algn="ctr"/>
            <a:r>
              <a:rPr lang="en-US" sz="2000" b="1" dirty="0">
                <a:solidFill>
                  <a:srgbClr val="403CCF"/>
                </a:solidFill>
                <a:latin typeface="Libre Baskerville" pitchFamily="34" charset="0"/>
              </a:rPr>
              <a:t>Describe the function of First hope redundancy protocol</a:t>
            </a:r>
          </a:p>
          <a:p>
            <a:pPr algn="ctr"/>
            <a:r>
              <a:rPr lang="en-US" sz="2000" b="1" dirty="0">
                <a:solidFill>
                  <a:srgbClr val="403CCF"/>
                </a:solidFill>
                <a:latin typeface="Libre Baskerville" pitchFamily="34" charset="0"/>
              </a:rPr>
              <a:t>( HSRP, VRRP, GLBP)</a:t>
            </a:r>
          </a:p>
        </p:txBody>
      </p:sp>
      <p:sp>
        <p:nvSpPr>
          <p:cNvPr id="6" name="TextBox 5">
            <a:extLst>
              <a:ext uri="{FF2B5EF4-FFF2-40B4-BE49-F238E27FC236}">
                <a16:creationId xmlns:a16="http://schemas.microsoft.com/office/drawing/2014/main" id="{F8136764-E48F-336C-A9DA-E0AA6ABBBB6A}"/>
              </a:ext>
            </a:extLst>
          </p:cNvPr>
          <p:cNvSpPr txBox="1"/>
          <p:nvPr/>
        </p:nvSpPr>
        <p:spPr>
          <a:xfrm>
            <a:off x="265819" y="1350478"/>
            <a:ext cx="3518782" cy="3416320"/>
          </a:xfrm>
          <a:prstGeom prst="rect">
            <a:avLst/>
          </a:prstGeom>
          <a:noFill/>
        </p:spPr>
        <p:txBody>
          <a:bodyPr wrap="square">
            <a:spAutoFit/>
          </a:bodyPr>
          <a:lstStyle/>
          <a:p>
            <a:r>
              <a:rPr lang="en-US" sz="900" dirty="0"/>
              <a:t>R1:</a:t>
            </a:r>
          </a:p>
          <a:p>
            <a:r>
              <a:rPr lang="en-US" sz="900" dirty="0"/>
              <a:t>Router&gt; enable</a:t>
            </a:r>
          </a:p>
          <a:p>
            <a:r>
              <a:rPr lang="en-US" sz="900" dirty="0"/>
              <a:t>Router# configure terminal</a:t>
            </a:r>
          </a:p>
          <a:p>
            <a:endParaRPr lang="en-US" sz="900" dirty="0"/>
          </a:p>
          <a:p>
            <a:r>
              <a:rPr lang="en-US" sz="900" dirty="0"/>
              <a:t>Router(config)# interface FastEthernet0/0</a:t>
            </a:r>
          </a:p>
          <a:p>
            <a:r>
              <a:rPr lang="en-US" sz="900" dirty="0"/>
              <a:t>Router(config-if)# ip   address   192.168.1.1   255.255.255.0</a:t>
            </a:r>
          </a:p>
          <a:p>
            <a:r>
              <a:rPr lang="en-US" sz="900" dirty="0"/>
              <a:t>Router(config-if)# no   shutdown</a:t>
            </a:r>
          </a:p>
          <a:p>
            <a:r>
              <a:rPr lang="en-US" sz="900" dirty="0"/>
              <a:t>Router(config-if)# exit</a:t>
            </a:r>
          </a:p>
          <a:p>
            <a:endParaRPr lang="en-US" sz="900" dirty="0"/>
          </a:p>
          <a:p>
            <a:r>
              <a:rPr lang="en-US" sz="900" dirty="0"/>
              <a:t>Router(config)# interface   Serial0/0</a:t>
            </a:r>
          </a:p>
          <a:p>
            <a:r>
              <a:rPr lang="en-US" sz="900" dirty="0"/>
              <a:t>Router(config-if)# ip   address   1.1.1.1   255.0.0.0</a:t>
            </a:r>
          </a:p>
          <a:p>
            <a:r>
              <a:rPr lang="en-US" sz="900" dirty="0"/>
              <a:t>Router(config-if)# no   shutdown</a:t>
            </a:r>
          </a:p>
          <a:p>
            <a:r>
              <a:rPr lang="en-US" sz="900" dirty="0"/>
              <a:t>Router(config-if)# exit</a:t>
            </a:r>
          </a:p>
          <a:p>
            <a:endParaRPr lang="en-US" sz="900" dirty="0"/>
          </a:p>
          <a:p>
            <a:r>
              <a:rPr lang="en-US" sz="900" dirty="0"/>
              <a:t>Router(config)# router   ospf   30</a:t>
            </a:r>
          </a:p>
          <a:p>
            <a:r>
              <a:rPr lang="en-US" sz="900" dirty="0"/>
              <a:t>Router(config-router)# network  192.168.1.0    0.0.0.255   area  0</a:t>
            </a:r>
          </a:p>
          <a:p>
            <a:r>
              <a:rPr lang="en-US" sz="900" dirty="0"/>
              <a:t>Router(config-router)# network   1.0.0.0    0.255.255.255   area  0</a:t>
            </a:r>
          </a:p>
          <a:p>
            <a:r>
              <a:rPr lang="en-US" sz="900" dirty="0"/>
              <a:t>Router(config-router)# exit</a:t>
            </a:r>
          </a:p>
          <a:p>
            <a:endParaRPr lang="en-US" sz="900" dirty="0"/>
          </a:p>
          <a:p>
            <a:r>
              <a:rPr lang="en-US" sz="900" dirty="0"/>
              <a:t>Router(config)# interface FastEthernet0/0</a:t>
            </a:r>
          </a:p>
          <a:p>
            <a:r>
              <a:rPr lang="en-US" sz="900" dirty="0"/>
              <a:t>Router(config-if)# gblp  1  ip   192.168.1.10</a:t>
            </a:r>
          </a:p>
          <a:p>
            <a:r>
              <a:rPr lang="en-US" sz="900" dirty="0"/>
              <a:t>Router(config-if)# gblp  1  priority  120</a:t>
            </a:r>
          </a:p>
          <a:p>
            <a:r>
              <a:rPr lang="en-US" sz="900" dirty="0"/>
              <a:t>Router(config-if)# gblp  1  preempt</a:t>
            </a:r>
          </a:p>
          <a:p>
            <a:r>
              <a:rPr lang="en-US" sz="900" dirty="0"/>
              <a:t>Router(config-if)# exit</a:t>
            </a:r>
          </a:p>
        </p:txBody>
      </p:sp>
      <p:sp>
        <p:nvSpPr>
          <p:cNvPr id="5" name="TextBox 4">
            <a:extLst>
              <a:ext uri="{FF2B5EF4-FFF2-40B4-BE49-F238E27FC236}">
                <a16:creationId xmlns:a16="http://schemas.microsoft.com/office/drawing/2014/main" id="{7E09AE3C-D645-C69D-5311-656E0A427649}"/>
              </a:ext>
            </a:extLst>
          </p:cNvPr>
          <p:cNvSpPr txBox="1"/>
          <p:nvPr/>
        </p:nvSpPr>
        <p:spPr>
          <a:xfrm>
            <a:off x="62439" y="761785"/>
            <a:ext cx="9019121" cy="307777"/>
          </a:xfrm>
          <a:prstGeom prst="rect">
            <a:avLst/>
          </a:prstGeom>
          <a:noFill/>
        </p:spPr>
        <p:txBody>
          <a:bodyPr wrap="square">
            <a:spAutoFit/>
          </a:bodyPr>
          <a:lstStyle/>
          <a:p>
            <a:r>
              <a:rPr lang="en-US" b="1" dirty="0">
                <a:highlight>
                  <a:srgbClr val="00FFFF"/>
                </a:highlight>
              </a:rPr>
              <a:t>Configuration of GLBP (Gateway load balancing protocol) :  follow the above network diagram</a:t>
            </a:r>
          </a:p>
        </p:txBody>
      </p:sp>
      <p:sp>
        <p:nvSpPr>
          <p:cNvPr id="7" name="TextBox 6">
            <a:extLst>
              <a:ext uri="{FF2B5EF4-FFF2-40B4-BE49-F238E27FC236}">
                <a16:creationId xmlns:a16="http://schemas.microsoft.com/office/drawing/2014/main" id="{4596069C-E159-D9FF-923E-8C43C405325F}"/>
              </a:ext>
            </a:extLst>
          </p:cNvPr>
          <p:cNvSpPr txBox="1"/>
          <p:nvPr/>
        </p:nvSpPr>
        <p:spPr>
          <a:xfrm>
            <a:off x="4075881" y="1399378"/>
            <a:ext cx="4572000" cy="3277820"/>
          </a:xfrm>
          <a:prstGeom prst="rect">
            <a:avLst/>
          </a:prstGeom>
          <a:noFill/>
        </p:spPr>
        <p:txBody>
          <a:bodyPr wrap="square">
            <a:spAutoFit/>
          </a:bodyPr>
          <a:lstStyle/>
          <a:p>
            <a:r>
              <a:rPr lang="en-US" sz="900" dirty="0"/>
              <a:t>R2:</a:t>
            </a:r>
          </a:p>
          <a:p>
            <a:r>
              <a:rPr lang="en-US" sz="900" dirty="0"/>
              <a:t>Router&gt; enable</a:t>
            </a:r>
          </a:p>
          <a:p>
            <a:r>
              <a:rPr lang="en-US" sz="900" dirty="0"/>
              <a:t>Router# configure terminal</a:t>
            </a:r>
          </a:p>
          <a:p>
            <a:endParaRPr lang="en-US" sz="900" dirty="0"/>
          </a:p>
          <a:p>
            <a:r>
              <a:rPr lang="en-US" sz="900" dirty="0"/>
              <a:t>Router(config)# interface FastEthernet0/0</a:t>
            </a:r>
          </a:p>
          <a:p>
            <a:r>
              <a:rPr lang="en-US" sz="900" dirty="0"/>
              <a:t>Router(config-if)# ip   address   192.168.1.2   255.255.255.0</a:t>
            </a:r>
          </a:p>
          <a:p>
            <a:r>
              <a:rPr lang="en-US" sz="900" dirty="0"/>
              <a:t>Router(config-if)# no   shutdown</a:t>
            </a:r>
          </a:p>
          <a:p>
            <a:r>
              <a:rPr lang="en-US" sz="900" dirty="0"/>
              <a:t>Router(config-if)# exit</a:t>
            </a:r>
          </a:p>
          <a:p>
            <a:endParaRPr lang="en-US" sz="900" dirty="0"/>
          </a:p>
          <a:p>
            <a:r>
              <a:rPr lang="en-US" sz="900" dirty="0"/>
              <a:t>Router(config)# interface   Serial0/0</a:t>
            </a:r>
          </a:p>
          <a:p>
            <a:r>
              <a:rPr lang="en-US" sz="900" dirty="0"/>
              <a:t>Router(config-if)# ip   address   2.1.1.1   255.0.0.0</a:t>
            </a:r>
          </a:p>
          <a:p>
            <a:r>
              <a:rPr lang="en-US" sz="900" dirty="0"/>
              <a:t>Router(config-if)# exit</a:t>
            </a:r>
          </a:p>
          <a:p>
            <a:endParaRPr lang="en-US" sz="900" dirty="0"/>
          </a:p>
          <a:p>
            <a:endParaRPr lang="en-US" sz="900" dirty="0"/>
          </a:p>
          <a:p>
            <a:r>
              <a:rPr lang="en-US" sz="900" dirty="0"/>
              <a:t>Router(config)# router   ospf   30</a:t>
            </a:r>
          </a:p>
          <a:p>
            <a:r>
              <a:rPr lang="en-US" sz="900" dirty="0"/>
              <a:t>Router(config-router)# network 192.168.1.0   0.0.0.255   area  0</a:t>
            </a:r>
          </a:p>
          <a:p>
            <a:r>
              <a:rPr lang="en-US" sz="900" dirty="0"/>
              <a:t>Router(config-router)# network 2.0.0.0   0.255.255.255  area  0</a:t>
            </a:r>
          </a:p>
          <a:p>
            <a:r>
              <a:rPr lang="en-US" sz="900" dirty="0"/>
              <a:t>Router(config-router)# exit</a:t>
            </a:r>
          </a:p>
          <a:p>
            <a:endParaRPr lang="en-US" sz="900" dirty="0"/>
          </a:p>
          <a:p>
            <a:r>
              <a:rPr lang="en-US" sz="900" dirty="0"/>
              <a:t>Router(config)# interface FastEthernet0/0</a:t>
            </a:r>
          </a:p>
          <a:p>
            <a:r>
              <a:rPr lang="en-US" sz="900" dirty="0"/>
              <a:t>Router(config-if)# gblp  1  ip   192.168.1.10</a:t>
            </a:r>
          </a:p>
          <a:p>
            <a:r>
              <a:rPr lang="en-US" sz="900" dirty="0"/>
              <a:t>Router(config-if)# gblp  1  preempt</a:t>
            </a:r>
          </a:p>
          <a:p>
            <a:r>
              <a:rPr lang="en-US" sz="900" dirty="0"/>
              <a:t>Router(config-if)# exit</a:t>
            </a:r>
          </a:p>
        </p:txBody>
      </p:sp>
      <p:sp>
        <p:nvSpPr>
          <p:cNvPr id="8" name="TextBox 7">
            <a:extLst>
              <a:ext uri="{FF2B5EF4-FFF2-40B4-BE49-F238E27FC236}">
                <a16:creationId xmlns:a16="http://schemas.microsoft.com/office/drawing/2014/main" id="{C0C39EC5-D25B-1F89-0AE9-CD9A5AD5CEA7}"/>
              </a:ext>
            </a:extLst>
          </p:cNvPr>
          <p:cNvSpPr txBox="1"/>
          <p:nvPr/>
        </p:nvSpPr>
        <p:spPr>
          <a:xfrm>
            <a:off x="2963333" y="4677198"/>
            <a:ext cx="45720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cs typeface="Arial"/>
                <a:sym typeface="Arial"/>
              </a:rPr>
              <a:t>Result: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cs typeface="Arial"/>
                <a:sym typeface="Arial"/>
              </a:rPr>
              <a:t>Router# show </a:t>
            </a:r>
            <a:r>
              <a:rPr lang="en-US" sz="1000" dirty="0" err="1">
                <a:highlight>
                  <a:srgbClr val="00FF00"/>
                </a:highlight>
              </a:rPr>
              <a:t>glbp</a:t>
            </a:r>
            <a:r>
              <a:rPr lang="en-US" sz="1000">
                <a:highlight>
                  <a:srgbClr val="00FF00"/>
                </a:highlight>
              </a:rPr>
              <a:t> </a:t>
            </a:r>
            <a:r>
              <a:rPr kumimoji="0" lang="en-US" sz="1000" b="0" i="0" u="none" strike="noStrike" kern="0" cap="none" spc="0" normalizeH="0" baseline="0" noProof="0">
                <a:ln>
                  <a:noFill/>
                </a:ln>
                <a:solidFill>
                  <a:srgbClr val="000000"/>
                </a:solidFill>
                <a:effectLst/>
                <a:highlight>
                  <a:srgbClr val="00FF00"/>
                </a:highlight>
                <a:uLnTx/>
                <a:uFillTx/>
                <a:latin typeface="Arial"/>
                <a:cs typeface="Arial"/>
                <a:sym typeface="Arial"/>
              </a:rPr>
              <a:t> </a:t>
            </a:r>
            <a:r>
              <a:rPr kumimoji="0" lang="en-US" sz="1000" b="0" i="0" u="none" strike="noStrike" kern="0" cap="none" spc="0" normalizeH="0" baseline="0" noProof="0" dirty="0">
                <a:ln>
                  <a:noFill/>
                </a:ln>
                <a:solidFill>
                  <a:srgbClr val="000000"/>
                </a:solidFill>
                <a:effectLst/>
                <a:highlight>
                  <a:srgbClr val="00FF00"/>
                </a:highlight>
                <a:uLnTx/>
                <a:uFillTx/>
                <a:latin typeface="Arial"/>
                <a:cs typeface="Arial"/>
                <a:sym typeface="Arial"/>
              </a:rPr>
              <a:t>brief</a:t>
            </a:r>
          </a:p>
        </p:txBody>
      </p:sp>
    </p:spTree>
    <p:extLst>
      <p:ext uri="{BB962C8B-B14F-4D97-AF65-F5344CB8AC3E}">
        <p14:creationId xmlns:p14="http://schemas.microsoft.com/office/powerpoint/2010/main" val="3686644007"/>
      </p:ext>
    </p:extLst>
  </p:cSld>
  <p:clrMapOvr>
    <a:masterClrMapping/>
  </p:clrMapOvr>
</p:sld>
</file>

<file path=ppt/theme/theme1.xml><?xml version="1.0" encoding="utf-8"?>
<a:theme xmlns:a="http://schemas.openxmlformats.org/drawingml/2006/main" name="Computer Networking Project Proposal by Slidesgo">
  <a:themeElements>
    <a:clrScheme name="Simple Light">
      <a:dk1>
        <a:srgbClr val="FFFFFF"/>
      </a:dk1>
      <a:lt1>
        <a:srgbClr val="000000"/>
      </a:lt1>
      <a:dk2>
        <a:srgbClr val="171717"/>
      </a:dk2>
      <a:lt2>
        <a:srgbClr val="434343"/>
      </a:lt2>
      <a:accent1>
        <a:srgbClr val="CCCCCC"/>
      </a:accent1>
      <a:accent2>
        <a:srgbClr val="11C7D7"/>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6307</TotalTime>
  <Words>8930</Words>
  <Application>Microsoft Office PowerPoint</Application>
  <PresentationFormat>On-screen Show (16:9)</PresentationFormat>
  <Paragraphs>1637</Paragraphs>
  <Slides>70</Slides>
  <Notes>66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Doppio One</vt:lpstr>
      <vt:lpstr>Encode Sans</vt:lpstr>
      <vt:lpstr>Wingdings</vt:lpstr>
      <vt:lpstr>Georama</vt:lpstr>
      <vt:lpstr>Encode Sans Condensed</vt:lpstr>
      <vt:lpstr>Libre Baskerville</vt:lpstr>
      <vt:lpstr>Arial</vt:lpstr>
      <vt:lpstr>Red Hat Display</vt:lpstr>
      <vt:lpstr>Computer Networking Project Proposal by Slidesgo</vt:lpstr>
      <vt:lpstr>Computer Networking CCNA 200-301</vt:lpstr>
      <vt:lpstr>Course Outline</vt:lpstr>
      <vt:lpstr>Course Outline</vt:lpstr>
      <vt:lpstr>Course Outline</vt:lpstr>
      <vt:lpstr>Module 4 IP Services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 CCNA 200-301</dc:title>
  <cp:lastModifiedBy>Sana Ullah</cp:lastModifiedBy>
  <cp:revision>775</cp:revision>
  <cp:lastPrinted>2025-09-01T05:33:34Z</cp:lastPrinted>
  <dcterms:modified xsi:type="dcterms:W3CDTF">2025-11-04T15:15:21Z</dcterms:modified>
</cp:coreProperties>
</file>