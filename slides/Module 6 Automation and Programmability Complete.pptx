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4"/>
  </p:notesMasterIdLst>
  <p:sldIdLst>
    <p:sldId id="256" r:id="rId2"/>
    <p:sldId id="299" r:id="rId3"/>
    <p:sldId id="300" r:id="rId4"/>
    <p:sldId id="301" r:id="rId5"/>
    <p:sldId id="329" r:id="rId6"/>
    <p:sldId id="403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418" r:id="rId29"/>
    <p:sldId id="402" r:id="rId30"/>
    <p:sldId id="419" r:id="rId31"/>
    <p:sldId id="400" r:id="rId32"/>
    <p:sldId id="401" r:id="rId33"/>
  </p:sldIdLst>
  <p:sldSz cx="9144000" cy="5143500" type="screen16x9"/>
  <p:notesSz cx="6858000" cy="9144000"/>
  <p:embeddedFontLst>
    <p:embeddedFont>
      <p:font typeface="DM Sans" pitchFamily="2" charset="0"/>
      <p:regular r:id="rId35"/>
      <p:bold r:id="rId36"/>
      <p:italic r:id="rId37"/>
      <p:boldItalic r:id="rId38"/>
    </p:embeddedFont>
    <p:embeddedFont>
      <p:font typeface="DM Sans Semi Bold" panose="020B0604020202020204" charset="0"/>
      <p:regular r:id="rId39"/>
    </p:embeddedFont>
    <p:embeddedFont>
      <p:font typeface="Doppio One" panose="020B0604020202020204" charset="0"/>
      <p:regular r:id="rId40"/>
    </p:embeddedFont>
    <p:embeddedFont>
      <p:font typeface="Encode Sans" panose="020B0604020202020204" charset="0"/>
      <p:regular r:id="rId41"/>
      <p:bold r:id="rId42"/>
    </p:embeddedFont>
    <p:embeddedFont>
      <p:font typeface="Encode Sans Condensed" panose="020B0604020202020204" charset="0"/>
      <p:regular r:id="rId43"/>
      <p:bold r:id="rId44"/>
    </p:embeddedFont>
    <p:embeddedFont>
      <p:font typeface="Georama" panose="020B0604020202020204" charset="0"/>
      <p:regular r:id="rId45"/>
      <p:bold r:id="rId46"/>
      <p:italic r:id="rId47"/>
      <p:boldItalic r:id="rId48"/>
    </p:embeddedFont>
    <p:embeddedFont>
      <p:font typeface="Libre Baskerville" panose="02000000000000000000" pitchFamily="2" charset="0"/>
      <p:regular r:id="rId49"/>
      <p:bold r:id="rId50"/>
      <p: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a Ullah" initials="SU" lastIdx="1" clrIdx="0">
    <p:extLst>
      <p:ext uri="{19B8F6BF-5375-455C-9EA6-DF929625EA0E}">
        <p15:presenceInfo xmlns:p15="http://schemas.microsoft.com/office/powerpoint/2012/main" userId="472a63953c55904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343FFC-C285-48B6-A5F1-531E15585DCF}">
  <a:tblStyle styleId="{17343FFC-C285-48B6-A5F1-531E15585D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A1F22B5-B5E0-49D3-970D-E05F3AAD8E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502afc7aa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502afc7aa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737D-BC4C-1259-059A-B152E5A2B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23A52-4809-A05D-55ED-7308C153E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C5E75-56AD-7E72-4AFB-F6B4DC2C8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725B8-0098-998D-FF0A-9443D879A0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436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B154C-D31D-9E93-A6FC-35033A19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007B9-650C-DE47-C147-2CD2B79A9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9E1FB-15F8-CB3F-401E-20D8D12A9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0E4D9-CB5D-C85E-6286-955050FA3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869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D4794-4C3A-38A4-385D-0FD1F24D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1CB94-56E7-4F1C-3012-2A0EE3B15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F52AD-C046-2E3D-A6FB-3AD5D3019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52C79-7AC0-E53F-C886-4B26A64E5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875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C154-6CE5-AF65-89FA-CC1B4DCF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4047B-4538-20AF-8900-57ADCF19C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4807A-8182-24DE-43D3-99708E6E8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C742A-CD0F-D56B-67B5-CC0FCB8E0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04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l="3955" t="33705" r="57710" b="5922"/>
          <a:stretch/>
        </p:blipFill>
        <p:spPr>
          <a:xfrm>
            <a:off x="0" y="2133600"/>
            <a:ext cx="3505200" cy="310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28000"/>
          </a:blip>
          <a:srcRect l="40405" t="33702" r="30010" b="6752"/>
          <a:stretch/>
        </p:blipFill>
        <p:spPr>
          <a:xfrm>
            <a:off x="6438900" y="2176200"/>
            <a:ext cx="2705098" cy="30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73525" y="2562750"/>
            <a:ext cx="6196800" cy="1512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200">
                <a:latin typeface="Doppio One"/>
                <a:ea typeface="Doppio One"/>
                <a:cs typeface="Doppio One"/>
                <a:sym typeface="Doppi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473675" y="4056400"/>
            <a:ext cx="6196800" cy="528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Encode Sans Condensed"/>
                <a:ea typeface="Encode Sans Condensed"/>
                <a:cs typeface="Encode Sans Condensed"/>
                <a:sym typeface="Encode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2176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 amt="28000"/>
          </a:blip>
          <a:srcRect l="-10" r="10"/>
          <a:stretch/>
        </p:blipFill>
        <p:spPr>
          <a:xfrm flipH="1">
            <a:off x="-975" y="-60220"/>
            <a:ext cx="9144000" cy="52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1388100" y="1275900"/>
            <a:ext cx="6367800" cy="259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>
            <a:spLocks noGrp="1"/>
          </p:cNvSpPr>
          <p:nvPr>
            <p:ph type="pic" idx="2"/>
          </p:nvPr>
        </p:nvSpPr>
        <p:spPr>
          <a:xfrm>
            <a:off x="-8500" y="0"/>
            <a:ext cx="9152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 amt="28000"/>
          </a:blip>
          <a:srcRect l="-10" r="10"/>
          <a:stretch/>
        </p:blipFill>
        <p:spPr>
          <a:xfrm rot="10800000">
            <a:off x="-975" y="-60220"/>
            <a:ext cx="9144000" cy="52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/>
          <p:nvPr/>
        </p:nvSpPr>
        <p:spPr>
          <a:xfrm>
            <a:off x="447750" y="381000"/>
            <a:ext cx="8248500" cy="4381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803400" y="1442900"/>
            <a:ext cx="3574800" cy="31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ama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2"/>
          </p:nvPr>
        </p:nvSpPr>
        <p:spPr>
          <a:xfrm>
            <a:off x="4765800" y="1442900"/>
            <a:ext cx="3574800" cy="31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ama"/>
              <a:buChar char="●"/>
              <a:defRPr sz="1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3"/>
          <p:cNvPicPr preferRelativeResize="0"/>
          <p:nvPr/>
        </p:nvPicPr>
        <p:blipFill rotWithShape="1">
          <a:blip r:embed="rId2">
            <a:alphaModFix amt="28000"/>
          </a:blip>
          <a:srcRect l="3953" r="60529"/>
          <a:stretch/>
        </p:blipFill>
        <p:spPr>
          <a:xfrm>
            <a:off x="0" y="0"/>
            <a:ext cx="32476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bg>
      <p:bgPr>
        <a:solidFill>
          <a:schemeClr val="lt2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4"/>
          <p:cNvPicPr preferRelativeResize="0"/>
          <p:nvPr/>
        </p:nvPicPr>
        <p:blipFill rotWithShape="1">
          <a:blip r:embed="rId2">
            <a:alphaModFix amt="28000"/>
          </a:blip>
          <a:srcRect l="43587" r="26256" b="-10"/>
          <a:stretch/>
        </p:blipFill>
        <p:spPr>
          <a:xfrm>
            <a:off x="6347800" y="0"/>
            <a:ext cx="2757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7_1_1">
    <p:bg>
      <p:bgPr>
        <a:solidFill>
          <a:schemeClr val="dk2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5"/>
          <p:cNvPicPr preferRelativeResize="0"/>
          <p:nvPr/>
        </p:nvPicPr>
        <p:blipFill rotWithShape="1">
          <a:blip r:embed="rId2">
            <a:alphaModFix amt="28000"/>
          </a:blip>
          <a:srcRect l="43587" r="26256" b="-10"/>
          <a:stretch/>
        </p:blipFill>
        <p:spPr>
          <a:xfrm flipH="1">
            <a:off x="-21813" y="0"/>
            <a:ext cx="27573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 rotWithShape="1">
          <a:blip r:embed="rId2">
            <a:alphaModFix amt="28000"/>
          </a:blip>
          <a:srcRect l="3954" r="60452"/>
          <a:stretch/>
        </p:blipFill>
        <p:spPr>
          <a:xfrm flipH="1">
            <a:off x="5889374" y="0"/>
            <a:ext cx="32546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4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90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23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885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74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637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92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694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485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70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ppio One"/>
              <a:buNone/>
              <a:defRPr sz="2800" b="1">
                <a:solidFill>
                  <a:schemeClr val="dk1"/>
                </a:solidFill>
                <a:latin typeface="Doppio One"/>
                <a:ea typeface="Doppio One"/>
                <a:cs typeface="Doppio One"/>
                <a:sym typeface="Doppio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 sz="1800"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6" r:id="rId3"/>
    <p:sldLayoutId id="2147483658" r:id="rId4"/>
    <p:sldLayoutId id="2147483664" r:id="rId5"/>
    <p:sldLayoutId id="2147483669" r:id="rId6"/>
    <p:sldLayoutId id="2147483670" r:id="rId7"/>
    <p:sldLayoutId id="2147483671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27000">
              <a:schemeClr val="dk2"/>
            </a:gs>
            <a:gs pos="100000">
              <a:schemeClr val="lt1"/>
            </a:gs>
          </a:gsLst>
          <a:lin ang="8100019" scaled="0"/>
        </a:gra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>
            <a:spLocks noGrp="1"/>
          </p:cNvSpPr>
          <p:nvPr>
            <p:ph type="ctrTitle"/>
          </p:nvPr>
        </p:nvSpPr>
        <p:spPr>
          <a:xfrm>
            <a:off x="1473525" y="2562750"/>
            <a:ext cx="6196800" cy="15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Computer Networking</a:t>
            </a:r>
            <a:r>
              <a:rPr lang="en" dirty="0"/>
              <a:t> </a:t>
            </a:r>
            <a:r>
              <a:rPr lang="en" b="1" dirty="0">
                <a:solidFill>
                  <a:schemeClr val="accent2"/>
                </a:solidFill>
              </a:rPr>
              <a:t>CCNA 200-301</a:t>
            </a:r>
            <a:endParaRPr b="1" dirty="0"/>
          </a:p>
        </p:txBody>
      </p:sp>
      <p:pic>
        <p:nvPicPr>
          <p:cNvPr id="173" name="Google Shape;173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40896" b="23395"/>
          <a:stretch/>
        </p:blipFill>
        <p:spPr>
          <a:xfrm>
            <a:off x="0" y="0"/>
            <a:ext cx="9144003" cy="2176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AD8B-9C89-45E6-9229-24F01EDE1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866" y="398317"/>
            <a:ext cx="7704000" cy="572700"/>
          </a:xfrm>
        </p:spPr>
        <p:txBody>
          <a:bodyPr/>
          <a:lstStyle/>
          <a:p>
            <a:r>
              <a:rPr lang="en-US" dirty="0"/>
              <a:t>Course Outline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795C4-3D8C-584A-7E90-CFF5EA56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08750"/>
            <a:ext cx="3574800" cy="3126000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/>
              <a:t>         </a:t>
            </a:r>
            <a:r>
              <a:rPr lang="en-US" b="1" u="sng" dirty="0"/>
              <a:t>Module 1 Network Fundamentals</a:t>
            </a:r>
          </a:p>
          <a:p>
            <a:pPr marL="139700" indent="0">
              <a:buNone/>
            </a:pPr>
            <a:endParaRPr lang="en-US" b="1" dirty="0"/>
          </a:p>
          <a:p>
            <a:pPr marL="139700" indent="0">
              <a:buNone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Explain Role and Function of Network Components : Routers, Switches, Firewall, IPs, WLC, AP, Endpoints, Servers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OSI Reference Model and TCP/ IP Model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IPv4 Addressing and Subnetting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IPv6 Addressing and IPv6 address Types</a:t>
            </a:r>
          </a:p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B6BE5-6ECB-F1EB-08BA-92F5BF3F34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49202" y="1008750"/>
            <a:ext cx="3574800" cy="3126000"/>
          </a:xfrm>
        </p:spPr>
        <p:txBody>
          <a:bodyPr/>
          <a:lstStyle/>
          <a:p>
            <a:pPr marL="139700" indent="0">
              <a:buNone/>
            </a:pPr>
            <a:r>
              <a:rPr lang="en-US" b="1" u="sng" dirty="0"/>
              <a:t>Module 2 Basic Configuration of Router and Lan Switching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Modes of Router</a:t>
            </a:r>
          </a:p>
          <a:p>
            <a:pPr>
              <a:buFont typeface="+mj-lt"/>
              <a:buAutoNum type="arabicPeriod"/>
            </a:pPr>
            <a:r>
              <a:rPr lang="en-US" dirty="0"/>
              <a:t>Basic Security of Router (Passwords) and Configuration of IP on Router</a:t>
            </a:r>
          </a:p>
          <a:p>
            <a:pPr>
              <a:buFont typeface="+mj-lt"/>
              <a:buAutoNum type="arabicPeriod"/>
            </a:pPr>
            <a:r>
              <a:rPr lang="en-US" dirty="0"/>
              <a:t>Point to Point connectivity of Routers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Configure and Verify Layer2 Discovery Protocols (CDP and LLDP)</a:t>
            </a:r>
          </a:p>
          <a:p>
            <a:pPr>
              <a:buFont typeface="+mj-lt"/>
              <a:buAutoNum type="arabicPeriod"/>
            </a:pPr>
            <a:r>
              <a:rPr lang="en-US" dirty="0"/>
              <a:t>Basic Operation of Switch (Collision Domain and Broadcast Domain)</a:t>
            </a:r>
          </a:p>
          <a:p>
            <a:pPr>
              <a:buFont typeface="+mj-lt"/>
              <a:buAutoNum type="arabicPeriod"/>
            </a:pPr>
            <a:r>
              <a:rPr lang="en-US" dirty="0"/>
              <a:t>Spanning-tree Protocol (PVST, RSTP), Port states and Port fast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Configure and Verify VLANS and Inter-switch Connectivity (Trunk ports, 802.Iq)</a:t>
            </a:r>
          </a:p>
          <a:p>
            <a:pPr>
              <a:buFont typeface="+mj-lt"/>
              <a:buAutoNum type="arabicPeriod"/>
            </a:pPr>
            <a:r>
              <a:rPr lang="en-US" dirty="0"/>
              <a:t>Ether-channel</a:t>
            </a:r>
          </a:p>
          <a:p>
            <a:pPr>
              <a:buFont typeface="+mj-lt"/>
              <a:buAutoNum type="arabicPeriod"/>
            </a:pPr>
            <a:r>
              <a:rPr lang="en-US" dirty="0"/>
              <a:t>Cisco Wireless Architecture and AP modes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Configuration of Wireless Lan Controller and AP Using GUI (WPA, WPA2, PSK)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2044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623FD-A352-CF20-8EA0-DB2B003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907DA-D133-76D8-1CC0-D7C36E682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u="sng" dirty="0"/>
              <a:t>Module 3 IP Routing</a:t>
            </a:r>
          </a:p>
          <a:p>
            <a:pPr marL="139700" indent="0">
              <a:buNone/>
            </a:pPr>
            <a:endParaRPr lang="en-US" b="1" u="sng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Static Routing with IPv4 and IPv6, floating static route and Default route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Configure and Verify Single area OSPF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DR and BDR election. Point to point, Concept of Router-ID</a:t>
            </a:r>
          </a:p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845EB-6CB3-C181-C3BC-1392C51E3DB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u="sng" dirty="0"/>
              <a:t>Module 4 IP Services</a:t>
            </a:r>
          </a:p>
          <a:p>
            <a:pPr marL="139700" indent="0">
              <a:buNone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NAT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Configure and Verify NTP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Describe DNS, SNMP, Syslog, QOS, Function of FTP and TFPF in network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Configuration of DHCP, telnet and SSH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Describe the function of First hop redundancy protocol (HSRP, VRRP, GLBP)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12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E969-00E8-7A11-69BD-BDDBC850D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FA2C1-3BF8-0943-2EEC-DF30B67DE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u="sng" dirty="0"/>
              <a:t>Module 5 Security Fundamentals</a:t>
            </a:r>
          </a:p>
          <a:p>
            <a:pPr marL="139700" indent="0">
              <a:buNone/>
            </a:pPr>
            <a:endParaRPr lang="en-US" b="1" u="sng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Configure and Verify Access control List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Describe VPN Technologies (Site-to-site VPN and Remote access VPN)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Describe Authentication, Authorization and Accounting (AAA)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Configure Port Security, DHCP Snooping and Dynamic ARP Inspection</a:t>
            </a:r>
          </a:p>
          <a:p>
            <a:endParaRPr lang="en-P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41281-3B19-5473-AF2C-C151D36D501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u="sng" dirty="0"/>
              <a:t>Module 6 Automation and Programmability</a:t>
            </a:r>
          </a:p>
          <a:p>
            <a:pPr marL="139700" indent="0">
              <a:buNone/>
            </a:pPr>
            <a:endParaRPr lang="en-US" b="1" u="sng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Explain how automation impacts network management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Compare traditional network with controller-based networking</a:t>
            </a:r>
          </a:p>
          <a:p>
            <a:pPr marL="368300" indent="-228600">
              <a:buFont typeface="+mj-lt"/>
              <a:buAutoNum type="arabicPeriod"/>
            </a:pPr>
            <a:endParaRPr lang="en-US" dirty="0"/>
          </a:p>
          <a:p>
            <a:pPr marL="368300" indent="-228600">
              <a:buFont typeface="+mj-lt"/>
              <a:buAutoNum type="arabicPeriod"/>
            </a:pPr>
            <a:r>
              <a:rPr lang="en-US" dirty="0"/>
              <a:t>Compare traditional campus device management with Cisco DNA Center enabled device Management.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81105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83BC-3DF6-3F58-625C-8848C10A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7" y="597425"/>
            <a:ext cx="7958333" cy="572700"/>
          </a:xfrm>
        </p:spPr>
        <p:txBody>
          <a:bodyPr/>
          <a:lstStyle/>
          <a:p>
            <a:r>
              <a:rPr lang="en-US" b="1" dirty="0"/>
              <a:t>Module 6 Automation and Programmability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5B719-97A5-6915-1D6C-F1BE14E70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1934" y="1248166"/>
            <a:ext cx="7502066" cy="3002101"/>
          </a:xfrm>
        </p:spPr>
        <p:txBody>
          <a:bodyPr/>
          <a:lstStyle/>
          <a:p>
            <a:pPr marL="368300" indent="-228600">
              <a:buFont typeface="+mj-lt"/>
              <a:buAutoNum type="arabicPeriod"/>
            </a:pPr>
            <a:r>
              <a:rPr lang="en-US" sz="1600" dirty="0"/>
              <a:t>Explain how automation impacts network management</a:t>
            </a:r>
          </a:p>
          <a:p>
            <a:pPr marL="368300" indent="-228600">
              <a:buFont typeface="+mj-lt"/>
              <a:buAutoNum type="arabicPeriod"/>
            </a:pPr>
            <a:endParaRPr lang="en-US" sz="1600" dirty="0"/>
          </a:p>
          <a:p>
            <a:pPr marL="368300" indent="-228600">
              <a:buFont typeface="+mj-lt"/>
              <a:buAutoNum type="arabicPeriod"/>
            </a:pPr>
            <a:r>
              <a:rPr lang="en-US" sz="1600" dirty="0"/>
              <a:t>Compare traditional network with controller-based networking</a:t>
            </a:r>
          </a:p>
          <a:p>
            <a:pPr marL="368300" indent="-228600">
              <a:buFont typeface="+mj-lt"/>
              <a:buAutoNum type="arabicPeriod"/>
            </a:pPr>
            <a:endParaRPr lang="en-US" sz="1600" dirty="0"/>
          </a:p>
          <a:p>
            <a:pPr marL="368300" indent="-228600">
              <a:buFont typeface="+mj-lt"/>
              <a:buAutoNum type="arabicPeriod"/>
            </a:pPr>
            <a:r>
              <a:rPr lang="en-US" sz="1600" dirty="0"/>
              <a:t>Compare traditional campus device management with Cisco DNA Center enabled device Management.</a:t>
            </a:r>
          </a:p>
          <a:p>
            <a:pPr marL="139700" indent="0">
              <a:buNone/>
            </a:pPr>
            <a:endParaRPr lang="en-US" sz="1600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96257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highlight>
                  <a:srgbClr val="00FFFF"/>
                </a:highlight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Automation Impacts Network Management</a:t>
            </a:r>
            <a:endParaRPr lang="en-US" sz="2781" dirty="0">
              <a:highlight>
                <a:srgbClr val="00FFFF"/>
              </a:highlight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3007594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Making it easier to set up and run internet systems in today’s world.</a:t>
            </a:r>
            <a:endParaRPr lang="en-US" sz="109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4775" y="491654"/>
            <a:ext cx="4743450" cy="867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06"/>
              </a:lnSpc>
            </a:pPr>
            <a:r>
              <a:rPr lang="en-US" sz="2719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Growing Complexity of Modern Networks</a:t>
            </a:r>
            <a:endParaRPr lang="en-US" sz="2719" dirty="0"/>
          </a:p>
        </p:txBody>
      </p:sp>
      <p:sp>
        <p:nvSpPr>
          <p:cNvPr id="4" name="Shape 1"/>
          <p:cNvSpPr/>
          <p:nvPr/>
        </p:nvSpPr>
        <p:spPr>
          <a:xfrm>
            <a:off x="3914775" y="1567235"/>
            <a:ext cx="2302297" cy="1914451"/>
          </a:xfrm>
          <a:prstGeom prst="roundRect">
            <a:avLst>
              <a:gd name="adj" fmla="val 6526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58320" y="1710779"/>
            <a:ext cx="2015208" cy="43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Multi-Environment Networks</a:t>
            </a:r>
            <a:endParaRPr lang="en-US" sz="1344" dirty="0"/>
          </a:p>
        </p:txBody>
      </p:sp>
      <p:sp>
        <p:nvSpPr>
          <p:cNvPr id="6" name="Text 3"/>
          <p:cNvSpPr/>
          <p:nvPr/>
        </p:nvSpPr>
        <p:spPr>
          <a:xfrm>
            <a:off x="4058320" y="2227883"/>
            <a:ext cx="2015208" cy="1110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Today’s networks connect many things , like cloud computers, smart devices, and virtual systems. which makes them very hard to manage..</a:t>
            </a:r>
            <a:endParaRPr lang="en-US" sz="1063" dirty="0"/>
          </a:p>
        </p:txBody>
      </p:sp>
      <p:sp>
        <p:nvSpPr>
          <p:cNvPr id="7" name="Shape 4"/>
          <p:cNvSpPr/>
          <p:nvPr/>
        </p:nvSpPr>
        <p:spPr>
          <a:xfrm>
            <a:off x="6355854" y="1567235"/>
            <a:ext cx="2302371" cy="1914451"/>
          </a:xfrm>
          <a:prstGeom prst="roundRect">
            <a:avLst>
              <a:gd name="adj" fmla="val 6526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9399" y="1710779"/>
            <a:ext cx="2015282" cy="43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Manual Operations Crisis</a:t>
            </a:r>
            <a:endParaRPr lang="en-US" sz="1344" dirty="0"/>
          </a:p>
        </p:txBody>
      </p:sp>
      <p:sp>
        <p:nvSpPr>
          <p:cNvPr id="9" name="Text 6"/>
          <p:cNvSpPr/>
          <p:nvPr/>
        </p:nvSpPr>
        <p:spPr>
          <a:xfrm>
            <a:off x="6499399" y="2227883"/>
            <a:ext cx="2015282" cy="88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 still make most network changes by hand (about 95%), which causes mistakes and slows things down.</a:t>
            </a:r>
            <a:endParaRPr lang="en-US" sz="1063" dirty="0"/>
          </a:p>
        </p:txBody>
      </p:sp>
      <p:sp>
        <p:nvSpPr>
          <p:cNvPr id="10" name="Shape 7"/>
          <p:cNvSpPr/>
          <p:nvPr/>
        </p:nvSpPr>
        <p:spPr>
          <a:xfrm>
            <a:off x="3914775" y="3620467"/>
            <a:ext cx="4743450" cy="1031379"/>
          </a:xfrm>
          <a:prstGeom prst="roundRect">
            <a:avLst>
              <a:gd name="adj" fmla="val 1211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58320" y="3764012"/>
            <a:ext cx="1804839" cy="216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b="1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Automation is a must</a:t>
            </a:r>
            <a:endParaRPr lang="en-US" sz="1344" dirty="0"/>
          </a:p>
        </p:txBody>
      </p:sp>
      <p:sp>
        <p:nvSpPr>
          <p:cNvPr id="12" name="Text 9"/>
          <p:cNvSpPr/>
          <p:nvPr/>
        </p:nvSpPr>
        <p:spPr>
          <a:xfrm>
            <a:off x="4058320" y="4064199"/>
            <a:ext cx="4456361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 is now very important because networks are growing fast and businesses keep changing.</a:t>
            </a:r>
            <a:endParaRPr lang="en-US" sz="106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38" y="288057"/>
            <a:ext cx="3770338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en-US" sz="2031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Is Network Automation?</a:t>
            </a:r>
            <a:endParaRPr lang="en-US" sz="2031" dirty="0"/>
          </a:p>
        </p:txBody>
      </p:sp>
      <p:sp>
        <p:nvSpPr>
          <p:cNvPr id="3" name="Text 1"/>
          <p:cNvSpPr/>
          <p:nvPr/>
        </p:nvSpPr>
        <p:spPr>
          <a:xfrm>
            <a:off x="366638" y="877268"/>
            <a:ext cx="1571402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1219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Definition &amp; Scope</a:t>
            </a:r>
            <a:endParaRPr lang="en-US" sz="1219" dirty="0"/>
          </a:p>
        </p:txBody>
      </p:sp>
      <p:sp>
        <p:nvSpPr>
          <p:cNvPr id="4" name="Text 2"/>
          <p:cNvSpPr/>
          <p:nvPr/>
        </p:nvSpPr>
        <p:spPr>
          <a:xfrm>
            <a:off x="366639" y="1178421"/>
            <a:ext cx="407759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</a:rPr>
              <a:t>Network automation uses software and scripts to automatically configure, manage, monitor, and troubleshoot network devices without human intervention.</a:t>
            </a:r>
          </a:p>
        </p:txBody>
      </p:sp>
      <p:sp>
        <p:nvSpPr>
          <p:cNvPr id="5" name="Text 3"/>
          <p:cNvSpPr/>
          <p:nvPr/>
        </p:nvSpPr>
        <p:spPr>
          <a:xfrm>
            <a:off x="366639" y="1607865"/>
            <a:ext cx="4077593" cy="167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13"/>
              </a:lnSpc>
            </a:pPr>
            <a:endParaRPr lang="en-US" sz="813" dirty="0"/>
          </a:p>
        </p:txBody>
      </p:sp>
      <p:sp>
        <p:nvSpPr>
          <p:cNvPr id="6" name="Text 4"/>
          <p:cNvSpPr/>
          <p:nvPr/>
        </p:nvSpPr>
        <p:spPr>
          <a:xfrm>
            <a:off x="366639" y="1869728"/>
            <a:ext cx="407759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050" b="1" dirty="0">
                <a:solidFill>
                  <a:srgbClr val="4A4A4A"/>
                </a:solidFill>
                <a:latin typeface="DM Sans" pitchFamily="34" charset="0"/>
              </a:rPr>
              <a:t>Automation: </a:t>
            </a:r>
            <a:r>
              <a:rPr lang="en-US" sz="1050" dirty="0">
                <a:solidFill>
                  <a:srgbClr val="4A4A4A"/>
                </a:solidFill>
                <a:latin typeface="DM Sans" pitchFamily="34" charset="0"/>
              </a:rPr>
              <a:t>Using technology to complete tasks faster and more efficiently, reducing manual effort and time.</a:t>
            </a:r>
          </a:p>
        </p:txBody>
      </p:sp>
      <p:sp>
        <p:nvSpPr>
          <p:cNvPr id="7" name="Text 5"/>
          <p:cNvSpPr/>
          <p:nvPr/>
        </p:nvSpPr>
        <p:spPr>
          <a:xfrm>
            <a:off x="366639" y="2299171"/>
            <a:ext cx="4077593" cy="167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13"/>
              </a:lnSpc>
            </a:pPr>
            <a:endParaRPr lang="en-US" sz="813" dirty="0"/>
          </a:p>
        </p:txBody>
      </p:sp>
      <p:sp>
        <p:nvSpPr>
          <p:cNvPr id="8" name="Text 6"/>
          <p:cNvSpPr/>
          <p:nvPr/>
        </p:nvSpPr>
        <p:spPr>
          <a:xfrm>
            <a:off x="366639" y="2561035"/>
            <a:ext cx="4077593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050" b="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automation platforms:</a:t>
            </a: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Tools like Cisco DNA Center, Ansible, Puppet, Chef, and Python help make work faster and easier on things like routers, switches, and firewalls.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32" y="890365"/>
            <a:ext cx="4077593" cy="40775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04532" y="5085755"/>
            <a:ext cx="4077593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81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 replaces repetitive manual tasks with centralized, consistent, and error-free processes even in big company networks.</a:t>
            </a:r>
            <a:endParaRPr lang="en-US" sz="81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37720" y="2231529"/>
            <a:ext cx="4510162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transformation from manual network management to automated operations represents one of the most significant shifts in IT infrastructure history."</a:t>
            </a:r>
            <a:endParaRPr lang="en-US" sz="1094" dirty="0"/>
          </a:p>
        </p:txBody>
      </p:sp>
      <p:sp>
        <p:nvSpPr>
          <p:cNvPr id="4" name="Shape 1"/>
          <p:cNvSpPr/>
          <p:nvPr/>
        </p:nvSpPr>
        <p:spPr>
          <a:xfrm>
            <a:off x="3925119" y="2072060"/>
            <a:ext cx="19050" cy="999381"/>
          </a:xfrm>
          <a:prstGeom prst="rect">
            <a:avLst/>
          </a:prstGeom>
          <a:solidFill>
            <a:srgbClr val="FFC7C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8208"/>
            <a:ext cx="61779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Benefits of Network Automation</a:t>
            </a:r>
            <a:endParaRPr lang="en-US" sz="2781" dirty="0"/>
          </a:p>
        </p:txBody>
      </p:sp>
      <p:sp>
        <p:nvSpPr>
          <p:cNvPr id="4" name="Text 1"/>
          <p:cNvSpPr/>
          <p:nvPr/>
        </p:nvSpPr>
        <p:spPr>
          <a:xfrm>
            <a:off x="496119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Cost Reduction</a:t>
            </a:r>
            <a:endParaRPr lang="en-US" sz="1375" dirty="0"/>
          </a:p>
        </p:txBody>
      </p:sp>
      <p:sp>
        <p:nvSpPr>
          <p:cNvPr id="5" name="Text 2"/>
          <p:cNvSpPr/>
          <p:nvPr/>
        </p:nvSpPr>
        <p:spPr>
          <a:xfrm>
            <a:off x="496119" y="2112764"/>
            <a:ext cx="3987254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Dramatically reduces operational expenses by minimizing manual labor requirements and eliminating costly human errors that can cause network outages.</a:t>
            </a:r>
            <a:endParaRPr lang="en-US" sz="1094" dirty="0"/>
          </a:p>
        </p:txBody>
      </p:sp>
      <p:sp>
        <p:nvSpPr>
          <p:cNvPr id="7" name="Text 3"/>
          <p:cNvSpPr/>
          <p:nvPr/>
        </p:nvSpPr>
        <p:spPr>
          <a:xfrm>
            <a:off x="4660553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Enhanced Reliability</a:t>
            </a:r>
            <a:endParaRPr lang="en-US" sz="1375" dirty="0"/>
          </a:p>
        </p:txBody>
      </p:sp>
      <p:sp>
        <p:nvSpPr>
          <p:cNvPr id="8" name="Text 4"/>
          <p:cNvSpPr/>
          <p:nvPr/>
        </p:nvSpPr>
        <p:spPr>
          <a:xfrm>
            <a:off x="4660552" y="2112764"/>
            <a:ext cx="3987329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Increases network uptime and stability by removing human mistakes from critical configuration and maintenance processes.</a:t>
            </a:r>
            <a:endParaRPr lang="en-US" sz="1094" dirty="0"/>
          </a:p>
        </p:txBody>
      </p:sp>
      <p:sp>
        <p:nvSpPr>
          <p:cNvPr id="10" name="Text 5"/>
          <p:cNvSpPr/>
          <p:nvPr/>
        </p:nvSpPr>
        <p:spPr>
          <a:xfrm>
            <a:off x="496119" y="3608264"/>
            <a:ext cx="21327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Accelerated Deployment</a:t>
            </a:r>
            <a:endParaRPr lang="en-US" sz="1375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Speeds up project completion with remote, simultaneous device configuration across multiple locations and network segments.</a:t>
            </a:r>
            <a:endParaRPr lang="en-US" sz="1094" dirty="0"/>
          </a:p>
        </p:txBody>
      </p:sp>
      <p:sp>
        <p:nvSpPr>
          <p:cNvPr id="13" name="Text 7"/>
          <p:cNvSpPr/>
          <p:nvPr/>
        </p:nvSpPr>
        <p:spPr>
          <a:xfrm>
            <a:off x="4660553" y="36082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Superior Control</a:t>
            </a:r>
            <a:endParaRPr lang="en-US" sz="1375" dirty="0"/>
          </a:p>
        </p:txBody>
      </p:sp>
      <p:sp>
        <p:nvSpPr>
          <p:cNvPr id="14" name="Text 8"/>
          <p:cNvSpPr/>
          <p:nvPr/>
        </p:nvSpPr>
        <p:spPr>
          <a:xfrm>
            <a:off x="4660552" y="3914775"/>
            <a:ext cx="3987329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Enhances network visibility and control with real-time monitoring, consistent policy enforcement, and centralized management capabilities.</a:t>
            </a:r>
            <a:endParaRPr lang="en-US" sz="109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758"/>
            <a:ext cx="803798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Impact: Automation Adoption Stats</a:t>
            </a:r>
            <a:endParaRPr lang="en-US" sz="2781" dirty="0"/>
          </a:p>
        </p:txBody>
      </p:sp>
      <p:sp>
        <p:nvSpPr>
          <p:cNvPr id="3" name="Text 1"/>
          <p:cNvSpPr/>
          <p:nvPr/>
        </p:nvSpPr>
        <p:spPr>
          <a:xfrm>
            <a:off x="923776" y="2113731"/>
            <a:ext cx="174367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1"/>
              </a:lnSpc>
            </a:pPr>
            <a:r>
              <a:rPr lang="en-US" sz="2781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85%</a:t>
            </a:r>
            <a:endParaRPr lang="en-US" sz="278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58" y="1227683"/>
            <a:ext cx="2126456" cy="2126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9638" y="35313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Tool Adoption</a:t>
            </a:r>
            <a:endParaRPr lang="en-US" sz="1375" dirty="0"/>
          </a:p>
        </p:txBody>
      </p:sp>
      <p:sp>
        <p:nvSpPr>
          <p:cNvPr id="6" name="Text 3"/>
          <p:cNvSpPr/>
          <p:nvPr/>
        </p:nvSpPr>
        <p:spPr>
          <a:xfrm>
            <a:off x="496119" y="383783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 using at least one network automation tool (Kentik Survey, 2019)</a:t>
            </a:r>
            <a:endParaRPr lang="en-US" sz="1094" dirty="0"/>
          </a:p>
        </p:txBody>
      </p:sp>
      <p:sp>
        <p:nvSpPr>
          <p:cNvPr id="7" name="Text 4"/>
          <p:cNvSpPr/>
          <p:nvPr/>
        </p:nvSpPr>
        <p:spPr>
          <a:xfrm>
            <a:off x="3700091" y="2113731"/>
            <a:ext cx="174367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1"/>
              </a:lnSpc>
            </a:pPr>
            <a:r>
              <a:rPr lang="en-US" sz="2781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53%</a:t>
            </a:r>
            <a:endParaRPr lang="en-US" sz="2781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772" y="1227683"/>
            <a:ext cx="2126456" cy="2126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60998" y="3531320"/>
            <a:ext cx="22220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Configuration Automation</a:t>
            </a:r>
            <a:endParaRPr lang="en-US" sz="1375" dirty="0"/>
          </a:p>
        </p:txBody>
      </p:sp>
      <p:sp>
        <p:nvSpPr>
          <p:cNvPr id="10" name="Text 6"/>
          <p:cNvSpPr/>
          <p:nvPr/>
        </p:nvSpPr>
        <p:spPr>
          <a:xfrm>
            <a:off x="3272434" y="383783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Organizations implementing automated configuration management</a:t>
            </a:r>
            <a:endParaRPr lang="en-US" sz="1094" dirty="0"/>
          </a:p>
        </p:txBody>
      </p:sp>
      <p:sp>
        <p:nvSpPr>
          <p:cNvPr id="11" name="Text 7"/>
          <p:cNvSpPr/>
          <p:nvPr/>
        </p:nvSpPr>
        <p:spPr>
          <a:xfrm>
            <a:off x="6476405" y="2113731"/>
            <a:ext cx="1743671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81"/>
              </a:lnSpc>
            </a:pPr>
            <a:r>
              <a:rPr lang="en-US" sz="2781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40%</a:t>
            </a:r>
            <a:endParaRPr lang="en-US" sz="2781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5086" y="1227683"/>
            <a:ext cx="2126456" cy="2126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62267" y="35313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Policy Management</a:t>
            </a:r>
            <a:endParaRPr lang="en-US" sz="1375" dirty="0"/>
          </a:p>
        </p:txBody>
      </p:sp>
      <p:sp>
        <p:nvSpPr>
          <p:cNvPr id="14" name="Text 9"/>
          <p:cNvSpPr/>
          <p:nvPr/>
        </p:nvSpPr>
        <p:spPr>
          <a:xfrm>
            <a:off x="6048747" y="383783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Companies using automated policy management systems</a:t>
            </a:r>
            <a:endParaRPr lang="en-US" sz="1094" dirty="0"/>
          </a:p>
        </p:txBody>
      </p:sp>
      <p:sp>
        <p:nvSpPr>
          <p:cNvPr id="15" name="Text 10"/>
          <p:cNvSpPr/>
          <p:nvPr/>
        </p:nvSpPr>
        <p:spPr>
          <a:xfrm>
            <a:off x="496119" y="445092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Automation in Action: Fault Detection &amp; Remediation</a:t>
            </a:r>
            <a:endParaRPr lang="en-US" sz="278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90972"/>
            <a:ext cx="708794" cy="10436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672" y="17327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Instant Detection</a:t>
            </a:r>
            <a:endParaRPr lang="en-US" sz="1375" dirty="0"/>
          </a:p>
        </p:txBody>
      </p:sp>
      <p:sp>
        <p:nvSpPr>
          <p:cNvPr id="5" name="Text 2"/>
          <p:cNvSpPr/>
          <p:nvPr/>
        </p:nvSpPr>
        <p:spPr>
          <a:xfrm>
            <a:off x="1346671" y="2039244"/>
            <a:ext cx="7301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monitoring systems continuously scan network infrastructure, detecting anomalies and issues in real-time with millisecond precision.</a:t>
            </a:r>
            <a:endParaRPr lang="en-US" sz="1094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634630"/>
            <a:ext cx="708794" cy="10436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672" y="27763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Intelligent Diagnosis</a:t>
            </a:r>
            <a:endParaRPr lang="en-US" sz="1375" dirty="0"/>
          </a:p>
        </p:txBody>
      </p:sp>
      <p:sp>
        <p:nvSpPr>
          <p:cNvPr id="8" name="Text 4"/>
          <p:cNvSpPr/>
          <p:nvPr/>
        </p:nvSpPr>
        <p:spPr>
          <a:xfrm>
            <a:off x="1346671" y="3082900"/>
            <a:ext cx="7301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analytics immediately analyze root causes, comparing patterns against historical data to pinpoint exact failure sources.</a:t>
            </a:r>
            <a:endParaRPr lang="en-US" sz="1094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678287"/>
            <a:ext cx="708794" cy="10436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46671" y="3820046"/>
            <a:ext cx="20818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Automated Remediation</a:t>
            </a:r>
            <a:endParaRPr lang="en-US" sz="1375" dirty="0"/>
          </a:p>
        </p:txBody>
      </p:sp>
      <p:sp>
        <p:nvSpPr>
          <p:cNvPr id="11" name="Text 6"/>
          <p:cNvSpPr/>
          <p:nvPr/>
        </p:nvSpPr>
        <p:spPr>
          <a:xfrm>
            <a:off x="1346671" y="4126558"/>
            <a:ext cx="7301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Self-healing systems execute predefined remediation policies, such as automatically restarting offline switches or rerouting traffic through alternative paths.</a:t>
            </a:r>
            <a:endParaRPr lang="en-US" sz="109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9478"/>
            <a:ext cx="68632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Changing Role of Network Engineers</a:t>
            </a:r>
            <a:endParaRPr lang="en-US" sz="2781" dirty="0"/>
          </a:p>
        </p:txBody>
      </p:sp>
      <p:sp>
        <p:nvSpPr>
          <p:cNvPr id="3" name="Text 1"/>
          <p:cNvSpPr/>
          <p:nvPr/>
        </p:nvSpPr>
        <p:spPr>
          <a:xfrm>
            <a:off x="496119" y="1266825"/>
            <a:ext cx="257487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1656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From Manual to Strategic</a:t>
            </a:r>
            <a:endParaRPr lang="en-US" sz="1656" dirty="0"/>
          </a:p>
        </p:txBody>
      </p:sp>
      <p:sp>
        <p:nvSpPr>
          <p:cNvPr id="4" name="Text 2"/>
          <p:cNvSpPr/>
          <p:nvPr/>
        </p:nvSpPr>
        <p:spPr>
          <a:xfrm>
            <a:off x="496119" y="1674391"/>
            <a:ext cx="475267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engineers no longer set up each device by hand. Now they create smart systems that can do the work automatically.</a:t>
            </a:r>
            <a:endParaRPr lang="en-US" sz="1094" dirty="0"/>
          </a:p>
        </p:txBody>
      </p:sp>
      <p:sp>
        <p:nvSpPr>
          <p:cNvPr id="5" name="Text 3"/>
          <p:cNvSpPr/>
          <p:nvPr/>
        </p:nvSpPr>
        <p:spPr>
          <a:xfrm>
            <a:off x="496119" y="2255565"/>
            <a:ext cx="475267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focus on new ideas, better security, and making sure the network helps the business grow.</a:t>
            </a:r>
            <a:endParaRPr lang="en-US" sz="1094" dirty="0"/>
          </a:p>
        </p:txBody>
      </p:sp>
      <p:sp>
        <p:nvSpPr>
          <p:cNvPr id="6" name="Text 4"/>
          <p:cNvSpPr/>
          <p:nvPr/>
        </p:nvSpPr>
        <p:spPr>
          <a:xfrm>
            <a:off x="496119" y="2836739"/>
            <a:ext cx="4752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7" name="Text 5"/>
          <p:cNvSpPr/>
          <p:nvPr/>
        </p:nvSpPr>
        <p:spPr>
          <a:xfrm>
            <a:off x="496119" y="32053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Essential New Skills:</a:t>
            </a:r>
            <a:endParaRPr lang="en-US" sz="1375" dirty="0"/>
          </a:p>
        </p:txBody>
      </p:sp>
      <p:sp>
        <p:nvSpPr>
          <p:cNvPr id="8" name="Text 6"/>
          <p:cNvSpPr/>
          <p:nvPr/>
        </p:nvSpPr>
        <p:spPr>
          <a:xfrm>
            <a:off x="496119" y="3568527"/>
            <a:ext cx="4752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and PowerShell scripting</a:t>
            </a:r>
            <a:endParaRPr lang="en-US" sz="1094" dirty="0"/>
          </a:p>
        </p:txBody>
      </p:sp>
      <p:sp>
        <p:nvSpPr>
          <p:cNvPr id="9" name="Text 7"/>
          <p:cNvSpPr/>
          <p:nvPr/>
        </p:nvSpPr>
        <p:spPr>
          <a:xfrm>
            <a:off x="496119" y="3844901"/>
            <a:ext cx="4752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AI-driven network analytics</a:t>
            </a:r>
            <a:endParaRPr lang="en-US" sz="1094" dirty="0"/>
          </a:p>
        </p:txBody>
      </p:sp>
      <p:sp>
        <p:nvSpPr>
          <p:cNvPr id="10" name="Text 8"/>
          <p:cNvSpPr/>
          <p:nvPr/>
        </p:nvSpPr>
        <p:spPr>
          <a:xfrm>
            <a:off x="496119" y="4121274"/>
            <a:ext cx="4752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Intent-based networking design</a:t>
            </a:r>
            <a:endParaRPr lang="en-US" sz="1094" dirty="0"/>
          </a:p>
        </p:txBody>
      </p:sp>
      <p:sp>
        <p:nvSpPr>
          <p:cNvPr id="11" name="Text 9"/>
          <p:cNvSpPr/>
          <p:nvPr/>
        </p:nvSpPr>
        <p:spPr>
          <a:xfrm>
            <a:off x="496119" y="4397649"/>
            <a:ext cx="475267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Cloud-native network architectures</a:t>
            </a:r>
            <a:endParaRPr lang="en-US" sz="1094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436" y="1284536"/>
            <a:ext cx="3053134" cy="30531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40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302" y="376535"/>
            <a:ext cx="4756398" cy="855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44"/>
              </a:lnSpc>
            </a:pPr>
            <a:r>
              <a:rPr lang="en-US" sz="2688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Future: AI and Intent-Based Networking</a:t>
            </a:r>
            <a:endParaRPr lang="en-US" sz="2688" dirty="0"/>
          </a:p>
        </p:txBody>
      </p:sp>
      <p:sp>
        <p:nvSpPr>
          <p:cNvPr id="4" name="Shape 1"/>
          <p:cNvSpPr/>
          <p:nvPr/>
        </p:nvSpPr>
        <p:spPr>
          <a:xfrm>
            <a:off x="633338" y="1437829"/>
            <a:ext cx="19050" cy="3329658"/>
          </a:xfrm>
          <a:prstGeom prst="roundRect">
            <a:avLst>
              <a:gd name="adj" fmla="val 647004"/>
            </a:avLst>
          </a:prstGeom>
          <a:solidFill>
            <a:srgbClr val="E5B2B7"/>
          </a:solidFill>
          <a:ln/>
        </p:spPr>
      </p:sp>
      <p:sp>
        <p:nvSpPr>
          <p:cNvPr id="5" name="Shape 2"/>
          <p:cNvSpPr/>
          <p:nvPr/>
        </p:nvSpPr>
        <p:spPr>
          <a:xfrm>
            <a:off x="768325" y="1582341"/>
            <a:ext cx="410840" cy="19050"/>
          </a:xfrm>
          <a:prstGeom prst="roundRect">
            <a:avLst>
              <a:gd name="adj" fmla="val 647004"/>
            </a:avLst>
          </a:prstGeom>
          <a:solidFill>
            <a:srgbClr val="E5B2B7"/>
          </a:solidFill>
          <a:ln/>
        </p:spPr>
      </p:sp>
      <p:sp>
        <p:nvSpPr>
          <p:cNvPr id="6" name="Shape 3"/>
          <p:cNvSpPr/>
          <p:nvPr/>
        </p:nvSpPr>
        <p:spPr>
          <a:xfrm>
            <a:off x="479302" y="1437829"/>
            <a:ext cx="308074" cy="308074"/>
          </a:xfrm>
          <a:prstGeom prst="roundRect">
            <a:avLst>
              <a:gd name="adj" fmla="val 40008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0647" y="1463501"/>
            <a:ext cx="205383" cy="256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94"/>
              </a:lnSpc>
            </a:pPr>
            <a:r>
              <a:rPr lang="en-US" sz="159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594" dirty="0"/>
          </a:p>
        </p:txBody>
      </p:sp>
      <p:sp>
        <p:nvSpPr>
          <p:cNvPr id="8" name="Text 5"/>
          <p:cNvSpPr/>
          <p:nvPr/>
        </p:nvSpPr>
        <p:spPr>
          <a:xfrm>
            <a:off x="1318096" y="1484858"/>
            <a:ext cx="1711821" cy="213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Predictive AI</a:t>
            </a:r>
            <a:endParaRPr lang="en-US" sz="1344" dirty="0"/>
          </a:p>
        </p:txBody>
      </p:sp>
      <p:sp>
        <p:nvSpPr>
          <p:cNvPr id="9" name="Text 6"/>
          <p:cNvSpPr/>
          <p:nvPr/>
        </p:nvSpPr>
        <p:spPr>
          <a:xfrm>
            <a:off x="1318096" y="1780952"/>
            <a:ext cx="391760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automation predicts network issues before they occur, optimizing performance through machine learning algorithms.</a:t>
            </a:r>
            <a:endParaRPr lang="en-US" sz="1063" dirty="0"/>
          </a:p>
        </p:txBody>
      </p:sp>
      <p:sp>
        <p:nvSpPr>
          <p:cNvPr id="10" name="Shape 7"/>
          <p:cNvSpPr/>
          <p:nvPr/>
        </p:nvSpPr>
        <p:spPr>
          <a:xfrm>
            <a:off x="768325" y="2856533"/>
            <a:ext cx="410840" cy="19050"/>
          </a:xfrm>
          <a:prstGeom prst="roundRect">
            <a:avLst>
              <a:gd name="adj" fmla="val 647004"/>
            </a:avLst>
          </a:prstGeom>
          <a:solidFill>
            <a:srgbClr val="E5B2B7"/>
          </a:solidFill>
          <a:ln/>
        </p:spPr>
      </p:sp>
      <p:sp>
        <p:nvSpPr>
          <p:cNvPr id="11" name="Shape 8"/>
          <p:cNvSpPr/>
          <p:nvPr/>
        </p:nvSpPr>
        <p:spPr>
          <a:xfrm>
            <a:off x="479302" y="2712021"/>
            <a:ext cx="308074" cy="308074"/>
          </a:xfrm>
          <a:prstGeom prst="roundRect">
            <a:avLst>
              <a:gd name="adj" fmla="val 40008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0647" y="2737693"/>
            <a:ext cx="205383" cy="256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94"/>
              </a:lnSpc>
            </a:pPr>
            <a:r>
              <a:rPr lang="en-US" sz="159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594" dirty="0"/>
          </a:p>
        </p:txBody>
      </p:sp>
      <p:sp>
        <p:nvSpPr>
          <p:cNvPr id="13" name="Text 10"/>
          <p:cNvSpPr/>
          <p:nvPr/>
        </p:nvSpPr>
        <p:spPr>
          <a:xfrm>
            <a:off x="1318096" y="2759050"/>
            <a:ext cx="1921074" cy="213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Intent-Based Networks</a:t>
            </a:r>
            <a:endParaRPr lang="en-US" sz="1344" dirty="0"/>
          </a:p>
        </p:txBody>
      </p:sp>
      <p:sp>
        <p:nvSpPr>
          <p:cNvPr id="14" name="Text 11"/>
          <p:cNvSpPr/>
          <p:nvPr/>
        </p:nvSpPr>
        <p:spPr>
          <a:xfrm>
            <a:off x="1318096" y="3055144"/>
            <a:ext cx="391760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Networks that use business goals and policies to dynamically adjust behavior, automatically adapting to changing requirements.</a:t>
            </a:r>
            <a:endParaRPr lang="en-US" sz="1063" dirty="0"/>
          </a:p>
        </p:txBody>
      </p:sp>
      <p:sp>
        <p:nvSpPr>
          <p:cNvPr id="15" name="Shape 12"/>
          <p:cNvSpPr/>
          <p:nvPr/>
        </p:nvSpPr>
        <p:spPr>
          <a:xfrm>
            <a:off x="768325" y="4130724"/>
            <a:ext cx="410840" cy="19050"/>
          </a:xfrm>
          <a:prstGeom prst="roundRect">
            <a:avLst>
              <a:gd name="adj" fmla="val 647004"/>
            </a:avLst>
          </a:prstGeom>
          <a:solidFill>
            <a:srgbClr val="E5B2B7"/>
          </a:solidFill>
          <a:ln/>
        </p:spPr>
      </p:sp>
      <p:sp>
        <p:nvSpPr>
          <p:cNvPr id="16" name="Shape 13"/>
          <p:cNvSpPr/>
          <p:nvPr/>
        </p:nvSpPr>
        <p:spPr>
          <a:xfrm>
            <a:off x="479302" y="3986213"/>
            <a:ext cx="308074" cy="308074"/>
          </a:xfrm>
          <a:prstGeom prst="roundRect">
            <a:avLst>
              <a:gd name="adj" fmla="val 40008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0647" y="4011886"/>
            <a:ext cx="205383" cy="256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94"/>
              </a:lnSpc>
            </a:pPr>
            <a:r>
              <a:rPr lang="en-US" sz="159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594" dirty="0"/>
          </a:p>
        </p:txBody>
      </p:sp>
      <p:sp>
        <p:nvSpPr>
          <p:cNvPr id="18" name="Text 15"/>
          <p:cNvSpPr/>
          <p:nvPr/>
        </p:nvSpPr>
        <p:spPr>
          <a:xfrm>
            <a:off x="1318096" y="4033243"/>
            <a:ext cx="1711821" cy="213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2026 Outlook</a:t>
            </a:r>
            <a:endParaRPr lang="en-US" sz="1344" dirty="0"/>
          </a:p>
        </p:txBody>
      </p:sp>
      <p:sp>
        <p:nvSpPr>
          <p:cNvPr id="19" name="Text 16"/>
          <p:cNvSpPr/>
          <p:nvPr/>
        </p:nvSpPr>
        <p:spPr>
          <a:xfrm>
            <a:off x="1318096" y="4329336"/>
            <a:ext cx="391760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 80% of enterprises expected to deploy AI-enhanced network automation solutions (Gartner forecast).</a:t>
            </a:r>
            <a:endParaRPr lang="en-US" sz="106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1895" y="467544"/>
            <a:ext cx="4869210" cy="75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969"/>
              </a:lnSpc>
            </a:pPr>
            <a:r>
              <a:rPr lang="en-US" sz="2375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Conclusion: Automation is the Future of Network Management</a:t>
            </a:r>
            <a:endParaRPr lang="en-US" sz="2375" dirty="0"/>
          </a:p>
        </p:txBody>
      </p:sp>
      <p:sp>
        <p:nvSpPr>
          <p:cNvPr id="4" name="Shape 1"/>
          <p:cNvSpPr/>
          <p:nvPr/>
        </p:nvSpPr>
        <p:spPr>
          <a:xfrm>
            <a:off x="3851895" y="1404045"/>
            <a:ext cx="2374181" cy="1768897"/>
          </a:xfrm>
          <a:prstGeom prst="roundRect">
            <a:avLst>
              <a:gd name="adj" fmla="val 614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432" y="1529581"/>
            <a:ext cx="362471" cy="362471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072" y="1608832"/>
            <a:ext cx="163116" cy="20389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977432" y="2012826"/>
            <a:ext cx="1727002" cy="18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1188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Process Transformation</a:t>
            </a:r>
            <a:endParaRPr lang="en-US" sz="1188" dirty="0"/>
          </a:p>
        </p:txBody>
      </p:sp>
      <p:sp>
        <p:nvSpPr>
          <p:cNvPr id="8" name="Text 3"/>
          <p:cNvSpPr/>
          <p:nvPr/>
        </p:nvSpPr>
        <p:spPr>
          <a:xfrm>
            <a:off x="3977432" y="2274094"/>
            <a:ext cx="2123108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938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 revolutionizes network management into a faster, more reliable, and cost-effective operation model.</a:t>
            </a:r>
            <a:endParaRPr lang="en-US" sz="938" dirty="0"/>
          </a:p>
        </p:txBody>
      </p:sp>
      <p:sp>
        <p:nvSpPr>
          <p:cNvPr id="9" name="Shape 4"/>
          <p:cNvSpPr/>
          <p:nvPr/>
        </p:nvSpPr>
        <p:spPr>
          <a:xfrm>
            <a:off x="6346850" y="1404045"/>
            <a:ext cx="2374255" cy="1768897"/>
          </a:xfrm>
          <a:prstGeom prst="roundRect">
            <a:avLst>
              <a:gd name="adj" fmla="val 614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386" y="1529581"/>
            <a:ext cx="362471" cy="36247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027" y="1608832"/>
            <a:ext cx="163116" cy="20389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72386" y="2012826"/>
            <a:ext cx="1745308" cy="18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1188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Business Empowerment</a:t>
            </a:r>
            <a:endParaRPr lang="en-US" sz="1188" dirty="0"/>
          </a:p>
        </p:txBody>
      </p:sp>
      <p:sp>
        <p:nvSpPr>
          <p:cNvPr id="13" name="Text 6"/>
          <p:cNvSpPr/>
          <p:nvPr/>
        </p:nvSpPr>
        <p:spPr>
          <a:xfrm>
            <a:off x="6472387" y="2274094"/>
            <a:ext cx="2123182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938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Organizations embracing automation, gain the ability to scale securely while driving continuous innovation.</a:t>
            </a:r>
            <a:endParaRPr lang="en-US" sz="938" dirty="0"/>
          </a:p>
        </p:txBody>
      </p:sp>
      <p:sp>
        <p:nvSpPr>
          <p:cNvPr id="14" name="Shape 7"/>
          <p:cNvSpPr/>
          <p:nvPr/>
        </p:nvSpPr>
        <p:spPr>
          <a:xfrm>
            <a:off x="3851895" y="3293715"/>
            <a:ext cx="4869210" cy="1382241"/>
          </a:xfrm>
          <a:prstGeom prst="roundRect">
            <a:avLst>
              <a:gd name="adj" fmla="val 786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7432" y="3419252"/>
            <a:ext cx="362471" cy="362471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7072" y="3498503"/>
            <a:ext cx="163116" cy="203894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977432" y="3902497"/>
            <a:ext cx="1510531" cy="188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1188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Career Evolution</a:t>
            </a:r>
            <a:endParaRPr lang="en-US" sz="1188" dirty="0"/>
          </a:p>
        </p:txBody>
      </p:sp>
      <p:sp>
        <p:nvSpPr>
          <p:cNvPr id="18" name="Text 9"/>
          <p:cNvSpPr/>
          <p:nvPr/>
        </p:nvSpPr>
        <p:spPr>
          <a:xfrm>
            <a:off x="3977432" y="4163765"/>
            <a:ext cx="4618137" cy="38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938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engineers unlock new opportunities in our increasingly digital-first business landscape.</a:t>
            </a:r>
            <a:endParaRPr lang="en-US" sz="93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52624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highlight>
                  <a:srgbClr val="00FFFF"/>
                </a:highlight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Comparing Traditional Networking with Controller-Based Networking</a:t>
            </a:r>
            <a:endParaRPr lang="en-US" sz="2781" dirty="0">
              <a:highlight>
                <a:srgbClr val="00FFFF"/>
              </a:highlight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67094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the evolution from device-centric to centralized network management</a:t>
            </a:r>
            <a:endParaRPr lang="en-US" sz="109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6669" y="490315"/>
            <a:ext cx="4741664" cy="1303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06"/>
              </a:lnSpc>
            </a:pPr>
            <a:r>
              <a:rPr lang="en-US" sz="2719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Traditional Networking: Device-by-Device Management</a:t>
            </a:r>
            <a:endParaRPr lang="en-US" sz="2719" dirty="0"/>
          </a:p>
        </p:txBody>
      </p:sp>
      <p:sp>
        <p:nvSpPr>
          <p:cNvPr id="4" name="Shape 1"/>
          <p:cNvSpPr/>
          <p:nvPr/>
        </p:nvSpPr>
        <p:spPr>
          <a:xfrm>
            <a:off x="486669" y="2002631"/>
            <a:ext cx="2301329" cy="1478236"/>
          </a:xfrm>
          <a:prstGeom prst="roundRect">
            <a:avLst>
              <a:gd name="adj" fmla="val 8467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0435" y="2146400"/>
            <a:ext cx="200307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Individual Configuration</a:t>
            </a:r>
            <a:endParaRPr lang="en-US" sz="1344" dirty="0"/>
          </a:p>
        </p:txBody>
      </p:sp>
      <p:sp>
        <p:nvSpPr>
          <p:cNvPr id="6" name="Text 3"/>
          <p:cNvSpPr/>
          <p:nvPr/>
        </p:nvSpPr>
        <p:spPr>
          <a:xfrm>
            <a:off x="630436" y="2447106"/>
            <a:ext cx="2013793" cy="88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network device (router, switch) is configured and managed individually through separate interfaces.</a:t>
            </a:r>
            <a:endParaRPr lang="en-US" sz="1094" dirty="0"/>
          </a:p>
        </p:txBody>
      </p:sp>
      <p:sp>
        <p:nvSpPr>
          <p:cNvPr id="7" name="Shape 4"/>
          <p:cNvSpPr/>
          <p:nvPr/>
        </p:nvSpPr>
        <p:spPr>
          <a:xfrm>
            <a:off x="2927003" y="2002631"/>
            <a:ext cx="2301329" cy="1478236"/>
          </a:xfrm>
          <a:prstGeom prst="roundRect">
            <a:avLst>
              <a:gd name="adj" fmla="val 8467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070771" y="2146400"/>
            <a:ext cx="191988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Manual CLI Commands</a:t>
            </a:r>
            <a:endParaRPr lang="en-US" sz="1344" dirty="0"/>
          </a:p>
        </p:txBody>
      </p:sp>
      <p:sp>
        <p:nvSpPr>
          <p:cNvPr id="9" name="Text 6"/>
          <p:cNvSpPr/>
          <p:nvPr/>
        </p:nvSpPr>
        <p:spPr>
          <a:xfrm>
            <a:off x="3070771" y="2447106"/>
            <a:ext cx="2013793" cy="88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configuration via command-line interface for every device increases time and risk of human errors.</a:t>
            </a:r>
            <a:endParaRPr lang="en-US" sz="1094" dirty="0"/>
          </a:p>
        </p:txBody>
      </p:sp>
      <p:sp>
        <p:nvSpPr>
          <p:cNvPr id="10" name="Shape 7"/>
          <p:cNvSpPr/>
          <p:nvPr/>
        </p:nvSpPr>
        <p:spPr>
          <a:xfrm>
            <a:off x="486669" y="3619872"/>
            <a:ext cx="4741664" cy="1033239"/>
          </a:xfrm>
          <a:prstGeom prst="roundRect">
            <a:avLst>
              <a:gd name="adj" fmla="val 12113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436" y="3763641"/>
            <a:ext cx="173823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Repetitive Tasks</a:t>
            </a:r>
            <a:endParaRPr lang="en-US" sz="1344" dirty="0"/>
          </a:p>
        </p:txBody>
      </p:sp>
      <p:sp>
        <p:nvSpPr>
          <p:cNvPr id="12" name="Text 9"/>
          <p:cNvSpPr/>
          <p:nvPr/>
        </p:nvSpPr>
        <p:spPr>
          <a:xfrm>
            <a:off x="630436" y="4064348"/>
            <a:ext cx="4454128" cy="4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Updating IOS on 10 routers requires 30 manual steps repeated per device - multiplying effort and complexity.</a:t>
            </a:r>
            <a:endParaRPr lang="en-US" sz="109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52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567" y="377577"/>
            <a:ext cx="4753868" cy="1287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375"/>
              </a:lnSpc>
            </a:pPr>
            <a:r>
              <a:rPr lang="en-US" sz="2688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Controller-Based Networking: Centralized Automation</a:t>
            </a:r>
            <a:endParaRPr lang="en-US" sz="2688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566" y="2085008"/>
            <a:ext cx="2308250" cy="190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0566" y="1630920"/>
            <a:ext cx="208084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Centralized Management</a:t>
            </a:r>
            <a:endParaRPr lang="en-US" sz="1344" dirty="0"/>
          </a:p>
        </p:txBody>
      </p:sp>
      <p:sp>
        <p:nvSpPr>
          <p:cNvPr id="7" name="Text 3"/>
          <p:cNvSpPr/>
          <p:nvPr/>
        </p:nvSpPr>
        <p:spPr>
          <a:xfrm>
            <a:off x="480566" y="1919623"/>
            <a:ext cx="2080841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a centralized controller to manage and configure multiple devices simultaneously from a single interface.</a:t>
            </a:r>
            <a:endParaRPr lang="en-US" sz="1063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111" y="2085008"/>
            <a:ext cx="2308324" cy="190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29261" y="1630920"/>
            <a:ext cx="190202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Automated Operations</a:t>
            </a:r>
            <a:endParaRPr lang="en-US" sz="1344" dirty="0"/>
          </a:p>
        </p:txBody>
      </p:sp>
      <p:sp>
        <p:nvSpPr>
          <p:cNvPr id="11" name="Text 6"/>
          <p:cNvSpPr/>
          <p:nvPr/>
        </p:nvSpPr>
        <p:spPr>
          <a:xfrm>
            <a:off x="3129261" y="1845456"/>
            <a:ext cx="2308324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Automates complex tasks like initial device setup, IOS upgrades, and network troubleshooting across the infrastructure.</a:t>
            </a:r>
            <a:endParaRPr lang="en-US" sz="1063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67" y="3807173"/>
            <a:ext cx="4753868" cy="190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0566" y="3260638"/>
            <a:ext cx="171643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88"/>
              </a:lnSpc>
            </a:pPr>
            <a:r>
              <a:rPr lang="en-US" sz="1344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Reduced Staffing</a:t>
            </a:r>
            <a:endParaRPr lang="en-US" sz="1344" dirty="0"/>
          </a:p>
        </p:txBody>
      </p:sp>
      <p:sp>
        <p:nvSpPr>
          <p:cNvPr id="15" name="Text 9"/>
          <p:cNvSpPr/>
          <p:nvPr/>
        </p:nvSpPr>
        <p:spPr>
          <a:xfrm>
            <a:off x="480567" y="3511274"/>
            <a:ext cx="4753868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063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Significantly reduces need for multiple administrators; one or two skilled professionals can manage entire enterprise networks.</a:t>
            </a:r>
            <a:endParaRPr lang="en-US" sz="106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852" y="241920"/>
            <a:ext cx="5692229" cy="27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6"/>
              </a:lnSpc>
            </a:pPr>
            <a:r>
              <a:rPr lang="en-US" sz="1719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Control Plane Architecture: Distributed vs Centralized</a:t>
            </a:r>
            <a:endParaRPr lang="en-US" sz="1719" dirty="0"/>
          </a:p>
        </p:txBody>
      </p:sp>
      <p:sp>
        <p:nvSpPr>
          <p:cNvPr id="4" name="Text 2"/>
          <p:cNvSpPr/>
          <p:nvPr/>
        </p:nvSpPr>
        <p:spPr>
          <a:xfrm>
            <a:off x="307852" y="1766358"/>
            <a:ext cx="4156844" cy="281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94"/>
              </a:lnSpc>
            </a:pPr>
            <a:endParaRPr lang="en-US" sz="688" dirty="0"/>
          </a:p>
        </p:txBody>
      </p:sp>
      <p:sp>
        <p:nvSpPr>
          <p:cNvPr id="6" name="Text 3"/>
          <p:cNvSpPr/>
          <p:nvPr/>
        </p:nvSpPr>
        <p:spPr>
          <a:xfrm>
            <a:off x="4679306" y="1979070"/>
            <a:ext cx="1622301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endParaRPr lang="en-US" sz="844" dirty="0"/>
          </a:p>
        </p:txBody>
      </p:sp>
      <p:sp>
        <p:nvSpPr>
          <p:cNvPr id="7" name="Text 4"/>
          <p:cNvSpPr/>
          <p:nvPr/>
        </p:nvSpPr>
        <p:spPr>
          <a:xfrm>
            <a:off x="4684067" y="962025"/>
            <a:ext cx="4156844" cy="281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94"/>
              </a:lnSpc>
            </a:pPr>
            <a:endParaRPr lang="en-US" sz="688" dirty="0"/>
          </a:p>
        </p:txBody>
      </p:sp>
      <p:sp>
        <p:nvSpPr>
          <p:cNvPr id="9" name="Text 5"/>
          <p:cNvSpPr/>
          <p:nvPr/>
        </p:nvSpPr>
        <p:spPr>
          <a:xfrm>
            <a:off x="307852" y="5696992"/>
            <a:ext cx="8528298" cy="140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94"/>
              </a:lnSpc>
            </a:pPr>
            <a:r>
              <a:rPr lang="en-US" sz="688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Centralization enables consistent policy enforcement and faster network-wide changes across the entire infrastructure.</a:t>
            </a:r>
            <a:endParaRPr lang="en-US" sz="688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DF160B-769D-76BA-A97F-AA12C7363D0F}"/>
              </a:ext>
            </a:extLst>
          </p:cNvPr>
          <p:cNvSpPr txBox="1"/>
          <p:nvPr/>
        </p:nvSpPr>
        <p:spPr>
          <a:xfrm>
            <a:off x="303089" y="948461"/>
            <a:ext cx="7960378" cy="2341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9C5461"/>
                </a:solidFill>
                <a:latin typeface="DM Sans Semi Bold" pitchFamily="34" charset="0"/>
                <a:cs typeface="DM Sans Semi Bold" pitchFamily="34" charset="-120"/>
              </a:rPr>
              <a:t>Traditional Architecture</a:t>
            </a:r>
          </a:p>
          <a:p>
            <a:endParaRPr lang="en-US" sz="844" dirty="0">
              <a:solidFill>
                <a:srgbClr val="9C5461"/>
              </a:solidFill>
              <a:latin typeface="DM Sans Semi Bold" pitchFamily="34" charset="0"/>
              <a:cs typeface="DM Sans Semi Bold" pitchFamily="34" charset="-120"/>
            </a:endParaRPr>
          </a:p>
          <a:p>
            <a:r>
              <a:rPr lang="en-US" dirty="0">
                <a:solidFill>
                  <a:srgbClr val="4A4A4A"/>
                </a:solidFill>
                <a:latin typeface="DM Sans" pitchFamily="34" charset="0"/>
              </a:rPr>
              <a:t>Control plane functions (routing decisions) are distributed across individual devices, creating complexity in coordination.</a:t>
            </a:r>
          </a:p>
          <a:p>
            <a:endParaRPr lang="en-US" sz="688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sz="688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sz="688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sz="688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sz="688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sz="688" dirty="0">
              <a:solidFill>
                <a:srgbClr val="4A4A4A"/>
              </a:solidFill>
              <a:latin typeface="DM Sans" pitchFamily="34" charset="0"/>
            </a:endParaRPr>
          </a:p>
          <a:p>
            <a:r>
              <a:rPr lang="en-US" sz="1600" dirty="0">
                <a:solidFill>
                  <a:srgbClr val="9C5461"/>
                </a:solidFill>
                <a:latin typeface="DM Sans Semi Bold" pitchFamily="34" charset="0"/>
                <a:cs typeface="DM Sans Semi Bold" pitchFamily="34" charset="-120"/>
              </a:rPr>
              <a:t>Controller-Based Architecture</a:t>
            </a:r>
          </a:p>
          <a:p>
            <a:r>
              <a:rPr lang="en-US" dirty="0">
                <a:solidFill>
                  <a:srgbClr val="4A4A4A"/>
                </a:solidFill>
                <a:latin typeface="DM Sans" pitchFamily="34" charset="0"/>
              </a:rPr>
              <a:t>Control plane centralized in software controller, while data plane remains on devices for optimal performance.</a:t>
            </a:r>
          </a:p>
          <a:p>
            <a:endParaRPr lang="en-US" sz="844" dirty="0">
              <a:solidFill>
                <a:srgbClr val="9C5461"/>
              </a:solidFill>
              <a:latin typeface="DM Sans Semi Bold" pitchFamily="34" charset="0"/>
              <a:cs typeface="DM Sans Semi Bold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697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Operational Efficiency and Error Reduction</a:t>
            </a:r>
            <a:endParaRPr lang="en-US" sz="278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555552"/>
            <a:ext cx="708794" cy="1043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46672" y="16973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Traditional Method</a:t>
            </a:r>
            <a:endParaRPr lang="en-US" sz="1375" dirty="0"/>
          </a:p>
        </p:txBody>
      </p:sp>
      <p:sp>
        <p:nvSpPr>
          <p:cNvPr id="6" name="Text 2"/>
          <p:cNvSpPr/>
          <p:nvPr/>
        </p:nvSpPr>
        <p:spPr>
          <a:xfrm>
            <a:off x="1346671" y="2003822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Networks require logging into each device individually via console, Telnet, or SSH connections.</a:t>
            </a:r>
            <a:endParaRPr lang="en-US" sz="1094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599209"/>
            <a:ext cx="708794" cy="1043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46672" y="2740968"/>
            <a:ext cx="218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Controller-Based Method</a:t>
            </a:r>
            <a:endParaRPr lang="en-US" sz="1375" dirty="0"/>
          </a:p>
        </p:txBody>
      </p:sp>
      <p:sp>
        <p:nvSpPr>
          <p:cNvPr id="9" name="Text 4"/>
          <p:cNvSpPr/>
          <p:nvPr/>
        </p:nvSpPr>
        <p:spPr>
          <a:xfrm>
            <a:off x="1346671" y="3047480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Networks push configurations automatically, minimizing human error and standardizing deployments.</a:t>
            </a:r>
            <a:endParaRPr lang="en-US" sz="1094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642866"/>
            <a:ext cx="708794" cy="10436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46672" y="3784625"/>
            <a:ext cx="19717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Proactive Management</a:t>
            </a:r>
            <a:endParaRPr lang="en-US" sz="1375" dirty="0"/>
          </a:p>
        </p:txBody>
      </p:sp>
      <p:sp>
        <p:nvSpPr>
          <p:cNvPr id="12" name="Text 6"/>
          <p:cNvSpPr/>
          <p:nvPr/>
        </p:nvSpPr>
        <p:spPr>
          <a:xfrm>
            <a:off x="1346671" y="4091137"/>
            <a:ext cx="38722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Automation enables scheduled tasks and proactive troubleshooting without manual intervention or downtime.</a:t>
            </a:r>
            <a:endParaRPr lang="en-US" sz="109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5369" y="502444"/>
            <a:ext cx="3804493" cy="397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50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Scalability and Flexibility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445369" y="1090911"/>
            <a:ext cx="2348508" cy="1846659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81" y="1090911"/>
            <a:ext cx="57150" cy="18466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9767" y="1232446"/>
            <a:ext cx="1715244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Traditional Limitations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29767" y="1507629"/>
            <a:ext cx="2022574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Networks depend on special company-made hardware, which makes it hard to grow or adjust when business needs change.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921124" y="1090911"/>
            <a:ext cx="2348508" cy="1846659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6836" y="1090911"/>
            <a:ext cx="57150" cy="1846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105522" y="1232446"/>
            <a:ext cx="159060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SDN 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3105522" y="1507629"/>
            <a:ext cx="2022574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(Software-Defined Networking) Principles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3105522" y="1981646"/>
            <a:ext cx="2022574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Controller-based networks uses software-defined networking principles for flexibility and vendor independence.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45369" y="3064817"/>
            <a:ext cx="2348508" cy="1576239"/>
          </a:xfrm>
          <a:prstGeom prst="roundRect">
            <a:avLst>
              <a:gd name="adj" fmla="val 4351"/>
            </a:avLst>
          </a:prstGeom>
          <a:solidFill>
            <a:srgbClr val="FFFFFF"/>
          </a:solidFill>
          <a:ln w="22860">
            <a:solidFill>
              <a:srgbClr val="E5B2B7"/>
            </a:solidFill>
            <a:prstDash val="solid"/>
          </a:ln>
          <a:effectLst>
            <a:outerShdw dist="19050" dir="2700000" algn="bl" rotWithShape="0">
              <a:srgbClr val="E5B2B7">
                <a:alpha val="100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81" y="3064817"/>
            <a:ext cx="57150" cy="157623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9766" y="3206354"/>
            <a:ext cx="170430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63"/>
              </a:lnSpc>
            </a:pPr>
            <a:r>
              <a:rPr lang="en-US" sz="125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Network Virtualization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29767" y="3481537"/>
            <a:ext cx="2022574" cy="101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94"/>
              </a:lnSpc>
            </a:pPr>
            <a:r>
              <a:rPr lang="en-US" sz="10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SDN(Software-Defined Networking) turns the network into software, so data can move easily and new services can be set up quickly when needed.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32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Security Models: Blacklisting vs Policy-Driven</a:t>
            </a:r>
            <a:endParaRPr lang="en-US" sz="2781" dirty="0"/>
          </a:p>
        </p:txBody>
      </p:sp>
      <p:sp>
        <p:nvSpPr>
          <p:cNvPr id="4" name="Shape 1"/>
          <p:cNvSpPr/>
          <p:nvPr/>
        </p:nvSpPr>
        <p:spPr>
          <a:xfrm>
            <a:off x="496119" y="1953890"/>
            <a:ext cx="4722763" cy="2777282"/>
          </a:xfrm>
          <a:prstGeom prst="roundRect">
            <a:avLst>
              <a:gd name="adj" fmla="val 4594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00881" y="1958653"/>
            <a:ext cx="2356619" cy="1724099"/>
          </a:xfrm>
          <a:prstGeom prst="roundRect">
            <a:avLst>
              <a:gd name="adj" fmla="val 7400"/>
            </a:avLst>
          </a:prstGeom>
          <a:solidFill>
            <a:srgbClr val="FFCCD1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21004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Traditional Security</a:t>
            </a:r>
            <a:endParaRPr lang="en-US" sz="1375" dirty="0"/>
          </a:p>
        </p:txBody>
      </p:sp>
      <p:sp>
        <p:nvSpPr>
          <p:cNvPr id="7" name="Text 4"/>
          <p:cNvSpPr/>
          <p:nvPr/>
        </p:nvSpPr>
        <p:spPr>
          <a:xfrm>
            <a:off x="642640" y="2406923"/>
            <a:ext cx="2073101" cy="1134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Networks often use blacklisting approaches (allow all traffic unless specifically blocked), creating security vulnerabilities.</a:t>
            </a:r>
            <a:endParaRPr lang="en-US" sz="1094" dirty="0"/>
          </a:p>
        </p:txBody>
      </p:sp>
      <p:sp>
        <p:nvSpPr>
          <p:cNvPr id="8" name="Shape 5"/>
          <p:cNvSpPr/>
          <p:nvPr/>
        </p:nvSpPr>
        <p:spPr>
          <a:xfrm>
            <a:off x="2857500" y="1958653"/>
            <a:ext cx="2356619" cy="1724099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958653"/>
            <a:ext cx="19050" cy="1724099"/>
          </a:xfrm>
          <a:prstGeom prst="roundRect">
            <a:avLst>
              <a:gd name="adj" fmla="val 669768"/>
            </a:avLst>
          </a:prstGeom>
          <a:solidFill>
            <a:srgbClr val="E5B2B7"/>
          </a:solidFill>
          <a:ln/>
        </p:spPr>
      </p:sp>
      <p:sp>
        <p:nvSpPr>
          <p:cNvPr id="10" name="Text 7"/>
          <p:cNvSpPr/>
          <p:nvPr/>
        </p:nvSpPr>
        <p:spPr>
          <a:xfrm>
            <a:off x="2999259" y="2100411"/>
            <a:ext cx="19207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Policy-Driven Security</a:t>
            </a:r>
            <a:endParaRPr lang="en-US" sz="1375" dirty="0"/>
          </a:p>
        </p:txBody>
      </p:sp>
      <p:sp>
        <p:nvSpPr>
          <p:cNvPr id="11" name="Text 8"/>
          <p:cNvSpPr/>
          <p:nvPr/>
        </p:nvSpPr>
        <p:spPr>
          <a:xfrm>
            <a:off x="2999259" y="2406923"/>
            <a:ext cx="207310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Controller-based networks let you control everything from one place and apply the same security rules everywhere.</a:t>
            </a:r>
            <a:endParaRPr lang="en-US" sz="1094" dirty="0"/>
          </a:p>
        </p:txBody>
      </p:sp>
      <p:sp>
        <p:nvSpPr>
          <p:cNvPr id="12" name="Shape 9"/>
          <p:cNvSpPr/>
          <p:nvPr/>
        </p:nvSpPr>
        <p:spPr>
          <a:xfrm>
            <a:off x="500882" y="3682752"/>
            <a:ext cx="4713238" cy="1043658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882" y="3682752"/>
            <a:ext cx="4713238" cy="19050"/>
          </a:xfrm>
          <a:prstGeom prst="roundRect">
            <a:avLst>
              <a:gd name="adj" fmla="val 669768"/>
            </a:avLst>
          </a:prstGeom>
          <a:solidFill>
            <a:srgbClr val="E5B2B7"/>
          </a:solidFill>
          <a:ln/>
        </p:spPr>
      </p:sp>
      <p:sp>
        <p:nvSpPr>
          <p:cNvPr id="14" name="Text 11"/>
          <p:cNvSpPr/>
          <p:nvPr/>
        </p:nvSpPr>
        <p:spPr>
          <a:xfrm>
            <a:off x="642640" y="382451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Dynamic Response</a:t>
            </a:r>
            <a:endParaRPr lang="en-US" sz="1375" dirty="0"/>
          </a:p>
        </p:txBody>
      </p:sp>
      <p:sp>
        <p:nvSpPr>
          <p:cNvPr id="15" name="Text 12"/>
          <p:cNvSpPr/>
          <p:nvPr/>
        </p:nvSpPr>
        <p:spPr>
          <a:xfrm>
            <a:off x="642640" y="4131023"/>
            <a:ext cx="44297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can quickly stop security threats and make sure important business data moves first across the whole network.</a:t>
            </a:r>
            <a:endParaRPr lang="en-US" sz="109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9336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Impact: Cost and Resource Savings</a:t>
            </a:r>
            <a:endParaRPr lang="en-US" sz="2781" dirty="0"/>
          </a:p>
        </p:txBody>
      </p:sp>
      <p:sp>
        <p:nvSpPr>
          <p:cNvPr id="4" name="Text 1"/>
          <p:cNvSpPr/>
          <p:nvPr/>
        </p:nvSpPr>
        <p:spPr>
          <a:xfrm>
            <a:off x="496119" y="1662783"/>
            <a:ext cx="1456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6"/>
              </a:lnSpc>
            </a:pPr>
            <a:r>
              <a:rPr lang="en-US" sz="365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75%</a:t>
            </a:r>
            <a:endParaRPr lang="en-US" sz="3656" dirty="0"/>
          </a:p>
        </p:txBody>
      </p:sp>
      <p:sp>
        <p:nvSpPr>
          <p:cNvPr id="5" name="Text 2"/>
          <p:cNvSpPr/>
          <p:nvPr/>
        </p:nvSpPr>
        <p:spPr>
          <a:xfrm>
            <a:off x="496119" y="2307654"/>
            <a:ext cx="1456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Reduced Labor Costs</a:t>
            </a:r>
            <a:endParaRPr lang="en-US" sz="1375" dirty="0"/>
          </a:p>
        </p:txBody>
      </p:sp>
      <p:sp>
        <p:nvSpPr>
          <p:cNvPr id="6" name="Text 3"/>
          <p:cNvSpPr/>
          <p:nvPr/>
        </p:nvSpPr>
        <p:spPr>
          <a:xfrm>
            <a:off x="496119" y="2835623"/>
            <a:ext cx="145613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networks require high operational costs due to manual labor and error correction efforts.</a:t>
            </a:r>
            <a:endParaRPr lang="en-US" sz="1094" dirty="0"/>
          </a:p>
        </p:txBody>
      </p:sp>
      <p:sp>
        <p:nvSpPr>
          <p:cNvPr id="7" name="Text 4"/>
          <p:cNvSpPr/>
          <p:nvPr/>
        </p:nvSpPr>
        <p:spPr>
          <a:xfrm>
            <a:off x="2129434" y="1662783"/>
            <a:ext cx="1456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6"/>
              </a:lnSpc>
            </a:pPr>
            <a:r>
              <a:rPr lang="en-US" sz="365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90%</a:t>
            </a:r>
            <a:endParaRPr lang="en-US" sz="3656" dirty="0"/>
          </a:p>
        </p:txBody>
      </p:sp>
      <p:sp>
        <p:nvSpPr>
          <p:cNvPr id="8" name="Text 5"/>
          <p:cNvSpPr/>
          <p:nvPr/>
        </p:nvSpPr>
        <p:spPr>
          <a:xfrm>
            <a:off x="2129434" y="2307654"/>
            <a:ext cx="145613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Faster Deployments</a:t>
            </a:r>
            <a:endParaRPr lang="en-US" sz="1375" dirty="0"/>
          </a:p>
        </p:txBody>
      </p:sp>
      <p:sp>
        <p:nvSpPr>
          <p:cNvPr id="9" name="Text 6"/>
          <p:cNvSpPr/>
          <p:nvPr/>
        </p:nvSpPr>
        <p:spPr>
          <a:xfrm>
            <a:off x="2129434" y="2835622"/>
            <a:ext cx="145613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Controller-based networks need fewer administrators; automation significantly reduces downtime and maintenance windows.</a:t>
            </a:r>
            <a:endParaRPr lang="en-US" sz="1094" dirty="0"/>
          </a:p>
        </p:txBody>
      </p:sp>
      <p:sp>
        <p:nvSpPr>
          <p:cNvPr id="10" name="Text 7"/>
          <p:cNvSpPr/>
          <p:nvPr/>
        </p:nvSpPr>
        <p:spPr>
          <a:xfrm>
            <a:off x="3762747" y="1662783"/>
            <a:ext cx="145613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656"/>
              </a:lnSpc>
            </a:pPr>
            <a:r>
              <a:rPr lang="en-US" sz="365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60%</a:t>
            </a:r>
            <a:endParaRPr lang="en-US" sz="3656" dirty="0"/>
          </a:p>
        </p:txBody>
      </p:sp>
      <p:sp>
        <p:nvSpPr>
          <p:cNvPr id="11" name="Text 8"/>
          <p:cNvSpPr/>
          <p:nvPr/>
        </p:nvSpPr>
        <p:spPr>
          <a:xfrm>
            <a:off x="3762747" y="2307655"/>
            <a:ext cx="1456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719"/>
              </a:lnSpc>
            </a:pPr>
            <a:r>
              <a:rPr lang="en-US" sz="1375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Time Savings</a:t>
            </a:r>
            <a:endParaRPr lang="en-US" sz="1375" dirty="0"/>
          </a:p>
        </p:txBody>
      </p:sp>
      <p:sp>
        <p:nvSpPr>
          <p:cNvPr id="12" name="Text 9"/>
          <p:cNvSpPr/>
          <p:nvPr/>
        </p:nvSpPr>
        <p:spPr>
          <a:xfrm>
            <a:off x="3762747" y="2614167"/>
            <a:ext cx="1456134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IOS upgrades save hours per device, scaling efficiently across large enterprise networks.</a:t>
            </a:r>
            <a:endParaRPr lang="en-US" sz="109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52624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9C5461"/>
                </a:solidFill>
                <a:highlight>
                  <a:srgbClr val="00FFFF"/>
                </a:highlight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Comparing Traditional Campus Device Management with Cisco DNA (Digital Network Architecture) Center</a:t>
            </a:r>
            <a:endParaRPr lang="en-US" sz="2781" dirty="0">
              <a:highlight>
                <a:srgbClr val="00FFFF"/>
              </a:highlight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333717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comprehensive analysis of how Cisco DNA Center transforms campus network management from manual complexity to intelligent automation</a:t>
            </a:r>
            <a:endParaRPr lang="en-US" sz="109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544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95" y="1884388"/>
            <a:ext cx="8279011" cy="772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2406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Traditional Campus Device Management: Manual and Fragmented</a:t>
            </a:r>
            <a:endParaRPr lang="en-US" sz="2406" dirty="0"/>
          </a:p>
        </p:txBody>
      </p:sp>
      <p:sp>
        <p:nvSpPr>
          <p:cNvPr id="4" name="Shape 1"/>
          <p:cNvSpPr/>
          <p:nvPr/>
        </p:nvSpPr>
        <p:spPr>
          <a:xfrm>
            <a:off x="432495" y="2842097"/>
            <a:ext cx="4077742" cy="919237"/>
          </a:xfrm>
          <a:prstGeom prst="roundRect">
            <a:avLst>
              <a:gd name="adj" fmla="val 1209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0785" y="2970387"/>
            <a:ext cx="1596628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Manual Configuration</a:t>
            </a:r>
            <a:endParaRPr lang="en-US" sz="1188" dirty="0"/>
          </a:p>
        </p:txBody>
      </p:sp>
      <p:sp>
        <p:nvSpPr>
          <p:cNvPr id="6" name="Text 3"/>
          <p:cNvSpPr/>
          <p:nvPr/>
        </p:nvSpPr>
        <p:spPr>
          <a:xfrm>
            <a:off x="560785" y="3237607"/>
            <a:ext cx="3821162" cy="395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969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admins configure devices individually via CLI using Telnet or SSH connections</a:t>
            </a:r>
            <a:endParaRPr lang="en-US" sz="969" dirty="0"/>
          </a:p>
        </p:txBody>
      </p:sp>
      <p:sp>
        <p:nvSpPr>
          <p:cNvPr id="7" name="Shape 4"/>
          <p:cNvSpPr/>
          <p:nvPr/>
        </p:nvSpPr>
        <p:spPr>
          <a:xfrm>
            <a:off x="4633764" y="2842097"/>
            <a:ext cx="4077742" cy="919237"/>
          </a:xfrm>
          <a:prstGeom prst="roundRect">
            <a:avLst>
              <a:gd name="adj" fmla="val 1209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62054" y="2970387"/>
            <a:ext cx="1544613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Device Discovery</a:t>
            </a:r>
            <a:endParaRPr lang="en-US" sz="1188" dirty="0"/>
          </a:p>
        </p:txBody>
      </p:sp>
      <p:sp>
        <p:nvSpPr>
          <p:cNvPr id="9" name="Text 6"/>
          <p:cNvSpPr/>
          <p:nvPr/>
        </p:nvSpPr>
        <p:spPr>
          <a:xfrm>
            <a:off x="4762054" y="3237607"/>
            <a:ext cx="3821162" cy="395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969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Topology mapping done manually or semi-automatically, requiring constant oversight</a:t>
            </a:r>
            <a:endParaRPr lang="en-US" sz="969" dirty="0"/>
          </a:p>
        </p:txBody>
      </p:sp>
      <p:sp>
        <p:nvSpPr>
          <p:cNvPr id="10" name="Shape 7"/>
          <p:cNvSpPr/>
          <p:nvPr/>
        </p:nvSpPr>
        <p:spPr>
          <a:xfrm>
            <a:off x="432495" y="3884861"/>
            <a:ext cx="4077742" cy="919237"/>
          </a:xfrm>
          <a:prstGeom prst="roundRect">
            <a:avLst>
              <a:gd name="adj" fmla="val 1209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0785" y="4013151"/>
            <a:ext cx="2511326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Work that easily causes mistakes.</a:t>
            </a:r>
            <a:endParaRPr lang="en-US" sz="1188" dirty="0"/>
          </a:p>
        </p:txBody>
      </p:sp>
      <p:sp>
        <p:nvSpPr>
          <p:cNvPr id="12" name="Text 9"/>
          <p:cNvSpPr/>
          <p:nvPr/>
        </p:nvSpPr>
        <p:spPr>
          <a:xfrm>
            <a:off x="560785" y="4280371"/>
            <a:ext cx="3821162" cy="395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969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Troubleshooting and updates require manual intervention, making networks vulnerable to human error</a:t>
            </a:r>
            <a:endParaRPr lang="en-US" sz="969" dirty="0"/>
          </a:p>
        </p:txBody>
      </p:sp>
      <p:sp>
        <p:nvSpPr>
          <p:cNvPr id="13" name="Shape 10"/>
          <p:cNvSpPr/>
          <p:nvPr/>
        </p:nvSpPr>
        <p:spPr>
          <a:xfrm>
            <a:off x="4633764" y="3884861"/>
            <a:ext cx="4077742" cy="919237"/>
          </a:xfrm>
          <a:prstGeom prst="roundRect">
            <a:avLst>
              <a:gd name="adj" fmla="val 12099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62054" y="4013151"/>
            <a:ext cx="1544613" cy="193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188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Complex Security</a:t>
            </a:r>
            <a:endParaRPr lang="en-US" sz="1188" dirty="0"/>
          </a:p>
        </p:txBody>
      </p:sp>
      <p:sp>
        <p:nvSpPr>
          <p:cNvPr id="15" name="Text 12"/>
          <p:cNvSpPr/>
          <p:nvPr/>
        </p:nvSpPr>
        <p:spPr>
          <a:xfrm>
            <a:off x="4762054" y="4280371"/>
            <a:ext cx="3821162" cy="395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31"/>
              </a:lnSpc>
            </a:pPr>
            <a:r>
              <a:rPr lang="en-US" sz="969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policies managed via complex ACLs that are difficult to scale and maintain effectively</a:t>
            </a:r>
            <a:endParaRPr lang="en-US" sz="969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4784" y="325859"/>
            <a:ext cx="5206231" cy="3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6"/>
              </a:lnSpc>
            </a:pPr>
            <a:r>
              <a:rPr lang="en-US" sz="2313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Automation vs Manual Configuration</a:t>
            </a:r>
            <a:endParaRPr lang="en-US" sz="231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84" y="1007194"/>
            <a:ext cx="592559" cy="9197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5811" y="1125661"/>
            <a:ext cx="1501304" cy="18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115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Traditional Approach</a:t>
            </a:r>
            <a:endParaRPr lang="en-US" sz="1156" dirty="0"/>
          </a:p>
        </p:txBody>
      </p:sp>
      <p:sp>
        <p:nvSpPr>
          <p:cNvPr id="5" name="Text 2"/>
          <p:cNvSpPr/>
          <p:nvPr/>
        </p:nvSpPr>
        <p:spPr>
          <a:xfrm>
            <a:off x="1125811" y="1429271"/>
            <a:ext cx="416190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6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device configured separately through time-consuming, error-prone manual processes</a:t>
            </a:r>
            <a:endParaRPr lang="en-US" sz="906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84" y="1926952"/>
            <a:ext cx="592559" cy="9197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5811" y="2045419"/>
            <a:ext cx="1481435" cy="18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115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DNA Center Solution</a:t>
            </a:r>
            <a:endParaRPr lang="en-US" sz="1156" dirty="0"/>
          </a:p>
        </p:txBody>
      </p:sp>
      <p:sp>
        <p:nvSpPr>
          <p:cNvPr id="8" name="Text 4"/>
          <p:cNvSpPr/>
          <p:nvPr/>
        </p:nvSpPr>
        <p:spPr>
          <a:xfrm>
            <a:off x="1125811" y="2349029"/>
            <a:ext cx="416190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6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deployment of QoS, security policies, and updates across entire network infrastructure</a:t>
            </a:r>
            <a:endParaRPr lang="en-US" sz="906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84" y="2846710"/>
            <a:ext cx="592559" cy="9197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25811" y="2965177"/>
            <a:ext cx="1481435" cy="18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115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EasyQoS Feature</a:t>
            </a:r>
            <a:endParaRPr lang="en-US" sz="1156" dirty="0"/>
          </a:p>
        </p:txBody>
      </p:sp>
      <p:sp>
        <p:nvSpPr>
          <p:cNvPr id="11" name="Text 6"/>
          <p:cNvSpPr/>
          <p:nvPr/>
        </p:nvSpPr>
        <p:spPr>
          <a:xfrm>
            <a:off x="1125811" y="3268787"/>
            <a:ext cx="416190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6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Simplifies complex Quality of Service setup with intuitive few-click configuration</a:t>
            </a:r>
            <a:endParaRPr lang="en-US" sz="906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784" y="3766467"/>
            <a:ext cx="592559" cy="9197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25811" y="3884935"/>
            <a:ext cx="1481435" cy="185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38"/>
              </a:lnSpc>
            </a:pPr>
            <a:r>
              <a:rPr lang="en-US" sz="115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Measurable Results</a:t>
            </a:r>
            <a:endParaRPr lang="en-US" sz="1156" dirty="0"/>
          </a:p>
        </p:txBody>
      </p:sp>
      <p:sp>
        <p:nvSpPr>
          <p:cNvPr id="14" name="Text 8"/>
          <p:cNvSpPr/>
          <p:nvPr/>
        </p:nvSpPr>
        <p:spPr>
          <a:xfrm>
            <a:off x="1125811" y="4188545"/>
            <a:ext cx="4161904" cy="37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906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deployments, significantly reduced operational costs, and fewer costly human errors</a:t>
            </a:r>
            <a:endParaRPr lang="en-US" sz="906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8475" y="389558"/>
            <a:ext cx="447265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6"/>
              </a:lnSpc>
            </a:pPr>
            <a:r>
              <a:rPr lang="en-US" sz="1719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Enhanced Security with Cisco DNA Center</a:t>
            </a:r>
            <a:endParaRPr lang="en-US" sz="1719" dirty="0"/>
          </a:p>
        </p:txBody>
      </p:sp>
      <p:sp>
        <p:nvSpPr>
          <p:cNvPr id="9" name="Text 6"/>
          <p:cNvSpPr/>
          <p:nvPr/>
        </p:nvSpPr>
        <p:spPr>
          <a:xfrm>
            <a:off x="4669483" y="2675037"/>
            <a:ext cx="1678111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4669483" y="2865240"/>
            <a:ext cx="4083323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94"/>
              </a:lnSpc>
            </a:pPr>
            <a:endParaRPr lang="en-US" sz="688" dirty="0"/>
          </a:p>
        </p:txBody>
      </p:sp>
      <p:sp>
        <p:nvSpPr>
          <p:cNvPr id="15" name="Text 12"/>
          <p:cNvSpPr/>
          <p:nvPr/>
        </p:nvSpPr>
        <p:spPr>
          <a:xfrm>
            <a:off x="4669483" y="4341465"/>
            <a:ext cx="1457995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endParaRPr lang="en-US" sz="844" dirty="0"/>
          </a:p>
        </p:txBody>
      </p:sp>
      <p:sp>
        <p:nvSpPr>
          <p:cNvPr id="16" name="Text 13"/>
          <p:cNvSpPr/>
          <p:nvPr/>
        </p:nvSpPr>
        <p:spPr>
          <a:xfrm>
            <a:off x="4669483" y="4531668"/>
            <a:ext cx="4083323" cy="281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94"/>
              </a:lnSpc>
            </a:pPr>
            <a:endParaRPr lang="en-US" sz="688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B3D399-E68A-8E64-DE80-52506E54A24F}"/>
              </a:ext>
            </a:extLst>
          </p:cNvPr>
          <p:cNvSpPr txBox="1"/>
          <p:nvPr/>
        </p:nvSpPr>
        <p:spPr>
          <a:xfrm>
            <a:off x="199132" y="861416"/>
            <a:ext cx="8343735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Traditional Security Limitations</a:t>
            </a:r>
          </a:p>
          <a:p>
            <a:r>
              <a:rPr lang="en-US" dirty="0">
                <a:solidFill>
                  <a:schemeClr val="bg1"/>
                </a:solidFill>
                <a:latin typeface="DM Sans" pitchFamily="34" charset="0"/>
              </a:rPr>
              <a:t>Reactive security approach with complex, static ACLs vulnerable to misconfigurations and security gaps.</a:t>
            </a:r>
          </a:p>
          <a:p>
            <a:endParaRPr lang="en-US" dirty="0"/>
          </a:p>
          <a:p>
            <a:r>
              <a:rPr lang="en-US" dirty="0"/>
              <a:t>Dynamic Policy Enforcement</a:t>
            </a:r>
          </a:p>
          <a:p>
            <a:r>
              <a:rPr lang="en-US" dirty="0">
                <a:solidFill>
                  <a:schemeClr val="bg1"/>
                </a:solidFill>
                <a:latin typeface="DM Sans" pitchFamily="34" charset="0"/>
              </a:rPr>
              <a:t>Intelligent security policies based on user and device roles, enforced dynamically at the network edge.</a:t>
            </a:r>
          </a:p>
          <a:p>
            <a:endParaRPr lang="en-US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dirty="0">
              <a:solidFill>
                <a:srgbClr val="4A4A4A"/>
              </a:solidFill>
              <a:latin typeface="DM Sans" pitchFamily="34" charset="0"/>
            </a:endParaRPr>
          </a:p>
          <a:p>
            <a:r>
              <a:rPr lang="en-US" dirty="0"/>
              <a:t>DNA Center Security Innovation</a:t>
            </a:r>
          </a:p>
          <a:p>
            <a:r>
              <a:rPr lang="en-US" dirty="0">
                <a:solidFill>
                  <a:schemeClr val="bg1"/>
                </a:solidFill>
                <a:latin typeface="DM Sans" pitchFamily="34" charset="0"/>
              </a:rPr>
              <a:t>Integrated multi-tier segmentation using VRFs and Scalable Group Tags (SGTs) for comprehensive protection.</a:t>
            </a:r>
          </a:p>
          <a:p>
            <a:endParaRPr lang="en-US" sz="800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sz="800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sz="800" dirty="0">
              <a:solidFill>
                <a:srgbClr val="4A4A4A"/>
              </a:solidFill>
              <a:latin typeface="DM Sans" pitchFamily="34" charset="0"/>
            </a:endParaRPr>
          </a:p>
          <a:p>
            <a:endParaRPr lang="en-US" sz="800" dirty="0"/>
          </a:p>
          <a:p>
            <a:r>
              <a:rPr lang="en-US" dirty="0"/>
              <a:t>Advanced Threat Detection</a:t>
            </a:r>
          </a:p>
          <a:p>
            <a:r>
              <a:rPr lang="en-US" dirty="0">
                <a:solidFill>
                  <a:schemeClr val="bg1"/>
                </a:solidFill>
                <a:latin typeface="DM Sans" pitchFamily="34" charset="0"/>
              </a:rPr>
              <a:t>Encrypted traffic analysis capabilities detect sophisticated threats even within encrypted data flows</a:t>
            </a:r>
            <a:r>
              <a:rPr lang="en-US" dirty="0">
                <a:solidFill>
                  <a:srgbClr val="4A4A4A"/>
                </a:solidFill>
                <a:latin typeface="DM Sans" pitchFamily="34" charset="0"/>
              </a:rPr>
              <a:t>.</a:t>
            </a:r>
            <a:endParaRPr lang="en-US" dirty="0">
              <a:solidFill>
                <a:schemeClr val="bg1"/>
              </a:solidFill>
              <a:latin typeface="DM Sans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8954" y="466055"/>
            <a:ext cx="4795093" cy="821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19"/>
              </a:lnSpc>
            </a:pPr>
            <a:r>
              <a:rPr lang="en-US" sz="2563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Impact: Cost and Risk Reduction</a:t>
            </a:r>
            <a:endParaRPr lang="en-US" sz="2563" dirty="0"/>
          </a:p>
        </p:txBody>
      </p:sp>
      <p:sp>
        <p:nvSpPr>
          <p:cNvPr id="4" name="Text 1"/>
          <p:cNvSpPr/>
          <p:nvPr/>
        </p:nvSpPr>
        <p:spPr>
          <a:xfrm>
            <a:off x="3888953" y="1550119"/>
            <a:ext cx="1488877" cy="43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406"/>
              </a:lnSpc>
            </a:pPr>
            <a:r>
              <a:rPr lang="en-US" sz="340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60%</a:t>
            </a:r>
            <a:endParaRPr lang="en-US" sz="3406" dirty="0"/>
          </a:p>
        </p:txBody>
      </p:sp>
      <p:sp>
        <p:nvSpPr>
          <p:cNvPr id="5" name="Text 2"/>
          <p:cNvSpPr/>
          <p:nvPr/>
        </p:nvSpPr>
        <p:spPr>
          <a:xfrm>
            <a:off x="3888953" y="2148037"/>
            <a:ext cx="148887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94"/>
              </a:lnSpc>
            </a:pPr>
            <a:r>
              <a:rPr lang="en-US" sz="1281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Cost Reduction</a:t>
            </a:r>
            <a:endParaRPr lang="en-US" sz="1281" dirty="0"/>
          </a:p>
        </p:txBody>
      </p:sp>
      <p:sp>
        <p:nvSpPr>
          <p:cNvPr id="6" name="Text 3"/>
          <p:cNvSpPr/>
          <p:nvPr/>
        </p:nvSpPr>
        <p:spPr>
          <a:xfrm>
            <a:off x="3888953" y="2432224"/>
            <a:ext cx="1488877" cy="105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103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operational expenses through reduced manual tasks and automated processes</a:t>
            </a:r>
            <a:endParaRPr lang="en-US" sz="1031" dirty="0"/>
          </a:p>
        </p:txBody>
      </p:sp>
      <p:sp>
        <p:nvSpPr>
          <p:cNvPr id="7" name="Text 4"/>
          <p:cNvSpPr/>
          <p:nvPr/>
        </p:nvSpPr>
        <p:spPr>
          <a:xfrm>
            <a:off x="5542062" y="1550119"/>
            <a:ext cx="1488877" cy="43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406"/>
              </a:lnSpc>
            </a:pPr>
            <a:r>
              <a:rPr lang="en-US" sz="340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75%</a:t>
            </a:r>
            <a:endParaRPr lang="en-US" sz="3406" dirty="0"/>
          </a:p>
        </p:txBody>
      </p:sp>
      <p:sp>
        <p:nvSpPr>
          <p:cNvPr id="8" name="Text 5"/>
          <p:cNvSpPr/>
          <p:nvPr/>
        </p:nvSpPr>
        <p:spPr>
          <a:xfrm>
            <a:off x="5542062" y="2148036"/>
            <a:ext cx="1488877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594"/>
              </a:lnSpc>
            </a:pPr>
            <a:r>
              <a:rPr lang="en-US" sz="1281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Faster Deployment</a:t>
            </a:r>
            <a:endParaRPr lang="en-US" sz="1281" dirty="0"/>
          </a:p>
        </p:txBody>
      </p:sp>
      <p:sp>
        <p:nvSpPr>
          <p:cNvPr id="9" name="Text 6"/>
          <p:cNvSpPr/>
          <p:nvPr/>
        </p:nvSpPr>
        <p:spPr>
          <a:xfrm>
            <a:off x="5542062" y="2637606"/>
            <a:ext cx="1488877" cy="105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103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Accelerated service deployment that aligns network capabilities with dynamic business requirements</a:t>
            </a:r>
            <a:endParaRPr lang="en-US" sz="1031" dirty="0"/>
          </a:p>
        </p:txBody>
      </p:sp>
      <p:sp>
        <p:nvSpPr>
          <p:cNvPr id="10" name="Text 7"/>
          <p:cNvSpPr/>
          <p:nvPr/>
        </p:nvSpPr>
        <p:spPr>
          <a:xfrm>
            <a:off x="7195170" y="1550119"/>
            <a:ext cx="1488877" cy="433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406"/>
              </a:lnSpc>
            </a:pPr>
            <a:r>
              <a:rPr lang="en-US" sz="3406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90%</a:t>
            </a:r>
            <a:endParaRPr lang="en-US" sz="3406" dirty="0"/>
          </a:p>
        </p:txBody>
      </p:sp>
      <p:sp>
        <p:nvSpPr>
          <p:cNvPr id="11" name="Text 8"/>
          <p:cNvSpPr/>
          <p:nvPr/>
        </p:nvSpPr>
        <p:spPr>
          <a:xfrm>
            <a:off x="7195170" y="2148037"/>
            <a:ext cx="1488877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594"/>
              </a:lnSpc>
            </a:pPr>
            <a:r>
              <a:rPr lang="en-US" sz="1281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Risk Mitigation</a:t>
            </a:r>
            <a:endParaRPr lang="en-US" sz="1281" dirty="0"/>
          </a:p>
        </p:txBody>
      </p:sp>
      <p:sp>
        <p:nvSpPr>
          <p:cNvPr id="12" name="Text 9"/>
          <p:cNvSpPr/>
          <p:nvPr/>
        </p:nvSpPr>
        <p:spPr>
          <a:xfrm>
            <a:off x="7195170" y="2432224"/>
            <a:ext cx="1488877" cy="84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25"/>
              </a:lnSpc>
            </a:pPr>
            <a:r>
              <a:rPr lang="en-US" sz="103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Significant reduction in misconfiguration risks and unplanned downtime incidents</a:t>
            </a:r>
            <a:endParaRPr lang="en-US" sz="1031" dirty="0"/>
          </a:p>
        </p:txBody>
      </p:sp>
      <p:sp>
        <p:nvSpPr>
          <p:cNvPr id="13" name="Text 10"/>
          <p:cNvSpPr/>
          <p:nvPr/>
        </p:nvSpPr>
        <p:spPr>
          <a:xfrm>
            <a:off x="3888954" y="3836491"/>
            <a:ext cx="4795093" cy="840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031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operations significantly increase the risk of costly misconfigurations and extended downtime periods. Cisco DNA Center creates a future-proof network infrastructure ready for evolving technologies and emerging security threats.</a:t>
            </a:r>
            <a:endParaRPr lang="en-US" sz="103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14415-8784-B126-2161-E39826846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159BDC-756C-62AC-7EF8-904B656A7C88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27499CA-1DD7-ACED-E0AB-50BDC03ABBA8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16A8CA-D03F-5556-1E26-D904D7E4FD82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216CF-B0A9-6EC6-FC55-20A5E47E90CA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02989-2B63-EAA4-C56F-42D8A159D866}"/>
              </a:ext>
            </a:extLst>
          </p:cNvPr>
          <p:cNvSpPr txBox="1"/>
          <p:nvPr/>
        </p:nvSpPr>
        <p:spPr>
          <a:xfrm>
            <a:off x="692125" y="63307"/>
            <a:ext cx="78676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Explain how automation impacts network management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405FAB-73A5-55E5-8CBA-EB2B22D563C3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CC68B-7A86-DB1F-ADD8-BC992BF8EDA1}"/>
              </a:ext>
            </a:extLst>
          </p:cNvPr>
          <p:cNvSpPr txBox="1"/>
          <p:nvPr/>
        </p:nvSpPr>
        <p:spPr>
          <a:xfrm>
            <a:off x="381819" y="507368"/>
            <a:ext cx="84449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rgbClr val="00FFFF"/>
                </a:highlight>
              </a:rPr>
              <a:t>Traditional Network (Manual Way) Example:</a:t>
            </a:r>
          </a:p>
          <a:p>
            <a:endParaRPr lang="en-US" sz="1200" dirty="0"/>
          </a:p>
          <a:p>
            <a:r>
              <a:rPr lang="en-US" sz="1200" dirty="0"/>
              <a:t>Let’s say you have:</a:t>
            </a:r>
          </a:p>
          <a:p>
            <a:r>
              <a:rPr lang="en-US" sz="1200" dirty="0"/>
              <a:t>5 routers</a:t>
            </a:r>
          </a:p>
          <a:p>
            <a:r>
              <a:rPr lang="en-US" sz="1200" dirty="0"/>
              <a:t>10 switches</a:t>
            </a:r>
          </a:p>
          <a:p>
            <a:r>
              <a:rPr lang="en-US" sz="1200" dirty="0"/>
              <a:t>50 computers</a:t>
            </a:r>
          </a:p>
          <a:p>
            <a:endParaRPr lang="en-US" sz="1200" dirty="0"/>
          </a:p>
          <a:p>
            <a:r>
              <a:rPr lang="en-US" sz="1200" dirty="0"/>
              <a:t>If you want to change something (like update a password, IP, or security rule):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You must log in to each router and switch one by one.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You type commands manually for each device.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It can take hours or even days, and if you make a small mistake, the network may stop working.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200" dirty="0"/>
          </a:p>
          <a:p>
            <a:r>
              <a:rPr lang="en-US" sz="1200" dirty="0">
                <a:highlight>
                  <a:srgbClr val="00FFFF"/>
                </a:highlight>
              </a:rPr>
              <a:t>Automated Network (With Cisco DNA Center) Example :</a:t>
            </a:r>
          </a:p>
          <a:p>
            <a:endParaRPr lang="en-US" sz="1200" dirty="0">
              <a:highlight>
                <a:srgbClr val="00FFFF"/>
              </a:highlight>
            </a:endParaRPr>
          </a:p>
          <a:p>
            <a:r>
              <a:rPr lang="en-US" sz="1200" dirty="0"/>
              <a:t>With Cisco DNA Center, you control everything from one dashboard.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You create a rule or setting once (for example: “set this security policy for all devices”).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DNA Center automatically sends that setting to all routers and switches.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It also checks for problems, fixes small issues, and shows reports on network health.</a:t>
            </a:r>
          </a:p>
        </p:txBody>
      </p:sp>
    </p:spTree>
    <p:extLst>
      <p:ext uri="{BB962C8B-B14F-4D97-AF65-F5344CB8AC3E}">
        <p14:creationId xmlns:p14="http://schemas.microsoft.com/office/powerpoint/2010/main" val="3337592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8E029-B159-4FB1-E3DC-9FF468CF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C45B22-208E-6609-3ED8-97EDC7090F33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D9773F-7C7C-6EE1-17FD-AFBEE484DB75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8BC079-24FB-4575-EDB1-1959764CA90D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6E3FF-356D-D19C-8F37-9F7DC1586E3D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816B3E-C0C1-66AA-3948-C1DFF26FF4F3}"/>
              </a:ext>
            </a:extLst>
          </p:cNvPr>
          <p:cNvSpPr txBox="1"/>
          <p:nvPr/>
        </p:nvSpPr>
        <p:spPr>
          <a:xfrm>
            <a:off x="692125" y="63307"/>
            <a:ext cx="78676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Explain how automation impacts network management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F08D6E-92F7-7174-9617-48F584B2ECE7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8977F-A14F-2BC5-6B49-151E0D707F31}"/>
              </a:ext>
            </a:extLst>
          </p:cNvPr>
          <p:cNvSpPr txBox="1"/>
          <p:nvPr/>
        </p:nvSpPr>
        <p:spPr>
          <a:xfrm>
            <a:off x="301093" y="787676"/>
            <a:ext cx="8444974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What is Network Automation?</a:t>
            </a:r>
          </a:p>
          <a:p>
            <a:endParaRPr lang="en-US" sz="1600" b="1" dirty="0">
              <a:solidFill>
                <a:srgbClr val="403CCF"/>
              </a:solidFill>
              <a:latin typeface="Libre Baskerville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It’s the use of technology to automatically configure, manage, and monitor network devices like routers and switches.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It reduces manual work and helps manage large networks more efficiently.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Automatically sets up and configures devices.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Saves time and effort, as tasks are done faster.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Automatically detects issues like network failures or slow speeds.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Quickly alerts administrators, so problems are fixed faster.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Automation ensures all devices are set up the same way.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Less risk of human error in the configuration.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New devices or network segments can be set up automatically as the network grows.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Makes it easier to expand without manual configuration.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Automatically updates devices to the latest security patches.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Ensures security rules are consistently applied across the network.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Saves money on manual labor.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Optimizes resource use and reduces unnecessary network downtime.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Speeds up the deployment of new services or network changes.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Allows the network to adapt quickly to new business needs or changes.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Faster setup, fewer mistakes, and a more reliable network.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Helps businesses save time, reduce costs, and improve security.</a:t>
            </a:r>
          </a:p>
        </p:txBody>
      </p:sp>
    </p:spTree>
    <p:extLst>
      <p:ext uri="{BB962C8B-B14F-4D97-AF65-F5344CB8AC3E}">
        <p14:creationId xmlns:p14="http://schemas.microsoft.com/office/powerpoint/2010/main" val="36088671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5FC0-7EEB-6A85-236A-B077773A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5F9A9D-CCF6-EC0D-F3F6-6825B105A501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76E23A-834A-E325-F135-20DC5A7712B1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D2435E-B65E-7301-CA4B-30D16AE55EF1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9CFD6-4419-96C1-F269-71245866A158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B2518-A5F5-4A76-0176-5A6E2D82E2E6}"/>
              </a:ext>
            </a:extLst>
          </p:cNvPr>
          <p:cNvSpPr txBox="1"/>
          <p:nvPr/>
        </p:nvSpPr>
        <p:spPr>
          <a:xfrm>
            <a:off x="114827" y="63307"/>
            <a:ext cx="90291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Compare traditional network with controller-based networking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5AC94F-CF46-A078-15BA-BEC3E1BD1092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02927-C6D9-6BD2-4211-DD5DAB0C6749}"/>
              </a:ext>
            </a:extLst>
          </p:cNvPr>
          <p:cNvSpPr txBox="1"/>
          <p:nvPr/>
        </p:nvSpPr>
        <p:spPr>
          <a:xfrm>
            <a:off x="301093" y="787676"/>
            <a:ext cx="8444974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Traditional Networking</a:t>
            </a:r>
          </a:p>
          <a:p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Manual Configuration: Devices configured individually.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Device-Centric: Each device is managed separately.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Limited Automation: Mostly manual tasks.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Less Scalable: Difficult to manage as the network grows.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Time-Consuming: Requires more time for changes and maintenance.</a:t>
            </a:r>
          </a:p>
          <a:p>
            <a:endParaRPr lang="en-US" sz="1200" dirty="0"/>
          </a:p>
          <a:p>
            <a:endParaRPr lang="en-US" sz="1800" dirty="0"/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Controller-Based Networking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Centralized Control: Managed through a central controller.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Automated Management: Tasks like provisioning and monitoring are automated.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Scalable: Easily grows without manual configurations.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Dynamic: Network changes are made easily through software.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Flexible: Can quickly adapt to new needs or configurations..</a:t>
            </a:r>
          </a:p>
        </p:txBody>
      </p:sp>
    </p:spTree>
    <p:extLst>
      <p:ext uri="{BB962C8B-B14F-4D97-AF65-F5344CB8AC3E}">
        <p14:creationId xmlns:p14="http://schemas.microsoft.com/office/powerpoint/2010/main" val="2179042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BA6E5-C9FE-E84E-FBD0-7D45C5BD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4317AD-D9B4-CCE1-0ABE-6FBD135A1536}"/>
              </a:ext>
            </a:extLst>
          </p:cNvPr>
          <p:cNvSpPr/>
          <p:nvPr/>
        </p:nvSpPr>
        <p:spPr>
          <a:xfrm>
            <a:off x="496119" y="1587475"/>
            <a:ext cx="79557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endParaRPr lang="en-US" sz="278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687774-D593-3688-758C-152E78B85967}"/>
              </a:ext>
            </a:extLst>
          </p:cNvPr>
          <p:cNvSpPr/>
          <p:nvPr/>
        </p:nvSpPr>
        <p:spPr>
          <a:xfrm>
            <a:off x="381819" y="415123"/>
            <a:ext cx="19634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endParaRPr lang="en-US" sz="1375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09BFAA-AE46-4C54-26F3-CC331F21D112}"/>
              </a:ext>
            </a:extLst>
          </p:cNvPr>
          <p:cNvSpPr/>
          <p:nvPr/>
        </p:nvSpPr>
        <p:spPr>
          <a:xfrm>
            <a:off x="496119" y="2748037"/>
            <a:ext cx="39029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20644-2BC9-AE3D-D9D0-A41483633785}"/>
              </a:ext>
            </a:extLst>
          </p:cNvPr>
          <p:cNvSpPr txBox="1"/>
          <p:nvPr/>
        </p:nvSpPr>
        <p:spPr>
          <a:xfrm>
            <a:off x="6189133" y="798637"/>
            <a:ext cx="2954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403CCF"/>
                </a:solidFill>
                <a:latin typeface="Libre Baskerville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35121-74DD-1A9F-3862-8A1B7E55383A}"/>
              </a:ext>
            </a:extLst>
          </p:cNvPr>
          <p:cNvSpPr txBox="1"/>
          <p:nvPr/>
        </p:nvSpPr>
        <p:spPr>
          <a:xfrm>
            <a:off x="114827" y="63307"/>
            <a:ext cx="9029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403CCF"/>
                </a:solidFill>
                <a:latin typeface="Libre Baskerville" pitchFamily="34" charset="0"/>
              </a:rPr>
              <a:t>Compare traditional campus device management with Cisco DNA Center enabled device Management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68C6D5-A930-9F3A-AE62-0D4C3ACDFDBC}"/>
              </a:ext>
            </a:extLst>
          </p:cNvPr>
          <p:cNvSpPr txBox="1"/>
          <p:nvPr/>
        </p:nvSpPr>
        <p:spPr>
          <a:xfrm>
            <a:off x="5808133" y="831877"/>
            <a:ext cx="322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57F18-20C8-ECD2-0050-6C8DEDFD6BF4}"/>
              </a:ext>
            </a:extLst>
          </p:cNvPr>
          <p:cNvSpPr txBox="1"/>
          <p:nvPr/>
        </p:nvSpPr>
        <p:spPr>
          <a:xfrm>
            <a:off x="251510" y="1165361"/>
            <a:ext cx="8444974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Traditional Device Management</a:t>
            </a:r>
            <a:endParaRPr lang="en-US" sz="12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Manual Configuration: Each device is configured individually.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Device-Centric: Managed separately, no central control.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Limited Automation: Mostly manual tasks.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Time-Consuming: Hard to scale, error-prone.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No Centralized View: Fragmented monitoring and management.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600" b="1" dirty="0">
                <a:solidFill>
                  <a:srgbClr val="403CCF"/>
                </a:solidFill>
                <a:latin typeface="Libre Baskerville" pitchFamily="34" charset="0"/>
              </a:rPr>
              <a:t>Cisco DNA (Digital Network Architecture) Center Management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Centralized Control: Manage all devices from one platform.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Automated: Provisioning, updates, and monitoring are automated.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Policy-Based: Consistent policies across the network.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Real-Time Analytics: Proactive monitoring and troubleshooting.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Scalable: Easy to scale with minimal manual work.</a:t>
            </a:r>
          </a:p>
        </p:txBody>
      </p:sp>
    </p:spTree>
    <p:extLst>
      <p:ext uri="{BB962C8B-B14F-4D97-AF65-F5344CB8AC3E}">
        <p14:creationId xmlns:p14="http://schemas.microsoft.com/office/powerpoint/2010/main" val="990855386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 Networking Project Proposal by Slidesgo">
  <a:themeElements>
    <a:clrScheme name="Simple Light">
      <a:dk1>
        <a:srgbClr val="FFFFFF"/>
      </a:dk1>
      <a:lt1>
        <a:srgbClr val="000000"/>
      </a:lt1>
      <a:dk2>
        <a:srgbClr val="171717"/>
      </a:dk2>
      <a:lt2>
        <a:srgbClr val="434343"/>
      </a:lt2>
      <a:accent1>
        <a:srgbClr val="CCCCCC"/>
      </a:accent1>
      <a:accent2>
        <a:srgbClr val="11C7D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4316</TotalTime>
  <Words>2333</Words>
  <Application>Microsoft Office PowerPoint</Application>
  <PresentationFormat>On-screen Show (16:9)</PresentationFormat>
  <Paragraphs>346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Doppio One</vt:lpstr>
      <vt:lpstr>Libre Baskerville</vt:lpstr>
      <vt:lpstr>Wingdings</vt:lpstr>
      <vt:lpstr>DM Sans Semi Bold</vt:lpstr>
      <vt:lpstr>DM Sans</vt:lpstr>
      <vt:lpstr>Arial</vt:lpstr>
      <vt:lpstr>Georama</vt:lpstr>
      <vt:lpstr>Encode Sans</vt:lpstr>
      <vt:lpstr>Red Hat Display</vt:lpstr>
      <vt:lpstr>Encode Sans Condensed</vt:lpstr>
      <vt:lpstr>Computer Networking Project Proposal by Slidesgo</vt:lpstr>
      <vt:lpstr>Computer Networking CCNA 200-301</vt:lpstr>
      <vt:lpstr>Course Outline</vt:lpstr>
      <vt:lpstr>Course Outline</vt:lpstr>
      <vt:lpstr>Course Outline</vt:lpstr>
      <vt:lpstr>Module 6 Automation and Programmability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Networking CCNA 200-301</dc:title>
  <cp:lastModifiedBy>Sana Ullah</cp:lastModifiedBy>
  <cp:revision>638</cp:revision>
  <dcterms:modified xsi:type="dcterms:W3CDTF">2025-10-05T08:35:56Z</dcterms:modified>
</cp:coreProperties>
</file>