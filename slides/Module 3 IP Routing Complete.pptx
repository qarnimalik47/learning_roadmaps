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61"/>
  </p:notesMasterIdLst>
  <p:sldIdLst>
    <p:sldId id="256" r:id="rId2"/>
    <p:sldId id="299" r:id="rId3"/>
    <p:sldId id="300" r:id="rId4"/>
    <p:sldId id="301" r:id="rId5"/>
    <p:sldId id="329" r:id="rId6"/>
    <p:sldId id="396" r:id="rId7"/>
    <p:sldId id="397" r:id="rId8"/>
    <p:sldId id="398" r:id="rId9"/>
    <p:sldId id="399" r:id="rId10"/>
    <p:sldId id="427" r:id="rId11"/>
    <p:sldId id="428" r:id="rId12"/>
    <p:sldId id="400" r:id="rId13"/>
    <p:sldId id="401" r:id="rId14"/>
    <p:sldId id="402" r:id="rId15"/>
    <p:sldId id="403" r:id="rId16"/>
    <p:sldId id="404" r:id="rId17"/>
    <p:sldId id="409" r:id="rId18"/>
    <p:sldId id="411" r:id="rId19"/>
    <p:sldId id="412" r:id="rId20"/>
    <p:sldId id="413" r:id="rId21"/>
    <p:sldId id="414" r:id="rId22"/>
    <p:sldId id="415" r:id="rId23"/>
    <p:sldId id="405" r:id="rId24"/>
    <p:sldId id="408" r:id="rId25"/>
    <p:sldId id="430" r:id="rId26"/>
    <p:sldId id="457" r:id="rId27"/>
    <p:sldId id="429" r:id="rId28"/>
    <p:sldId id="406" r:id="rId29"/>
    <p:sldId id="407" r:id="rId30"/>
    <p:sldId id="435" r:id="rId31"/>
    <p:sldId id="416" r:id="rId32"/>
    <p:sldId id="417" r:id="rId33"/>
    <p:sldId id="432" r:id="rId34"/>
    <p:sldId id="433" r:id="rId35"/>
    <p:sldId id="431" r:id="rId36"/>
    <p:sldId id="468" r:id="rId37"/>
    <p:sldId id="473" r:id="rId38"/>
    <p:sldId id="472" r:id="rId39"/>
    <p:sldId id="469" r:id="rId40"/>
    <p:sldId id="470" r:id="rId41"/>
    <p:sldId id="471" r:id="rId42"/>
    <p:sldId id="418" r:id="rId43"/>
    <p:sldId id="419" r:id="rId44"/>
    <p:sldId id="420" r:id="rId45"/>
    <p:sldId id="458" r:id="rId46"/>
    <p:sldId id="459" r:id="rId47"/>
    <p:sldId id="421" r:id="rId48"/>
    <p:sldId id="460" r:id="rId49"/>
    <p:sldId id="423" r:id="rId50"/>
    <p:sldId id="422" r:id="rId51"/>
    <p:sldId id="461" r:id="rId52"/>
    <p:sldId id="462" r:id="rId53"/>
    <p:sldId id="466" r:id="rId54"/>
    <p:sldId id="463" r:id="rId55"/>
    <p:sldId id="464" r:id="rId56"/>
    <p:sldId id="465" r:id="rId57"/>
    <p:sldId id="425" r:id="rId58"/>
    <p:sldId id="434" r:id="rId59"/>
    <p:sldId id="467" r:id="rId60"/>
  </p:sldIdLst>
  <p:sldSz cx="9144000" cy="5143500" type="screen16x9"/>
  <p:notesSz cx="6858000" cy="9144000"/>
  <p:embeddedFontLst>
    <p:embeddedFont>
      <p:font typeface="Doppio One" panose="020B0604020202020204" charset="0"/>
      <p:regular r:id="rId62"/>
    </p:embeddedFont>
    <p:embeddedFont>
      <p:font typeface="Encode Sans" panose="020B0604020202020204" charset="0"/>
      <p:regular r:id="rId63"/>
      <p:bold r:id="rId64"/>
    </p:embeddedFont>
    <p:embeddedFont>
      <p:font typeface="Encode Sans Condensed" panose="020B0604020202020204" charset="0"/>
      <p:regular r:id="rId65"/>
      <p:bold r:id="rId66"/>
    </p:embeddedFont>
    <p:embeddedFont>
      <p:font typeface="Georama" panose="020B0604020202020204" charset="0"/>
      <p:regular r:id="rId67"/>
      <p:bold r:id="rId68"/>
      <p:italic r:id="rId69"/>
      <p:boldItalic r:id="rId70"/>
    </p:embeddedFont>
    <p:embeddedFont>
      <p:font typeface="Libre Baskerville" panose="02000000000000000000" pitchFamily="2" charset="0"/>
      <p:regular r:id="rId71"/>
      <p:bold r:id="rId72"/>
      <p: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a Ullah" initials="SU" lastIdx="1" clrIdx="0">
    <p:extLst>
      <p:ext uri="{19B8F6BF-5375-455C-9EA6-DF929625EA0E}">
        <p15:presenceInfo xmlns:p15="http://schemas.microsoft.com/office/powerpoint/2012/main" userId="472a63953c55904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343FFC-C285-48B6-A5F1-531E15585DCF}">
  <a:tblStyle styleId="{17343FFC-C285-48B6-A5F1-531E15585D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A1F22B5-B5E0-49D3-970D-E05F3AAD8E8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7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10.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502afc7aa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502afc7aa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F1BF5-2989-A984-A309-82BB02165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50B13-66F0-432B-452F-1EB4DF081C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395F86-5D90-4BE8-5130-33D5C05A2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88ACBD-BD36-4D5C-AE45-1303F92CE33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661965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1D0BA-2D9F-825E-96C2-1113C6743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A59DB-D9BE-22FD-08BD-827A6A1B227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62D1429-5B4F-0A95-A443-9E57596B59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702774-E054-8DBB-AE93-E878F4914C0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11909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D54A6-056B-163C-DA66-5094B688E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ABAD9-BDC5-380F-CA7D-BD588BDDC6B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F4F6F26-C0FC-2E20-AC73-7BEAF79D2F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08265-741D-9146-EDE2-9C79192FFA1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74684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7F5A9-B3BA-116C-E58F-B26C32728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2F6C-94F1-3F34-50F5-9984D32FC59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4CFCECE-C4DF-554C-5A5E-191264C0E4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2DC655-18CF-9827-8D9C-246BF2A1DC9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1051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AD03B-546C-CD55-AD6B-D89E660B0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C83AA-73B1-B87B-9605-BB0B85E329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C75B322-A2CE-F766-02A7-2DA7E46130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D83F8C-48A5-3452-9A8F-61EA9D85778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23883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9C851-1118-C12B-EEC6-B925AAB52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88B74-88E7-8CD5-2399-CE06A904FAD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F1AD8E-DBDB-C015-7B2C-0EAD5C5757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AED597-DC76-D666-6347-1FC155E3069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3568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6524A-C2DB-85B6-FCDE-DA616479D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A892E-3D4E-EBDD-898D-5C0408E3A57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57772BB-51B0-FDFB-5FF5-954B651C1B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D4F452-E44C-6CE1-27AB-323B2AA56E6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08104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8582C-F837-09E8-86E2-FA5EEEEEA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84B8A-FF3C-6BBD-7426-1BCE5155813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07FC60-2DF8-6477-AA78-F5B5B0C492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803E7B-4EBB-3F95-66C1-999C9CDC538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89356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51FC5-F25C-F27B-F58F-3D0A8B079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D63B6-A645-428F-254D-14D274C00F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7933FF-E615-6479-000C-9E772B2F05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827293-A2B0-5DFE-C0D8-5CE0100F450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356507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BC771-32FA-0ED2-4400-AB34C329B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C3675-785A-9162-AAC1-37528E884FF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89F2A77-8E10-9985-46E3-16D63A5A92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0AF331-257A-C471-7380-AF1B4FD4AD7B}"/>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51352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24A86-B0EE-D4BF-44CE-77FBA2A80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07CCF-4C44-9BA2-A3E9-A188C51A901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8D11C21-03AE-EFBA-8C7C-2980014C4B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0B25C-0060-E778-16EE-B8AB2A7D813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966138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290DB-131F-B45E-9D83-4ADD89CB5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03610-6AC8-925E-93E2-C59CFB68D6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D10D76E-69A5-8D0A-778B-19873C315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2C40A-7C46-A432-58D4-A160618E2C5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05395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EF26-62F2-9FA7-BC39-0B4BD69AC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BF134-9C69-59AB-1EF1-6F56EE58FA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EB7468-8910-04F9-5B62-40223C2985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2AB7AB-B0F2-B3FF-0F19-92C5E62D94E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23121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87C65-3301-93DE-AAD9-A71BE09D9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886B2-A887-749D-E6C7-25340570A9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05C7D9-0B65-C454-EFCA-933051C3F4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62FBB3-18C3-972A-1F0C-281A3B0E76A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520400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7FF5-36C6-D3A1-063A-3139331F7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258EA-A1E0-A3E4-B38C-9CC41AB1CB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3B83B42-CE50-0050-D414-3D1F6C2245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37F6D1-3EDD-ED0C-10B7-FBC372881772}"/>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63504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FDFE-A360-32E6-391C-6720EF262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5FD6C-9B61-9CD9-214C-EB8087E7D04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6CC52D0-A41D-BF42-2A34-8C43A83129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50421-D074-42EF-582C-D7179B11E51C}"/>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121314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3B07-CC8C-EE1E-31B5-445965D88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79C95-575C-AE11-AEB7-4289B764038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30D7014-1796-EDA5-D5D6-52B1668C08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C5B98A-B5AE-30AD-5567-9EE42E3C78D0}"/>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204997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91826-EA27-157F-AA44-1416587B2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F6127-9481-E667-D37C-B26F3F64ECD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F0401FA-8B82-74C6-0217-1E26ADCD47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1C9489-F073-9BA9-A92D-F41DAB2A68ED}"/>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6628512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0428-4922-E10D-974B-D1C355D62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1D3B6-2EB0-44E6-E4D2-1645CF9BCB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EDA016F-20FA-0959-A99C-F3E14D37AC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D5948D-4D84-9972-9744-660F7EFDBA6A}"/>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988832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15474-2AAE-B578-C22A-E3534D5D9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470A9-B7B2-8253-56AB-9D2B0C157B4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35319EE-7699-EB71-6DD1-ADF99DE5A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0A3C7B-1943-D836-5936-3097D8EAF150}"/>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20738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3B8F0-8EB3-4131-27E2-D8F8DBC77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5A939-4248-7C6A-7571-2675B7AD736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7E882FE-F9CD-93F6-6772-D2313BE338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7B4D3B-54F7-0411-D339-A9A5178EBEAA}"/>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7378850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2F754-15B2-B779-4EF7-6B5EB229B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FEECA-33DD-9450-8BF9-2460778D89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595850-0B06-4719-FCA1-F236233FEC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7F783E-8F5C-F29A-5393-DFA265095E0F}"/>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780146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198E-41AA-5474-E346-DDA66314E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8C1E6-0592-640E-F5A1-B42D356BCD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CAFF4AE-AA50-0581-0B45-114D3974ED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8CC72C-11D4-5B99-BD9F-4D580ED217D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946379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08812-EF44-0319-FE13-3165EEB51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47D01-2444-CB46-01A4-D10ADE9FDC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0757C57-E60F-A637-D92C-7205B07DDC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44AAD3-88F2-948C-E98A-48BDC0785238}"/>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6779489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44D5F-8B43-DA35-5A43-CB69397F8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9063F-3492-10F2-879F-DE52D4B7A73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5A89168-D25E-DB7E-48F2-DCE0BBA1D2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55323-C920-2CDF-30B0-602E3B920214}"/>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4011763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60D5D-6141-BC65-20C5-A9AB1623B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1EA74-127C-D112-AB5E-4E878DE61EB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83E344C-9060-26BD-9FD6-D51516BD66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E6F13-50EB-3667-FC13-1D800D0A7D58}"/>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9734170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8C48F-2D20-65CE-15A3-B3BC3ACD3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035B0-B5E8-98BA-CF7F-6A9A363F9D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14A8ED2-00CB-8F81-A3E0-A4E855F094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05B280-CF10-1152-0AB9-35B229940594}"/>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8429525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9BF4F-67FD-4475-35C1-BAB0CF6AC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7C1D7-ADFE-D131-005D-FC1C2E5D5E3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8A414AB-F682-A499-1B95-4C50052A5B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9B4A64-2930-A1A0-E626-2D28C939437D}"/>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228454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73365-F511-6AE1-E9F4-E15BBEDF0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0C4E0-3C82-24A1-4689-FB27341C57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3C6EE7-7165-D242-8E0D-A73C4018C0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DC88C4-9AF9-428E-203E-2F73028CB31B}"/>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4437203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B7FBD-D632-09F8-7EB6-DB91332AB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A6873-30A8-201D-2F03-F44C2947DEA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10ECABF-DA29-7075-FA58-B1652DB781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530147-05CF-0732-1959-F2013853B839}"/>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1868509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834FE-1E33-F469-8C07-A73AE9174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6AD66-3D7C-D23F-8833-0B84960BF7B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0842BC4-2CCB-EFDB-C82B-BC6887030B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E7126B-C340-56DB-3CFA-35CAFA4A405A}"/>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38026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0C107-C01D-8898-3126-02A7AC66A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1930B-AB4A-E1BF-63F1-ACA15364978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A88EB4-942C-C48F-9B30-A11FF83476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4E80C8-8FE8-A3AF-76A8-EF194A991570}"/>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2505431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21DFD-753B-9E44-6145-979FB1BF5F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C71D1-6045-2683-7915-FF56D92B7F6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734451-69C7-ED76-4A95-439E4163D1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8A75B0-7DF6-41EB-CAE5-1234F79069E7}"/>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4702053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DCB98-5D55-2A4E-DD57-8241BA9F4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EE4DF-A74B-021A-3B1A-992F5B1602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EA9B60B-A448-221B-0178-A476C46B2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9C04EF-1503-7DCF-29B3-BF9536243FDB}"/>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6434374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2319D-0078-C05F-4085-72FE3BCDD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CF825B-39B7-7191-6E97-2085EFE61B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A4181F5-CD35-C13C-75A4-58079502FA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346656-098F-20CA-0A19-B55EA0CAB202}"/>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3176009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E1C70-ADEF-3377-4656-C56DE2064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17F50-363E-5874-195A-7C999A894F7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D68F5DC-55A6-FC39-D5AA-62F92937D0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00009A-AA9D-9DF2-9F44-C0523C579CB0}"/>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007651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3B187-4AEF-74E9-7867-4CEC6E35D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A855C-1AF3-07C7-D248-63B6304CC2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24F855-CF4C-E7FE-5795-D4FA3C34C1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35E663-4564-137D-122A-8FD54B3894D7}"/>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40283555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32DF8-CCDF-087D-323C-9AF65BA8A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C594-A337-21A2-9B15-8D0D07E003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70CCD52-4FA8-57FA-0BAF-74D8CF923B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661D55-FEFF-22DE-1D23-5FDBE99B14D3}"/>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4622788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C1364-D61C-5CE2-5069-1ACF79488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73469-F2E5-4EAE-7826-B2FA9141B30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8ADF0B7-D066-E331-2D8F-E5AFB72570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6B292E-ED56-6832-44F6-EE6E2E446E64}"/>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8991630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5B0B4-443E-4C48-3E8B-D9FC2CE42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D2624-DB72-6E93-879C-C625AE1019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0001292-87FC-0AFE-988E-2A3F6DD0CE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94E6AC-99CA-E60D-E6CD-9545DDC56C52}"/>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6082610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0122-B8ED-04CC-9523-979C726D3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E4880-CE2D-15D6-D571-E95618576B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95D09A-899E-2394-5A86-A5F309F8C2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5FE150-C288-1E99-4B50-FC5A0397AAB9}"/>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419745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B173-ACB9-D07B-9C63-259F4677B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11BD7-52D1-5B5E-FBDA-A79DA45B14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4F1ACE-99E1-1B63-D938-9A22FF134A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A4D397-EBC5-610C-2BE5-36F019D5B242}"/>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42662185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D5353-02E1-12F2-1C5E-9ACC73DFF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4D993-7CD7-A281-A81A-C61CCF76AC4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7B3654-6A97-0D0D-475C-1562EE4699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6F4DF6-72DF-CD4D-842B-F49DD19F4CBE}"/>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5863996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E0F2-69B6-6417-B01E-0DD739FE0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277BD-72B1-7F06-3036-54BD114FBBF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3FBD75D-31BF-349D-1EE0-47E641E80D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94DC66-71D2-1005-1E0E-E3FAFDEADA92}"/>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7813014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E4254-EE08-FA49-ED78-7C2BC9887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C4D72-65CC-C42C-C57B-2087661B70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E7ACB3-593B-F530-1D5C-E4EAEEB90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B3BC03-C6A1-D1B6-B87B-B7887F4F1FDA}"/>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2425294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2F664-2ACF-20DD-AD75-837E4F542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F24B1-D722-73C0-E388-7E088E3B1E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FBA99B-8970-8B58-2C0A-45F3DC35A2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02400C-2970-1FD3-B7FF-379EF573330C}"/>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3990661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2BD5B-9730-FF03-A9FD-5663B7753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1E7FB-9FFA-0D3D-ACAC-28251677F9B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0F7E8EC-A023-2D34-6AF4-86AE42DBA6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64E556-2FC6-C4B9-562B-445BC147FBC7}"/>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3089079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5225-A013-C7EF-5005-3B6484CDE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E470B-92A2-45B9-F0AE-46A6B7B63D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915BAC9-478B-AC1D-E450-2014130272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EE727B-BF05-93D4-9804-0E4A2E11ABAA}"/>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6028686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0886-2352-2F51-947D-035025E32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5094B-1341-5A7D-9C08-F5F71D332A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7B6D919-1909-4409-F8D8-DF6A9210FC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6F087F-5451-0F03-CE92-539166F93201}"/>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9638843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A69B-3DCB-0D63-59C6-ADF5916F6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02412-3C6F-923B-1AFF-5C11DE0C8E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34AE270-0701-4D1B-BE6D-19345E2A84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ACA450-5325-1802-F990-E471D4138B4F}"/>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463202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D3A86-8D47-5E1E-C06F-B2E11535A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63553-0357-73B2-7B0B-62B490DA8E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7289448-149F-7501-1AC2-4FFECB558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C89CF8-D555-C8B5-795E-4E96D4405D64}"/>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7279482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l="3955" t="33705" r="57710" b="5922"/>
          <a:stretch/>
        </p:blipFill>
        <p:spPr>
          <a:xfrm>
            <a:off x="0" y="2133600"/>
            <a:ext cx="3505200" cy="3105151"/>
          </a:xfrm>
          <a:prstGeom prst="rect">
            <a:avLst/>
          </a:prstGeom>
          <a:noFill/>
          <a:ln>
            <a:noFill/>
          </a:ln>
        </p:spPr>
      </p:pic>
      <p:pic>
        <p:nvPicPr>
          <p:cNvPr id="10" name="Google Shape;10;p2"/>
          <p:cNvPicPr preferRelativeResize="0"/>
          <p:nvPr/>
        </p:nvPicPr>
        <p:blipFill rotWithShape="1">
          <a:blip r:embed="rId2">
            <a:alphaModFix amt="28000"/>
          </a:blip>
          <a:srcRect l="40405" t="33702" r="30010" b="6752"/>
          <a:stretch/>
        </p:blipFill>
        <p:spPr>
          <a:xfrm>
            <a:off x="6438900" y="2176200"/>
            <a:ext cx="2705098" cy="3062551"/>
          </a:xfrm>
          <a:prstGeom prst="rect">
            <a:avLst/>
          </a:prstGeom>
          <a:noFill/>
          <a:ln>
            <a:noFill/>
          </a:ln>
        </p:spPr>
      </p:pic>
      <p:sp>
        <p:nvSpPr>
          <p:cNvPr id="11" name="Google Shape;11;p2"/>
          <p:cNvSpPr txBox="1">
            <a:spLocks noGrp="1"/>
          </p:cNvSpPr>
          <p:nvPr>
            <p:ph type="ctrTitle"/>
          </p:nvPr>
        </p:nvSpPr>
        <p:spPr>
          <a:xfrm>
            <a:off x="1473525" y="2562750"/>
            <a:ext cx="6196800" cy="1512600"/>
          </a:xfrm>
          <a:prstGeom prst="rect">
            <a:avLst/>
          </a:prstGeom>
          <a:solidFill>
            <a:schemeClr val="dk2"/>
          </a:solidFill>
        </p:spPr>
        <p:txBody>
          <a:bodyPr spcFirstLastPara="1" wrap="square" lIns="91425" tIns="91425" rIns="91425" bIns="91425" anchor="b" anchorCtr="0">
            <a:noAutofit/>
          </a:bodyPr>
          <a:lstStyle>
            <a:lvl1pPr lvl="0" algn="ctr">
              <a:spcBef>
                <a:spcPts val="0"/>
              </a:spcBef>
              <a:spcAft>
                <a:spcPts val="0"/>
              </a:spcAft>
              <a:buSzPts val="5200"/>
              <a:buNone/>
              <a:defRPr sz="4200">
                <a:latin typeface="Doppio One"/>
                <a:ea typeface="Doppio One"/>
                <a:cs typeface="Doppio One"/>
                <a:sym typeface="Doppio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473675" y="4056400"/>
            <a:ext cx="6196800" cy="5280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600">
                <a:solidFill>
                  <a:schemeClr val="dk1"/>
                </a:solidFill>
                <a:latin typeface="Encode Sans Condensed"/>
                <a:ea typeface="Encode Sans Condensed"/>
                <a:cs typeface="Encode Sans Condensed"/>
                <a:sym typeface="Encode Sans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a:spLocks noGrp="1"/>
          </p:cNvSpPr>
          <p:nvPr>
            <p:ph type="pic" idx="2"/>
          </p:nvPr>
        </p:nvSpPr>
        <p:spPr>
          <a:xfrm>
            <a:off x="0" y="0"/>
            <a:ext cx="9144000" cy="21762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1" name="Shape 45"/>
        <p:cNvGrpSpPr/>
        <p:nvPr/>
      </p:nvGrpSpPr>
      <p:grpSpPr>
        <a:xfrm>
          <a:off x="0" y="0"/>
          <a:ext cx="0" cy="0"/>
          <a:chOff x="0" y="0"/>
          <a:chExt cx="0" cy="0"/>
        </a:xfrm>
      </p:grpSpPr>
      <p:pic>
        <p:nvPicPr>
          <p:cNvPr id="46" name="Google Shape;46;p8"/>
          <p:cNvPicPr preferRelativeResize="0"/>
          <p:nvPr/>
        </p:nvPicPr>
        <p:blipFill rotWithShape="1">
          <a:blip r:embed="rId2">
            <a:alphaModFix amt="28000"/>
          </a:blip>
          <a:srcRect l="-10" r="10"/>
          <a:stretch/>
        </p:blipFill>
        <p:spPr>
          <a:xfrm flipH="1">
            <a:off x="-975" y="-60220"/>
            <a:ext cx="9144000" cy="5280390"/>
          </a:xfrm>
          <a:prstGeom prst="rect">
            <a:avLst/>
          </a:prstGeom>
          <a:noFill/>
          <a:ln>
            <a:noFill/>
          </a:ln>
        </p:spPr>
      </p:pic>
      <p:sp>
        <p:nvSpPr>
          <p:cNvPr id="47" name="Google Shape;47;p8"/>
          <p:cNvSpPr txBox="1">
            <a:spLocks noGrp="1"/>
          </p:cNvSpPr>
          <p:nvPr>
            <p:ph type="title"/>
          </p:nvPr>
        </p:nvSpPr>
        <p:spPr>
          <a:xfrm>
            <a:off x="1388100" y="1275900"/>
            <a:ext cx="6367800" cy="2591700"/>
          </a:xfrm>
          <a:prstGeom prst="rect">
            <a:avLst/>
          </a:prstGeom>
          <a:solidFill>
            <a:schemeClr val="dk2"/>
          </a:solidFill>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a:spLocks noGrp="1"/>
          </p:cNvSpPr>
          <p:nvPr>
            <p:ph type="pic" idx="2"/>
          </p:nvPr>
        </p:nvSpPr>
        <p:spPr>
          <a:xfrm>
            <a:off x="-8500" y="0"/>
            <a:ext cx="9152400" cy="5143500"/>
          </a:xfrm>
          <a:prstGeom prst="rect">
            <a:avLst/>
          </a:prstGeom>
          <a:noFill/>
          <a:ln>
            <a:noFill/>
          </a:ln>
        </p:spPr>
      </p:sp>
      <p:sp>
        <p:nvSpPr>
          <p:cNvPr id="54" name="Google Shape;54;p10"/>
          <p:cNvSpPr txBox="1">
            <a:spLocks noGrp="1"/>
          </p:cNvSpPr>
          <p:nvPr>
            <p:ph type="title"/>
          </p:nvPr>
        </p:nvSpPr>
        <p:spPr>
          <a:xfrm>
            <a:off x="720000" y="597425"/>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CUSTOM_6">
    <p:bg>
      <p:bgPr>
        <a:solidFill>
          <a:schemeClr val="lt1"/>
        </a:solidFill>
        <a:effectLst/>
      </p:bgPr>
    </p:bg>
    <p:spTree>
      <p:nvGrpSpPr>
        <p:cNvPr id="1" name="Shape 101"/>
        <p:cNvGrpSpPr/>
        <p:nvPr/>
      </p:nvGrpSpPr>
      <p:grpSpPr>
        <a:xfrm>
          <a:off x="0" y="0"/>
          <a:ext cx="0" cy="0"/>
          <a:chOff x="0" y="0"/>
          <a:chExt cx="0" cy="0"/>
        </a:xfrm>
      </p:grpSpPr>
      <p:pic>
        <p:nvPicPr>
          <p:cNvPr id="102" name="Google Shape;102;p18"/>
          <p:cNvPicPr preferRelativeResize="0"/>
          <p:nvPr/>
        </p:nvPicPr>
        <p:blipFill rotWithShape="1">
          <a:blip r:embed="rId2">
            <a:alphaModFix amt="28000"/>
          </a:blip>
          <a:srcRect l="-10" r="10"/>
          <a:stretch/>
        </p:blipFill>
        <p:spPr>
          <a:xfrm rot="10800000">
            <a:off x="-975" y="-60220"/>
            <a:ext cx="9144000" cy="5280390"/>
          </a:xfrm>
          <a:prstGeom prst="rect">
            <a:avLst/>
          </a:prstGeom>
          <a:noFill/>
          <a:ln>
            <a:noFill/>
          </a:ln>
        </p:spPr>
      </p:pic>
      <p:sp>
        <p:nvSpPr>
          <p:cNvPr id="103" name="Google Shape;103;p18"/>
          <p:cNvSpPr/>
          <p:nvPr/>
        </p:nvSpPr>
        <p:spPr>
          <a:xfrm>
            <a:off x="447750" y="381000"/>
            <a:ext cx="82485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 name="Google Shape;105;p18"/>
          <p:cNvSpPr txBox="1">
            <a:spLocks noGrp="1"/>
          </p:cNvSpPr>
          <p:nvPr>
            <p:ph type="body" idx="1"/>
          </p:nvPr>
        </p:nvSpPr>
        <p:spPr>
          <a:xfrm>
            <a:off x="8034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
        <p:nvSpPr>
          <p:cNvPr id="106" name="Google Shape;106;p18"/>
          <p:cNvSpPr txBox="1">
            <a:spLocks noGrp="1"/>
          </p:cNvSpPr>
          <p:nvPr>
            <p:ph type="body" idx="2"/>
          </p:nvPr>
        </p:nvSpPr>
        <p:spPr>
          <a:xfrm>
            <a:off x="47658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7">
    <p:bg>
      <p:bgPr>
        <a:solidFill>
          <a:schemeClr val="lt1"/>
        </a:solidFill>
        <a:effectLst/>
      </p:bgPr>
    </p:bg>
    <p:spTree>
      <p:nvGrpSpPr>
        <p:cNvPr id="1" name="Shape 154"/>
        <p:cNvGrpSpPr/>
        <p:nvPr/>
      </p:nvGrpSpPr>
      <p:grpSpPr>
        <a:xfrm>
          <a:off x="0" y="0"/>
          <a:ext cx="0" cy="0"/>
          <a:chOff x="0" y="0"/>
          <a:chExt cx="0" cy="0"/>
        </a:xfrm>
      </p:grpSpPr>
      <p:pic>
        <p:nvPicPr>
          <p:cNvPr id="155" name="Google Shape;155;p23"/>
          <p:cNvPicPr preferRelativeResize="0"/>
          <p:nvPr/>
        </p:nvPicPr>
        <p:blipFill rotWithShape="1">
          <a:blip r:embed="rId2">
            <a:alphaModFix amt="28000"/>
          </a:blip>
          <a:srcRect l="3953" r="60529"/>
          <a:stretch/>
        </p:blipFill>
        <p:spPr>
          <a:xfrm>
            <a:off x="0" y="0"/>
            <a:ext cx="3247699" cy="5143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7_1">
    <p:bg>
      <p:bgPr>
        <a:solidFill>
          <a:schemeClr val="lt2"/>
        </a:solidFill>
        <a:effectLst/>
      </p:bgPr>
    </p:bg>
    <p:spTree>
      <p:nvGrpSpPr>
        <p:cNvPr id="1" name="Shape 156"/>
        <p:cNvGrpSpPr/>
        <p:nvPr/>
      </p:nvGrpSpPr>
      <p:grpSpPr>
        <a:xfrm>
          <a:off x="0" y="0"/>
          <a:ext cx="0" cy="0"/>
          <a:chOff x="0" y="0"/>
          <a:chExt cx="0" cy="0"/>
        </a:xfrm>
      </p:grpSpPr>
      <p:pic>
        <p:nvPicPr>
          <p:cNvPr id="157" name="Google Shape;157;p24"/>
          <p:cNvPicPr preferRelativeResize="0"/>
          <p:nvPr/>
        </p:nvPicPr>
        <p:blipFill rotWithShape="1">
          <a:blip r:embed="rId2">
            <a:alphaModFix amt="28000"/>
          </a:blip>
          <a:srcRect l="43587" r="26256" b="-10"/>
          <a:stretch/>
        </p:blipFill>
        <p:spPr>
          <a:xfrm>
            <a:off x="6347800" y="0"/>
            <a:ext cx="2757350"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CUSTOM_7_1_1">
    <p:bg>
      <p:bgPr>
        <a:solidFill>
          <a:schemeClr val="dk2"/>
        </a:solidFill>
        <a:effectLst/>
      </p:bgPr>
    </p:bg>
    <p:spTree>
      <p:nvGrpSpPr>
        <p:cNvPr id="1" name="Shape 158"/>
        <p:cNvGrpSpPr/>
        <p:nvPr/>
      </p:nvGrpSpPr>
      <p:grpSpPr>
        <a:xfrm>
          <a:off x="0" y="0"/>
          <a:ext cx="0" cy="0"/>
          <a:chOff x="0" y="0"/>
          <a:chExt cx="0" cy="0"/>
        </a:xfrm>
      </p:grpSpPr>
      <p:pic>
        <p:nvPicPr>
          <p:cNvPr id="159" name="Google Shape;159;p25"/>
          <p:cNvPicPr preferRelativeResize="0"/>
          <p:nvPr/>
        </p:nvPicPr>
        <p:blipFill rotWithShape="1">
          <a:blip r:embed="rId2">
            <a:alphaModFix amt="28000"/>
          </a:blip>
          <a:srcRect l="43587" r="26256" b="-10"/>
          <a:stretch/>
        </p:blipFill>
        <p:spPr>
          <a:xfrm flipH="1">
            <a:off x="-21813" y="0"/>
            <a:ext cx="2757350" cy="5143500"/>
          </a:xfrm>
          <a:prstGeom prst="rect">
            <a:avLst/>
          </a:prstGeom>
          <a:noFill/>
          <a:ln>
            <a:noFill/>
          </a:ln>
        </p:spPr>
      </p:pic>
      <p:pic>
        <p:nvPicPr>
          <p:cNvPr id="160" name="Google Shape;160;p25"/>
          <p:cNvPicPr preferRelativeResize="0"/>
          <p:nvPr/>
        </p:nvPicPr>
        <p:blipFill rotWithShape="1">
          <a:blip r:embed="rId2">
            <a:alphaModFix amt="28000"/>
          </a:blip>
          <a:srcRect l="3954" r="60452"/>
          <a:stretch/>
        </p:blipFill>
        <p:spPr>
          <a:xfrm flipH="1">
            <a:off x="5889374" y="0"/>
            <a:ext cx="3254626" cy="51435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24604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1pPr>
            <a:lvl2pPr lvl="1">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2pPr>
            <a:lvl3pPr lvl="2">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3pPr>
            <a:lvl4pPr lvl="3">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4pPr>
            <a:lvl5pPr lvl="4">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5pPr>
            <a:lvl6pPr lvl="5">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6pPr>
            <a:lvl7pPr lvl="6">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7pPr>
            <a:lvl8pPr lvl="7">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8pPr>
            <a:lvl9pPr lvl="8">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Encode Sans"/>
              <a:buChar char="●"/>
              <a:defRPr sz="1800">
                <a:solidFill>
                  <a:schemeClr val="dk1"/>
                </a:solidFill>
                <a:latin typeface="Encode Sans"/>
                <a:ea typeface="Encode Sans"/>
                <a:cs typeface="Encode Sans"/>
                <a:sym typeface="Encode Sans"/>
              </a:defRPr>
            </a:lvl1pPr>
            <a:lvl2pPr marL="914400" lvl="1"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marL="1371600" lvl="2"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marL="1828800" lvl="3"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marL="2286000" lvl="4"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marL="2743200" lvl="5"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marL="3200400" lvl="6"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marL="3657600" lvl="7"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marL="4114800" lvl="8"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6" r:id="rId3"/>
    <p:sldLayoutId id="2147483658" r:id="rId4"/>
    <p:sldLayoutId id="2147483664" r:id="rId5"/>
    <p:sldLayoutId id="2147483669" r:id="rId6"/>
    <p:sldLayoutId id="2147483670" r:id="rId7"/>
    <p:sldLayoutId id="2147483671" r:id="rId8"/>
    <p:sldLayoutId id="2147483675"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27000">
              <a:schemeClr val="dk2"/>
            </a:gs>
            <a:gs pos="100000">
              <a:schemeClr val="lt1"/>
            </a:gs>
          </a:gsLst>
          <a:lin ang="8100019" scaled="0"/>
        </a:gradFill>
        <a:effectLst/>
      </p:bgPr>
    </p:bg>
    <p:spTree>
      <p:nvGrpSpPr>
        <p:cNvPr id="1" name="Shape 170"/>
        <p:cNvGrpSpPr/>
        <p:nvPr/>
      </p:nvGrpSpPr>
      <p:grpSpPr>
        <a:xfrm>
          <a:off x="0" y="0"/>
          <a:ext cx="0" cy="0"/>
          <a:chOff x="0" y="0"/>
          <a:chExt cx="0" cy="0"/>
        </a:xfrm>
      </p:grpSpPr>
      <p:sp>
        <p:nvSpPr>
          <p:cNvPr id="171" name="Google Shape;171;p29"/>
          <p:cNvSpPr txBox="1">
            <a:spLocks noGrp="1"/>
          </p:cNvSpPr>
          <p:nvPr>
            <p:ph type="ctrTitle"/>
          </p:nvPr>
        </p:nvSpPr>
        <p:spPr>
          <a:xfrm>
            <a:off x="1473525" y="2562750"/>
            <a:ext cx="6196800" cy="151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t>Computer Networking</a:t>
            </a:r>
            <a:r>
              <a:rPr lang="en" dirty="0"/>
              <a:t> </a:t>
            </a:r>
            <a:r>
              <a:rPr lang="en" b="1" dirty="0">
                <a:solidFill>
                  <a:schemeClr val="accent2"/>
                </a:solidFill>
              </a:rPr>
              <a:t>CCNA 200-301</a:t>
            </a:r>
            <a:endParaRPr b="1" dirty="0"/>
          </a:p>
        </p:txBody>
      </p:sp>
      <p:pic>
        <p:nvPicPr>
          <p:cNvPr id="173" name="Google Shape;173;p29"/>
          <p:cNvPicPr preferRelativeResize="0">
            <a:picLocks noGrp="1"/>
          </p:cNvPicPr>
          <p:nvPr>
            <p:ph type="pic" idx="2"/>
          </p:nvPr>
        </p:nvPicPr>
        <p:blipFill rotWithShape="1">
          <a:blip r:embed="rId3">
            <a:alphaModFix/>
          </a:blip>
          <a:srcRect t="40896" b="23395"/>
          <a:stretch/>
        </p:blipFill>
        <p:spPr>
          <a:xfrm>
            <a:off x="0" y="0"/>
            <a:ext cx="9144003" cy="21761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AD8B-9C89-45E6-9229-24F01EDE128D}"/>
              </a:ext>
            </a:extLst>
          </p:cNvPr>
          <p:cNvSpPr>
            <a:spLocks noGrp="1"/>
          </p:cNvSpPr>
          <p:nvPr>
            <p:ph type="title"/>
          </p:nvPr>
        </p:nvSpPr>
        <p:spPr>
          <a:xfrm>
            <a:off x="626866" y="398317"/>
            <a:ext cx="7704000" cy="572700"/>
          </a:xfrm>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2CF795C4-3D8C-584A-7E90-CFF5EA566A69}"/>
              </a:ext>
            </a:extLst>
          </p:cNvPr>
          <p:cNvSpPr>
            <a:spLocks noGrp="1"/>
          </p:cNvSpPr>
          <p:nvPr>
            <p:ph type="body" idx="1"/>
          </p:nvPr>
        </p:nvSpPr>
        <p:spPr>
          <a:xfrm>
            <a:off x="720000" y="1008750"/>
            <a:ext cx="3574800" cy="3126000"/>
          </a:xfrm>
        </p:spPr>
        <p:txBody>
          <a:bodyPr/>
          <a:lstStyle/>
          <a:p>
            <a:pPr marL="139700" indent="0">
              <a:buNone/>
            </a:pPr>
            <a:r>
              <a:rPr lang="en-US" b="1" dirty="0"/>
              <a:t>         </a:t>
            </a:r>
            <a:r>
              <a:rPr lang="en-US" b="1" u="sng" dirty="0"/>
              <a:t>Module 1 Network Fundamentals</a:t>
            </a:r>
          </a:p>
          <a:p>
            <a:pPr marL="139700" indent="0">
              <a:buNone/>
            </a:pPr>
            <a:endParaRPr lang="en-US" b="1" dirty="0"/>
          </a:p>
          <a:p>
            <a:pPr marL="139700" indent="0">
              <a:buNone/>
            </a:pPr>
            <a:endParaRPr lang="en-US" b="1" dirty="0"/>
          </a:p>
          <a:p>
            <a:pPr>
              <a:buFont typeface="+mj-lt"/>
              <a:buAutoNum type="arabicPeriod"/>
            </a:pPr>
            <a:r>
              <a:rPr lang="en-US" dirty="0"/>
              <a:t>Explain Role and Function of Network Components : Routers, Switches, Firewall, IPs, WLC, AP, Endpoints, Servers</a:t>
            </a:r>
          </a:p>
          <a:p>
            <a:pPr>
              <a:buFont typeface="+mj-lt"/>
              <a:buAutoNum type="arabicPeriod"/>
            </a:pPr>
            <a:endParaRPr lang="en-US" dirty="0"/>
          </a:p>
          <a:p>
            <a:pPr>
              <a:buFont typeface="+mj-lt"/>
              <a:buAutoNum type="arabicPeriod"/>
            </a:pPr>
            <a:r>
              <a:rPr lang="en-US" dirty="0"/>
              <a:t>OSI Reference Model and TCP/ IP Model</a:t>
            </a:r>
          </a:p>
          <a:p>
            <a:pPr>
              <a:buFont typeface="+mj-lt"/>
              <a:buAutoNum type="arabicPeriod"/>
            </a:pPr>
            <a:endParaRPr lang="en-US" dirty="0"/>
          </a:p>
          <a:p>
            <a:pPr>
              <a:buFont typeface="+mj-lt"/>
              <a:buAutoNum type="arabicPeriod"/>
            </a:pPr>
            <a:r>
              <a:rPr lang="en-US" dirty="0"/>
              <a:t>IPv4 Addressing and Subnetting</a:t>
            </a:r>
          </a:p>
          <a:p>
            <a:pPr>
              <a:buFont typeface="+mj-lt"/>
              <a:buAutoNum type="arabicPeriod"/>
            </a:pPr>
            <a:endParaRPr lang="en-US" dirty="0"/>
          </a:p>
          <a:p>
            <a:pPr>
              <a:buFont typeface="+mj-lt"/>
              <a:buAutoNum type="arabicPeriod"/>
            </a:pPr>
            <a:r>
              <a:rPr lang="en-US" dirty="0"/>
              <a:t>IPv6 Addressing and IPv6 address Types</a:t>
            </a:r>
          </a:p>
          <a:p>
            <a:endParaRPr lang="en-PK" dirty="0"/>
          </a:p>
        </p:txBody>
      </p:sp>
      <p:sp>
        <p:nvSpPr>
          <p:cNvPr id="4" name="Text Placeholder 3">
            <a:extLst>
              <a:ext uri="{FF2B5EF4-FFF2-40B4-BE49-F238E27FC236}">
                <a16:creationId xmlns:a16="http://schemas.microsoft.com/office/drawing/2014/main" id="{CC0B6BE5-6ECB-F1EB-08BA-92F5BF3F34E9}"/>
              </a:ext>
            </a:extLst>
          </p:cNvPr>
          <p:cNvSpPr>
            <a:spLocks noGrp="1"/>
          </p:cNvSpPr>
          <p:nvPr>
            <p:ph type="body" idx="2"/>
          </p:nvPr>
        </p:nvSpPr>
        <p:spPr>
          <a:xfrm>
            <a:off x="4849202" y="1008750"/>
            <a:ext cx="3574800" cy="3126000"/>
          </a:xfrm>
        </p:spPr>
        <p:txBody>
          <a:bodyPr/>
          <a:lstStyle/>
          <a:p>
            <a:pPr marL="139700" indent="0">
              <a:buNone/>
            </a:pPr>
            <a:r>
              <a:rPr lang="en-US" b="1" u="sng" dirty="0"/>
              <a:t>Module 2 Basic Configuration of Router and Lan Switching</a:t>
            </a:r>
          </a:p>
          <a:p>
            <a:endParaRPr lang="en-US" dirty="0"/>
          </a:p>
          <a:p>
            <a:pPr>
              <a:buFont typeface="+mj-lt"/>
              <a:buAutoNum type="arabicPeriod"/>
            </a:pPr>
            <a:r>
              <a:rPr lang="en-US" dirty="0"/>
              <a:t>Modes of Router</a:t>
            </a:r>
          </a:p>
          <a:p>
            <a:pPr>
              <a:buFont typeface="+mj-lt"/>
              <a:buAutoNum type="arabicPeriod"/>
            </a:pPr>
            <a:r>
              <a:rPr lang="en-US" dirty="0"/>
              <a:t>Basic Security of Router (Passwords) and Configuration of IP on Router</a:t>
            </a:r>
          </a:p>
          <a:p>
            <a:pPr>
              <a:buFont typeface="+mj-lt"/>
              <a:buAutoNum type="arabicPeriod"/>
            </a:pPr>
            <a:r>
              <a:rPr lang="en-US" dirty="0"/>
              <a:t>Point to Point connectivity of Routers</a:t>
            </a:r>
          </a:p>
          <a:p>
            <a:pPr>
              <a:buFont typeface="+mj-lt"/>
              <a:buAutoNum type="arabicPeriod"/>
            </a:pPr>
            <a:r>
              <a:rPr lang="en-US" dirty="0"/>
              <a:t>Configure and Verify Layer2 Discovery Protocols (CDP and LLDP)</a:t>
            </a:r>
          </a:p>
          <a:p>
            <a:pPr>
              <a:buFont typeface="+mj-lt"/>
              <a:buAutoNum type="arabicPeriod"/>
            </a:pPr>
            <a:r>
              <a:rPr lang="en-US" dirty="0"/>
              <a:t>Basic Operation of Switch (Collision Domain and Broadcast Domain)</a:t>
            </a:r>
          </a:p>
          <a:p>
            <a:pPr>
              <a:buFont typeface="+mj-lt"/>
              <a:buAutoNum type="arabicPeriod"/>
            </a:pPr>
            <a:r>
              <a:rPr lang="en-US" dirty="0"/>
              <a:t>Spanning-tree Protocol (PVST, RSTP), Port states and Port fast</a:t>
            </a:r>
          </a:p>
          <a:p>
            <a:pPr>
              <a:buFont typeface="+mj-lt"/>
              <a:buAutoNum type="arabicPeriod"/>
            </a:pPr>
            <a:r>
              <a:rPr lang="en-US" dirty="0"/>
              <a:t>Configure and Verify VLANS and Inter-switch Connectivity (Trunk ports, 802.Iq)</a:t>
            </a:r>
          </a:p>
          <a:p>
            <a:pPr>
              <a:buFont typeface="+mj-lt"/>
              <a:buAutoNum type="arabicPeriod"/>
            </a:pPr>
            <a:r>
              <a:rPr lang="en-US" dirty="0"/>
              <a:t>Ether-channel</a:t>
            </a:r>
          </a:p>
          <a:p>
            <a:pPr>
              <a:buFont typeface="+mj-lt"/>
              <a:buAutoNum type="arabicPeriod"/>
            </a:pPr>
            <a:r>
              <a:rPr lang="en-US" dirty="0"/>
              <a:t>Cisco Wireless Architecture and AP modes</a:t>
            </a:r>
          </a:p>
          <a:p>
            <a:pPr>
              <a:buFont typeface="+mj-lt"/>
              <a:buAutoNum type="arabicPeriod"/>
            </a:pPr>
            <a:r>
              <a:rPr lang="en-US" dirty="0"/>
              <a:t>Configuration of Wireless Lan Controller and AP Using GUI (WPA, WPA2, PSK)</a:t>
            </a:r>
          </a:p>
          <a:p>
            <a:endParaRPr lang="en-PK" dirty="0"/>
          </a:p>
        </p:txBody>
      </p:sp>
    </p:spTree>
    <p:extLst>
      <p:ext uri="{BB962C8B-B14F-4D97-AF65-F5344CB8AC3E}">
        <p14:creationId xmlns:p14="http://schemas.microsoft.com/office/powerpoint/2010/main" val="2620441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623FD-A352-CF20-8EA0-DB2B003339A8}"/>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6CA907DA-D133-76D8-1CC0-D7C36E682D1F}"/>
              </a:ext>
            </a:extLst>
          </p:cNvPr>
          <p:cNvSpPr>
            <a:spLocks noGrp="1"/>
          </p:cNvSpPr>
          <p:nvPr>
            <p:ph type="body" idx="1"/>
          </p:nvPr>
        </p:nvSpPr>
        <p:spPr/>
        <p:txBody>
          <a:bodyPr/>
          <a:lstStyle/>
          <a:p>
            <a:pPr marL="139700" indent="0">
              <a:buNone/>
            </a:pPr>
            <a:r>
              <a:rPr lang="en-US" b="1" u="sng" dirty="0"/>
              <a:t>Module 3 IP Routing</a:t>
            </a:r>
          </a:p>
          <a:p>
            <a:pPr marL="139700" indent="0">
              <a:buNone/>
            </a:pPr>
            <a:endParaRPr lang="en-US" b="1" u="sng" dirty="0"/>
          </a:p>
          <a:p>
            <a:pPr marL="368300" indent="-228600">
              <a:buFont typeface="+mj-lt"/>
              <a:buAutoNum type="arabicPeriod"/>
            </a:pPr>
            <a:r>
              <a:rPr lang="en-US" dirty="0"/>
              <a:t>Static Routing with IPv4 and IPv6, floating static route and Default route</a:t>
            </a:r>
          </a:p>
          <a:p>
            <a:pPr marL="368300" indent="-228600">
              <a:buFont typeface="+mj-lt"/>
              <a:buAutoNum type="arabicPeriod"/>
            </a:pPr>
            <a:endParaRPr lang="en-US" dirty="0"/>
          </a:p>
          <a:p>
            <a:pPr marL="368300" indent="-228600">
              <a:buFont typeface="+mj-lt"/>
              <a:buAutoNum type="arabicPeriod"/>
            </a:pPr>
            <a:r>
              <a:rPr lang="en-US" dirty="0"/>
              <a:t>Configure and Verify Single area OSPF</a:t>
            </a:r>
          </a:p>
          <a:p>
            <a:pPr marL="368300" indent="-228600">
              <a:buFont typeface="+mj-lt"/>
              <a:buAutoNum type="arabicPeriod"/>
            </a:pPr>
            <a:endParaRPr lang="en-US" dirty="0"/>
          </a:p>
          <a:p>
            <a:pPr marL="368300" indent="-228600">
              <a:buFont typeface="+mj-lt"/>
              <a:buAutoNum type="arabicPeriod"/>
            </a:pPr>
            <a:r>
              <a:rPr lang="en-US" dirty="0"/>
              <a:t>DR and BDR election. Point to point, Concept of Router-ID</a:t>
            </a:r>
          </a:p>
          <a:p>
            <a:endParaRPr lang="en-PK" dirty="0"/>
          </a:p>
        </p:txBody>
      </p:sp>
      <p:sp>
        <p:nvSpPr>
          <p:cNvPr id="4" name="Text Placeholder 3">
            <a:extLst>
              <a:ext uri="{FF2B5EF4-FFF2-40B4-BE49-F238E27FC236}">
                <a16:creationId xmlns:a16="http://schemas.microsoft.com/office/drawing/2014/main" id="{CA9845EB-6CB3-C181-C3BC-1392C51E3DB3}"/>
              </a:ext>
            </a:extLst>
          </p:cNvPr>
          <p:cNvSpPr>
            <a:spLocks noGrp="1"/>
          </p:cNvSpPr>
          <p:nvPr>
            <p:ph type="body" idx="2"/>
          </p:nvPr>
        </p:nvSpPr>
        <p:spPr/>
        <p:txBody>
          <a:bodyPr/>
          <a:lstStyle/>
          <a:p>
            <a:pPr marL="139700" indent="0">
              <a:buNone/>
            </a:pPr>
            <a:r>
              <a:rPr lang="en-US" b="1" u="sng" dirty="0"/>
              <a:t>Module 4 IP Services</a:t>
            </a:r>
          </a:p>
          <a:p>
            <a:pPr marL="139700" indent="0">
              <a:buNone/>
            </a:pPr>
            <a:endParaRPr lang="en-US" dirty="0"/>
          </a:p>
          <a:p>
            <a:pPr marL="368300" indent="-228600">
              <a:buFont typeface="+mj-lt"/>
              <a:buAutoNum type="arabicPeriod"/>
            </a:pPr>
            <a:r>
              <a:rPr lang="en-US" dirty="0"/>
              <a:t>NAT</a:t>
            </a:r>
          </a:p>
          <a:p>
            <a:pPr marL="368300" indent="-228600">
              <a:buFont typeface="+mj-lt"/>
              <a:buAutoNum type="arabicPeriod"/>
            </a:pPr>
            <a:endParaRPr lang="en-US" dirty="0"/>
          </a:p>
          <a:p>
            <a:pPr marL="368300" indent="-228600">
              <a:buFont typeface="+mj-lt"/>
              <a:buAutoNum type="arabicPeriod"/>
            </a:pPr>
            <a:r>
              <a:rPr lang="en-US" dirty="0"/>
              <a:t>Configure and Verify NTP</a:t>
            </a:r>
          </a:p>
          <a:p>
            <a:pPr marL="368300" indent="-228600">
              <a:buFont typeface="+mj-lt"/>
              <a:buAutoNum type="arabicPeriod"/>
            </a:pPr>
            <a:endParaRPr lang="en-US" dirty="0"/>
          </a:p>
          <a:p>
            <a:pPr marL="368300" indent="-228600">
              <a:buFont typeface="+mj-lt"/>
              <a:buAutoNum type="arabicPeriod"/>
            </a:pPr>
            <a:r>
              <a:rPr lang="en-US" dirty="0"/>
              <a:t>Describe DNS, SNMP, Syslog, QOS, Function of FTP and TFPF in network</a:t>
            </a:r>
          </a:p>
          <a:p>
            <a:pPr marL="368300" indent="-228600">
              <a:buFont typeface="+mj-lt"/>
              <a:buAutoNum type="arabicPeriod"/>
            </a:pPr>
            <a:endParaRPr lang="en-US" dirty="0"/>
          </a:p>
          <a:p>
            <a:pPr marL="368300" indent="-228600">
              <a:buFont typeface="+mj-lt"/>
              <a:buAutoNum type="arabicPeriod"/>
            </a:pPr>
            <a:r>
              <a:rPr lang="en-US" dirty="0"/>
              <a:t>Configuration of DHCP, telnet and SSH</a:t>
            </a:r>
          </a:p>
          <a:p>
            <a:pPr marL="368300" indent="-228600">
              <a:buFont typeface="+mj-lt"/>
              <a:buAutoNum type="arabicPeriod"/>
            </a:pPr>
            <a:endParaRPr lang="en-US" dirty="0"/>
          </a:p>
          <a:p>
            <a:pPr marL="368300" indent="-228600">
              <a:buFont typeface="+mj-lt"/>
              <a:buAutoNum type="arabicPeriod"/>
            </a:pPr>
            <a:r>
              <a:rPr lang="en-US" dirty="0"/>
              <a:t>Describe the function of First hop redundancy protocol (HSRP, VRRP, GLBP)</a:t>
            </a:r>
          </a:p>
          <a:p>
            <a:endParaRPr lang="en-PK" dirty="0"/>
          </a:p>
        </p:txBody>
      </p:sp>
    </p:spTree>
    <p:extLst>
      <p:ext uri="{BB962C8B-B14F-4D97-AF65-F5344CB8AC3E}">
        <p14:creationId xmlns:p14="http://schemas.microsoft.com/office/powerpoint/2010/main" val="1012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E969-00E8-7A11-69BD-BDDBC850DBFA}"/>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F43FA2C1-3BF8-0943-2EEC-DF30B67DE23F}"/>
              </a:ext>
            </a:extLst>
          </p:cNvPr>
          <p:cNvSpPr>
            <a:spLocks noGrp="1"/>
          </p:cNvSpPr>
          <p:nvPr>
            <p:ph type="body" idx="1"/>
          </p:nvPr>
        </p:nvSpPr>
        <p:spPr/>
        <p:txBody>
          <a:bodyPr/>
          <a:lstStyle/>
          <a:p>
            <a:pPr marL="139700" indent="0">
              <a:buNone/>
            </a:pPr>
            <a:r>
              <a:rPr lang="en-US" b="1" u="sng" dirty="0"/>
              <a:t>Module 5 Security Fundamentals</a:t>
            </a:r>
          </a:p>
          <a:p>
            <a:pPr marL="139700" indent="0">
              <a:buNone/>
            </a:pPr>
            <a:endParaRPr lang="en-US" b="1" u="sng" dirty="0"/>
          </a:p>
          <a:p>
            <a:pPr marL="368300" indent="-228600">
              <a:buFont typeface="+mj-lt"/>
              <a:buAutoNum type="arabicPeriod"/>
            </a:pPr>
            <a:r>
              <a:rPr lang="en-US" dirty="0"/>
              <a:t>Configure and Verify Access control List</a:t>
            </a:r>
          </a:p>
          <a:p>
            <a:pPr marL="368300" indent="-228600">
              <a:buFont typeface="+mj-lt"/>
              <a:buAutoNum type="arabicPeriod"/>
            </a:pPr>
            <a:endParaRPr lang="en-US" dirty="0"/>
          </a:p>
          <a:p>
            <a:pPr marL="368300" indent="-228600">
              <a:buFont typeface="+mj-lt"/>
              <a:buAutoNum type="arabicPeriod"/>
            </a:pPr>
            <a:r>
              <a:rPr lang="en-US" dirty="0"/>
              <a:t>Describe VPN Technologies (Site-to-site VPN and Remote access VPN)</a:t>
            </a:r>
          </a:p>
          <a:p>
            <a:pPr marL="368300" indent="-228600">
              <a:buFont typeface="+mj-lt"/>
              <a:buAutoNum type="arabicPeriod"/>
            </a:pPr>
            <a:endParaRPr lang="en-US" dirty="0"/>
          </a:p>
          <a:p>
            <a:pPr marL="368300" indent="-228600">
              <a:buFont typeface="+mj-lt"/>
              <a:buAutoNum type="arabicPeriod"/>
            </a:pPr>
            <a:r>
              <a:rPr lang="en-US" dirty="0"/>
              <a:t>Describe Authentication, Authorization and Accounting (AAA)</a:t>
            </a:r>
          </a:p>
          <a:p>
            <a:pPr marL="368300" indent="-228600">
              <a:buFont typeface="+mj-lt"/>
              <a:buAutoNum type="arabicPeriod"/>
            </a:pPr>
            <a:endParaRPr lang="en-US" dirty="0"/>
          </a:p>
          <a:p>
            <a:pPr marL="368300" indent="-228600">
              <a:buFont typeface="+mj-lt"/>
              <a:buAutoNum type="arabicPeriod"/>
            </a:pPr>
            <a:r>
              <a:rPr lang="en-US" dirty="0"/>
              <a:t>Configure Port Security, DHCP Snooping and Dynamic ARP Inspection</a:t>
            </a:r>
          </a:p>
          <a:p>
            <a:endParaRPr lang="en-PK" dirty="0"/>
          </a:p>
        </p:txBody>
      </p:sp>
      <p:sp>
        <p:nvSpPr>
          <p:cNvPr id="4" name="Text Placeholder 3">
            <a:extLst>
              <a:ext uri="{FF2B5EF4-FFF2-40B4-BE49-F238E27FC236}">
                <a16:creationId xmlns:a16="http://schemas.microsoft.com/office/drawing/2014/main" id="{97641281-3B19-5473-AF2C-C151D36D501E}"/>
              </a:ext>
            </a:extLst>
          </p:cNvPr>
          <p:cNvSpPr>
            <a:spLocks noGrp="1"/>
          </p:cNvSpPr>
          <p:nvPr>
            <p:ph type="body" idx="2"/>
          </p:nvPr>
        </p:nvSpPr>
        <p:spPr/>
        <p:txBody>
          <a:bodyPr/>
          <a:lstStyle/>
          <a:p>
            <a:pPr marL="139700" indent="0">
              <a:buNone/>
            </a:pPr>
            <a:r>
              <a:rPr lang="en-US" b="1" u="sng" dirty="0"/>
              <a:t>Module 6 Automation and Programmability</a:t>
            </a:r>
          </a:p>
          <a:p>
            <a:pPr marL="139700" indent="0">
              <a:buNone/>
            </a:pPr>
            <a:endParaRPr lang="en-US" b="1" u="sng" dirty="0"/>
          </a:p>
          <a:p>
            <a:pPr marL="368300" indent="-228600">
              <a:buFont typeface="+mj-lt"/>
              <a:buAutoNum type="arabicPeriod"/>
            </a:pPr>
            <a:r>
              <a:rPr lang="en-US" dirty="0"/>
              <a:t>Explain how automation impacts network management</a:t>
            </a:r>
          </a:p>
          <a:p>
            <a:pPr marL="368300" indent="-228600">
              <a:buFont typeface="+mj-lt"/>
              <a:buAutoNum type="arabicPeriod"/>
            </a:pPr>
            <a:endParaRPr lang="en-US" dirty="0"/>
          </a:p>
          <a:p>
            <a:pPr marL="368300" indent="-228600">
              <a:buFont typeface="+mj-lt"/>
              <a:buAutoNum type="arabicPeriod"/>
            </a:pPr>
            <a:r>
              <a:rPr lang="en-US" dirty="0"/>
              <a:t>Compare traditional network with controller-based networking</a:t>
            </a:r>
          </a:p>
          <a:p>
            <a:pPr marL="368300" indent="-228600">
              <a:buFont typeface="+mj-lt"/>
              <a:buAutoNum type="arabicPeriod"/>
            </a:pPr>
            <a:endParaRPr lang="en-US" dirty="0"/>
          </a:p>
          <a:p>
            <a:pPr marL="368300" indent="-228600">
              <a:buFont typeface="+mj-lt"/>
              <a:buAutoNum type="arabicPeriod"/>
            </a:pPr>
            <a:r>
              <a:rPr lang="en-US" dirty="0"/>
              <a:t>Compare traditional campus device management with Cisco DNA Center enabled device Management.</a:t>
            </a:r>
          </a:p>
          <a:p>
            <a:endParaRPr lang="en-PK" dirty="0"/>
          </a:p>
        </p:txBody>
      </p:sp>
    </p:spTree>
    <p:extLst>
      <p:ext uri="{BB962C8B-B14F-4D97-AF65-F5344CB8AC3E}">
        <p14:creationId xmlns:p14="http://schemas.microsoft.com/office/powerpoint/2010/main" val="268110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83BC-3DF6-3F58-625C-8848C10A2FE6}"/>
              </a:ext>
            </a:extLst>
          </p:cNvPr>
          <p:cNvSpPr>
            <a:spLocks noGrp="1"/>
          </p:cNvSpPr>
          <p:nvPr>
            <p:ph type="title"/>
          </p:nvPr>
        </p:nvSpPr>
        <p:spPr/>
        <p:txBody>
          <a:bodyPr/>
          <a:lstStyle/>
          <a:p>
            <a:r>
              <a:rPr lang="en-US" b="1" dirty="0"/>
              <a:t>Module 3 IP Routing</a:t>
            </a:r>
            <a:br>
              <a:rPr lang="en-US" b="1" u="sng" dirty="0"/>
            </a:br>
            <a:endParaRPr lang="en-US" dirty="0"/>
          </a:p>
        </p:txBody>
      </p:sp>
      <p:sp>
        <p:nvSpPr>
          <p:cNvPr id="3" name="Text Placeholder 2">
            <a:extLst>
              <a:ext uri="{FF2B5EF4-FFF2-40B4-BE49-F238E27FC236}">
                <a16:creationId xmlns:a16="http://schemas.microsoft.com/office/drawing/2014/main" id="{5D55B719-97A5-6915-1D6C-F1BE14E70F60}"/>
              </a:ext>
            </a:extLst>
          </p:cNvPr>
          <p:cNvSpPr>
            <a:spLocks noGrp="1"/>
          </p:cNvSpPr>
          <p:nvPr>
            <p:ph type="body" idx="1"/>
          </p:nvPr>
        </p:nvSpPr>
        <p:spPr>
          <a:xfrm>
            <a:off x="896534" y="1578366"/>
            <a:ext cx="4869266" cy="2053833"/>
          </a:xfrm>
        </p:spPr>
        <p:txBody>
          <a:bodyPr/>
          <a:lstStyle/>
          <a:p>
            <a:pPr marL="368300" indent="-228600">
              <a:buFont typeface="+mj-lt"/>
              <a:buAutoNum type="arabicPeriod"/>
            </a:pPr>
            <a:r>
              <a:rPr lang="en-US" sz="1600" dirty="0"/>
              <a:t>Static Routing with IPv4 and IPv6, floating static route and Default route</a:t>
            </a:r>
          </a:p>
          <a:p>
            <a:pPr marL="368300" indent="-228600">
              <a:buFont typeface="+mj-lt"/>
              <a:buAutoNum type="arabicPeriod"/>
            </a:pPr>
            <a:endParaRPr lang="en-US" sz="1600" dirty="0"/>
          </a:p>
          <a:p>
            <a:pPr marL="368300" indent="-228600">
              <a:buFont typeface="+mj-lt"/>
              <a:buAutoNum type="arabicPeriod"/>
            </a:pPr>
            <a:r>
              <a:rPr lang="en-US" sz="1600" dirty="0"/>
              <a:t>Configure and Verify Single area OSPF</a:t>
            </a:r>
          </a:p>
          <a:p>
            <a:pPr marL="368300" indent="-228600">
              <a:buFont typeface="+mj-lt"/>
              <a:buAutoNum type="arabicPeriod"/>
            </a:pPr>
            <a:endParaRPr lang="en-US" sz="1600" dirty="0"/>
          </a:p>
          <a:p>
            <a:pPr marL="368300" indent="-228600">
              <a:buFont typeface="+mj-lt"/>
              <a:buAutoNum type="arabicPeriod"/>
            </a:pPr>
            <a:r>
              <a:rPr lang="en-US" sz="1600" dirty="0"/>
              <a:t>DR and BDR election. Point to point, Concept of Router-ID</a:t>
            </a:r>
          </a:p>
          <a:p>
            <a:endParaRPr lang="en-PK" dirty="0"/>
          </a:p>
        </p:txBody>
      </p:sp>
    </p:spTree>
    <p:extLst>
      <p:ext uri="{BB962C8B-B14F-4D97-AF65-F5344CB8AC3E}">
        <p14:creationId xmlns:p14="http://schemas.microsoft.com/office/powerpoint/2010/main" val="409625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8A9994-E439-61D4-2D20-161E96D1F0EC}"/>
              </a:ext>
            </a:extLst>
          </p:cNvPr>
          <p:cNvPicPr>
            <a:picLocks noChangeAspect="1"/>
          </p:cNvPicPr>
          <p:nvPr/>
        </p:nvPicPr>
        <p:blipFill>
          <a:blip r:embed="rId2"/>
          <a:stretch>
            <a:fillRect/>
          </a:stretch>
        </p:blipFill>
        <p:spPr>
          <a:xfrm>
            <a:off x="0" y="0"/>
            <a:ext cx="9144000" cy="3234805"/>
          </a:xfrm>
          <a:prstGeom prst="rect">
            <a:avLst/>
          </a:prstGeom>
        </p:spPr>
      </p:pic>
      <p:sp>
        <p:nvSpPr>
          <p:cNvPr id="5" name="TextBox 4">
            <a:extLst>
              <a:ext uri="{FF2B5EF4-FFF2-40B4-BE49-F238E27FC236}">
                <a16:creationId xmlns:a16="http://schemas.microsoft.com/office/drawing/2014/main" id="{EC511B7D-730A-8A05-4B84-74F0649C8452}"/>
              </a:ext>
            </a:extLst>
          </p:cNvPr>
          <p:cNvSpPr txBox="1"/>
          <p:nvPr/>
        </p:nvSpPr>
        <p:spPr>
          <a:xfrm>
            <a:off x="431800" y="3461378"/>
            <a:ext cx="5257800" cy="1384995"/>
          </a:xfrm>
          <a:prstGeom prst="rect">
            <a:avLst/>
          </a:prstGeom>
          <a:noFill/>
        </p:spPr>
        <p:txBody>
          <a:bodyPr wrap="square">
            <a:spAutoFit/>
          </a:bodyPr>
          <a:lstStyle/>
          <a:p>
            <a:r>
              <a:rPr lang="en-US" sz="1400" dirty="0"/>
              <a:t>Will this Network Communicate?</a:t>
            </a:r>
          </a:p>
          <a:p>
            <a:endParaRPr lang="en-US" dirty="0"/>
          </a:p>
          <a:p>
            <a:pPr marL="285750" indent="-285750">
              <a:buFont typeface="Wingdings" panose="05000000000000000000" pitchFamily="2" charset="2"/>
              <a:buChar char="Ø"/>
            </a:pPr>
            <a:r>
              <a:rPr lang="en-US" dirty="0"/>
              <a:t>This will not communicate because we need to run routing protocol on it.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Routing protocol is need when we connect two Networks</a:t>
            </a:r>
          </a:p>
        </p:txBody>
      </p:sp>
    </p:spTree>
    <p:extLst>
      <p:ext uri="{BB962C8B-B14F-4D97-AF65-F5344CB8AC3E}">
        <p14:creationId xmlns:p14="http://schemas.microsoft.com/office/powerpoint/2010/main" val="2944311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3CB1-AD41-A6AF-2584-9AFB6B0B36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1CAAAA-EAF9-4005-480D-6CEA3BD6B758}"/>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E1004375-21A4-32F2-F639-BC7E5AB033B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622F75B-3763-AFAD-59D7-0F9D60F70BB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D88EA0D-CF27-925D-81B0-DE1FF514290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9F94AB6-231B-27B5-F7FE-15F8D2268D64}"/>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Routing Protocols</a:t>
            </a:r>
          </a:p>
        </p:txBody>
      </p:sp>
      <p:sp>
        <p:nvSpPr>
          <p:cNvPr id="17" name="TextBox 16">
            <a:extLst>
              <a:ext uri="{FF2B5EF4-FFF2-40B4-BE49-F238E27FC236}">
                <a16:creationId xmlns:a16="http://schemas.microsoft.com/office/drawing/2014/main" id="{C18B4428-E045-05C3-0EE5-E8C689CA25F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D2A33618-11C6-DC71-318B-92A30E573C30}"/>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04666C8C-1B7A-8315-EF15-387183663EE2}"/>
              </a:ext>
            </a:extLst>
          </p:cNvPr>
          <p:cNvSpPr txBox="1"/>
          <p:nvPr/>
        </p:nvSpPr>
        <p:spPr>
          <a:xfrm>
            <a:off x="255937" y="927035"/>
            <a:ext cx="8195937" cy="3200876"/>
          </a:xfrm>
          <a:prstGeom prst="rect">
            <a:avLst/>
          </a:prstGeom>
          <a:noFill/>
        </p:spPr>
        <p:txBody>
          <a:bodyPr wrap="square">
            <a:spAutoFit/>
          </a:bodyPr>
          <a:lstStyle/>
          <a:p>
            <a:r>
              <a:rPr lang="en-US" sz="1600" b="1" dirty="0">
                <a:solidFill>
                  <a:srgbClr val="403CCF"/>
                </a:solidFill>
                <a:latin typeface="Libre Baskerville" pitchFamily="34" charset="0"/>
              </a:rPr>
              <a:t>What is Routing?</a:t>
            </a:r>
          </a:p>
          <a:p>
            <a:r>
              <a:rPr lang="en-US" sz="1200" dirty="0"/>
              <a:t>Routing is the process of selecting a path for data packets to travel from the source to the destination across networks.</a:t>
            </a:r>
          </a:p>
          <a:p>
            <a:endParaRPr lang="en-US" sz="900" dirty="0"/>
          </a:p>
          <a:p>
            <a:endParaRPr lang="en-US" sz="900" dirty="0"/>
          </a:p>
          <a:p>
            <a:r>
              <a:rPr lang="en-US" sz="1600" b="1" dirty="0">
                <a:solidFill>
                  <a:srgbClr val="403CCF"/>
                </a:solidFill>
                <a:latin typeface="Libre Baskerville" pitchFamily="34" charset="0"/>
              </a:rPr>
              <a:t>Key Components:</a:t>
            </a:r>
          </a:p>
          <a:p>
            <a:pPr marL="171450" indent="-171450">
              <a:buFont typeface="Wingdings" panose="05000000000000000000" pitchFamily="2" charset="2"/>
              <a:buChar char="Ø"/>
            </a:pPr>
            <a:r>
              <a:rPr lang="en-US" sz="1200" dirty="0"/>
              <a:t>Routers</a:t>
            </a:r>
          </a:p>
          <a:p>
            <a:pPr marL="171450" indent="-171450">
              <a:buFont typeface="Wingdings" panose="05000000000000000000" pitchFamily="2" charset="2"/>
              <a:buChar char="Ø"/>
            </a:pPr>
            <a:r>
              <a:rPr lang="en-US" sz="1200" dirty="0"/>
              <a:t>Routing Tables</a:t>
            </a:r>
          </a:p>
          <a:p>
            <a:pPr marL="171450" indent="-171450">
              <a:buFont typeface="Wingdings" panose="05000000000000000000" pitchFamily="2" charset="2"/>
              <a:buChar char="Ø"/>
            </a:pPr>
            <a:endParaRPr lang="en-US" sz="1200" dirty="0"/>
          </a:p>
          <a:p>
            <a:r>
              <a:rPr lang="en-US" sz="1600" b="1" dirty="0">
                <a:solidFill>
                  <a:srgbClr val="403CCF"/>
                </a:solidFill>
                <a:latin typeface="Libre Baskerville" pitchFamily="34" charset="0"/>
              </a:rPr>
              <a:t>Protocols:</a:t>
            </a:r>
          </a:p>
          <a:p>
            <a:r>
              <a:rPr lang="en-US" sz="1200" dirty="0"/>
              <a:t>A protocol in computer networking is a set of rules that devices follow to communicate and exchange data.</a:t>
            </a:r>
          </a:p>
          <a:p>
            <a:pPr marL="171450" indent="-171450">
              <a:buFont typeface="Wingdings" panose="05000000000000000000" pitchFamily="2" charset="2"/>
              <a:buChar char="Ø"/>
            </a:pPr>
            <a:endParaRPr lang="en-US" sz="1200" dirty="0"/>
          </a:p>
          <a:p>
            <a:r>
              <a:rPr lang="en-US" sz="1600" b="1" dirty="0">
                <a:solidFill>
                  <a:srgbClr val="403CCF"/>
                </a:solidFill>
                <a:latin typeface="Libre Baskerville" pitchFamily="34" charset="0"/>
              </a:rPr>
              <a:t>Types of Routing Protocols:</a:t>
            </a:r>
          </a:p>
          <a:p>
            <a:r>
              <a:rPr lang="en-US" sz="1200" b="1" dirty="0"/>
              <a:t>Main Types:</a:t>
            </a:r>
          </a:p>
          <a:p>
            <a:endParaRPr lang="en-US" sz="1200" b="1" dirty="0"/>
          </a:p>
          <a:p>
            <a:pPr marL="171450" indent="-171450">
              <a:buFont typeface="Wingdings" panose="05000000000000000000" pitchFamily="2" charset="2"/>
              <a:buChar char="Ø"/>
            </a:pPr>
            <a:r>
              <a:rPr lang="en-US" sz="1200" dirty="0"/>
              <a:t>Static Routing Protocols</a:t>
            </a:r>
          </a:p>
          <a:p>
            <a:pPr marL="171450" indent="-171450">
              <a:buFont typeface="Wingdings" panose="05000000000000000000" pitchFamily="2" charset="2"/>
              <a:buChar char="Ø"/>
            </a:pPr>
            <a:r>
              <a:rPr lang="en-US" sz="1200" dirty="0"/>
              <a:t>Dynamic Routing Protocols</a:t>
            </a:r>
          </a:p>
        </p:txBody>
      </p:sp>
    </p:spTree>
    <p:extLst>
      <p:ext uri="{BB962C8B-B14F-4D97-AF65-F5344CB8AC3E}">
        <p14:creationId xmlns:p14="http://schemas.microsoft.com/office/powerpoint/2010/main" val="3180252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0CBCF-6B94-E983-FD60-2A44F367661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05B5D6-8C16-8B50-E473-C20A15E4C7BB}"/>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B4C7D4B-67DB-7930-DC46-0F304CDCAEE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CC0C7CDE-9797-7832-46F9-82C46E044A1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9DFEC80-096F-57F9-02F6-CC02B1E5475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B5731122-327E-3F10-EB64-AC0E7271A1BA}"/>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Routing Protocols</a:t>
            </a:r>
          </a:p>
        </p:txBody>
      </p:sp>
      <p:sp>
        <p:nvSpPr>
          <p:cNvPr id="17" name="TextBox 16">
            <a:extLst>
              <a:ext uri="{FF2B5EF4-FFF2-40B4-BE49-F238E27FC236}">
                <a16:creationId xmlns:a16="http://schemas.microsoft.com/office/drawing/2014/main" id="{C29951F6-DB89-A092-0C5B-5FD46AC827C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D0830616-F221-0C0C-BD22-942F9423C33E}"/>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2E99FC35-4168-C27E-6E7F-51684A05E1CF}"/>
              </a:ext>
            </a:extLst>
          </p:cNvPr>
          <p:cNvSpPr txBox="1"/>
          <p:nvPr/>
        </p:nvSpPr>
        <p:spPr>
          <a:xfrm>
            <a:off x="255938" y="927035"/>
            <a:ext cx="3638729" cy="3570208"/>
          </a:xfrm>
          <a:prstGeom prst="rect">
            <a:avLst/>
          </a:prstGeom>
          <a:noFill/>
        </p:spPr>
        <p:txBody>
          <a:bodyPr wrap="square">
            <a:spAutoFit/>
          </a:bodyPr>
          <a:lstStyle/>
          <a:p>
            <a:r>
              <a:rPr lang="en-US" sz="1600" b="1" dirty="0">
                <a:solidFill>
                  <a:srgbClr val="403CCF"/>
                </a:solidFill>
                <a:latin typeface="Libre Baskerville" pitchFamily="34" charset="0"/>
              </a:rPr>
              <a:t>Static Routing Protocol</a:t>
            </a:r>
          </a:p>
          <a:p>
            <a:r>
              <a:rPr lang="en-US" sz="1200" dirty="0"/>
              <a:t>Routes are manually configured by the network administrator.</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Fixed paths</a:t>
            </a:r>
          </a:p>
          <a:p>
            <a:pPr marL="171450" indent="-171450">
              <a:buFont typeface="Wingdings" panose="05000000000000000000" pitchFamily="2" charset="2"/>
              <a:buChar char="Ø"/>
            </a:pPr>
            <a:r>
              <a:rPr lang="en-US" sz="1200" dirty="0"/>
              <a:t>No overhead for route updates</a:t>
            </a:r>
          </a:p>
          <a:p>
            <a:pPr marL="171450" indent="-171450">
              <a:buFont typeface="Wingdings" panose="05000000000000000000" pitchFamily="2" charset="2"/>
              <a:buChar char="Ø"/>
            </a:pPr>
            <a:r>
              <a:rPr lang="en-US" sz="1200" dirty="0"/>
              <a:t>Time Consuming</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Simple and secure</a:t>
            </a:r>
          </a:p>
          <a:p>
            <a:pPr marL="171450" indent="-171450">
              <a:buFont typeface="Wingdings" panose="05000000000000000000" pitchFamily="2" charset="2"/>
              <a:buChar char="Ø"/>
            </a:pPr>
            <a:r>
              <a:rPr lang="en-US" sz="1200" dirty="0"/>
              <a:t>Requires manual updates in case of network changes</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Example:</a:t>
            </a:r>
          </a:p>
          <a:p>
            <a:pPr marL="171450" indent="-171450">
              <a:buFont typeface="Wingdings" panose="05000000000000000000" pitchFamily="2" charset="2"/>
              <a:buChar char="Ø"/>
            </a:pPr>
            <a:r>
              <a:rPr lang="en-US" sz="1200" dirty="0"/>
              <a:t>Configuration of a route in a small, stable network</a:t>
            </a:r>
          </a:p>
          <a:p>
            <a:endParaRPr lang="en-US" sz="900" dirty="0"/>
          </a:p>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8" name="TextBox 7">
            <a:extLst>
              <a:ext uri="{FF2B5EF4-FFF2-40B4-BE49-F238E27FC236}">
                <a16:creationId xmlns:a16="http://schemas.microsoft.com/office/drawing/2014/main" id="{5C55528C-21A7-666E-6A15-BF8DE9A86244}"/>
              </a:ext>
            </a:extLst>
          </p:cNvPr>
          <p:cNvSpPr txBox="1"/>
          <p:nvPr/>
        </p:nvSpPr>
        <p:spPr>
          <a:xfrm>
            <a:off x="4763420" y="938216"/>
            <a:ext cx="4292601" cy="2923877"/>
          </a:xfrm>
          <a:prstGeom prst="rect">
            <a:avLst/>
          </a:prstGeom>
          <a:noFill/>
        </p:spPr>
        <p:txBody>
          <a:bodyPr wrap="square">
            <a:spAutoFit/>
          </a:bodyPr>
          <a:lstStyle/>
          <a:p>
            <a:r>
              <a:rPr lang="en-US" sz="1600" b="1" dirty="0">
                <a:solidFill>
                  <a:srgbClr val="403CCF"/>
                </a:solidFill>
                <a:latin typeface="Libre Baskerville" pitchFamily="34" charset="0"/>
              </a:rPr>
              <a:t>Dynamic Routing Protocol</a:t>
            </a:r>
          </a:p>
          <a:p>
            <a:r>
              <a:rPr lang="en-US" sz="1200" dirty="0"/>
              <a:t>Routes are automatically adjusted based on network conditions.</a:t>
            </a:r>
          </a:p>
          <a:p>
            <a:endParaRPr lang="en-US" sz="1200" dirty="0"/>
          </a:p>
          <a:p>
            <a:pPr marL="171450" indent="-171450">
              <a:buFont typeface="Wingdings" panose="05000000000000000000" pitchFamily="2" charset="2"/>
              <a:buChar char="Ø"/>
            </a:pPr>
            <a:r>
              <a:rPr lang="en-US" sz="1200" dirty="0"/>
              <a:t>Requires routing protocols to operate</a:t>
            </a:r>
          </a:p>
          <a:p>
            <a:pPr marL="171450" indent="-171450">
              <a:buFont typeface="Wingdings" panose="05000000000000000000" pitchFamily="2" charset="2"/>
              <a:buChar char="Ø"/>
            </a:pPr>
            <a:r>
              <a:rPr lang="en-US" sz="1200" dirty="0"/>
              <a:t>Automatically updates routes</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Consumes bandwidth for updates</a:t>
            </a:r>
          </a:p>
          <a:p>
            <a:endParaRPr lang="en-US" sz="1200" dirty="0"/>
          </a:p>
          <a:p>
            <a:endParaRPr lang="en-US" sz="1200" dirty="0"/>
          </a:p>
          <a:p>
            <a:r>
              <a:rPr lang="en-US" sz="1200" dirty="0"/>
              <a:t>Examples:</a:t>
            </a:r>
          </a:p>
          <a:p>
            <a:pPr marL="171450" indent="-171450">
              <a:buFont typeface="Arial" panose="020B0604020202020204" pitchFamily="34" charset="0"/>
              <a:buChar char="•"/>
            </a:pPr>
            <a:r>
              <a:rPr lang="en-US" sz="1200" dirty="0"/>
              <a:t>RIP (Routing Information Protocol)</a:t>
            </a:r>
          </a:p>
          <a:p>
            <a:pPr marL="171450" indent="-171450">
              <a:buFont typeface="Arial" panose="020B0604020202020204" pitchFamily="34" charset="0"/>
              <a:buChar char="•"/>
            </a:pPr>
            <a:r>
              <a:rPr lang="en-US" sz="1200" dirty="0"/>
              <a:t>OSPF (Open Shortest Path First)</a:t>
            </a:r>
          </a:p>
          <a:p>
            <a:pPr marL="171450" indent="-171450">
              <a:buFont typeface="Arial" panose="020B0604020202020204" pitchFamily="34" charset="0"/>
              <a:buChar char="•"/>
            </a:pPr>
            <a:r>
              <a:rPr lang="en-US" sz="1200" dirty="0"/>
              <a:t>EIGRP (Enhanced Interior Gateway Routing Protocol)</a:t>
            </a:r>
          </a:p>
          <a:p>
            <a:pPr marL="171450" indent="-171450">
              <a:buFont typeface="Arial" panose="020B0604020202020204" pitchFamily="34" charset="0"/>
              <a:buChar char="•"/>
            </a:pPr>
            <a:r>
              <a:rPr lang="en-US" sz="1200" dirty="0"/>
              <a:t>BGP (Border Gateway Protocol)</a:t>
            </a:r>
          </a:p>
        </p:txBody>
      </p:sp>
    </p:spTree>
    <p:extLst>
      <p:ext uri="{BB962C8B-B14F-4D97-AF65-F5344CB8AC3E}">
        <p14:creationId xmlns:p14="http://schemas.microsoft.com/office/powerpoint/2010/main" val="3218590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7B2D-655B-D6F6-26F0-3B5C34DEE9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FD4A33-C75E-0FA2-388D-4FECC79AC76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99CE6A6-3615-64A4-3CA7-C9DC552C815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25DAC8E-740F-937F-178B-3C2B1D0BE16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15E6065-397C-AC01-BB7C-3DCCBEDACB0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10648F2-4B40-6637-9117-595C0D643B5C}"/>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Routing Protocols</a:t>
            </a:r>
          </a:p>
        </p:txBody>
      </p:sp>
      <p:sp>
        <p:nvSpPr>
          <p:cNvPr id="17" name="TextBox 16">
            <a:extLst>
              <a:ext uri="{FF2B5EF4-FFF2-40B4-BE49-F238E27FC236}">
                <a16:creationId xmlns:a16="http://schemas.microsoft.com/office/drawing/2014/main" id="{079D9339-EADF-9562-1489-74E60CA88615}"/>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320D34D6-E88A-309C-22D1-209E4465C9E6}"/>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CE7A846C-6CCB-37B6-CF8E-6FA7E5ECB9B4}"/>
              </a:ext>
            </a:extLst>
          </p:cNvPr>
          <p:cNvSpPr txBox="1"/>
          <p:nvPr/>
        </p:nvSpPr>
        <p:spPr>
          <a:xfrm>
            <a:off x="255939" y="927035"/>
            <a:ext cx="3300062" cy="2323713"/>
          </a:xfrm>
          <a:prstGeom prst="rect">
            <a:avLst/>
          </a:prstGeom>
          <a:noFill/>
        </p:spPr>
        <p:txBody>
          <a:bodyPr wrap="square">
            <a:spAutoFit/>
          </a:bodyPr>
          <a:lstStyle/>
          <a:p>
            <a:r>
              <a:rPr lang="en-US" sz="1600" b="1" dirty="0">
                <a:solidFill>
                  <a:srgbClr val="403CCF"/>
                </a:solidFill>
                <a:latin typeface="Libre Baskerville" pitchFamily="34" charset="0"/>
              </a:rPr>
              <a:t>When to Use Static Routing?</a:t>
            </a:r>
          </a:p>
          <a:p>
            <a:r>
              <a:rPr lang="en-US" sz="1200" b="1" dirty="0"/>
              <a:t>Ideal Scenarios:</a:t>
            </a:r>
          </a:p>
          <a:p>
            <a:endParaRPr lang="en-US" sz="1200" dirty="0"/>
          </a:p>
          <a:p>
            <a:pPr marL="171450" indent="-171450">
              <a:buFont typeface="Wingdings" panose="05000000000000000000" pitchFamily="2" charset="2"/>
              <a:buChar char="Ø"/>
            </a:pPr>
            <a:r>
              <a:rPr lang="en-US" sz="1200" dirty="0"/>
              <a:t>Small, simple networks</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High-security environments</a:t>
            </a:r>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r>
              <a:rPr lang="en-US" sz="1200" dirty="0"/>
              <a:t>Networks with no frequent topology changes</a:t>
            </a:r>
            <a:endParaRPr lang="en-US" sz="900" dirty="0"/>
          </a:p>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8" name="TextBox 7">
            <a:extLst>
              <a:ext uri="{FF2B5EF4-FFF2-40B4-BE49-F238E27FC236}">
                <a16:creationId xmlns:a16="http://schemas.microsoft.com/office/drawing/2014/main" id="{6542BA0E-84AA-D3B4-2674-5D72D70AD6F1}"/>
              </a:ext>
            </a:extLst>
          </p:cNvPr>
          <p:cNvSpPr txBox="1"/>
          <p:nvPr/>
        </p:nvSpPr>
        <p:spPr>
          <a:xfrm>
            <a:off x="4473997" y="927035"/>
            <a:ext cx="4292601" cy="1077218"/>
          </a:xfrm>
          <a:prstGeom prst="rect">
            <a:avLst/>
          </a:prstGeom>
          <a:noFill/>
        </p:spPr>
        <p:txBody>
          <a:bodyPr wrap="square">
            <a:spAutoFit/>
          </a:bodyPr>
          <a:lstStyle/>
          <a:p>
            <a:r>
              <a:rPr lang="en-US" sz="1600" b="1" dirty="0">
                <a:solidFill>
                  <a:srgbClr val="403CCF"/>
                </a:solidFill>
                <a:latin typeface="Libre Baskerville" pitchFamily="34" charset="0"/>
              </a:rPr>
              <a:t>When to Use Dynamic Routing?</a:t>
            </a:r>
          </a:p>
          <a:p>
            <a:r>
              <a:rPr lang="en-US" sz="1200" b="1" dirty="0"/>
              <a:t>Ideal Scenarios:</a:t>
            </a:r>
          </a:p>
          <a:p>
            <a:endParaRPr lang="en-US" sz="1200" b="1" dirty="0"/>
          </a:p>
          <a:p>
            <a:pPr marL="171450" indent="-171450">
              <a:buFont typeface="Wingdings" panose="05000000000000000000" pitchFamily="2" charset="2"/>
              <a:buChar char="Ø"/>
            </a:pPr>
            <a:r>
              <a:rPr lang="en-US" sz="1200" dirty="0"/>
              <a:t>Large, complex networks</a:t>
            </a:r>
          </a:p>
          <a:p>
            <a:pPr marL="171450" indent="-171450">
              <a:buFont typeface="Wingdings" panose="05000000000000000000" pitchFamily="2" charset="2"/>
              <a:buChar char="Ø"/>
            </a:pPr>
            <a:r>
              <a:rPr lang="en-US" sz="1200" dirty="0"/>
              <a:t>Networks requiring frequent updates</a:t>
            </a:r>
          </a:p>
        </p:txBody>
      </p:sp>
      <p:sp>
        <p:nvSpPr>
          <p:cNvPr id="11" name="TextBox 10">
            <a:extLst>
              <a:ext uri="{FF2B5EF4-FFF2-40B4-BE49-F238E27FC236}">
                <a16:creationId xmlns:a16="http://schemas.microsoft.com/office/drawing/2014/main" id="{47C88D01-D910-20E5-2DBE-688FDC2A9C24}"/>
              </a:ext>
            </a:extLst>
          </p:cNvPr>
          <p:cNvSpPr txBox="1"/>
          <p:nvPr/>
        </p:nvSpPr>
        <p:spPr>
          <a:xfrm>
            <a:off x="263134" y="3135079"/>
            <a:ext cx="4572000" cy="553998"/>
          </a:xfrm>
          <a:prstGeom prst="rect">
            <a:avLst/>
          </a:prstGeom>
          <a:noFill/>
        </p:spPr>
        <p:txBody>
          <a:bodyPr wrap="square">
            <a:spAutoFit/>
          </a:bodyPr>
          <a:lstStyle/>
          <a:p>
            <a:r>
              <a:rPr lang="en-US" sz="1600" b="1" dirty="0">
                <a:solidFill>
                  <a:srgbClr val="403CCF"/>
                </a:solidFill>
                <a:latin typeface="Libre Baskerville" pitchFamily="34" charset="0"/>
              </a:rPr>
              <a:t>Difference between Routing and Routed:</a:t>
            </a:r>
          </a:p>
          <a:p>
            <a:endParaRPr lang="en-PK" dirty="0"/>
          </a:p>
        </p:txBody>
      </p:sp>
      <p:sp>
        <p:nvSpPr>
          <p:cNvPr id="13" name="TextBox 12">
            <a:extLst>
              <a:ext uri="{FF2B5EF4-FFF2-40B4-BE49-F238E27FC236}">
                <a16:creationId xmlns:a16="http://schemas.microsoft.com/office/drawing/2014/main" id="{292C5DAF-3A17-188E-378C-2F8D41FB80CB}"/>
              </a:ext>
            </a:extLst>
          </p:cNvPr>
          <p:cNvSpPr txBox="1"/>
          <p:nvPr/>
        </p:nvSpPr>
        <p:spPr>
          <a:xfrm>
            <a:off x="381818" y="3542630"/>
            <a:ext cx="4017243" cy="1415772"/>
          </a:xfrm>
          <a:prstGeom prst="rect">
            <a:avLst/>
          </a:prstGeom>
          <a:noFill/>
        </p:spPr>
        <p:txBody>
          <a:bodyPr wrap="square">
            <a:spAutoFit/>
          </a:bodyPr>
          <a:lstStyle/>
          <a:p>
            <a:r>
              <a:rPr lang="en-US" b="1" dirty="0"/>
              <a:t>Routing</a:t>
            </a:r>
          </a:p>
          <a:p>
            <a:pPr marL="285750" indent="-285750">
              <a:buFont typeface="Wingdings" panose="05000000000000000000" pitchFamily="2" charset="2"/>
              <a:buChar char="Ø"/>
            </a:pPr>
            <a:r>
              <a:rPr lang="en-US" sz="1200" dirty="0"/>
              <a:t>Forwarding the packet from one Network to another Network is called routing.</a:t>
            </a:r>
          </a:p>
          <a:p>
            <a:pPr marL="285750" indent="-285750">
              <a:buFont typeface="Wingdings" panose="05000000000000000000" pitchFamily="2" charset="2"/>
              <a:buChar char="Ø"/>
            </a:pPr>
            <a:r>
              <a:rPr lang="en-US" sz="1200" dirty="0"/>
              <a:t>The process of determining the path for data packets in a network.</a:t>
            </a:r>
          </a:p>
          <a:p>
            <a:pPr marL="285750" indent="-285750">
              <a:buFont typeface="Wingdings" panose="05000000000000000000" pitchFamily="2" charset="2"/>
              <a:buChar char="Ø"/>
            </a:pPr>
            <a:r>
              <a:rPr lang="en-US" sz="1200" dirty="0"/>
              <a:t>Concerned with the decision-making process (how and where to send data).</a:t>
            </a:r>
            <a:endParaRPr lang="en-PK" sz="1200" dirty="0"/>
          </a:p>
        </p:txBody>
      </p:sp>
      <p:sp>
        <p:nvSpPr>
          <p:cNvPr id="15" name="TextBox 14">
            <a:extLst>
              <a:ext uri="{FF2B5EF4-FFF2-40B4-BE49-F238E27FC236}">
                <a16:creationId xmlns:a16="http://schemas.microsoft.com/office/drawing/2014/main" id="{73277A71-7A3F-FDB6-4835-A31E2978EDCC}"/>
              </a:ext>
            </a:extLst>
          </p:cNvPr>
          <p:cNvSpPr txBox="1"/>
          <p:nvPr/>
        </p:nvSpPr>
        <p:spPr>
          <a:xfrm>
            <a:off x="5058197" y="3537727"/>
            <a:ext cx="4017243" cy="1046440"/>
          </a:xfrm>
          <a:prstGeom prst="rect">
            <a:avLst/>
          </a:prstGeom>
          <a:noFill/>
        </p:spPr>
        <p:txBody>
          <a:bodyPr wrap="square">
            <a:spAutoFit/>
          </a:bodyPr>
          <a:lstStyle/>
          <a:p>
            <a:r>
              <a:rPr lang="en-US" b="1" dirty="0"/>
              <a:t>Routed</a:t>
            </a:r>
          </a:p>
          <a:p>
            <a:pPr marL="285750" indent="-285750">
              <a:buFont typeface="Wingdings" panose="05000000000000000000" pitchFamily="2" charset="2"/>
              <a:buChar char="Ø"/>
            </a:pPr>
            <a:r>
              <a:rPr lang="en-US" sz="1200" dirty="0"/>
              <a:t>Refers to data packets that are forwarded across the network.</a:t>
            </a:r>
          </a:p>
          <a:p>
            <a:pPr marL="285750" indent="-285750">
              <a:buFont typeface="Wingdings" panose="05000000000000000000" pitchFamily="2" charset="2"/>
              <a:buChar char="Ø"/>
            </a:pPr>
            <a:r>
              <a:rPr lang="en-US" sz="1200" dirty="0"/>
              <a:t>Refers to the actual data or payload being transmitted.</a:t>
            </a:r>
            <a:endParaRPr lang="en-PK" sz="1200" dirty="0"/>
          </a:p>
        </p:txBody>
      </p:sp>
      <p:sp>
        <p:nvSpPr>
          <p:cNvPr id="18" name="TextBox 17">
            <a:extLst>
              <a:ext uri="{FF2B5EF4-FFF2-40B4-BE49-F238E27FC236}">
                <a16:creationId xmlns:a16="http://schemas.microsoft.com/office/drawing/2014/main" id="{597E4859-62E8-8AA8-4745-EDC3A79D40E0}"/>
              </a:ext>
            </a:extLst>
          </p:cNvPr>
          <p:cNvSpPr txBox="1"/>
          <p:nvPr/>
        </p:nvSpPr>
        <p:spPr>
          <a:xfrm>
            <a:off x="381818" y="2801093"/>
            <a:ext cx="8541900" cy="307777"/>
          </a:xfrm>
          <a:prstGeom prst="rect">
            <a:avLst/>
          </a:prstGeom>
          <a:noFill/>
        </p:spPr>
        <p:txBody>
          <a:bodyPr wrap="square">
            <a:spAutoFit/>
          </a:bodyPr>
          <a:lstStyle/>
          <a:p>
            <a:r>
              <a:rPr lang="en-US" b="1" dirty="0"/>
              <a:t>**********************************************************************************************************************</a:t>
            </a:r>
            <a:endParaRPr lang="en-PK" b="1" dirty="0"/>
          </a:p>
        </p:txBody>
      </p:sp>
    </p:spTree>
    <p:extLst>
      <p:ext uri="{BB962C8B-B14F-4D97-AF65-F5344CB8AC3E}">
        <p14:creationId xmlns:p14="http://schemas.microsoft.com/office/powerpoint/2010/main" val="147831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5ED00-5AF1-FF94-D1CC-29FB64C98DF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F8B330E-06E2-B1FF-2EFC-E1852F8FF811}"/>
              </a:ext>
            </a:extLst>
          </p:cNvPr>
          <p:cNvPicPr>
            <a:picLocks noChangeAspect="1"/>
          </p:cNvPicPr>
          <p:nvPr/>
        </p:nvPicPr>
        <p:blipFill>
          <a:blip r:embed="rId2"/>
          <a:stretch>
            <a:fillRect/>
          </a:stretch>
        </p:blipFill>
        <p:spPr>
          <a:xfrm>
            <a:off x="0" y="1"/>
            <a:ext cx="9144000" cy="5232400"/>
          </a:xfrm>
          <a:prstGeom prst="rect">
            <a:avLst/>
          </a:prstGeom>
        </p:spPr>
      </p:pic>
      <p:sp>
        <p:nvSpPr>
          <p:cNvPr id="4" name="TextBox 3">
            <a:extLst>
              <a:ext uri="{FF2B5EF4-FFF2-40B4-BE49-F238E27FC236}">
                <a16:creationId xmlns:a16="http://schemas.microsoft.com/office/drawing/2014/main" id="{2E33ACF0-E74F-4A64-E171-BF5C8498D057}"/>
              </a:ext>
            </a:extLst>
          </p:cNvPr>
          <p:cNvSpPr txBox="1"/>
          <p:nvPr/>
        </p:nvSpPr>
        <p:spPr>
          <a:xfrm>
            <a:off x="292100" y="239812"/>
            <a:ext cx="4631266" cy="307777"/>
          </a:xfrm>
          <a:prstGeom prst="rect">
            <a:avLst/>
          </a:prstGeom>
          <a:noFill/>
        </p:spPr>
        <p:txBody>
          <a:bodyPr wrap="square">
            <a:spAutoFit/>
          </a:bodyPr>
          <a:lstStyle/>
          <a:p>
            <a:r>
              <a:rPr lang="en-US" sz="1400" b="1" dirty="0">
                <a:solidFill>
                  <a:srgbClr val="403CCF"/>
                </a:solidFill>
                <a:latin typeface="Libre Baskerville" pitchFamily="34" charset="0"/>
              </a:rPr>
              <a:t>Static Routing Practical 1</a:t>
            </a:r>
          </a:p>
        </p:txBody>
      </p:sp>
    </p:spTree>
    <p:extLst>
      <p:ext uri="{BB962C8B-B14F-4D97-AF65-F5344CB8AC3E}">
        <p14:creationId xmlns:p14="http://schemas.microsoft.com/office/powerpoint/2010/main" val="35719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9BFB-F85A-FAC6-F6C8-170A72398D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0B82D7-0071-9C06-FB84-97A3997D2C3D}"/>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B97C1538-4388-EA91-D976-630DBF6D5E6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EACC093-F279-32A3-54C6-746CFEE2BD9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8E208D56-8C1B-8195-CD4C-9014E79791F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214BEED-9FBB-CFC8-07A2-C16B8F35F285}"/>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Static Routing Lab</a:t>
            </a:r>
          </a:p>
        </p:txBody>
      </p:sp>
      <p:sp>
        <p:nvSpPr>
          <p:cNvPr id="17" name="TextBox 16">
            <a:extLst>
              <a:ext uri="{FF2B5EF4-FFF2-40B4-BE49-F238E27FC236}">
                <a16:creationId xmlns:a16="http://schemas.microsoft.com/office/drawing/2014/main" id="{DAA2C4FE-F513-97F9-044B-00DED118936E}"/>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1A9E538B-8E05-F917-BB05-F9A3DD0F0BAD}"/>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56939801-47CC-F191-04D9-11E5DDC65389}"/>
              </a:ext>
            </a:extLst>
          </p:cNvPr>
          <p:cNvSpPr txBox="1"/>
          <p:nvPr/>
        </p:nvSpPr>
        <p:spPr>
          <a:xfrm>
            <a:off x="255939" y="927035"/>
            <a:ext cx="3300062" cy="600164"/>
          </a:xfrm>
          <a:prstGeom prst="rect">
            <a:avLst/>
          </a:prstGeom>
          <a:noFill/>
        </p:spPr>
        <p:txBody>
          <a:bodyPr wrap="square">
            <a:spAutoFit/>
          </a:bodyPr>
          <a:lstStyle/>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8" name="TextBox 7">
            <a:extLst>
              <a:ext uri="{FF2B5EF4-FFF2-40B4-BE49-F238E27FC236}">
                <a16:creationId xmlns:a16="http://schemas.microsoft.com/office/drawing/2014/main" id="{847A0B7A-2428-6293-7549-27BF8ED431E8}"/>
              </a:ext>
            </a:extLst>
          </p:cNvPr>
          <p:cNvSpPr txBox="1"/>
          <p:nvPr/>
        </p:nvSpPr>
        <p:spPr>
          <a:xfrm>
            <a:off x="220279" y="476190"/>
            <a:ext cx="4572000" cy="3016210"/>
          </a:xfrm>
          <a:prstGeom prst="rect">
            <a:avLst/>
          </a:prstGeom>
          <a:noFill/>
        </p:spPr>
        <p:txBody>
          <a:bodyPr wrap="square">
            <a:spAutoFit/>
          </a:bodyPr>
          <a:lstStyle/>
          <a:p>
            <a:r>
              <a:rPr lang="en-US" sz="1400" b="1" dirty="0">
                <a:solidFill>
                  <a:srgbClr val="403CCF"/>
                </a:solidFill>
                <a:latin typeface="Libre Baskerville" pitchFamily="34" charset="0"/>
              </a:rPr>
              <a:t>R1</a:t>
            </a:r>
          </a:p>
          <a:p>
            <a:r>
              <a:rPr lang="en-US" sz="800" dirty="0"/>
              <a:t>Router&gt;enable</a:t>
            </a:r>
          </a:p>
          <a:p>
            <a:r>
              <a:rPr lang="en-US" sz="800" dirty="0" err="1"/>
              <a:t>Router#configure</a:t>
            </a:r>
            <a:r>
              <a:rPr lang="en-US" sz="800" dirty="0"/>
              <a:t> terminal</a:t>
            </a:r>
          </a:p>
          <a:p>
            <a:r>
              <a:rPr lang="en-US" sz="800" dirty="0"/>
              <a:t>Router(config)#interface FastEthernet0/0</a:t>
            </a:r>
          </a:p>
          <a:p>
            <a:r>
              <a:rPr lang="en-US" sz="800" dirty="0"/>
              <a:t>Router(config-if)#ip address   192.168.1.1   255.255.255.0</a:t>
            </a:r>
          </a:p>
          <a:p>
            <a:r>
              <a:rPr lang="en-US" sz="800" dirty="0"/>
              <a:t>Router(config-if)#no shutdown</a:t>
            </a:r>
          </a:p>
          <a:p>
            <a:r>
              <a:rPr lang="en-US" sz="800" dirty="0"/>
              <a:t>Router(config-if)#exit</a:t>
            </a:r>
          </a:p>
          <a:p>
            <a:endParaRPr lang="en-US" sz="800" dirty="0"/>
          </a:p>
          <a:p>
            <a:r>
              <a:rPr lang="en-US" sz="800" dirty="0"/>
              <a:t>Router(config)#interface Serial0/0</a:t>
            </a:r>
          </a:p>
          <a:p>
            <a:r>
              <a:rPr lang="en-US" sz="800" dirty="0"/>
              <a:t>Router(config-if)#ip  address   1.1.1.1   255.0.0.0</a:t>
            </a:r>
          </a:p>
          <a:p>
            <a:r>
              <a:rPr lang="en-US" sz="800" dirty="0"/>
              <a:t>Router(config-if)#no  shutdown</a:t>
            </a:r>
          </a:p>
          <a:p>
            <a:r>
              <a:rPr lang="en-US" sz="800" dirty="0"/>
              <a:t>Router(config-if)#exit</a:t>
            </a:r>
          </a:p>
          <a:p>
            <a:endParaRPr lang="en-US" sz="800" dirty="0"/>
          </a:p>
          <a:p>
            <a:endParaRPr lang="en-US" sz="800" dirty="0"/>
          </a:p>
          <a:p>
            <a:r>
              <a:rPr lang="en-US" sz="800" dirty="0"/>
              <a:t>Router(config)#ip route   192.168.100.0     255.255.255.0     4.1.1.2</a:t>
            </a:r>
          </a:p>
          <a:p>
            <a:r>
              <a:rPr lang="en-US" sz="800" dirty="0"/>
              <a:t>Router(config)# ip route  192.168.150.0     255.255.255.0     1.1.1.2</a:t>
            </a:r>
          </a:p>
          <a:p>
            <a:endParaRPr lang="en-US" sz="800" dirty="0"/>
          </a:p>
          <a:p>
            <a:endParaRPr lang="en-US" sz="800" dirty="0"/>
          </a:p>
          <a:p>
            <a:endParaRPr lang="en-US" sz="800" dirty="0"/>
          </a:p>
          <a:p>
            <a:endParaRPr lang="en-US" sz="800" dirty="0"/>
          </a:p>
          <a:p>
            <a:endParaRPr lang="en-US" sz="800" dirty="0"/>
          </a:p>
          <a:p>
            <a:endParaRPr lang="en-US" sz="800" dirty="0"/>
          </a:p>
          <a:p>
            <a:endParaRPr lang="en-US" sz="800" dirty="0"/>
          </a:p>
        </p:txBody>
      </p:sp>
      <p:sp>
        <p:nvSpPr>
          <p:cNvPr id="13" name="TextBox 12">
            <a:extLst>
              <a:ext uri="{FF2B5EF4-FFF2-40B4-BE49-F238E27FC236}">
                <a16:creationId xmlns:a16="http://schemas.microsoft.com/office/drawing/2014/main" id="{48A4CC99-19F0-A974-DA08-0876508EF410}"/>
              </a:ext>
            </a:extLst>
          </p:cNvPr>
          <p:cNvSpPr txBox="1"/>
          <p:nvPr/>
        </p:nvSpPr>
        <p:spPr>
          <a:xfrm>
            <a:off x="4895967" y="525851"/>
            <a:ext cx="4131439" cy="2646878"/>
          </a:xfrm>
          <a:prstGeom prst="rect">
            <a:avLst/>
          </a:prstGeom>
          <a:noFill/>
        </p:spPr>
        <p:txBody>
          <a:bodyPr wrap="square">
            <a:spAutoFit/>
          </a:bodyPr>
          <a:lstStyle/>
          <a:p>
            <a:r>
              <a:rPr lang="en-US" sz="1400" b="1" dirty="0">
                <a:solidFill>
                  <a:srgbClr val="403CCF"/>
                </a:solidFill>
                <a:latin typeface="Libre Baskerville" pitchFamily="34" charset="0"/>
              </a:rPr>
              <a:t>R2</a:t>
            </a:r>
          </a:p>
          <a:p>
            <a:r>
              <a:rPr lang="en-US" sz="800" dirty="0"/>
              <a:t>Router&gt;enable</a:t>
            </a:r>
          </a:p>
          <a:p>
            <a:r>
              <a:rPr lang="en-US" sz="800" dirty="0" err="1"/>
              <a:t>Router#configure</a:t>
            </a:r>
            <a:r>
              <a:rPr lang="en-US" sz="800" dirty="0"/>
              <a:t> terminal</a:t>
            </a:r>
          </a:p>
          <a:p>
            <a:r>
              <a:rPr lang="en-US" sz="800" dirty="0"/>
              <a:t>Router(config)#interface FastEthernet0/0</a:t>
            </a:r>
          </a:p>
          <a:p>
            <a:r>
              <a:rPr lang="en-US" sz="800" dirty="0"/>
              <a:t>Router(config-if)#ip address   192.168.2.1   255.255.255.0</a:t>
            </a:r>
          </a:p>
          <a:p>
            <a:r>
              <a:rPr lang="en-US" sz="800" dirty="0"/>
              <a:t>Router(config-if)#no shutdown</a:t>
            </a:r>
          </a:p>
          <a:p>
            <a:r>
              <a:rPr lang="en-US" sz="800" dirty="0"/>
              <a:t>Router(config-if)#exit</a:t>
            </a:r>
          </a:p>
          <a:p>
            <a:endParaRPr lang="en-US" sz="800" dirty="0"/>
          </a:p>
          <a:p>
            <a:r>
              <a:rPr lang="en-US" sz="800" dirty="0"/>
              <a:t>Router(config)#interface  Serial0/0</a:t>
            </a:r>
          </a:p>
          <a:p>
            <a:r>
              <a:rPr lang="en-US" sz="800" dirty="0"/>
              <a:t>Router(config-if)#ip address   1.1.1.2   255.0.0.0</a:t>
            </a:r>
          </a:p>
          <a:p>
            <a:r>
              <a:rPr lang="en-US" sz="800" dirty="0"/>
              <a:t>Router(config-if)#no  shutdown</a:t>
            </a:r>
          </a:p>
          <a:p>
            <a:r>
              <a:rPr lang="en-US" sz="800" dirty="0"/>
              <a:t>Router(config-if)#exit</a:t>
            </a:r>
          </a:p>
          <a:p>
            <a:endParaRPr lang="en-US" sz="800" dirty="0"/>
          </a:p>
          <a:p>
            <a:endParaRPr lang="en-US" sz="800" dirty="0"/>
          </a:p>
          <a:p>
            <a:r>
              <a:rPr lang="en-US" sz="800" dirty="0"/>
              <a:t>Router(config)#ip   route   192.168.50.0         255.255.255.0     4.1.1.1</a:t>
            </a:r>
          </a:p>
          <a:p>
            <a:r>
              <a:rPr lang="en-US" sz="800" dirty="0"/>
              <a:t>Router(config)#ip   route   192.168.150.0       255.255.255.0     3.1.1.1</a:t>
            </a:r>
          </a:p>
          <a:p>
            <a:endParaRPr lang="en-US" sz="800" dirty="0"/>
          </a:p>
          <a:p>
            <a:endParaRPr lang="en-US" sz="800" dirty="0"/>
          </a:p>
          <a:p>
            <a:endParaRPr lang="en-US" sz="800" dirty="0"/>
          </a:p>
          <a:p>
            <a:endParaRPr lang="en-US" sz="800" dirty="0"/>
          </a:p>
        </p:txBody>
      </p:sp>
      <p:sp>
        <p:nvSpPr>
          <p:cNvPr id="20" name="TextBox 19">
            <a:extLst>
              <a:ext uri="{FF2B5EF4-FFF2-40B4-BE49-F238E27FC236}">
                <a16:creationId xmlns:a16="http://schemas.microsoft.com/office/drawing/2014/main" id="{DC11142F-3383-40D8-BE49-3211EB53B7E6}"/>
              </a:ext>
            </a:extLst>
          </p:cNvPr>
          <p:cNvSpPr txBox="1"/>
          <p:nvPr/>
        </p:nvSpPr>
        <p:spPr>
          <a:xfrm>
            <a:off x="1183101" y="3587558"/>
            <a:ext cx="6146799" cy="738664"/>
          </a:xfrm>
          <a:prstGeom prst="rect">
            <a:avLst/>
          </a:prstGeom>
          <a:noFill/>
        </p:spPr>
        <p:txBody>
          <a:bodyPr wrap="square">
            <a:spAutoFit/>
          </a:bodyPr>
          <a:lstStyle/>
          <a:p>
            <a:r>
              <a:rPr lang="en-US" b="1" dirty="0">
                <a:solidFill>
                  <a:srgbClr val="403CCF"/>
                </a:solidFill>
                <a:latin typeface="Libre Baskerville" pitchFamily="34" charset="0"/>
              </a:rPr>
              <a:t>R1(config)#ip route   192.168.2.0     255.255.255.0     1.1.1.2</a:t>
            </a:r>
          </a:p>
          <a:p>
            <a:endParaRPr lang="en-US" b="1" dirty="0">
              <a:solidFill>
                <a:srgbClr val="403CCF"/>
              </a:solidFill>
              <a:latin typeface="Libre Baskerville" pitchFamily="34" charset="0"/>
            </a:endParaRPr>
          </a:p>
          <a:p>
            <a:r>
              <a:rPr lang="en-US" b="1" dirty="0">
                <a:solidFill>
                  <a:srgbClr val="403CCF"/>
                </a:solidFill>
                <a:latin typeface="Libre Baskerville" pitchFamily="34" charset="0"/>
              </a:rPr>
              <a:t>R2(config)#ip route   192.168.1.0     255.255.255.0     1.1.1.1</a:t>
            </a:r>
          </a:p>
        </p:txBody>
      </p:sp>
      <p:sp>
        <p:nvSpPr>
          <p:cNvPr id="21" name="Oval 20">
            <a:extLst>
              <a:ext uri="{FF2B5EF4-FFF2-40B4-BE49-F238E27FC236}">
                <a16:creationId xmlns:a16="http://schemas.microsoft.com/office/drawing/2014/main" id="{4E72241C-2CCF-1362-DBF4-A446221AD62B}"/>
              </a:ext>
            </a:extLst>
          </p:cNvPr>
          <p:cNvSpPr/>
          <p:nvPr/>
        </p:nvSpPr>
        <p:spPr>
          <a:xfrm>
            <a:off x="3325529" y="3034019"/>
            <a:ext cx="1012396" cy="2774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Destination Network</a:t>
            </a:r>
            <a:endParaRPr lang="en-PK" sz="800" dirty="0"/>
          </a:p>
        </p:txBody>
      </p:sp>
      <p:cxnSp>
        <p:nvCxnSpPr>
          <p:cNvPr id="23" name="Straight Arrow Connector 22">
            <a:extLst>
              <a:ext uri="{FF2B5EF4-FFF2-40B4-BE49-F238E27FC236}">
                <a16:creationId xmlns:a16="http://schemas.microsoft.com/office/drawing/2014/main" id="{0EB9749D-DAF4-ECE0-9892-17C2BCEAA46B}"/>
              </a:ext>
            </a:extLst>
          </p:cNvPr>
          <p:cNvCxnSpPr>
            <a:cxnSpLocks/>
          </p:cNvCxnSpPr>
          <p:nvPr/>
        </p:nvCxnSpPr>
        <p:spPr>
          <a:xfrm>
            <a:off x="3756967" y="3313129"/>
            <a:ext cx="1" cy="31411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Oval 25">
            <a:extLst>
              <a:ext uri="{FF2B5EF4-FFF2-40B4-BE49-F238E27FC236}">
                <a16:creationId xmlns:a16="http://schemas.microsoft.com/office/drawing/2014/main" id="{A0FBA1BE-541A-A608-BE31-3CBD0DE5F741}"/>
              </a:ext>
            </a:extLst>
          </p:cNvPr>
          <p:cNvSpPr/>
          <p:nvPr/>
        </p:nvSpPr>
        <p:spPr>
          <a:xfrm>
            <a:off x="6636779" y="3129419"/>
            <a:ext cx="1012396" cy="2774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 Hop</a:t>
            </a:r>
            <a:endParaRPr lang="en-PK" sz="800" dirty="0"/>
          </a:p>
        </p:txBody>
      </p:sp>
      <p:cxnSp>
        <p:nvCxnSpPr>
          <p:cNvPr id="27" name="Straight Arrow Connector 26">
            <a:extLst>
              <a:ext uri="{FF2B5EF4-FFF2-40B4-BE49-F238E27FC236}">
                <a16:creationId xmlns:a16="http://schemas.microsoft.com/office/drawing/2014/main" id="{FD74888C-B3E4-3BA3-B028-21ED1B7760BA}"/>
              </a:ext>
            </a:extLst>
          </p:cNvPr>
          <p:cNvCxnSpPr>
            <a:cxnSpLocks/>
          </p:cNvCxnSpPr>
          <p:nvPr/>
        </p:nvCxnSpPr>
        <p:spPr>
          <a:xfrm flipH="1">
            <a:off x="6422490" y="3392307"/>
            <a:ext cx="312509" cy="21563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 name="Oval 11">
            <a:extLst>
              <a:ext uri="{FF2B5EF4-FFF2-40B4-BE49-F238E27FC236}">
                <a16:creationId xmlns:a16="http://schemas.microsoft.com/office/drawing/2014/main" id="{73DB11D7-B05E-1F7A-D533-6C517001079B}"/>
              </a:ext>
            </a:extLst>
          </p:cNvPr>
          <p:cNvSpPr/>
          <p:nvPr/>
        </p:nvSpPr>
        <p:spPr>
          <a:xfrm>
            <a:off x="3250769" y="4708157"/>
            <a:ext cx="1012396" cy="2774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Destination Network</a:t>
            </a:r>
            <a:endParaRPr lang="en-PK" sz="800" dirty="0"/>
          </a:p>
        </p:txBody>
      </p:sp>
      <p:cxnSp>
        <p:nvCxnSpPr>
          <p:cNvPr id="14" name="Straight Arrow Connector 13">
            <a:extLst>
              <a:ext uri="{FF2B5EF4-FFF2-40B4-BE49-F238E27FC236}">
                <a16:creationId xmlns:a16="http://schemas.microsoft.com/office/drawing/2014/main" id="{279261DF-DF5C-529A-64F9-2D430EF2C7E9}"/>
              </a:ext>
            </a:extLst>
          </p:cNvPr>
          <p:cNvCxnSpPr>
            <a:cxnSpLocks/>
          </p:cNvCxnSpPr>
          <p:nvPr/>
        </p:nvCxnSpPr>
        <p:spPr>
          <a:xfrm flipH="1" flipV="1">
            <a:off x="3737802" y="4253778"/>
            <a:ext cx="19165" cy="37748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Oval 17">
            <a:extLst>
              <a:ext uri="{FF2B5EF4-FFF2-40B4-BE49-F238E27FC236}">
                <a16:creationId xmlns:a16="http://schemas.microsoft.com/office/drawing/2014/main" id="{1335AD69-E577-A49C-2EA6-F19DA374923B}"/>
              </a:ext>
            </a:extLst>
          </p:cNvPr>
          <p:cNvSpPr/>
          <p:nvPr/>
        </p:nvSpPr>
        <p:spPr>
          <a:xfrm>
            <a:off x="6657554" y="4578885"/>
            <a:ext cx="1012396" cy="2774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 Hop</a:t>
            </a:r>
            <a:endParaRPr lang="en-PK" sz="800" dirty="0"/>
          </a:p>
        </p:txBody>
      </p:sp>
      <p:cxnSp>
        <p:nvCxnSpPr>
          <p:cNvPr id="19" name="Straight Arrow Connector 18">
            <a:extLst>
              <a:ext uri="{FF2B5EF4-FFF2-40B4-BE49-F238E27FC236}">
                <a16:creationId xmlns:a16="http://schemas.microsoft.com/office/drawing/2014/main" id="{B69C760A-70A7-EE80-A480-026229299B59}"/>
              </a:ext>
            </a:extLst>
          </p:cNvPr>
          <p:cNvCxnSpPr>
            <a:cxnSpLocks/>
          </p:cNvCxnSpPr>
          <p:nvPr/>
        </p:nvCxnSpPr>
        <p:spPr>
          <a:xfrm flipH="1" flipV="1">
            <a:off x="6422490" y="4311623"/>
            <a:ext cx="370543" cy="26726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1435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AC20A-0FA2-CEB4-7534-C8734627D9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80298E-D378-6609-7251-6FA1A86DE04E}"/>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ADB1DC20-2237-F676-23C7-81D75BBDC66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51EAE77-D3E9-3D14-EAB5-02B1E3484D42}"/>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90E2376-C783-EC0C-CF16-A27A5CFD94A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108E9DA-F9BD-BEDC-9673-EED46A17F890}"/>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Static Routing Lab</a:t>
            </a:r>
          </a:p>
        </p:txBody>
      </p:sp>
      <p:sp>
        <p:nvSpPr>
          <p:cNvPr id="17" name="TextBox 16">
            <a:extLst>
              <a:ext uri="{FF2B5EF4-FFF2-40B4-BE49-F238E27FC236}">
                <a16:creationId xmlns:a16="http://schemas.microsoft.com/office/drawing/2014/main" id="{ABA86320-448F-2CC3-9AEE-2CBF80029FF1}"/>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B04E9B2A-A53B-99AA-F585-2C1C9E587AED}"/>
              </a:ext>
            </a:extLst>
          </p:cNvPr>
          <p:cNvSpPr txBox="1"/>
          <p:nvPr/>
        </p:nvSpPr>
        <p:spPr>
          <a:xfrm>
            <a:off x="255939" y="927035"/>
            <a:ext cx="3300062" cy="600164"/>
          </a:xfrm>
          <a:prstGeom prst="rect">
            <a:avLst/>
          </a:prstGeom>
          <a:noFill/>
        </p:spPr>
        <p:txBody>
          <a:bodyPr wrap="square">
            <a:spAutoFit/>
          </a:bodyPr>
          <a:lstStyle/>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pic>
        <p:nvPicPr>
          <p:cNvPr id="12" name="Picture 11">
            <a:extLst>
              <a:ext uri="{FF2B5EF4-FFF2-40B4-BE49-F238E27FC236}">
                <a16:creationId xmlns:a16="http://schemas.microsoft.com/office/drawing/2014/main" id="{9F28F2E2-6907-A915-3619-D712552FDE48}"/>
              </a:ext>
            </a:extLst>
          </p:cNvPr>
          <p:cNvPicPr>
            <a:picLocks noChangeAspect="1"/>
          </p:cNvPicPr>
          <p:nvPr/>
        </p:nvPicPr>
        <p:blipFill>
          <a:blip r:embed="rId3"/>
          <a:stretch>
            <a:fillRect/>
          </a:stretch>
        </p:blipFill>
        <p:spPr>
          <a:xfrm>
            <a:off x="0" y="1019027"/>
            <a:ext cx="9144000" cy="4138461"/>
          </a:xfrm>
          <a:prstGeom prst="rect">
            <a:avLst/>
          </a:prstGeom>
        </p:spPr>
      </p:pic>
      <p:sp>
        <p:nvSpPr>
          <p:cNvPr id="16" name="TextBox 15">
            <a:extLst>
              <a:ext uri="{FF2B5EF4-FFF2-40B4-BE49-F238E27FC236}">
                <a16:creationId xmlns:a16="http://schemas.microsoft.com/office/drawing/2014/main" id="{56968A89-FD83-9ADC-6009-7792FB171AB5}"/>
              </a:ext>
            </a:extLst>
          </p:cNvPr>
          <p:cNvSpPr txBox="1"/>
          <p:nvPr/>
        </p:nvSpPr>
        <p:spPr>
          <a:xfrm>
            <a:off x="2352247" y="1627658"/>
            <a:ext cx="586318" cy="307777"/>
          </a:xfrm>
          <a:prstGeom prst="rect">
            <a:avLst/>
          </a:prstGeom>
          <a:noFill/>
        </p:spPr>
        <p:txBody>
          <a:bodyPr wrap="square">
            <a:spAutoFit/>
          </a:bodyPr>
          <a:lstStyle/>
          <a:p>
            <a:r>
              <a:rPr lang="en-US" sz="1400" b="1" dirty="0"/>
              <a:t>R1</a:t>
            </a:r>
            <a:endParaRPr lang="en-PK" dirty="0"/>
          </a:p>
        </p:txBody>
      </p:sp>
      <p:sp>
        <p:nvSpPr>
          <p:cNvPr id="20" name="TextBox 19">
            <a:extLst>
              <a:ext uri="{FF2B5EF4-FFF2-40B4-BE49-F238E27FC236}">
                <a16:creationId xmlns:a16="http://schemas.microsoft.com/office/drawing/2014/main" id="{DE731933-F74B-861D-A0B1-61338223E9BC}"/>
              </a:ext>
            </a:extLst>
          </p:cNvPr>
          <p:cNvSpPr txBox="1"/>
          <p:nvPr/>
        </p:nvSpPr>
        <p:spPr>
          <a:xfrm>
            <a:off x="5485956" y="1506007"/>
            <a:ext cx="499535" cy="307777"/>
          </a:xfrm>
          <a:prstGeom prst="rect">
            <a:avLst/>
          </a:prstGeom>
          <a:noFill/>
        </p:spPr>
        <p:txBody>
          <a:bodyPr wrap="square">
            <a:spAutoFit/>
          </a:bodyPr>
          <a:lstStyle/>
          <a:p>
            <a:r>
              <a:rPr lang="en-US" sz="1400" b="1" dirty="0"/>
              <a:t>R2</a:t>
            </a:r>
            <a:endParaRPr lang="en-PK" dirty="0"/>
          </a:p>
        </p:txBody>
      </p:sp>
      <p:sp>
        <p:nvSpPr>
          <p:cNvPr id="22" name="TextBox 21">
            <a:extLst>
              <a:ext uri="{FF2B5EF4-FFF2-40B4-BE49-F238E27FC236}">
                <a16:creationId xmlns:a16="http://schemas.microsoft.com/office/drawing/2014/main" id="{967DD7BC-3FC3-7F1C-648D-A66FFA35447C}"/>
              </a:ext>
            </a:extLst>
          </p:cNvPr>
          <p:cNvSpPr txBox="1"/>
          <p:nvPr/>
        </p:nvSpPr>
        <p:spPr>
          <a:xfrm>
            <a:off x="2379282" y="4224997"/>
            <a:ext cx="482633" cy="307777"/>
          </a:xfrm>
          <a:prstGeom prst="rect">
            <a:avLst/>
          </a:prstGeom>
          <a:noFill/>
        </p:spPr>
        <p:txBody>
          <a:bodyPr wrap="square">
            <a:spAutoFit/>
          </a:bodyPr>
          <a:lstStyle/>
          <a:p>
            <a:r>
              <a:rPr lang="en-US" b="1" dirty="0"/>
              <a:t>R3</a:t>
            </a:r>
            <a:endParaRPr lang="en-PK" dirty="0"/>
          </a:p>
        </p:txBody>
      </p:sp>
      <p:sp>
        <p:nvSpPr>
          <p:cNvPr id="24" name="TextBox 23">
            <a:extLst>
              <a:ext uri="{FF2B5EF4-FFF2-40B4-BE49-F238E27FC236}">
                <a16:creationId xmlns:a16="http://schemas.microsoft.com/office/drawing/2014/main" id="{EF77AD72-A595-2E24-E905-5089A247FC57}"/>
              </a:ext>
            </a:extLst>
          </p:cNvPr>
          <p:cNvSpPr txBox="1"/>
          <p:nvPr/>
        </p:nvSpPr>
        <p:spPr>
          <a:xfrm>
            <a:off x="5548842" y="4216465"/>
            <a:ext cx="459318" cy="307777"/>
          </a:xfrm>
          <a:prstGeom prst="rect">
            <a:avLst/>
          </a:prstGeom>
          <a:noFill/>
        </p:spPr>
        <p:txBody>
          <a:bodyPr wrap="square">
            <a:spAutoFit/>
          </a:bodyPr>
          <a:lstStyle/>
          <a:p>
            <a:r>
              <a:rPr lang="en-US" sz="1400" b="1" dirty="0"/>
              <a:t>R4</a:t>
            </a:r>
            <a:endParaRPr lang="en-PK" dirty="0"/>
          </a:p>
        </p:txBody>
      </p:sp>
      <p:sp>
        <p:nvSpPr>
          <p:cNvPr id="6" name="TextBox 5">
            <a:extLst>
              <a:ext uri="{FF2B5EF4-FFF2-40B4-BE49-F238E27FC236}">
                <a16:creationId xmlns:a16="http://schemas.microsoft.com/office/drawing/2014/main" id="{A90935F5-9267-A601-8064-78A7A01C7BAB}"/>
              </a:ext>
            </a:extLst>
          </p:cNvPr>
          <p:cNvSpPr txBox="1"/>
          <p:nvPr/>
        </p:nvSpPr>
        <p:spPr>
          <a:xfrm>
            <a:off x="161590" y="538883"/>
            <a:ext cx="4572000" cy="307777"/>
          </a:xfrm>
          <a:prstGeom prst="rect">
            <a:avLst/>
          </a:prstGeom>
          <a:noFill/>
        </p:spPr>
        <p:txBody>
          <a:bodyPr wrap="square">
            <a:spAutoFit/>
          </a:bodyPr>
          <a:lstStyle/>
          <a:p>
            <a:r>
              <a:rPr lang="en-US" sz="1400" b="1" dirty="0">
                <a:solidFill>
                  <a:srgbClr val="403CCF"/>
                </a:solidFill>
                <a:latin typeface="Libre Baskerville" pitchFamily="34" charset="0"/>
              </a:rPr>
              <a:t>Static Routing Practical 2</a:t>
            </a:r>
          </a:p>
        </p:txBody>
      </p:sp>
    </p:spTree>
    <p:extLst>
      <p:ext uri="{BB962C8B-B14F-4D97-AF65-F5344CB8AC3E}">
        <p14:creationId xmlns:p14="http://schemas.microsoft.com/office/powerpoint/2010/main" val="1719564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1852-C44F-B263-6C5B-A6CCE77A74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8DA341-83B1-271F-8C83-EFB13CF32A1C}"/>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829EB95-8BED-FF1F-8F63-8B9F2C2381C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0D47BFF-0CC2-EADF-3EA7-D583B307BD9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8C90AEC-5324-F6FF-F050-66E25E69285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130B2E7-2951-D16A-38AB-E500666AE624}"/>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Static Routing Lab</a:t>
            </a:r>
          </a:p>
        </p:txBody>
      </p:sp>
      <p:sp>
        <p:nvSpPr>
          <p:cNvPr id="17" name="TextBox 16">
            <a:extLst>
              <a:ext uri="{FF2B5EF4-FFF2-40B4-BE49-F238E27FC236}">
                <a16:creationId xmlns:a16="http://schemas.microsoft.com/office/drawing/2014/main" id="{02AAEC37-05D5-BC7A-3DB6-E5D91776B822}"/>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43D43F00-9D17-71B4-3A53-0888116180D9}"/>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9405BC2E-85B6-C97B-2E82-4BA4B8E4B2A6}"/>
              </a:ext>
            </a:extLst>
          </p:cNvPr>
          <p:cNvSpPr txBox="1"/>
          <p:nvPr/>
        </p:nvSpPr>
        <p:spPr>
          <a:xfrm>
            <a:off x="255939" y="927035"/>
            <a:ext cx="3300062" cy="600164"/>
          </a:xfrm>
          <a:prstGeom prst="rect">
            <a:avLst/>
          </a:prstGeom>
          <a:noFill/>
        </p:spPr>
        <p:txBody>
          <a:bodyPr wrap="square">
            <a:spAutoFit/>
          </a:bodyPr>
          <a:lstStyle/>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8" name="TextBox 7">
            <a:extLst>
              <a:ext uri="{FF2B5EF4-FFF2-40B4-BE49-F238E27FC236}">
                <a16:creationId xmlns:a16="http://schemas.microsoft.com/office/drawing/2014/main" id="{8A8F146A-12F7-478F-14CB-F11D9A9C4AAE}"/>
              </a:ext>
            </a:extLst>
          </p:cNvPr>
          <p:cNvSpPr txBox="1"/>
          <p:nvPr/>
        </p:nvSpPr>
        <p:spPr>
          <a:xfrm>
            <a:off x="220279" y="476190"/>
            <a:ext cx="4572000" cy="3754874"/>
          </a:xfrm>
          <a:prstGeom prst="rect">
            <a:avLst/>
          </a:prstGeom>
          <a:noFill/>
        </p:spPr>
        <p:txBody>
          <a:bodyPr wrap="square">
            <a:spAutoFit/>
          </a:bodyPr>
          <a:lstStyle/>
          <a:p>
            <a:r>
              <a:rPr lang="en-US" sz="1400" b="1" dirty="0">
                <a:solidFill>
                  <a:srgbClr val="403CCF"/>
                </a:solidFill>
                <a:latin typeface="Libre Baskerville" pitchFamily="34" charset="0"/>
              </a:rPr>
              <a:t>R1</a:t>
            </a:r>
          </a:p>
          <a:p>
            <a:r>
              <a:rPr lang="en-US" sz="800" dirty="0"/>
              <a:t>Router&gt;enable</a:t>
            </a:r>
          </a:p>
          <a:p>
            <a:r>
              <a:rPr lang="en-US" sz="800" dirty="0" err="1"/>
              <a:t>Router#configure</a:t>
            </a:r>
            <a:r>
              <a:rPr lang="en-US" sz="800" dirty="0"/>
              <a:t> terminal</a:t>
            </a:r>
          </a:p>
          <a:p>
            <a:r>
              <a:rPr lang="en-US" sz="800" dirty="0"/>
              <a:t>Router(config)#interface FastEthernet0/0</a:t>
            </a:r>
          </a:p>
          <a:p>
            <a:r>
              <a:rPr lang="en-US" sz="800" dirty="0"/>
              <a:t>Router(config-if)#ip address 192.168.50.1 255.255.255.0</a:t>
            </a:r>
          </a:p>
          <a:p>
            <a:r>
              <a:rPr lang="en-US" sz="800" dirty="0"/>
              <a:t>Router(config-if)#no shutdown</a:t>
            </a:r>
          </a:p>
          <a:p>
            <a:r>
              <a:rPr lang="en-US" sz="800" dirty="0"/>
              <a:t>Router(config-if)#exit</a:t>
            </a:r>
          </a:p>
          <a:p>
            <a:endParaRPr lang="en-US" sz="800" dirty="0"/>
          </a:p>
          <a:p>
            <a:r>
              <a:rPr lang="en-US" sz="800" dirty="0"/>
              <a:t>Router(config)#interface Serial0/0</a:t>
            </a:r>
          </a:p>
          <a:p>
            <a:r>
              <a:rPr lang="en-US" sz="800" dirty="0"/>
              <a:t>Router(config-if)#ip address 4.1.1.1 255.0.0.0</a:t>
            </a:r>
          </a:p>
          <a:p>
            <a:r>
              <a:rPr lang="en-US" sz="800" dirty="0"/>
              <a:t>Router(config-if)#no shutdown</a:t>
            </a:r>
          </a:p>
          <a:p>
            <a:r>
              <a:rPr lang="en-US" sz="800" dirty="0"/>
              <a:t>Router(config-if)#exit</a:t>
            </a:r>
          </a:p>
          <a:p>
            <a:endParaRPr lang="en-US" sz="800" dirty="0"/>
          </a:p>
          <a:p>
            <a:r>
              <a:rPr lang="en-US" sz="800" dirty="0"/>
              <a:t>Router(config)#interface Serial0/1</a:t>
            </a:r>
          </a:p>
          <a:p>
            <a:r>
              <a:rPr lang="en-US" sz="800" dirty="0"/>
              <a:t>Router(config-if)#ip address 1.1.1.1 255.0.0.0</a:t>
            </a:r>
          </a:p>
          <a:p>
            <a:r>
              <a:rPr lang="en-US" sz="800" dirty="0"/>
              <a:t>Router(config-if)#no shutdown</a:t>
            </a:r>
          </a:p>
          <a:p>
            <a:r>
              <a:rPr lang="en-US" sz="800" dirty="0"/>
              <a:t>Router(config-if)#exit</a:t>
            </a:r>
          </a:p>
          <a:p>
            <a:endParaRPr lang="en-US" sz="800" dirty="0"/>
          </a:p>
          <a:p>
            <a:r>
              <a:rPr lang="en-US" sz="800" dirty="0"/>
              <a:t>Router(config)#ip route   192.168.100.0     255.255.255.0     4.1.1.2</a:t>
            </a:r>
          </a:p>
          <a:p>
            <a:r>
              <a:rPr lang="fr-FR" sz="800" dirty="0"/>
              <a:t>Router(config)#ip route   192.168.100.0     255.255.255.0     1.1.1.2</a:t>
            </a:r>
          </a:p>
          <a:p>
            <a:endParaRPr lang="en-US" sz="800" dirty="0"/>
          </a:p>
          <a:p>
            <a:endParaRPr lang="en-US" sz="800" dirty="0"/>
          </a:p>
          <a:p>
            <a:r>
              <a:rPr lang="en-US" sz="800" dirty="0"/>
              <a:t>Router(config)#ip route   192.168.150.0     255.255.255.0     1.1.1.2</a:t>
            </a:r>
          </a:p>
          <a:p>
            <a:r>
              <a:rPr lang="fr-FR" sz="800" dirty="0"/>
              <a:t>Router(config)# </a:t>
            </a:r>
            <a:r>
              <a:rPr lang="fr-FR" sz="800" dirty="0" err="1"/>
              <a:t>ip</a:t>
            </a:r>
            <a:r>
              <a:rPr lang="fr-FR" sz="800" dirty="0"/>
              <a:t> route  192.168.150.0     255.255.255.0     4.1.1.2</a:t>
            </a:r>
          </a:p>
          <a:p>
            <a:endParaRPr lang="en-US" sz="800" dirty="0"/>
          </a:p>
          <a:p>
            <a:endParaRPr lang="en-US" sz="800" dirty="0"/>
          </a:p>
          <a:p>
            <a:r>
              <a:rPr lang="en-US" sz="800" dirty="0"/>
              <a:t>Router(config)#ip route   192.168.200.0     255.255.255.0     4.1.1.2</a:t>
            </a:r>
          </a:p>
          <a:p>
            <a:r>
              <a:rPr lang="en-US" sz="800" dirty="0"/>
              <a:t>Router(config)#ip route   192.168.200.0     255.255.255.0     1.1.1.2</a:t>
            </a:r>
          </a:p>
          <a:p>
            <a:endParaRPr lang="en-US" sz="800" dirty="0"/>
          </a:p>
        </p:txBody>
      </p:sp>
      <p:sp>
        <p:nvSpPr>
          <p:cNvPr id="13" name="TextBox 12">
            <a:extLst>
              <a:ext uri="{FF2B5EF4-FFF2-40B4-BE49-F238E27FC236}">
                <a16:creationId xmlns:a16="http://schemas.microsoft.com/office/drawing/2014/main" id="{828AAE3E-F20F-1B66-FDD0-9E50CF237879}"/>
              </a:ext>
            </a:extLst>
          </p:cNvPr>
          <p:cNvSpPr txBox="1"/>
          <p:nvPr/>
        </p:nvSpPr>
        <p:spPr>
          <a:xfrm>
            <a:off x="4895967" y="525851"/>
            <a:ext cx="4131439" cy="3754874"/>
          </a:xfrm>
          <a:prstGeom prst="rect">
            <a:avLst/>
          </a:prstGeom>
          <a:noFill/>
        </p:spPr>
        <p:txBody>
          <a:bodyPr wrap="square">
            <a:spAutoFit/>
          </a:bodyPr>
          <a:lstStyle/>
          <a:p>
            <a:r>
              <a:rPr lang="en-US" sz="1400" b="1" dirty="0">
                <a:solidFill>
                  <a:srgbClr val="403CCF"/>
                </a:solidFill>
                <a:latin typeface="Libre Baskerville" pitchFamily="34" charset="0"/>
              </a:rPr>
              <a:t>R2</a:t>
            </a:r>
          </a:p>
          <a:p>
            <a:r>
              <a:rPr lang="en-US" sz="800" dirty="0"/>
              <a:t>Router&gt;enable</a:t>
            </a:r>
          </a:p>
          <a:p>
            <a:r>
              <a:rPr lang="en-US" sz="800" dirty="0" err="1"/>
              <a:t>Router#configure</a:t>
            </a:r>
            <a:r>
              <a:rPr lang="en-US" sz="800" dirty="0"/>
              <a:t> terminal</a:t>
            </a:r>
          </a:p>
          <a:p>
            <a:r>
              <a:rPr lang="en-US" sz="800" dirty="0"/>
              <a:t>Router(config)#interface FastEthernet0/0</a:t>
            </a:r>
          </a:p>
          <a:p>
            <a:r>
              <a:rPr lang="en-US" sz="800" dirty="0"/>
              <a:t>Router(config-if)#ip address 192.168.100.1 255.255.255.0</a:t>
            </a:r>
          </a:p>
          <a:p>
            <a:r>
              <a:rPr lang="en-US" sz="800" dirty="0"/>
              <a:t>Router(config-if)#no shutdown</a:t>
            </a:r>
          </a:p>
          <a:p>
            <a:r>
              <a:rPr lang="en-US" sz="800" dirty="0"/>
              <a:t>Router(config-if)#exit</a:t>
            </a:r>
          </a:p>
          <a:p>
            <a:endParaRPr lang="en-US" sz="800" dirty="0"/>
          </a:p>
          <a:p>
            <a:r>
              <a:rPr lang="en-US" sz="800" dirty="0"/>
              <a:t>Router(config)#interface Serial0/0</a:t>
            </a:r>
          </a:p>
          <a:p>
            <a:r>
              <a:rPr lang="en-US" sz="800" dirty="0"/>
              <a:t>Router(config-if)#ip address 4.1.1.2 255.0.0.0</a:t>
            </a:r>
          </a:p>
          <a:p>
            <a:r>
              <a:rPr lang="en-US" sz="800" dirty="0"/>
              <a:t>Router(config-if)#no shutdown</a:t>
            </a:r>
          </a:p>
          <a:p>
            <a:r>
              <a:rPr lang="en-US" sz="800" dirty="0"/>
              <a:t>Router(config-if)#exit</a:t>
            </a:r>
          </a:p>
          <a:p>
            <a:endParaRPr lang="en-US" sz="800" dirty="0"/>
          </a:p>
          <a:p>
            <a:r>
              <a:rPr lang="en-US" sz="800" dirty="0"/>
              <a:t>Router(config)#interface Serial0/1</a:t>
            </a:r>
          </a:p>
          <a:p>
            <a:r>
              <a:rPr lang="en-US" sz="800" dirty="0"/>
              <a:t>Router(config-if)#ip address 3.1.1.2 255.0.0.0</a:t>
            </a:r>
          </a:p>
          <a:p>
            <a:r>
              <a:rPr lang="en-US" sz="800" dirty="0"/>
              <a:t>Router(config-if)#no shutdown</a:t>
            </a:r>
          </a:p>
          <a:p>
            <a:r>
              <a:rPr lang="en-US" sz="800" dirty="0"/>
              <a:t>Router(config-if)#exit</a:t>
            </a:r>
          </a:p>
          <a:p>
            <a:endParaRPr lang="en-US" sz="800" dirty="0"/>
          </a:p>
          <a:p>
            <a:r>
              <a:rPr lang="en-US" sz="800" dirty="0"/>
              <a:t>Router(config)#ip   route   192.168.50.0         255.255.255.0     4.1.1.1</a:t>
            </a:r>
          </a:p>
          <a:p>
            <a:r>
              <a:rPr lang="fr-FR" sz="800" dirty="0"/>
              <a:t>Router(config)#ip route     192.168.50.0         255.255.255.0     3.1.1.1 </a:t>
            </a:r>
          </a:p>
          <a:p>
            <a:endParaRPr lang="en-US" sz="800" dirty="0"/>
          </a:p>
          <a:p>
            <a:r>
              <a:rPr lang="en-US" sz="800" dirty="0"/>
              <a:t>Router(config)#ip   route   192.168.150.0       255.255.255.0     3.1.1.1</a:t>
            </a:r>
          </a:p>
          <a:p>
            <a:r>
              <a:rPr lang="fr-FR" sz="800" dirty="0"/>
              <a:t>Router(config)#ip route     192.168.150.0       255.255.255.0     4.1.1.1</a:t>
            </a:r>
          </a:p>
          <a:p>
            <a:endParaRPr lang="en-US" sz="800" dirty="0"/>
          </a:p>
          <a:p>
            <a:endParaRPr lang="en-US" sz="800" dirty="0"/>
          </a:p>
          <a:p>
            <a:r>
              <a:rPr lang="en-US" sz="800" dirty="0"/>
              <a:t>Router(config)#ip   route   192.168.200.0       255.255.255.0     3.1.1.1</a:t>
            </a:r>
          </a:p>
          <a:p>
            <a:r>
              <a:rPr lang="en-US" sz="800" dirty="0"/>
              <a:t>Router(config)#ip route     192.168.200.0       255.255.255.0     4.1.1.1</a:t>
            </a:r>
          </a:p>
          <a:p>
            <a:endParaRPr lang="en-US" sz="800" dirty="0"/>
          </a:p>
        </p:txBody>
      </p:sp>
      <p:sp>
        <p:nvSpPr>
          <p:cNvPr id="20" name="TextBox 19">
            <a:extLst>
              <a:ext uri="{FF2B5EF4-FFF2-40B4-BE49-F238E27FC236}">
                <a16:creationId xmlns:a16="http://schemas.microsoft.com/office/drawing/2014/main" id="{05CA62FF-57B2-E95D-4ED5-B399D8FB0EE0}"/>
              </a:ext>
            </a:extLst>
          </p:cNvPr>
          <p:cNvSpPr txBox="1"/>
          <p:nvPr/>
        </p:nvSpPr>
        <p:spPr>
          <a:xfrm>
            <a:off x="1174634" y="4717224"/>
            <a:ext cx="6146799" cy="307777"/>
          </a:xfrm>
          <a:prstGeom prst="rect">
            <a:avLst/>
          </a:prstGeom>
          <a:noFill/>
        </p:spPr>
        <p:txBody>
          <a:bodyPr wrap="square">
            <a:spAutoFit/>
          </a:bodyPr>
          <a:lstStyle/>
          <a:p>
            <a:r>
              <a:rPr lang="en-US" b="1" dirty="0">
                <a:solidFill>
                  <a:srgbClr val="403CCF"/>
                </a:solidFill>
                <a:latin typeface="Libre Baskerville" pitchFamily="34" charset="0"/>
              </a:rPr>
              <a:t>Router(config)#ip route   192.168.100.0     255.255.255.0     4.1.1.2</a:t>
            </a:r>
          </a:p>
        </p:txBody>
      </p:sp>
      <p:sp>
        <p:nvSpPr>
          <p:cNvPr id="21" name="Oval 20">
            <a:extLst>
              <a:ext uri="{FF2B5EF4-FFF2-40B4-BE49-F238E27FC236}">
                <a16:creationId xmlns:a16="http://schemas.microsoft.com/office/drawing/2014/main" id="{5A48B3C2-383C-AB03-17A7-399C4AAB4C64}"/>
              </a:ext>
            </a:extLst>
          </p:cNvPr>
          <p:cNvSpPr/>
          <p:nvPr/>
        </p:nvSpPr>
        <p:spPr>
          <a:xfrm>
            <a:off x="3741835" y="4230394"/>
            <a:ext cx="1012396" cy="2774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Destination</a:t>
            </a:r>
            <a:endParaRPr lang="en-PK" sz="800" dirty="0"/>
          </a:p>
        </p:txBody>
      </p:sp>
      <p:cxnSp>
        <p:nvCxnSpPr>
          <p:cNvPr id="23" name="Straight Arrow Connector 22">
            <a:extLst>
              <a:ext uri="{FF2B5EF4-FFF2-40B4-BE49-F238E27FC236}">
                <a16:creationId xmlns:a16="http://schemas.microsoft.com/office/drawing/2014/main" id="{B7D7165A-24D8-6C43-1205-91108E5F35CF}"/>
              </a:ext>
            </a:extLst>
          </p:cNvPr>
          <p:cNvCxnSpPr>
            <a:cxnSpLocks/>
            <a:endCxn id="20" idx="0"/>
          </p:cNvCxnSpPr>
          <p:nvPr/>
        </p:nvCxnSpPr>
        <p:spPr>
          <a:xfrm>
            <a:off x="4248033" y="4403108"/>
            <a:ext cx="1" cy="31411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Oval 25">
            <a:extLst>
              <a:ext uri="{FF2B5EF4-FFF2-40B4-BE49-F238E27FC236}">
                <a16:creationId xmlns:a16="http://schemas.microsoft.com/office/drawing/2014/main" id="{A19D1BF3-9D3E-DED1-5992-6B7557A6F158}"/>
              </a:ext>
            </a:extLst>
          </p:cNvPr>
          <p:cNvSpPr/>
          <p:nvPr/>
        </p:nvSpPr>
        <p:spPr>
          <a:xfrm>
            <a:off x="7160368" y="4369103"/>
            <a:ext cx="1012396" cy="2774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 Hop</a:t>
            </a:r>
            <a:endParaRPr lang="en-PK" sz="800" dirty="0"/>
          </a:p>
        </p:txBody>
      </p:sp>
      <p:cxnSp>
        <p:nvCxnSpPr>
          <p:cNvPr id="27" name="Straight Arrow Connector 26">
            <a:extLst>
              <a:ext uri="{FF2B5EF4-FFF2-40B4-BE49-F238E27FC236}">
                <a16:creationId xmlns:a16="http://schemas.microsoft.com/office/drawing/2014/main" id="{FE55032D-6186-259D-95C1-7B0FC3E244FE}"/>
              </a:ext>
            </a:extLst>
          </p:cNvPr>
          <p:cNvCxnSpPr>
            <a:cxnSpLocks/>
          </p:cNvCxnSpPr>
          <p:nvPr/>
        </p:nvCxnSpPr>
        <p:spPr>
          <a:xfrm flipH="1">
            <a:off x="7108524" y="4501592"/>
            <a:ext cx="312509" cy="21563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8914662E-AD59-7171-AF8D-7EDE88CA4515}"/>
              </a:ext>
            </a:extLst>
          </p:cNvPr>
          <p:cNvSpPr txBox="1"/>
          <p:nvPr/>
        </p:nvSpPr>
        <p:spPr>
          <a:xfrm>
            <a:off x="6090107" y="89352"/>
            <a:ext cx="2140522" cy="307777"/>
          </a:xfrm>
          <a:prstGeom prst="rect">
            <a:avLst/>
          </a:prstGeom>
          <a:noFill/>
        </p:spPr>
        <p:txBody>
          <a:bodyPr wrap="square">
            <a:spAutoFit/>
          </a:bodyPr>
          <a:lstStyle/>
          <a:p>
            <a:r>
              <a:rPr lang="en-US" dirty="0">
                <a:highlight>
                  <a:srgbClr val="00FF00"/>
                </a:highlight>
              </a:rPr>
              <a:t>#show ip route </a:t>
            </a:r>
            <a:r>
              <a:rPr lang="en-US" dirty="0">
                <a:highlight>
                  <a:srgbClr val="00FF00"/>
                </a:highlight>
                <a:sym typeface="Wingdings" panose="05000000000000000000" pitchFamily="2" charset="2"/>
              </a:rPr>
              <a:t></a:t>
            </a:r>
            <a:r>
              <a:rPr lang="en-US" dirty="0">
                <a:highlight>
                  <a:srgbClr val="00FF00"/>
                </a:highlight>
              </a:rPr>
              <a:t> Result</a:t>
            </a:r>
          </a:p>
        </p:txBody>
      </p:sp>
    </p:spTree>
    <p:extLst>
      <p:ext uri="{BB962C8B-B14F-4D97-AF65-F5344CB8AC3E}">
        <p14:creationId xmlns:p14="http://schemas.microsoft.com/office/powerpoint/2010/main" val="672726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7D23C-8E6C-F1B0-325C-7E385E4EC71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1E62B0-D3D7-4AC3-603F-9354F63460AE}"/>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0D486495-579B-D03B-8724-69FFDDEACDE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44ADAF0-97E3-0BB7-CFA6-2FDB6D626CF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B4590B7-2A43-D309-D947-A2F1BBE5C89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FFCF7689-62EB-0DDD-8E7E-906B30ED20B9}"/>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Static Routing Lab</a:t>
            </a:r>
          </a:p>
        </p:txBody>
      </p:sp>
      <p:sp>
        <p:nvSpPr>
          <p:cNvPr id="17" name="TextBox 16">
            <a:extLst>
              <a:ext uri="{FF2B5EF4-FFF2-40B4-BE49-F238E27FC236}">
                <a16:creationId xmlns:a16="http://schemas.microsoft.com/office/drawing/2014/main" id="{F0D6905A-D4E3-3240-3F61-19646D0E6270}"/>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25EC33B2-2E8B-F50C-CCEF-C307F968F225}"/>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46FEE381-460F-9F27-6F31-D64245FCCF96}"/>
              </a:ext>
            </a:extLst>
          </p:cNvPr>
          <p:cNvSpPr txBox="1"/>
          <p:nvPr/>
        </p:nvSpPr>
        <p:spPr>
          <a:xfrm>
            <a:off x="255939" y="927035"/>
            <a:ext cx="3300062" cy="600164"/>
          </a:xfrm>
          <a:prstGeom prst="rect">
            <a:avLst/>
          </a:prstGeom>
          <a:noFill/>
        </p:spPr>
        <p:txBody>
          <a:bodyPr wrap="square">
            <a:spAutoFit/>
          </a:bodyPr>
          <a:lstStyle/>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15" name="TextBox 14">
            <a:extLst>
              <a:ext uri="{FF2B5EF4-FFF2-40B4-BE49-F238E27FC236}">
                <a16:creationId xmlns:a16="http://schemas.microsoft.com/office/drawing/2014/main" id="{3F3B6633-6BDD-7536-A46F-90AA46A4B5E3}"/>
              </a:ext>
            </a:extLst>
          </p:cNvPr>
          <p:cNvSpPr txBox="1"/>
          <p:nvPr/>
        </p:nvSpPr>
        <p:spPr>
          <a:xfrm>
            <a:off x="156707" y="436225"/>
            <a:ext cx="4242356" cy="3877985"/>
          </a:xfrm>
          <a:prstGeom prst="rect">
            <a:avLst/>
          </a:prstGeom>
          <a:noFill/>
        </p:spPr>
        <p:txBody>
          <a:bodyPr wrap="square">
            <a:spAutoFit/>
          </a:bodyPr>
          <a:lstStyle/>
          <a:p>
            <a:r>
              <a:rPr lang="en-US" sz="1400" b="1" dirty="0">
                <a:solidFill>
                  <a:srgbClr val="403CCF"/>
                </a:solidFill>
                <a:latin typeface="Libre Baskerville" pitchFamily="34" charset="0"/>
              </a:rPr>
              <a:t>R3</a:t>
            </a:r>
          </a:p>
          <a:p>
            <a:r>
              <a:rPr lang="en-US" sz="800" dirty="0"/>
              <a:t>Router&gt;enable</a:t>
            </a:r>
          </a:p>
          <a:p>
            <a:r>
              <a:rPr lang="en-US" sz="800" dirty="0" err="1"/>
              <a:t>Router#configure</a:t>
            </a:r>
            <a:r>
              <a:rPr lang="en-US" sz="800" dirty="0"/>
              <a:t> terminal.</a:t>
            </a:r>
          </a:p>
          <a:p>
            <a:endParaRPr lang="en-US" sz="800" dirty="0"/>
          </a:p>
          <a:p>
            <a:r>
              <a:rPr lang="en-US" sz="800" dirty="0"/>
              <a:t>Router(config)#interface FastEthernet0/0</a:t>
            </a:r>
          </a:p>
          <a:p>
            <a:r>
              <a:rPr lang="en-US" sz="800" dirty="0"/>
              <a:t>Router(config-if)#ip address 192.168.150.1 255.255.255.0</a:t>
            </a:r>
          </a:p>
          <a:p>
            <a:r>
              <a:rPr lang="en-US" sz="800" dirty="0"/>
              <a:t>Router(config-if)#no shutdown</a:t>
            </a:r>
          </a:p>
          <a:p>
            <a:r>
              <a:rPr lang="en-US" sz="800" dirty="0"/>
              <a:t>Router(config-if)#exit</a:t>
            </a:r>
          </a:p>
          <a:p>
            <a:endParaRPr lang="en-US" sz="800" dirty="0"/>
          </a:p>
          <a:p>
            <a:r>
              <a:rPr lang="en-US" sz="800" dirty="0"/>
              <a:t>Router(config)#interface Serial0/0</a:t>
            </a:r>
          </a:p>
          <a:p>
            <a:r>
              <a:rPr lang="en-US" sz="800" dirty="0"/>
              <a:t>Router(config-if)#ip address 1.1.1.2 255.0.0.0</a:t>
            </a:r>
          </a:p>
          <a:p>
            <a:r>
              <a:rPr lang="en-US" sz="800" dirty="0"/>
              <a:t>Router(config-if)#no shutdown</a:t>
            </a:r>
          </a:p>
          <a:p>
            <a:r>
              <a:rPr lang="en-US" sz="800" dirty="0"/>
              <a:t>Router(config-if)#exit</a:t>
            </a:r>
          </a:p>
          <a:p>
            <a:endParaRPr lang="en-US" sz="800" dirty="0"/>
          </a:p>
          <a:p>
            <a:r>
              <a:rPr lang="en-US" sz="800" dirty="0"/>
              <a:t>Router(config)#interface Serial0/1</a:t>
            </a:r>
          </a:p>
          <a:p>
            <a:r>
              <a:rPr lang="en-US" sz="800" dirty="0"/>
              <a:t>Router(config-if)#ip address 2.1.1.1 255.0.0.0</a:t>
            </a:r>
          </a:p>
          <a:p>
            <a:r>
              <a:rPr lang="en-US" sz="800" dirty="0"/>
              <a:t>Router(config-if)#no shutdown</a:t>
            </a:r>
          </a:p>
          <a:p>
            <a:r>
              <a:rPr lang="en-US" sz="800" dirty="0"/>
              <a:t>Router(config-if)#exit</a:t>
            </a:r>
          </a:p>
          <a:p>
            <a:endParaRPr lang="en-US" sz="800" dirty="0"/>
          </a:p>
          <a:p>
            <a:r>
              <a:rPr lang="en-US" sz="800" dirty="0"/>
              <a:t>Router(config)#ip route 192.168.50.0      255.255.255.0    1.1.1.1</a:t>
            </a:r>
          </a:p>
          <a:p>
            <a:r>
              <a:rPr lang="fr-FR" sz="800" dirty="0"/>
              <a:t>Router(config)#ip route 192.168.50.0      255.255.255.0    2.1.1.2</a:t>
            </a:r>
          </a:p>
          <a:p>
            <a:endParaRPr lang="en-US" sz="800" dirty="0"/>
          </a:p>
          <a:p>
            <a:endParaRPr lang="en-US" sz="800" dirty="0"/>
          </a:p>
          <a:p>
            <a:r>
              <a:rPr lang="fr-FR" sz="800" dirty="0"/>
              <a:t>Router(config)#ip route 192.168.100.0    255.255.255.0   1.1.1.1</a:t>
            </a:r>
            <a:endParaRPr lang="en-US" sz="800" dirty="0"/>
          </a:p>
          <a:p>
            <a:r>
              <a:rPr lang="en-US" sz="800" dirty="0"/>
              <a:t>Router(config)#ip route 192.168.100.0    255.255.255.0    2.1.1.2</a:t>
            </a:r>
          </a:p>
          <a:p>
            <a:endParaRPr lang="en-US" sz="800" dirty="0"/>
          </a:p>
          <a:p>
            <a:endParaRPr lang="en-US" sz="800" dirty="0"/>
          </a:p>
          <a:p>
            <a:r>
              <a:rPr lang="en-US" sz="800" dirty="0"/>
              <a:t>Router(config)#ip route 192.168.200.0    255.255.255.0    2.1.1.2</a:t>
            </a:r>
          </a:p>
          <a:p>
            <a:r>
              <a:rPr lang="en-US" sz="800" dirty="0"/>
              <a:t>Router(config)#ip route 192.168.200.0    255.255.255.0    1.1.1.1</a:t>
            </a:r>
          </a:p>
          <a:p>
            <a:endParaRPr lang="en-US" sz="800" dirty="0"/>
          </a:p>
        </p:txBody>
      </p:sp>
      <p:sp>
        <p:nvSpPr>
          <p:cNvPr id="18" name="TextBox 17">
            <a:extLst>
              <a:ext uri="{FF2B5EF4-FFF2-40B4-BE49-F238E27FC236}">
                <a16:creationId xmlns:a16="http://schemas.microsoft.com/office/drawing/2014/main" id="{540F61ED-AA04-05D3-874B-B9D8B91120DE}"/>
              </a:ext>
            </a:extLst>
          </p:cNvPr>
          <p:cNvSpPr txBox="1"/>
          <p:nvPr/>
        </p:nvSpPr>
        <p:spPr>
          <a:xfrm>
            <a:off x="4978400" y="493962"/>
            <a:ext cx="3980978" cy="3631763"/>
          </a:xfrm>
          <a:prstGeom prst="rect">
            <a:avLst/>
          </a:prstGeom>
          <a:noFill/>
        </p:spPr>
        <p:txBody>
          <a:bodyPr wrap="square">
            <a:spAutoFit/>
          </a:bodyPr>
          <a:lstStyle/>
          <a:p>
            <a:r>
              <a:rPr lang="en-US" sz="1400" b="1" dirty="0">
                <a:solidFill>
                  <a:srgbClr val="403CCF"/>
                </a:solidFill>
                <a:latin typeface="Libre Baskerville" pitchFamily="34" charset="0"/>
              </a:rPr>
              <a:t>R4</a:t>
            </a:r>
          </a:p>
          <a:p>
            <a:r>
              <a:rPr lang="en-US" sz="800" dirty="0"/>
              <a:t>Router&gt; enable</a:t>
            </a:r>
          </a:p>
          <a:p>
            <a:r>
              <a:rPr lang="en-US" sz="800" dirty="0"/>
              <a:t>Router# configure terminal</a:t>
            </a:r>
          </a:p>
          <a:p>
            <a:endParaRPr lang="en-US" sz="800" dirty="0"/>
          </a:p>
          <a:p>
            <a:r>
              <a:rPr lang="en-US" sz="800" dirty="0"/>
              <a:t>Router(config)# interface FastEthernet0/0</a:t>
            </a:r>
          </a:p>
          <a:p>
            <a:r>
              <a:rPr lang="en-US" sz="800" dirty="0"/>
              <a:t>Router(config-if)# ip address 192.168.200.1 255.255.255.0</a:t>
            </a:r>
          </a:p>
          <a:p>
            <a:r>
              <a:rPr lang="en-US" sz="800" dirty="0"/>
              <a:t>Router(config-if)# no shutdown</a:t>
            </a:r>
          </a:p>
          <a:p>
            <a:r>
              <a:rPr lang="en-US" sz="800" dirty="0"/>
              <a:t>Router(config-if)# exit</a:t>
            </a:r>
          </a:p>
          <a:p>
            <a:endParaRPr lang="en-US" sz="800" dirty="0"/>
          </a:p>
          <a:p>
            <a:r>
              <a:rPr lang="en-US" sz="800" dirty="0"/>
              <a:t>Router(config)# interface Serial0/0</a:t>
            </a:r>
          </a:p>
          <a:p>
            <a:r>
              <a:rPr lang="en-US" sz="800" dirty="0"/>
              <a:t>Router(config-if)# ip address 2.1.1.2 255.0.0.0</a:t>
            </a:r>
          </a:p>
          <a:p>
            <a:r>
              <a:rPr lang="en-US" sz="800" dirty="0"/>
              <a:t>Router(config-if)# no shutdown</a:t>
            </a:r>
          </a:p>
          <a:p>
            <a:r>
              <a:rPr lang="en-US" sz="800" dirty="0"/>
              <a:t>router(config-if)# exit</a:t>
            </a:r>
          </a:p>
          <a:p>
            <a:endParaRPr lang="en-US" sz="800" dirty="0"/>
          </a:p>
          <a:p>
            <a:r>
              <a:rPr lang="en-US" sz="800" dirty="0"/>
              <a:t>Router(config)# interface Serial0/1</a:t>
            </a:r>
          </a:p>
          <a:p>
            <a:r>
              <a:rPr lang="en-US" sz="800" dirty="0"/>
              <a:t>Router(config-if)# ip address 3.1.1.1 255.0.0.0</a:t>
            </a:r>
          </a:p>
          <a:p>
            <a:r>
              <a:rPr lang="en-US" sz="800" dirty="0"/>
              <a:t>Router(config-if)# no shutdown</a:t>
            </a:r>
          </a:p>
          <a:p>
            <a:r>
              <a:rPr lang="en-US" sz="800" dirty="0"/>
              <a:t>Router(config-if)# exit</a:t>
            </a:r>
          </a:p>
          <a:p>
            <a:endParaRPr lang="en-US" sz="800" dirty="0"/>
          </a:p>
          <a:p>
            <a:r>
              <a:rPr lang="en-US" sz="800" dirty="0"/>
              <a:t>Router(config)#ip route 192.168.50.0       255.255.255.0    2.1.1.1</a:t>
            </a:r>
          </a:p>
          <a:p>
            <a:r>
              <a:rPr lang="fr-FR" sz="800" dirty="0"/>
              <a:t>Router(config)#ip route 192.168.50.0      255.255.255.0     3.1.1.2 </a:t>
            </a:r>
            <a:endParaRPr lang="en-US" sz="800" dirty="0"/>
          </a:p>
          <a:p>
            <a:endParaRPr lang="en-US" sz="800" dirty="0"/>
          </a:p>
          <a:p>
            <a:r>
              <a:rPr lang="en-US" sz="800" dirty="0"/>
              <a:t>Router(config)#ip route 192.168.100.0     255.255.255.0    3.1.1.2</a:t>
            </a:r>
          </a:p>
          <a:p>
            <a:r>
              <a:rPr lang="fr-FR" sz="800" dirty="0"/>
              <a:t>Router(config)#ip route 192.168.100.0    255.255.255.0     2.1.1.1</a:t>
            </a:r>
          </a:p>
          <a:p>
            <a:endParaRPr lang="en-US" sz="800" dirty="0"/>
          </a:p>
          <a:p>
            <a:endParaRPr lang="en-US" sz="800" dirty="0"/>
          </a:p>
          <a:p>
            <a:r>
              <a:rPr lang="en-US" sz="800" dirty="0"/>
              <a:t>Router(config)#ip route 192.168.150.0    255.255.255.0     3.1.1.2</a:t>
            </a:r>
          </a:p>
          <a:p>
            <a:r>
              <a:rPr lang="en-US" sz="800" dirty="0"/>
              <a:t>Router(config)#ip route 192.168.150.0    255.255.255.0     2.1.1.1</a:t>
            </a:r>
          </a:p>
        </p:txBody>
      </p:sp>
      <p:sp>
        <p:nvSpPr>
          <p:cNvPr id="8" name="TextBox 7">
            <a:extLst>
              <a:ext uri="{FF2B5EF4-FFF2-40B4-BE49-F238E27FC236}">
                <a16:creationId xmlns:a16="http://schemas.microsoft.com/office/drawing/2014/main" id="{512BB95A-C41A-55A2-2B1B-578C90F95D9C}"/>
              </a:ext>
            </a:extLst>
          </p:cNvPr>
          <p:cNvSpPr txBox="1"/>
          <p:nvPr/>
        </p:nvSpPr>
        <p:spPr>
          <a:xfrm>
            <a:off x="3242734" y="4762289"/>
            <a:ext cx="2362199" cy="307777"/>
          </a:xfrm>
          <a:prstGeom prst="rect">
            <a:avLst/>
          </a:prstGeom>
          <a:noFill/>
        </p:spPr>
        <p:txBody>
          <a:bodyPr wrap="square">
            <a:spAutoFit/>
          </a:bodyPr>
          <a:lstStyle/>
          <a:p>
            <a:r>
              <a:rPr lang="en-US" dirty="0">
                <a:highlight>
                  <a:srgbClr val="00FF00"/>
                </a:highlight>
              </a:rPr>
              <a:t>#show ip route </a:t>
            </a:r>
            <a:r>
              <a:rPr lang="en-US" dirty="0">
                <a:highlight>
                  <a:srgbClr val="00FF00"/>
                </a:highlight>
                <a:sym typeface="Wingdings" panose="05000000000000000000" pitchFamily="2" charset="2"/>
              </a:rPr>
              <a:t> Result</a:t>
            </a:r>
            <a:endParaRPr lang="en-PK" dirty="0">
              <a:highlight>
                <a:srgbClr val="00FF00"/>
              </a:highlight>
            </a:endParaRPr>
          </a:p>
        </p:txBody>
      </p:sp>
    </p:spTree>
    <p:extLst>
      <p:ext uri="{BB962C8B-B14F-4D97-AF65-F5344CB8AC3E}">
        <p14:creationId xmlns:p14="http://schemas.microsoft.com/office/powerpoint/2010/main" val="3287850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A2B10-1BDD-2F72-67CB-0CE17FEC81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2D507E-0622-96A1-61B9-ACBB7481C23F}"/>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A19F4E20-2A44-F12A-BD96-97E51D821A42}"/>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9" name="TextBox 8">
            <a:extLst>
              <a:ext uri="{FF2B5EF4-FFF2-40B4-BE49-F238E27FC236}">
                <a16:creationId xmlns:a16="http://schemas.microsoft.com/office/drawing/2014/main" id="{E7FCC45A-F21B-9BF4-8E6E-C1DC2387BFE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1330CFB-BA3E-4580-E29E-BD9C42341D59}"/>
              </a:ext>
            </a:extLst>
          </p:cNvPr>
          <p:cNvSpPr txBox="1"/>
          <p:nvPr/>
        </p:nvSpPr>
        <p:spPr>
          <a:xfrm>
            <a:off x="2726413" y="63307"/>
            <a:ext cx="2802321" cy="400110"/>
          </a:xfrm>
          <a:prstGeom prst="rect">
            <a:avLst/>
          </a:prstGeom>
          <a:noFill/>
        </p:spPr>
        <p:txBody>
          <a:bodyPr wrap="square">
            <a:spAutoFit/>
          </a:bodyPr>
          <a:lstStyle/>
          <a:p>
            <a:r>
              <a:rPr lang="en-US" sz="2000" b="1" dirty="0">
                <a:solidFill>
                  <a:srgbClr val="403CCF"/>
                </a:solidFill>
                <a:latin typeface="Libre Baskerville" pitchFamily="34" charset="0"/>
              </a:rPr>
              <a:t>Static Routing Lab</a:t>
            </a:r>
          </a:p>
        </p:txBody>
      </p:sp>
      <p:sp>
        <p:nvSpPr>
          <p:cNvPr id="17" name="TextBox 16">
            <a:extLst>
              <a:ext uri="{FF2B5EF4-FFF2-40B4-BE49-F238E27FC236}">
                <a16:creationId xmlns:a16="http://schemas.microsoft.com/office/drawing/2014/main" id="{9D5684ED-EB0E-4698-D529-187C38D8092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3514B43B-C21F-591B-5873-C614AA009554}"/>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83A24CD3-54B5-98C4-345F-C9E7C257CDB1}"/>
              </a:ext>
            </a:extLst>
          </p:cNvPr>
          <p:cNvSpPr txBox="1"/>
          <p:nvPr/>
        </p:nvSpPr>
        <p:spPr>
          <a:xfrm>
            <a:off x="255939" y="927035"/>
            <a:ext cx="3300062" cy="600164"/>
          </a:xfrm>
          <a:prstGeom prst="rect">
            <a:avLst/>
          </a:prstGeom>
          <a:noFill/>
        </p:spPr>
        <p:txBody>
          <a:bodyPr wrap="square">
            <a:spAutoFit/>
          </a:bodyPr>
          <a:lstStyle/>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15" name="TextBox 14">
            <a:extLst>
              <a:ext uri="{FF2B5EF4-FFF2-40B4-BE49-F238E27FC236}">
                <a16:creationId xmlns:a16="http://schemas.microsoft.com/office/drawing/2014/main" id="{1F56370B-3396-49E3-E789-1F8ADC9AA897}"/>
              </a:ext>
            </a:extLst>
          </p:cNvPr>
          <p:cNvSpPr txBox="1"/>
          <p:nvPr/>
        </p:nvSpPr>
        <p:spPr>
          <a:xfrm>
            <a:off x="159243" y="598582"/>
            <a:ext cx="8398209" cy="1077218"/>
          </a:xfrm>
          <a:prstGeom prst="rect">
            <a:avLst/>
          </a:prstGeom>
          <a:noFill/>
        </p:spPr>
        <p:txBody>
          <a:bodyPr wrap="square">
            <a:spAutoFit/>
          </a:bodyPr>
          <a:lstStyle/>
          <a:p>
            <a:r>
              <a:rPr lang="en-US" b="1" dirty="0">
                <a:solidFill>
                  <a:srgbClr val="403CCF"/>
                </a:solidFill>
                <a:latin typeface="Libre Baskerville" pitchFamily="34" charset="0"/>
              </a:rPr>
              <a:t>The default administrative distance of a static route is 1</a:t>
            </a:r>
          </a:p>
          <a:p>
            <a:endParaRPr lang="en-US" b="1" dirty="0">
              <a:solidFill>
                <a:srgbClr val="403CCF"/>
              </a:solidFill>
              <a:latin typeface="Libre Baskerville" pitchFamily="34" charset="0"/>
            </a:endParaRPr>
          </a:p>
          <a:p>
            <a:pPr marL="171450" indent="-171450" algn="just">
              <a:buFont typeface="Wingdings" panose="05000000000000000000" pitchFamily="2" charset="2"/>
              <a:buChar char="Ø"/>
            </a:pPr>
            <a:r>
              <a:rPr lang="en-US" sz="1200" dirty="0"/>
              <a:t>The administrative distance (AD) is a value used by routers to determine the trustworthiness of a route. Lower values are preferred. Static routes typically have an AD of 1, which is considered highly reliable, whereas dynamic routing protocols like RIP, OSPF, and EIGRP have higher administrative distances.</a:t>
            </a:r>
          </a:p>
        </p:txBody>
      </p:sp>
      <p:sp>
        <p:nvSpPr>
          <p:cNvPr id="8" name="TextBox 7">
            <a:extLst>
              <a:ext uri="{FF2B5EF4-FFF2-40B4-BE49-F238E27FC236}">
                <a16:creationId xmlns:a16="http://schemas.microsoft.com/office/drawing/2014/main" id="{B0781887-12DD-D409-C1B7-F042807265B9}"/>
              </a:ext>
            </a:extLst>
          </p:cNvPr>
          <p:cNvSpPr txBox="1"/>
          <p:nvPr/>
        </p:nvSpPr>
        <p:spPr>
          <a:xfrm>
            <a:off x="159242" y="1723075"/>
            <a:ext cx="8398210" cy="677108"/>
          </a:xfrm>
          <a:prstGeom prst="rect">
            <a:avLst/>
          </a:prstGeom>
          <a:noFill/>
        </p:spPr>
        <p:txBody>
          <a:bodyPr wrap="square">
            <a:spAutoFit/>
          </a:bodyPr>
          <a:lstStyle/>
          <a:p>
            <a:pPr marL="171450" indent="-171450" algn="just">
              <a:buFont typeface="Wingdings" panose="05000000000000000000" pitchFamily="2" charset="2"/>
              <a:buChar char="Ø"/>
            </a:pPr>
            <a:r>
              <a:rPr lang="en-US" sz="1200" dirty="0"/>
              <a:t>However, it's important to note that the AD of a static route can be adjusted if needed. For instance, if you want a static route to be used only as a backup when other routes are unavailable, you can configure its AD to a higher value. This practice is known as configuring a floating static route</a:t>
            </a:r>
            <a:r>
              <a:rPr lang="en-US" dirty="0"/>
              <a:t>.</a:t>
            </a:r>
            <a:endParaRPr lang="en-PK" dirty="0"/>
          </a:p>
        </p:txBody>
      </p:sp>
      <p:graphicFrame>
        <p:nvGraphicFramePr>
          <p:cNvPr id="11" name="Table 10">
            <a:extLst>
              <a:ext uri="{FF2B5EF4-FFF2-40B4-BE49-F238E27FC236}">
                <a16:creationId xmlns:a16="http://schemas.microsoft.com/office/drawing/2014/main" id="{DEA60E9C-1E0D-7B5E-254F-4862B4D2FD67}"/>
              </a:ext>
            </a:extLst>
          </p:cNvPr>
          <p:cNvGraphicFramePr>
            <a:graphicFrameLocks noGrp="1"/>
          </p:cNvGraphicFramePr>
          <p:nvPr>
            <p:extLst>
              <p:ext uri="{D42A27DB-BD31-4B8C-83A1-F6EECF244321}">
                <p14:modId xmlns:p14="http://schemas.microsoft.com/office/powerpoint/2010/main" val="11501287"/>
              </p:ext>
            </p:extLst>
          </p:nvPr>
        </p:nvGraphicFramePr>
        <p:xfrm>
          <a:off x="2048933" y="2571750"/>
          <a:ext cx="4140200" cy="2353918"/>
        </p:xfrm>
        <a:graphic>
          <a:graphicData uri="http://schemas.openxmlformats.org/drawingml/2006/table">
            <a:tbl>
              <a:tblPr firstRow="1" bandRow="1">
                <a:tableStyleId>{17343FFC-C285-48B6-A5F1-531E15585DCF}</a:tableStyleId>
              </a:tblPr>
              <a:tblGrid>
                <a:gridCol w="1813802">
                  <a:extLst>
                    <a:ext uri="{9D8B030D-6E8A-4147-A177-3AD203B41FA5}">
                      <a16:colId xmlns:a16="http://schemas.microsoft.com/office/drawing/2014/main" val="3471711308"/>
                    </a:ext>
                  </a:extLst>
                </a:gridCol>
                <a:gridCol w="2326398">
                  <a:extLst>
                    <a:ext uri="{9D8B030D-6E8A-4147-A177-3AD203B41FA5}">
                      <a16:colId xmlns:a16="http://schemas.microsoft.com/office/drawing/2014/main" val="3084271598"/>
                    </a:ext>
                  </a:extLst>
                </a:gridCol>
              </a:tblGrid>
              <a:tr h="214381">
                <a:tc>
                  <a:txBody>
                    <a:bodyPr/>
                    <a:lstStyle/>
                    <a:p>
                      <a:r>
                        <a:rPr lang="en-US" sz="900" b="1" dirty="0"/>
                        <a:t>Route Type</a:t>
                      </a:r>
                      <a:endParaRPr lang="en-PK" sz="900" dirty="0"/>
                    </a:p>
                  </a:txBody>
                  <a:tcPr/>
                </a:tc>
                <a:tc>
                  <a:txBody>
                    <a:bodyPr/>
                    <a:lstStyle/>
                    <a:p>
                      <a:r>
                        <a:rPr lang="en-US" sz="900" b="1" dirty="0"/>
                        <a:t>Administrative Distance</a:t>
                      </a:r>
                      <a:endParaRPr lang="en-PK" sz="900" b="1" dirty="0"/>
                    </a:p>
                  </a:txBody>
                  <a:tcPr/>
                </a:tc>
                <a:extLst>
                  <a:ext uri="{0D108BD9-81ED-4DB2-BD59-A6C34878D82A}">
                    <a16:rowId xmlns:a16="http://schemas.microsoft.com/office/drawing/2014/main" val="3907033219"/>
                  </a:ext>
                </a:extLst>
              </a:tr>
              <a:tr h="216635">
                <a:tc>
                  <a:txBody>
                    <a:bodyPr/>
                    <a:lstStyle/>
                    <a:p>
                      <a:r>
                        <a:rPr lang="en-US" sz="900" b="0" i="0" u="none" strike="noStrike" cap="none" dirty="0">
                          <a:solidFill>
                            <a:srgbClr val="000000"/>
                          </a:solidFill>
                          <a:latin typeface="Arial"/>
                          <a:cs typeface="Arial"/>
                          <a:sym typeface="Arial"/>
                        </a:rPr>
                        <a:t>Directly Connected</a:t>
                      </a:r>
                    </a:p>
                  </a:txBody>
                  <a:tcPr anchor="ctr"/>
                </a:tc>
                <a:tc>
                  <a:txBody>
                    <a:bodyPr/>
                    <a:lstStyle/>
                    <a:p>
                      <a:r>
                        <a:rPr lang="en-PK" sz="900" dirty="0"/>
                        <a:t>0</a:t>
                      </a:r>
                    </a:p>
                  </a:txBody>
                  <a:tcPr/>
                </a:tc>
                <a:extLst>
                  <a:ext uri="{0D108BD9-81ED-4DB2-BD59-A6C34878D82A}">
                    <a16:rowId xmlns:a16="http://schemas.microsoft.com/office/drawing/2014/main" val="1938420934"/>
                  </a:ext>
                </a:extLst>
              </a:tr>
              <a:tr h="214381">
                <a:tc>
                  <a:txBody>
                    <a:bodyPr/>
                    <a:lstStyle/>
                    <a:p>
                      <a:r>
                        <a:rPr lang="en-US" sz="900" b="0" i="0" u="none" strike="noStrike" cap="none" dirty="0">
                          <a:solidFill>
                            <a:srgbClr val="000000"/>
                          </a:solidFill>
                          <a:latin typeface="Arial"/>
                          <a:cs typeface="Arial"/>
                          <a:sym typeface="Arial"/>
                        </a:rPr>
                        <a:t>Static Route</a:t>
                      </a:r>
                    </a:p>
                  </a:txBody>
                  <a:tcPr anchor="ctr"/>
                </a:tc>
                <a:tc>
                  <a:txBody>
                    <a:bodyPr/>
                    <a:lstStyle/>
                    <a:p>
                      <a:r>
                        <a:rPr lang="en-PK" sz="900" dirty="0"/>
                        <a:t>1</a:t>
                      </a:r>
                    </a:p>
                  </a:txBody>
                  <a:tcPr/>
                </a:tc>
                <a:extLst>
                  <a:ext uri="{0D108BD9-81ED-4DB2-BD59-A6C34878D82A}">
                    <a16:rowId xmlns:a16="http://schemas.microsoft.com/office/drawing/2014/main" val="495398587"/>
                  </a:ext>
                </a:extLst>
              </a:tr>
              <a:tr h="223404">
                <a:tc>
                  <a:txBody>
                    <a:bodyPr/>
                    <a:lstStyle/>
                    <a:p>
                      <a:r>
                        <a:rPr lang="en-US" sz="900" b="0" i="0" u="none" strike="noStrike" cap="none" dirty="0">
                          <a:solidFill>
                            <a:srgbClr val="000000"/>
                          </a:solidFill>
                          <a:latin typeface="Arial"/>
                          <a:cs typeface="Arial"/>
                          <a:sym typeface="Arial"/>
                        </a:rPr>
                        <a:t>EIGRP (Internal)</a:t>
                      </a:r>
                    </a:p>
                  </a:txBody>
                  <a:tcPr anchor="ctr"/>
                </a:tc>
                <a:tc>
                  <a:txBody>
                    <a:bodyPr/>
                    <a:lstStyle/>
                    <a:p>
                      <a:r>
                        <a:rPr lang="en-PK" sz="900" dirty="0"/>
                        <a:t>90</a:t>
                      </a:r>
                    </a:p>
                  </a:txBody>
                  <a:tcPr/>
                </a:tc>
                <a:extLst>
                  <a:ext uri="{0D108BD9-81ED-4DB2-BD59-A6C34878D82A}">
                    <a16:rowId xmlns:a16="http://schemas.microsoft.com/office/drawing/2014/main" val="3109103086"/>
                  </a:ext>
                </a:extLst>
              </a:tr>
              <a:tr h="214381">
                <a:tc>
                  <a:txBody>
                    <a:bodyPr/>
                    <a:lstStyle/>
                    <a:p>
                      <a:r>
                        <a:rPr lang="en-US" sz="900" b="0" i="0" u="none" strike="noStrike" cap="none" dirty="0">
                          <a:solidFill>
                            <a:srgbClr val="000000"/>
                          </a:solidFill>
                          <a:latin typeface="Arial"/>
                          <a:cs typeface="Arial"/>
                          <a:sym typeface="Arial"/>
                        </a:rPr>
                        <a:t>EIGRP (External)</a:t>
                      </a:r>
                      <a:r>
                        <a:rPr lang="en-PK" sz="900" b="0" i="0" u="none" strike="noStrike" cap="none" dirty="0">
                          <a:solidFill>
                            <a:srgbClr val="000000"/>
                          </a:solidFill>
                          <a:latin typeface="Arial"/>
                          <a:cs typeface="Arial"/>
                          <a:sym typeface="Arial"/>
                        </a:rPr>
                        <a:t>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900" b="0" i="0" u="none" strike="noStrike" cap="none" dirty="0">
                          <a:solidFill>
                            <a:srgbClr val="000000"/>
                          </a:solidFill>
                          <a:latin typeface="Arial"/>
                          <a:cs typeface="Arial"/>
                          <a:sym typeface="Arial"/>
                        </a:rPr>
                        <a:t>170</a:t>
                      </a:r>
                    </a:p>
                  </a:txBody>
                  <a:tcPr/>
                </a:tc>
                <a:extLst>
                  <a:ext uri="{0D108BD9-81ED-4DB2-BD59-A6C34878D82A}">
                    <a16:rowId xmlns:a16="http://schemas.microsoft.com/office/drawing/2014/main" val="2216767746"/>
                  </a:ext>
                </a:extLst>
              </a:tr>
              <a:tr h="214381">
                <a:tc>
                  <a:txBody>
                    <a:bodyPr/>
                    <a:lstStyle/>
                    <a:p>
                      <a:r>
                        <a:rPr lang="en-US" sz="900" dirty="0"/>
                        <a:t>RIP</a:t>
                      </a:r>
                      <a:endParaRPr lang="en-PK" sz="900" b="0" i="0" u="none" strike="noStrike" cap="none" dirty="0">
                        <a:solidFill>
                          <a:srgbClr val="000000"/>
                        </a:solidFill>
                        <a:latin typeface="Arial"/>
                        <a:cs typeface="Arial"/>
                        <a:sym typeface="Arial"/>
                      </a:endParaRPr>
                    </a:p>
                  </a:txBody>
                  <a:tcPr/>
                </a:tc>
                <a:tc>
                  <a:txBody>
                    <a:bodyPr/>
                    <a:lstStyle/>
                    <a:p>
                      <a:r>
                        <a:rPr lang="en-PK" sz="900" dirty="0"/>
                        <a:t>120</a:t>
                      </a:r>
                    </a:p>
                  </a:txBody>
                  <a:tcPr/>
                </a:tc>
                <a:extLst>
                  <a:ext uri="{0D108BD9-81ED-4DB2-BD59-A6C34878D82A}">
                    <a16:rowId xmlns:a16="http://schemas.microsoft.com/office/drawing/2014/main" val="3746529425"/>
                  </a:ext>
                </a:extLst>
              </a:tr>
              <a:tr h="214381">
                <a:tc>
                  <a:txBody>
                    <a:bodyPr/>
                    <a:lstStyle/>
                    <a:p>
                      <a:pPr marR="0" algn="l" rtl="0">
                        <a:lnSpc>
                          <a:spcPct val="100000"/>
                        </a:lnSpc>
                        <a:spcBef>
                          <a:spcPts val="0"/>
                        </a:spcBef>
                        <a:spcAft>
                          <a:spcPts val="0"/>
                        </a:spcAft>
                        <a:buClr>
                          <a:srgbClr val="000000"/>
                        </a:buClr>
                        <a:buFont typeface="Arial"/>
                      </a:pPr>
                      <a:r>
                        <a:rPr lang="en-US" sz="900" b="0" i="0" u="none" strike="noStrike" cap="none" dirty="0">
                          <a:solidFill>
                            <a:srgbClr val="000000"/>
                          </a:solidFill>
                          <a:latin typeface="Arial"/>
                          <a:cs typeface="Arial"/>
                          <a:sym typeface="Arial"/>
                        </a:rPr>
                        <a:t>OSPF</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900" dirty="0"/>
                        <a:t>110</a:t>
                      </a:r>
                    </a:p>
                  </a:txBody>
                  <a:tcPr anchor="ctr"/>
                </a:tc>
                <a:extLst>
                  <a:ext uri="{0D108BD9-81ED-4DB2-BD59-A6C34878D82A}">
                    <a16:rowId xmlns:a16="http://schemas.microsoft.com/office/drawing/2014/main" val="1822873819"/>
                  </a:ext>
                </a:extLst>
              </a:tr>
              <a:tr h="220541">
                <a:tc>
                  <a:txBody>
                    <a:bodyPr/>
                    <a:lstStyle/>
                    <a:p>
                      <a:pPr marR="0" algn="l" rtl="0">
                        <a:lnSpc>
                          <a:spcPct val="100000"/>
                        </a:lnSpc>
                        <a:spcBef>
                          <a:spcPts val="0"/>
                        </a:spcBef>
                        <a:spcAft>
                          <a:spcPts val="0"/>
                        </a:spcAft>
                        <a:buClr>
                          <a:srgbClr val="000000"/>
                        </a:buClr>
                        <a:buFont typeface="Arial"/>
                      </a:pPr>
                      <a:r>
                        <a:rPr lang="en-US" sz="900" b="0" i="0" u="none" strike="noStrike" cap="none" dirty="0">
                          <a:solidFill>
                            <a:srgbClr val="000000"/>
                          </a:solidFill>
                          <a:latin typeface="Arial"/>
                          <a:cs typeface="Arial"/>
                          <a:sym typeface="Arial"/>
                        </a:rPr>
                        <a:t>Static Route (Floating)</a:t>
                      </a:r>
                    </a:p>
                  </a:txBody>
                  <a:tcPr anchor="ctr"/>
                </a:tc>
                <a:tc>
                  <a:txBody>
                    <a:bodyPr/>
                    <a:lstStyle/>
                    <a:p>
                      <a:pPr marR="0" algn="l" rtl="0">
                        <a:lnSpc>
                          <a:spcPct val="100000"/>
                        </a:lnSpc>
                        <a:spcBef>
                          <a:spcPts val="0"/>
                        </a:spcBef>
                        <a:spcAft>
                          <a:spcPts val="0"/>
                        </a:spcAft>
                        <a:buClr>
                          <a:srgbClr val="000000"/>
                        </a:buClr>
                        <a:buFont typeface="Arial"/>
                      </a:pPr>
                      <a:r>
                        <a:rPr lang="en-US" sz="900" b="0" i="0" u="none" strike="noStrike" cap="none" dirty="0">
                          <a:solidFill>
                            <a:srgbClr val="000000"/>
                          </a:solidFill>
                          <a:latin typeface="Arial"/>
                          <a:cs typeface="Arial"/>
                          <a:sym typeface="Arial"/>
                        </a:rPr>
                        <a:t>250 (usually set manually)</a:t>
                      </a:r>
                    </a:p>
                  </a:txBody>
                  <a:tcPr anchor="ctr"/>
                </a:tc>
                <a:extLst>
                  <a:ext uri="{0D108BD9-81ED-4DB2-BD59-A6C34878D82A}">
                    <a16:rowId xmlns:a16="http://schemas.microsoft.com/office/drawing/2014/main" val="1320556479"/>
                  </a:ext>
                </a:extLst>
              </a:tr>
              <a:tr h="216780">
                <a:tc>
                  <a:txBody>
                    <a:bodyPr/>
                    <a:lstStyle/>
                    <a:p>
                      <a:pPr marR="0" algn="l" rtl="0">
                        <a:lnSpc>
                          <a:spcPct val="100000"/>
                        </a:lnSpc>
                        <a:spcBef>
                          <a:spcPts val="0"/>
                        </a:spcBef>
                        <a:spcAft>
                          <a:spcPts val="0"/>
                        </a:spcAft>
                        <a:buClr>
                          <a:srgbClr val="000000"/>
                        </a:buClr>
                        <a:buFont typeface="Arial"/>
                      </a:pPr>
                      <a:r>
                        <a:rPr lang="en-US" sz="900" dirty="0"/>
                        <a:t>External BGP (eBGP)</a:t>
                      </a:r>
                      <a:endParaRPr lang="en-US" sz="900" b="0" i="0" u="none" strike="noStrike" cap="none" dirty="0">
                        <a:solidFill>
                          <a:srgbClr val="000000"/>
                        </a:solidFill>
                        <a:latin typeface="Arial"/>
                        <a:cs typeface="Arial"/>
                        <a:sym typeface="Arial"/>
                      </a:endParaRPr>
                    </a:p>
                  </a:txBody>
                  <a:tcPr anchor="ctr"/>
                </a:tc>
                <a:tc>
                  <a:txBody>
                    <a:bodyPr/>
                    <a:lstStyle/>
                    <a:p>
                      <a:pPr marR="0" algn="l" rtl="0">
                        <a:lnSpc>
                          <a:spcPct val="100000"/>
                        </a:lnSpc>
                        <a:spcBef>
                          <a:spcPts val="0"/>
                        </a:spcBef>
                        <a:spcAft>
                          <a:spcPts val="0"/>
                        </a:spcAft>
                        <a:buClr>
                          <a:srgbClr val="000000"/>
                        </a:buClr>
                        <a:buFont typeface="Arial"/>
                      </a:pPr>
                      <a:r>
                        <a:rPr lang="en-PK" sz="900" dirty="0"/>
                        <a:t>20</a:t>
                      </a:r>
                      <a:endParaRPr lang="en-US" sz="900" b="0" i="0" u="none" strike="noStrike" cap="none" dirty="0">
                        <a:solidFill>
                          <a:srgbClr val="000000"/>
                        </a:solidFill>
                        <a:latin typeface="Arial"/>
                        <a:cs typeface="Arial"/>
                        <a:sym typeface="Arial"/>
                      </a:endParaRPr>
                    </a:p>
                  </a:txBody>
                  <a:tcPr anchor="ctr"/>
                </a:tc>
                <a:extLst>
                  <a:ext uri="{0D108BD9-81ED-4DB2-BD59-A6C34878D82A}">
                    <a16:rowId xmlns:a16="http://schemas.microsoft.com/office/drawing/2014/main" val="2311610115"/>
                  </a:ext>
                </a:extLst>
              </a:tr>
              <a:tr h="296518">
                <a:tc>
                  <a:txBody>
                    <a:bodyPr/>
                    <a:lstStyle/>
                    <a:p>
                      <a:pPr marR="0" algn="l" rtl="0">
                        <a:lnSpc>
                          <a:spcPct val="100000"/>
                        </a:lnSpc>
                        <a:spcBef>
                          <a:spcPts val="0"/>
                        </a:spcBef>
                        <a:spcAft>
                          <a:spcPts val="0"/>
                        </a:spcAft>
                        <a:buClr>
                          <a:srgbClr val="000000"/>
                        </a:buClr>
                        <a:buFont typeface="Arial"/>
                      </a:pPr>
                      <a:r>
                        <a:rPr lang="en-US" sz="900" b="0" i="0" u="none" strike="noStrike" cap="none" dirty="0">
                          <a:solidFill>
                            <a:srgbClr val="000000"/>
                          </a:solidFill>
                          <a:latin typeface="Arial"/>
                          <a:cs typeface="Arial"/>
                          <a:sym typeface="Arial"/>
                        </a:rPr>
                        <a:t>Internal BGP (iBGP)</a:t>
                      </a:r>
                    </a:p>
                  </a:txBody>
                  <a:tcPr anchor="ctr"/>
                </a:tc>
                <a:tc>
                  <a:txBody>
                    <a:bodyPr/>
                    <a:lstStyle/>
                    <a:p>
                      <a:pPr marR="0" algn="l" rtl="0">
                        <a:lnSpc>
                          <a:spcPct val="100000"/>
                        </a:lnSpc>
                        <a:spcBef>
                          <a:spcPts val="0"/>
                        </a:spcBef>
                        <a:spcAft>
                          <a:spcPts val="0"/>
                        </a:spcAft>
                        <a:buClr>
                          <a:srgbClr val="000000"/>
                        </a:buClr>
                        <a:buFont typeface="Arial"/>
                      </a:pPr>
                      <a:r>
                        <a:rPr lang="en-PK" sz="900" dirty="0"/>
                        <a:t>200</a:t>
                      </a:r>
                      <a:endParaRPr lang="en-US" sz="900" b="0" i="0" u="none" strike="noStrike" cap="none" dirty="0">
                        <a:solidFill>
                          <a:srgbClr val="000000"/>
                        </a:solidFill>
                        <a:latin typeface="Arial"/>
                        <a:cs typeface="Arial"/>
                        <a:sym typeface="Arial"/>
                      </a:endParaRPr>
                    </a:p>
                  </a:txBody>
                  <a:tcPr anchor="ctr"/>
                </a:tc>
                <a:extLst>
                  <a:ext uri="{0D108BD9-81ED-4DB2-BD59-A6C34878D82A}">
                    <a16:rowId xmlns:a16="http://schemas.microsoft.com/office/drawing/2014/main" val="1008586228"/>
                  </a:ext>
                </a:extLst>
              </a:tr>
            </a:tbl>
          </a:graphicData>
        </a:graphic>
      </p:graphicFrame>
    </p:spTree>
    <p:extLst>
      <p:ext uri="{BB962C8B-B14F-4D97-AF65-F5344CB8AC3E}">
        <p14:creationId xmlns:p14="http://schemas.microsoft.com/office/powerpoint/2010/main" val="2299645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12D25-95AE-6C41-EE8D-893FB06AA12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232A84-C3A9-3D86-800D-1C776FC90684}"/>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038466BC-A647-8C91-43D8-4FC6F95C8A3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7C6F6AB-C65C-D7C4-75B6-F790D013151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94376CE-D0E1-3355-232E-607C51BB5C3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3212085-D5A4-16B0-FC17-FD8F4274AB54}"/>
              </a:ext>
            </a:extLst>
          </p:cNvPr>
          <p:cNvSpPr txBox="1"/>
          <p:nvPr/>
        </p:nvSpPr>
        <p:spPr>
          <a:xfrm>
            <a:off x="2683370" y="125565"/>
            <a:ext cx="3581254" cy="400110"/>
          </a:xfrm>
          <a:prstGeom prst="rect">
            <a:avLst/>
          </a:prstGeom>
          <a:noFill/>
        </p:spPr>
        <p:txBody>
          <a:bodyPr wrap="square">
            <a:spAutoFit/>
          </a:bodyPr>
          <a:lstStyle/>
          <a:p>
            <a:r>
              <a:rPr lang="en-US" sz="2000" b="1" dirty="0">
                <a:solidFill>
                  <a:srgbClr val="403CCF"/>
                </a:solidFill>
                <a:latin typeface="Libre Baskerville" pitchFamily="34" charset="0"/>
              </a:rPr>
              <a:t>Floating static route:</a:t>
            </a:r>
          </a:p>
        </p:txBody>
      </p:sp>
      <p:sp>
        <p:nvSpPr>
          <p:cNvPr id="17" name="TextBox 16">
            <a:extLst>
              <a:ext uri="{FF2B5EF4-FFF2-40B4-BE49-F238E27FC236}">
                <a16:creationId xmlns:a16="http://schemas.microsoft.com/office/drawing/2014/main" id="{28C1BB9E-AB15-D8FD-4718-2AFAF78D917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68F75C47-11F0-275F-0266-2F4EB6537060}"/>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88D3BF2B-DEC3-DED9-0FA6-F520308F1F5B}"/>
              </a:ext>
            </a:extLst>
          </p:cNvPr>
          <p:cNvSpPr txBox="1"/>
          <p:nvPr/>
        </p:nvSpPr>
        <p:spPr>
          <a:xfrm>
            <a:off x="255939" y="927035"/>
            <a:ext cx="3300062" cy="600164"/>
          </a:xfrm>
          <a:prstGeom prst="rect">
            <a:avLst/>
          </a:prstGeom>
          <a:noFill/>
        </p:spPr>
        <p:txBody>
          <a:bodyPr wrap="square">
            <a:spAutoFit/>
          </a:bodyPr>
          <a:lstStyle/>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15" name="TextBox 14">
            <a:extLst>
              <a:ext uri="{FF2B5EF4-FFF2-40B4-BE49-F238E27FC236}">
                <a16:creationId xmlns:a16="http://schemas.microsoft.com/office/drawing/2014/main" id="{8868F6E9-44BC-BB00-C1E7-E8C88577C106}"/>
              </a:ext>
            </a:extLst>
          </p:cNvPr>
          <p:cNvSpPr txBox="1"/>
          <p:nvPr/>
        </p:nvSpPr>
        <p:spPr>
          <a:xfrm>
            <a:off x="110064" y="585951"/>
            <a:ext cx="7801960" cy="1046440"/>
          </a:xfrm>
          <a:prstGeom prst="rect">
            <a:avLst/>
          </a:prstGeom>
          <a:noFill/>
        </p:spPr>
        <p:txBody>
          <a:bodyPr wrap="square">
            <a:spAutoFit/>
          </a:bodyPr>
          <a:lstStyle/>
          <a:p>
            <a:endParaRPr lang="en-US" b="1" dirty="0">
              <a:solidFill>
                <a:srgbClr val="403CCF"/>
              </a:solidFill>
              <a:latin typeface="Libre Baskerville" pitchFamily="34" charset="0"/>
            </a:endParaRPr>
          </a:p>
          <a:p>
            <a:pPr algn="just"/>
            <a:r>
              <a:rPr lang="en-US" sz="1600" dirty="0"/>
              <a:t>A </a:t>
            </a:r>
            <a:r>
              <a:rPr lang="en-US" sz="1600" b="1" dirty="0">
                <a:solidFill>
                  <a:srgbClr val="403CCF"/>
                </a:solidFill>
                <a:latin typeface="+mj-lt"/>
              </a:rPr>
              <a:t>floating static route </a:t>
            </a:r>
            <a:r>
              <a:rPr lang="en-US" sz="1600" dirty="0"/>
              <a:t>is a static route with a higher </a:t>
            </a:r>
            <a:r>
              <a:rPr lang="en-US" sz="1600" b="1" dirty="0">
                <a:solidFill>
                  <a:srgbClr val="403CCF"/>
                </a:solidFill>
                <a:latin typeface="+mj-lt"/>
              </a:rPr>
              <a:t>administrative distance </a:t>
            </a:r>
            <a:r>
              <a:rPr lang="en-US" sz="1600" dirty="0"/>
              <a:t>than the primary route. It acts as a backup and is used only when the primary route fails (becomes unavailable).</a:t>
            </a:r>
            <a:endParaRPr lang="en-US" sz="1200" dirty="0"/>
          </a:p>
        </p:txBody>
      </p:sp>
      <p:sp>
        <p:nvSpPr>
          <p:cNvPr id="8" name="TextBox 7">
            <a:extLst>
              <a:ext uri="{FF2B5EF4-FFF2-40B4-BE49-F238E27FC236}">
                <a16:creationId xmlns:a16="http://schemas.microsoft.com/office/drawing/2014/main" id="{8F034010-00CF-4FC7-4222-230E7EA6A6E7}"/>
              </a:ext>
            </a:extLst>
          </p:cNvPr>
          <p:cNvSpPr txBox="1"/>
          <p:nvPr/>
        </p:nvSpPr>
        <p:spPr>
          <a:xfrm>
            <a:off x="110064" y="1864769"/>
            <a:ext cx="8398210" cy="2554545"/>
          </a:xfrm>
          <a:prstGeom prst="rect">
            <a:avLst/>
          </a:prstGeom>
          <a:noFill/>
        </p:spPr>
        <p:txBody>
          <a:bodyPr wrap="square">
            <a:spAutoFit/>
          </a:bodyPr>
          <a:lstStyle/>
          <a:p>
            <a:pPr algn="just"/>
            <a:r>
              <a:rPr lang="en-US" sz="2000" b="1" dirty="0">
                <a:solidFill>
                  <a:srgbClr val="403CCF"/>
                </a:solidFill>
                <a:latin typeface="Libre Baskerville" pitchFamily="34" charset="0"/>
              </a:rPr>
              <a:t>How to configure a floating static route?</a:t>
            </a:r>
          </a:p>
          <a:p>
            <a:pPr algn="just"/>
            <a:endParaRPr lang="en-US" dirty="0"/>
          </a:p>
          <a:p>
            <a:pPr algn="just"/>
            <a:r>
              <a:rPr lang="en-US" b="1" dirty="0"/>
              <a:t>Primary Static Route:</a:t>
            </a:r>
          </a:p>
          <a:p>
            <a:pPr algn="just"/>
            <a:r>
              <a:rPr lang="en-US" dirty="0"/>
              <a:t>ip   route   192.168.100.0   255.255.255.0   3.1.1.2</a:t>
            </a:r>
          </a:p>
          <a:p>
            <a:pPr algn="just"/>
            <a:endParaRPr lang="en-US" dirty="0"/>
          </a:p>
          <a:p>
            <a:pPr algn="just"/>
            <a:endParaRPr lang="en-US" dirty="0"/>
          </a:p>
          <a:p>
            <a:pPr algn="just"/>
            <a:endParaRPr lang="en-US" dirty="0"/>
          </a:p>
          <a:p>
            <a:pPr algn="just"/>
            <a:endParaRPr lang="en-US" dirty="0"/>
          </a:p>
          <a:p>
            <a:pPr algn="just"/>
            <a:r>
              <a:rPr lang="en-US" b="1" dirty="0"/>
              <a:t>Floating Static Route (higher administrative distance, e.g., 250):</a:t>
            </a:r>
            <a:endParaRPr lang="en-US" dirty="0"/>
          </a:p>
          <a:p>
            <a:pPr algn="just"/>
            <a:r>
              <a:rPr lang="en-US" dirty="0"/>
              <a:t>ip route   192.168.100.0   255.255.255.0   2.1.1.1   250</a:t>
            </a:r>
          </a:p>
          <a:p>
            <a:pPr algn="just"/>
            <a:endParaRPr lang="en-PK" dirty="0"/>
          </a:p>
        </p:txBody>
      </p:sp>
    </p:spTree>
    <p:extLst>
      <p:ext uri="{BB962C8B-B14F-4D97-AF65-F5344CB8AC3E}">
        <p14:creationId xmlns:p14="http://schemas.microsoft.com/office/powerpoint/2010/main" val="1710417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01054-6429-CD31-180F-756414E523D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2ED866-4869-4553-DE40-1F7C1B9E2BA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ED6B8C8-FA8E-755F-109F-FCEA8BC14C2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D4A93F0-E40E-6099-4E3F-C1655DBDC58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3047461-E473-411F-BBC1-03F2EAAFFF6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EA7CE09C-4888-755A-E0B3-A193E673B51A}"/>
              </a:ext>
            </a:extLst>
          </p:cNvPr>
          <p:cNvSpPr txBox="1"/>
          <p:nvPr/>
        </p:nvSpPr>
        <p:spPr>
          <a:xfrm>
            <a:off x="2781371" y="115523"/>
            <a:ext cx="3581254" cy="400110"/>
          </a:xfrm>
          <a:prstGeom prst="rect">
            <a:avLst/>
          </a:prstGeom>
          <a:noFill/>
        </p:spPr>
        <p:txBody>
          <a:bodyPr wrap="square">
            <a:spAutoFit/>
          </a:bodyPr>
          <a:lstStyle/>
          <a:p>
            <a:r>
              <a:rPr lang="en-US" sz="2000" b="1" dirty="0">
                <a:solidFill>
                  <a:srgbClr val="403CCF"/>
                </a:solidFill>
                <a:latin typeface="Libre Baskerville" pitchFamily="34" charset="0"/>
              </a:rPr>
              <a:t>Default Route</a:t>
            </a:r>
          </a:p>
        </p:txBody>
      </p:sp>
      <p:sp>
        <p:nvSpPr>
          <p:cNvPr id="17" name="TextBox 16">
            <a:extLst>
              <a:ext uri="{FF2B5EF4-FFF2-40B4-BE49-F238E27FC236}">
                <a16:creationId xmlns:a16="http://schemas.microsoft.com/office/drawing/2014/main" id="{BA67011C-E417-D1D0-CD46-B304BD69B42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58425BF3-703E-C55C-828C-2725E49E8889}"/>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B88288D4-E7C9-BDFE-7013-E39CF663FA4B}"/>
              </a:ext>
            </a:extLst>
          </p:cNvPr>
          <p:cNvSpPr txBox="1"/>
          <p:nvPr/>
        </p:nvSpPr>
        <p:spPr>
          <a:xfrm>
            <a:off x="255939" y="927035"/>
            <a:ext cx="3300062" cy="600164"/>
          </a:xfrm>
          <a:prstGeom prst="rect">
            <a:avLst/>
          </a:prstGeom>
          <a:noFill/>
        </p:spPr>
        <p:txBody>
          <a:bodyPr wrap="square">
            <a:spAutoFit/>
          </a:bodyPr>
          <a:lstStyle/>
          <a:p>
            <a:endParaRPr lang="en-US" sz="900" dirty="0"/>
          </a:p>
          <a:p>
            <a:pPr marL="171450" indent="-171450">
              <a:buFont typeface="Wingdings" panose="05000000000000000000" pitchFamily="2" charset="2"/>
              <a:buChar char="Ø"/>
            </a:pPr>
            <a:endParaRPr lang="en-US" sz="1200" dirty="0"/>
          </a:p>
          <a:p>
            <a:pPr marL="171450" indent="-171450">
              <a:buFont typeface="Wingdings" panose="05000000000000000000" pitchFamily="2" charset="2"/>
              <a:buChar char="Ø"/>
            </a:pPr>
            <a:endParaRPr lang="en-US" sz="1200" dirty="0"/>
          </a:p>
        </p:txBody>
      </p:sp>
      <p:sp>
        <p:nvSpPr>
          <p:cNvPr id="8" name="TextBox 7">
            <a:extLst>
              <a:ext uri="{FF2B5EF4-FFF2-40B4-BE49-F238E27FC236}">
                <a16:creationId xmlns:a16="http://schemas.microsoft.com/office/drawing/2014/main" id="{C331CC80-B87A-ACEE-5513-6B25F3419AEA}"/>
              </a:ext>
            </a:extLst>
          </p:cNvPr>
          <p:cNvSpPr txBox="1"/>
          <p:nvPr/>
        </p:nvSpPr>
        <p:spPr>
          <a:xfrm>
            <a:off x="213607" y="525851"/>
            <a:ext cx="8238268" cy="4616648"/>
          </a:xfrm>
          <a:prstGeom prst="rect">
            <a:avLst/>
          </a:prstGeom>
          <a:noFill/>
        </p:spPr>
        <p:txBody>
          <a:bodyPr wrap="square">
            <a:spAutoFit/>
          </a:bodyPr>
          <a:lstStyle/>
          <a:p>
            <a:r>
              <a:rPr lang="en-US" dirty="0"/>
              <a:t>A </a:t>
            </a:r>
            <a:r>
              <a:rPr lang="en-US" b="1" dirty="0"/>
              <a:t>default route</a:t>
            </a:r>
            <a:r>
              <a:rPr lang="en-US" dirty="0"/>
              <a:t> is used in the following scenarios:</a:t>
            </a:r>
          </a:p>
          <a:p>
            <a:endParaRPr lang="en-US" dirty="0"/>
          </a:p>
          <a:p>
            <a:pPr>
              <a:buFont typeface="+mj-lt"/>
              <a:buAutoNum type="arabicPeriod"/>
            </a:pPr>
            <a:r>
              <a:rPr lang="en-US" b="1" dirty="0"/>
              <a:t>Routing for Unknown Destinations:</a:t>
            </a:r>
            <a:endParaRPr lang="en-US" dirty="0"/>
          </a:p>
          <a:p>
            <a:pPr marL="742950" lvl="1" indent="-285750">
              <a:buFont typeface="Wingdings" panose="05000000000000000000" pitchFamily="2" charset="2"/>
              <a:buChar char="Ø"/>
            </a:pPr>
            <a:r>
              <a:rPr lang="en-US" dirty="0"/>
              <a:t>A default route is configured to handle traffic destined for unknown networks.</a:t>
            </a:r>
          </a:p>
          <a:p>
            <a:pPr marL="742950" lvl="1" indent="-285750">
              <a:buFont typeface="Wingdings" panose="05000000000000000000" pitchFamily="2" charset="2"/>
              <a:buChar char="Ø"/>
            </a:pPr>
            <a:r>
              <a:rPr lang="en-US" dirty="0"/>
              <a:t>This is commonly used in scenarios like internet access, where specific destination addresses (e.g., Yahoo's server IP) may not be explicitly listed in the routing table.</a:t>
            </a:r>
          </a:p>
          <a:p>
            <a:pPr marL="457200" lvl="1"/>
            <a:endParaRPr lang="en-US" dirty="0"/>
          </a:p>
          <a:p>
            <a:pPr>
              <a:buFont typeface="+mj-lt"/>
              <a:buAutoNum type="arabicPeriod"/>
            </a:pPr>
            <a:r>
              <a:rPr lang="en-US" b="1" dirty="0"/>
              <a:t>End Location Configuration (Optional):</a:t>
            </a:r>
            <a:endParaRPr lang="en-US" dirty="0"/>
          </a:p>
          <a:p>
            <a:pPr marL="742950" lvl="1" indent="-285750">
              <a:buFont typeface="Wingdings" panose="05000000000000000000" pitchFamily="2" charset="2"/>
              <a:buChar char="Ø"/>
            </a:pPr>
            <a:r>
              <a:rPr lang="en-US" dirty="0"/>
              <a:t>A default route can be configured at the edge of a network to direct traffic toward a specific next-hop router or gateway.</a:t>
            </a:r>
          </a:p>
          <a:p>
            <a:pPr marL="742950" lvl="1" indent="-285750">
              <a:buFont typeface="Wingdings" panose="05000000000000000000" pitchFamily="2" charset="2"/>
              <a:buChar char="Ø"/>
            </a:pPr>
            <a:endParaRPr lang="en-US" dirty="0"/>
          </a:p>
          <a:p>
            <a:r>
              <a:rPr lang="en-US" b="1" dirty="0"/>
              <a:t>Benefits of Default Routes:</a:t>
            </a:r>
            <a:endParaRPr lang="en-US" dirty="0"/>
          </a:p>
          <a:p>
            <a:r>
              <a:rPr lang="en-US" dirty="0"/>
              <a:t>Simplifies network configuration by reducing the size of the routing table.</a:t>
            </a:r>
          </a:p>
          <a:p>
            <a:r>
              <a:rPr lang="en-US" dirty="0"/>
              <a:t>Eliminates the need for manually adding routes for every external network.</a:t>
            </a:r>
          </a:p>
          <a:p>
            <a:pPr>
              <a:buFont typeface="Arial" panose="020B0604020202020204" pitchFamily="34" charset="0"/>
              <a:buChar char="•"/>
            </a:pPr>
            <a:endParaRPr lang="en-US" dirty="0"/>
          </a:p>
          <a:p>
            <a:pPr>
              <a:buFont typeface="Arial" panose="020B0604020202020204" pitchFamily="34" charset="0"/>
              <a:buChar char="•"/>
            </a:pPr>
            <a:endParaRPr lang="en-US" dirty="0"/>
          </a:p>
          <a:p>
            <a:r>
              <a:rPr lang="en-US" dirty="0"/>
              <a:t>Example Configuration:</a:t>
            </a:r>
          </a:p>
          <a:p>
            <a:r>
              <a:rPr lang="en-US" dirty="0"/>
              <a:t>R1(config)# ip route 0.0.0.0 0.0.0.0 10.0.0.2  </a:t>
            </a:r>
          </a:p>
          <a:p>
            <a:endParaRPr lang="en-US" dirty="0"/>
          </a:p>
          <a:p>
            <a:r>
              <a:rPr lang="en-US" dirty="0"/>
              <a:t>0.0.0.0   0.0.0.0 represents the default route.</a:t>
            </a:r>
          </a:p>
          <a:p>
            <a:r>
              <a:rPr lang="en-US" dirty="0"/>
              <a:t>10.0.0.2 is the next-hop IP address or the exit interface through which the traffic is forwarded.</a:t>
            </a:r>
          </a:p>
        </p:txBody>
      </p:sp>
    </p:spTree>
    <p:extLst>
      <p:ext uri="{BB962C8B-B14F-4D97-AF65-F5344CB8AC3E}">
        <p14:creationId xmlns:p14="http://schemas.microsoft.com/office/powerpoint/2010/main" val="3229809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62E49-A8C7-0427-5BBB-49F3FA23C6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0D74C79-2F93-D1F4-D0C7-F17FA3199069}"/>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82933A4-CF7D-7984-A826-AF664869B9D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0D94E97-925B-4948-6EDC-09BAC7CEF847}"/>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CA87A3B-2A63-6D67-0F45-18F68FB2F94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EBB4887C-47D0-2CDE-8827-6D7265B1001A}"/>
              </a:ext>
            </a:extLst>
          </p:cNvPr>
          <p:cNvSpPr txBox="1"/>
          <p:nvPr/>
        </p:nvSpPr>
        <p:spPr>
          <a:xfrm>
            <a:off x="2781371" y="115523"/>
            <a:ext cx="3581254" cy="400110"/>
          </a:xfrm>
          <a:prstGeom prst="rect">
            <a:avLst/>
          </a:prstGeom>
          <a:noFill/>
        </p:spPr>
        <p:txBody>
          <a:bodyPr wrap="square">
            <a:spAutoFit/>
          </a:bodyPr>
          <a:lstStyle/>
          <a:p>
            <a:r>
              <a:rPr lang="en-US" sz="2000" b="1" dirty="0">
                <a:solidFill>
                  <a:srgbClr val="403CCF"/>
                </a:solidFill>
                <a:latin typeface="Libre Baskerville" pitchFamily="34" charset="0"/>
              </a:rPr>
              <a:t>Default Route</a:t>
            </a:r>
          </a:p>
        </p:txBody>
      </p:sp>
      <p:sp>
        <p:nvSpPr>
          <p:cNvPr id="17" name="TextBox 16">
            <a:extLst>
              <a:ext uri="{FF2B5EF4-FFF2-40B4-BE49-F238E27FC236}">
                <a16:creationId xmlns:a16="http://schemas.microsoft.com/office/drawing/2014/main" id="{96B98F52-053C-5D0F-E051-360C239D6C5F}"/>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E0ACE0D4-A373-712B-72B6-4EC855C1BCE9}"/>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D8670098-FFE2-9045-7597-9AD233E7AA19}"/>
              </a:ext>
            </a:extLst>
          </p:cNvPr>
          <p:cNvSpPr txBox="1"/>
          <p:nvPr/>
        </p:nvSpPr>
        <p:spPr>
          <a:xfrm>
            <a:off x="110064" y="580865"/>
            <a:ext cx="9033936" cy="3808735"/>
          </a:xfrm>
          <a:prstGeom prst="rect">
            <a:avLst/>
          </a:prstGeom>
          <a:noFill/>
        </p:spPr>
        <p:txBody>
          <a:bodyPr wrap="square">
            <a:spAutoFit/>
          </a:bodyPr>
          <a:lstStyle/>
          <a:p>
            <a:r>
              <a:rPr lang="en-US" sz="1050" dirty="0"/>
              <a:t>For example, imagine you have three routers (R1, R2, and R3) connected to each other, and static routing is configured on all of them. R3 is further connected to an ISP. </a:t>
            </a:r>
          </a:p>
          <a:p>
            <a:r>
              <a:rPr lang="en-US" sz="1050" dirty="0"/>
              <a:t>Each router's LAN is connected to a switch, and each switch has four computers connected to it.</a:t>
            </a:r>
          </a:p>
          <a:p>
            <a:endParaRPr lang="en-US" sz="1050" dirty="0"/>
          </a:p>
          <a:p>
            <a:r>
              <a:rPr lang="en-US" sz="1050" dirty="0"/>
              <a:t>If a computer in this network wants to access a website like Yahoo.com, which is located on the internet with an IP address (e.g., 202.148.35.137), the following process occurs:</a:t>
            </a:r>
          </a:p>
          <a:p>
            <a:pPr>
              <a:buFont typeface="+mj-lt"/>
              <a:buAutoNum type="arabicPeriod"/>
            </a:pPr>
            <a:r>
              <a:rPr lang="en-US" sz="1050" dirty="0"/>
              <a:t>The computer sends the packets to its switch.</a:t>
            </a:r>
          </a:p>
          <a:p>
            <a:pPr>
              <a:buFont typeface="+mj-lt"/>
              <a:buAutoNum type="arabicPeriod"/>
            </a:pPr>
            <a:r>
              <a:rPr lang="en-US" sz="1050" dirty="0"/>
              <a:t>The switch forwards the packets to the connected router.</a:t>
            </a:r>
          </a:p>
          <a:p>
            <a:pPr>
              <a:buFont typeface="+mj-lt"/>
              <a:buAutoNum type="arabicPeriod"/>
            </a:pPr>
            <a:r>
              <a:rPr lang="en-US" sz="1050" dirty="0"/>
              <a:t>The router checks its routing table to see if there is an entry for this destination (202.148.35.137).</a:t>
            </a:r>
          </a:p>
          <a:p>
            <a:pPr>
              <a:buFont typeface="+mj-lt"/>
              <a:buAutoNum type="arabicPeriod"/>
            </a:pPr>
            <a:r>
              <a:rPr lang="en-US" sz="1050" dirty="0"/>
              <a:t>If no entry exists, the router will drop the packet because it doesn’t know where to forward it.</a:t>
            </a:r>
          </a:p>
          <a:p>
            <a:pPr>
              <a:buFont typeface="+mj-lt"/>
              <a:buAutoNum type="arabicPeriod"/>
            </a:pPr>
            <a:endParaRPr lang="en-US" sz="1050" dirty="0"/>
          </a:p>
          <a:p>
            <a:pPr>
              <a:buFont typeface="+mj-lt"/>
              <a:buAutoNum type="arabicPeriod"/>
            </a:pPr>
            <a:endParaRPr lang="en-US" sz="1050" dirty="0"/>
          </a:p>
          <a:p>
            <a:r>
              <a:rPr lang="en-US" sz="1050" dirty="0"/>
              <a:t>To make Yahoo.com accessible, you need to add a route in the router for Yahoo's IP address. </a:t>
            </a:r>
          </a:p>
          <a:p>
            <a:endParaRPr lang="en-US" sz="1050" dirty="0"/>
          </a:p>
          <a:p>
            <a:r>
              <a:rPr lang="en-US" sz="1050" b="1" dirty="0"/>
              <a:t>R1(config)# ip route 202.148.35.137   255.255.255.255    2.2.2.2  </a:t>
            </a:r>
          </a:p>
          <a:p>
            <a:endParaRPr lang="en-US" sz="1050" b="1" dirty="0"/>
          </a:p>
          <a:p>
            <a:endParaRPr lang="en-US" sz="1050" b="1" dirty="0"/>
          </a:p>
          <a:p>
            <a:endParaRPr lang="en-US" sz="1050" dirty="0"/>
          </a:p>
          <a:p>
            <a:endParaRPr lang="en-US" sz="1050" dirty="0"/>
          </a:p>
          <a:p>
            <a:endParaRPr lang="en-US" sz="1050" dirty="0"/>
          </a:p>
          <a:p>
            <a:endParaRPr lang="en-US" sz="1050" dirty="0"/>
          </a:p>
          <a:p>
            <a:r>
              <a:rPr lang="en-US" sz="1050" dirty="0"/>
              <a:t>However, if another computer wants to access Google.com, you would need to add another route for Google's IP address. Similarly, for every new destination, you would have to manually add a static route. This can quickly become hard and slow.</a:t>
            </a:r>
          </a:p>
        </p:txBody>
      </p:sp>
      <p:sp>
        <p:nvSpPr>
          <p:cNvPr id="14" name="Oval 13">
            <a:extLst>
              <a:ext uri="{FF2B5EF4-FFF2-40B4-BE49-F238E27FC236}">
                <a16:creationId xmlns:a16="http://schemas.microsoft.com/office/drawing/2014/main" id="{8A2FEEE0-49A6-3A97-643C-54564164F212}"/>
              </a:ext>
            </a:extLst>
          </p:cNvPr>
          <p:cNvSpPr/>
          <p:nvPr/>
        </p:nvSpPr>
        <p:spPr>
          <a:xfrm>
            <a:off x="1346167" y="3284806"/>
            <a:ext cx="999067" cy="2873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Destination</a:t>
            </a:r>
            <a:endParaRPr lang="en-PK" sz="800" dirty="0"/>
          </a:p>
        </p:txBody>
      </p:sp>
      <p:cxnSp>
        <p:nvCxnSpPr>
          <p:cNvPr id="16" name="Straight Arrow Connector 15">
            <a:extLst>
              <a:ext uri="{FF2B5EF4-FFF2-40B4-BE49-F238E27FC236}">
                <a16:creationId xmlns:a16="http://schemas.microsoft.com/office/drawing/2014/main" id="{D33EF8C7-163F-91FD-525A-085162ECD030}"/>
              </a:ext>
            </a:extLst>
          </p:cNvPr>
          <p:cNvCxnSpPr>
            <a:cxnSpLocks/>
          </p:cNvCxnSpPr>
          <p:nvPr/>
        </p:nvCxnSpPr>
        <p:spPr>
          <a:xfrm flipV="1">
            <a:off x="1862633" y="3051323"/>
            <a:ext cx="0" cy="23348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Oval 18">
            <a:extLst>
              <a:ext uri="{FF2B5EF4-FFF2-40B4-BE49-F238E27FC236}">
                <a16:creationId xmlns:a16="http://schemas.microsoft.com/office/drawing/2014/main" id="{CE5BA324-E3BE-3AD5-DCB0-A4C825AC730E}"/>
              </a:ext>
            </a:extLst>
          </p:cNvPr>
          <p:cNvSpPr/>
          <p:nvPr/>
        </p:nvSpPr>
        <p:spPr>
          <a:xfrm>
            <a:off x="3399995" y="3306875"/>
            <a:ext cx="999067" cy="2873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 Hop</a:t>
            </a:r>
            <a:endParaRPr lang="en-PK" sz="800" dirty="0"/>
          </a:p>
        </p:txBody>
      </p:sp>
      <p:cxnSp>
        <p:nvCxnSpPr>
          <p:cNvPr id="20" name="Straight Arrow Connector 19">
            <a:extLst>
              <a:ext uri="{FF2B5EF4-FFF2-40B4-BE49-F238E27FC236}">
                <a16:creationId xmlns:a16="http://schemas.microsoft.com/office/drawing/2014/main" id="{C1351807-3A16-5ED5-39ED-246B48E5DC78}"/>
              </a:ext>
            </a:extLst>
          </p:cNvPr>
          <p:cNvCxnSpPr>
            <a:cxnSpLocks/>
          </p:cNvCxnSpPr>
          <p:nvPr/>
        </p:nvCxnSpPr>
        <p:spPr>
          <a:xfrm flipV="1">
            <a:off x="3899528" y="3073392"/>
            <a:ext cx="0" cy="23348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6691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4783E-AB74-3E77-0CBA-26B383F4ED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15A64E-A136-5811-267D-824F2A62358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BA877E1-3CE6-E3FA-BD45-EFA5E642160B}"/>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47AA869-D615-D461-1939-F807B5F17DA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FC3F823-37E5-AC7B-EA74-22586B5B80E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9D916F2-4B4D-71AC-C889-E7012D05D7B6}"/>
              </a:ext>
            </a:extLst>
          </p:cNvPr>
          <p:cNvSpPr txBox="1"/>
          <p:nvPr/>
        </p:nvSpPr>
        <p:spPr>
          <a:xfrm>
            <a:off x="2781371" y="115523"/>
            <a:ext cx="3581254" cy="400110"/>
          </a:xfrm>
          <a:prstGeom prst="rect">
            <a:avLst/>
          </a:prstGeom>
          <a:noFill/>
        </p:spPr>
        <p:txBody>
          <a:bodyPr wrap="square">
            <a:spAutoFit/>
          </a:bodyPr>
          <a:lstStyle/>
          <a:p>
            <a:r>
              <a:rPr lang="en-US" sz="2000" b="1" dirty="0">
                <a:solidFill>
                  <a:srgbClr val="403CCF"/>
                </a:solidFill>
                <a:latin typeface="Libre Baskerville" pitchFamily="34" charset="0"/>
              </a:rPr>
              <a:t>Default Route</a:t>
            </a:r>
          </a:p>
        </p:txBody>
      </p:sp>
      <p:sp>
        <p:nvSpPr>
          <p:cNvPr id="17" name="TextBox 16">
            <a:extLst>
              <a:ext uri="{FF2B5EF4-FFF2-40B4-BE49-F238E27FC236}">
                <a16:creationId xmlns:a16="http://schemas.microsoft.com/office/drawing/2014/main" id="{9AB7F103-3A38-C12D-0624-C06AD7112435}"/>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C12208D2-A3D9-04BA-24FC-C0517EE944A0}"/>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pic>
        <p:nvPicPr>
          <p:cNvPr id="8" name="Picture 7">
            <a:extLst>
              <a:ext uri="{FF2B5EF4-FFF2-40B4-BE49-F238E27FC236}">
                <a16:creationId xmlns:a16="http://schemas.microsoft.com/office/drawing/2014/main" id="{8FFDD7FF-FF46-03B0-FDDD-3DE2A8D2F61D}"/>
              </a:ext>
            </a:extLst>
          </p:cNvPr>
          <p:cNvPicPr>
            <a:picLocks noChangeAspect="1"/>
          </p:cNvPicPr>
          <p:nvPr/>
        </p:nvPicPr>
        <p:blipFill>
          <a:blip r:embed="rId3"/>
          <a:stretch>
            <a:fillRect/>
          </a:stretch>
        </p:blipFill>
        <p:spPr>
          <a:xfrm>
            <a:off x="0" y="952822"/>
            <a:ext cx="9144000" cy="4190677"/>
          </a:xfrm>
          <a:prstGeom prst="rect">
            <a:avLst/>
          </a:prstGeom>
        </p:spPr>
      </p:pic>
    </p:spTree>
    <p:extLst>
      <p:ext uri="{BB962C8B-B14F-4D97-AF65-F5344CB8AC3E}">
        <p14:creationId xmlns:p14="http://schemas.microsoft.com/office/powerpoint/2010/main" val="2019603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FCAA9-88E0-3957-2494-429EBBCC2CC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99FD0C-B630-ACCE-5B4C-97601CB25F21}"/>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52D8470-6C01-FED2-AB89-DCF6462AA652}"/>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8972A3A-B1E9-FDEB-F42F-A4C7A2A0426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884EE864-2B09-5A93-2838-28EC8FEF22C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8741445-D3C6-35F6-0720-A56EE7F10BF0}"/>
              </a:ext>
            </a:extLst>
          </p:cNvPr>
          <p:cNvSpPr txBox="1"/>
          <p:nvPr/>
        </p:nvSpPr>
        <p:spPr>
          <a:xfrm>
            <a:off x="2781371" y="115523"/>
            <a:ext cx="3581254" cy="400110"/>
          </a:xfrm>
          <a:prstGeom prst="rect">
            <a:avLst/>
          </a:prstGeom>
          <a:noFill/>
        </p:spPr>
        <p:txBody>
          <a:bodyPr wrap="square">
            <a:spAutoFit/>
          </a:bodyPr>
          <a:lstStyle/>
          <a:p>
            <a:r>
              <a:rPr lang="en-US" sz="2000" b="1" dirty="0">
                <a:solidFill>
                  <a:srgbClr val="403CCF"/>
                </a:solidFill>
                <a:latin typeface="Libre Baskerville" pitchFamily="34" charset="0"/>
              </a:rPr>
              <a:t>Default Route</a:t>
            </a:r>
          </a:p>
        </p:txBody>
      </p:sp>
      <p:sp>
        <p:nvSpPr>
          <p:cNvPr id="17" name="TextBox 16">
            <a:extLst>
              <a:ext uri="{FF2B5EF4-FFF2-40B4-BE49-F238E27FC236}">
                <a16:creationId xmlns:a16="http://schemas.microsoft.com/office/drawing/2014/main" id="{DF486366-B11D-1078-DB5B-BDE42754A88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1C91AF97-1670-27BF-3E5D-134159025957}"/>
              </a:ext>
            </a:extLst>
          </p:cNvPr>
          <p:cNvSpPr txBox="1"/>
          <p:nvPr/>
        </p:nvSpPr>
        <p:spPr>
          <a:xfrm>
            <a:off x="220279" y="831877"/>
            <a:ext cx="8703439" cy="4031873"/>
          </a:xfrm>
          <a:prstGeom prst="rect">
            <a:avLst/>
          </a:prstGeom>
          <a:noFill/>
        </p:spPr>
        <p:txBody>
          <a:bodyPr wrap="square">
            <a:spAutoFit/>
          </a:bodyPr>
          <a:lstStyle/>
          <a:p>
            <a:pPr algn="just"/>
            <a:r>
              <a:rPr lang="en-US" b="1" dirty="0"/>
              <a:t>Now, the question is: how many static routes can you add? </a:t>
            </a:r>
          </a:p>
          <a:p>
            <a:pPr algn="just"/>
            <a:endParaRPr lang="en-US" dirty="0"/>
          </a:p>
          <a:p>
            <a:pPr algn="just"/>
            <a:r>
              <a:rPr lang="en-US" dirty="0"/>
              <a:t>There are thousands of networks, and it’s not practical to write a static route for each and every one. </a:t>
            </a:r>
          </a:p>
          <a:p>
            <a:pPr algn="just"/>
            <a:r>
              <a:rPr lang="en-US" dirty="0"/>
              <a:t>It’s simply not possible.</a:t>
            </a:r>
          </a:p>
          <a:p>
            <a:pPr algn="just"/>
            <a:r>
              <a:rPr lang="en-US" b="1" dirty="0"/>
              <a:t>So, what should we do in this situation? What's the alternative solution? </a:t>
            </a:r>
          </a:p>
          <a:p>
            <a:pPr algn="just"/>
            <a:endParaRPr lang="en-US" dirty="0"/>
          </a:p>
          <a:p>
            <a:pPr algn="just"/>
            <a:endParaRPr lang="en-US" dirty="0"/>
          </a:p>
          <a:p>
            <a:pPr algn="just"/>
            <a:r>
              <a:rPr lang="en-US" sz="1800" dirty="0"/>
              <a:t>The alternative is called Default Routing.</a:t>
            </a:r>
          </a:p>
          <a:p>
            <a:pPr algn="just"/>
            <a:endParaRPr lang="en-US" dirty="0"/>
          </a:p>
          <a:p>
            <a:pPr algn="just"/>
            <a:r>
              <a:rPr lang="pt-BR" b="1" dirty="0"/>
              <a:t>R3(config)# ip route 0.0.0.0    0.0.0.0    2.2.2.2</a:t>
            </a:r>
          </a:p>
          <a:p>
            <a:pPr algn="just"/>
            <a:endParaRPr lang="en-US" dirty="0"/>
          </a:p>
          <a:p>
            <a:pPr algn="just"/>
            <a:r>
              <a:rPr lang="en-US" dirty="0"/>
              <a:t>0.0.0.0 represents any destination.</a:t>
            </a:r>
          </a:p>
          <a:p>
            <a:pPr algn="just"/>
            <a:r>
              <a:rPr lang="en-US" dirty="0"/>
              <a:t>0.0.0.0 represents any subnet.</a:t>
            </a:r>
          </a:p>
          <a:p>
            <a:pPr algn="just"/>
            <a:r>
              <a:rPr lang="en-US" dirty="0"/>
              <a:t>2.2.2.2 Next hope</a:t>
            </a:r>
          </a:p>
          <a:p>
            <a:pPr algn="just"/>
            <a:endParaRPr lang="en-US" dirty="0"/>
          </a:p>
          <a:p>
            <a:pPr algn="just"/>
            <a:endParaRPr lang="en-US" dirty="0"/>
          </a:p>
          <a:p>
            <a:pPr algn="just"/>
            <a:r>
              <a:rPr lang="en-US" dirty="0"/>
              <a:t>By adding this default route, when traffic reaches the router and there is no specific entry for the destination in the routing table, the router will forward the traffic to 2.2.2.2 instead of dropping the packet.</a:t>
            </a:r>
          </a:p>
        </p:txBody>
      </p:sp>
    </p:spTree>
    <p:extLst>
      <p:ext uri="{BB962C8B-B14F-4D97-AF65-F5344CB8AC3E}">
        <p14:creationId xmlns:p14="http://schemas.microsoft.com/office/powerpoint/2010/main" val="3889237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2320-4C7F-69D5-E2DE-1619321C1C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A9C300-B25F-0B1F-0CF8-A8663E2855D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AFC479E3-72B4-401D-FB3A-86C3C3B46D2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C1EDDCFC-7C0D-BC32-F0A3-7E762105C4B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4734B48-31AE-07F7-7E33-2FD9A25C57E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14B2CA1-8ABB-0DE6-530A-AAB3379500DB}"/>
              </a:ext>
            </a:extLst>
          </p:cNvPr>
          <p:cNvSpPr txBox="1"/>
          <p:nvPr/>
        </p:nvSpPr>
        <p:spPr>
          <a:xfrm>
            <a:off x="2781371" y="115523"/>
            <a:ext cx="3581254" cy="400110"/>
          </a:xfrm>
          <a:prstGeom prst="rect">
            <a:avLst/>
          </a:prstGeom>
          <a:noFill/>
        </p:spPr>
        <p:txBody>
          <a:bodyPr wrap="square">
            <a:spAutoFit/>
          </a:bodyPr>
          <a:lstStyle/>
          <a:p>
            <a:r>
              <a:rPr lang="en-US" sz="2000" b="1" dirty="0">
                <a:solidFill>
                  <a:srgbClr val="403CCF"/>
                </a:solidFill>
                <a:latin typeface="Libre Baskerville" pitchFamily="34" charset="0"/>
              </a:rPr>
              <a:t>Default Route</a:t>
            </a:r>
          </a:p>
        </p:txBody>
      </p:sp>
      <p:sp>
        <p:nvSpPr>
          <p:cNvPr id="17" name="TextBox 16">
            <a:extLst>
              <a:ext uri="{FF2B5EF4-FFF2-40B4-BE49-F238E27FC236}">
                <a16:creationId xmlns:a16="http://schemas.microsoft.com/office/drawing/2014/main" id="{ACC626FC-BD1E-3590-0F90-89941592069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6EC76DC1-EDDE-3100-D723-F5785CF5A66B}"/>
              </a:ext>
            </a:extLst>
          </p:cNvPr>
          <p:cNvSpPr txBox="1"/>
          <p:nvPr/>
        </p:nvSpPr>
        <p:spPr>
          <a:xfrm>
            <a:off x="42034" y="415123"/>
            <a:ext cx="4115099" cy="4031873"/>
          </a:xfrm>
          <a:prstGeom prst="rect">
            <a:avLst/>
          </a:prstGeom>
          <a:noFill/>
        </p:spPr>
        <p:txBody>
          <a:bodyPr wrap="square">
            <a:spAutoFit/>
          </a:bodyPr>
          <a:lstStyle/>
          <a:p>
            <a:pPr algn="just"/>
            <a:r>
              <a:rPr lang="en-US" b="1" dirty="0"/>
              <a:t>For End Location , Scenario</a:t>
            </a:r>
          </a:p>
          <a:p>
            <a:pPr algn="just"/>
            <a:endParaRPr lang="en-US" b="1" dirty="0"/>
          </a:p>
          <a:p>
            <a:pPr algn="just"/>
            <a:r>
              <a:rPr lang="en-US" sz="1200" dirty="0"/>
              <a:t>From Router E, the next hop is Router A.</a:t>
            </a:r>
          </a:p>
          <a:p>
            <a:pPr algn="just"/>
            <a:endParaRPr lang="en-US" sz="1200" dirty="0"/>
          </a:p>
          <a:p>
            <a:pPr algn="just"/>
            <a:r>
              <a:rPr lang="en-US" sz="1200" dirty="0"/>
              <a:t>If you want to go to any destination, the traffic will go via Router A:</a:t>
            </a:r>
          </a:p>
          <a:p>
            <a:pPr algn="just"/>
            <a:endParaRPr lang="en-US" sz="1200" dirty="0"/>
          </a:p>
          <a:p>
            <a:pPr algn="just"/>
            <a:r>
              <a:rPr lang="en-US" sz="1200" dirty="0"/>
              <a:t>A via A</a:t>
            </a:r>
          </a:p>
          <a:p>
            <a:pPr algn="just"/>
            <a:r>
              <a:rPr lang="en-US" sz="1200" dirty="0"/>
              <a:t>B via A</a:t>
            </a:r>
          </a:p>
          <a:p>
            <a:pPr algn="just"/>
            <a:r>
              <a:rPr lang="en-US" sz="1200" dirty="0"/>
              <a:t>C via A</a:t>
            </a:r>
          </a:p>
          <a:p>
            <a:pPr algn="just"/>
            <a:r>
              <a:rPr lang="en-US" sz="1200" dirty="0"/>
              <a:t>D via A</a:t>
            </a:r>
          </a:p>
          <a:p>
            <a:pPr algn="just"/>
            <a:r>
              <a:rPr lang="en-US" sz="1200" dirty="0"/>
              <a:t>F via A</a:t>
            </a:r>
          </a:p>
          <a:p>
            <a:pPr algn="just"/>
            <a:r>
              <a:rPr lang="en-US" sz="1200" dirty="0"/>
              <a:t>G via A</a:t>
            </a:r>
          </a:p>
          <a:p>
            <a:pPr algn="just"/>
            <a:endParaRPr lang="en-US" sz="1200" dirty="0"/>
          </a:p>
          <a:p>
            <a:pPr algn="just"/>
            <a:r>
              <a:rPr lang="en-US" sz="1200" dirty="0"/>
              <a:t>In this situation, Router E acts as the end location. To simplify the configuration and minimize the size of the routing table, you can add a default route on Router E. This way, there’s no need to add static routes for every destination at the end location.</a:t>
            </a:r>
          </a:p>
          <a:p>
            <a:pPr algn="just"/>
            <a:endParaRPr lang="en-US" sz="1200" dirty="0"/>
          </a:p>
          <a:p>
            <a:pPr algn="just"/>
            <a:r>
              <a:rPr lang="fr-FR" sz="1200" b="1" dirty="0" err="1"/>
              <a:t>RouterE</a:t>
            </a:r>
            <a:r>
              <a:rPr lang="fr-FR" sz="1200" b="1" dirty="0"/>
              <a:t>(config)# </a:t>
            </a:r>
            <a:r>
              <a:rPr lang="fr-FR" sz="1200" b="1" dirty="0" err="1"/>
              <a:t>ip</a:t>
            </a:r>
            <a:r>
              <a:rPr lang="fr-FR" sz="1200" b="1" dirty="0"/>
              <a:t> route 0.0.0.0   0.0.0.0   1.1.1.2 </a:t>
            </a:r>
            <a:endParaRPr lang="en-US" sz="1200" b="1" dirty="0"/>
          </a:p>
        </p:txBody>
      </p:sp>
      <p:pic>
        <p:nvPicPr>
          <p:cNvPr id="7" name="Picture 6">
            <a:extLst>
              <a:ext uri="{FF2B5EF4-FFF2-40B4-BE49-F238E27FC236}">
                <a16:creationId xmlns:a16="http://schemas.microsoft.com/office/drawing/2014/main" id="{98129C5C-141D-B695-841F-7737D231D617}"/>
              </a:ext>
            </a:extLst>
          </p:cNvPr>
          <p:cNvPicPr>
            <a:picLocks noChangeAspect="1"/>
          </p:cNvPicPr>
          <p:nvPr/>
        </p:nvPicPr>
        <p:blipFill>
          <a:blip r:embed="rId3"/>
          <a:stretch>
            <a:fillRect/>
          </a:stretch>
        </p:blipFill>
        <p:spPr>
          <a:xfrm>
            <a:off x="4473997" y="1174465"/>
            <a:ext cx="4687036" cy="3905144"/>
          </a:xfrm>
          <a:prstGeom prst="rect">
            <a:avLst/>
          </a:prstGeom>
        </p:spPr>
      </p:pic>
      <p:sp>
        <p:nvSpPr>
          <p:cNvPr id="11" name="TextBox 10">
            <a:extLst>
              <a:ext uri="{FF2B5EF4-FFF2-40B4-BE49-F238E27FC236}">
                <a16:creationId xmlns:a16="http://schemas.microsoft.com/office/drawing/2014/main" id="{672CF614-68AF-631A-47C8-D5F8130E3701}"/>
              </a:ext>
            </a:extLst>
          </p:cNvPr>
          <p:cNvSpPr txBox="1"/>
          <p:nvPr/>
        </p:nvSpPr>
        <p:spPr>
          <a:xfrm>
            <a:off x="4796759" y="1929852"/>
            <a:ext cx="744673" cy="246221"/>
          </a:xfrm>
          <a:prstGeom prst="rect">
            <a:avLst/>
          </a:prstGeom>
          <a:noFill/>
        </p:spPr>
        <p:txBody>
          <a:bodyPr wrap="square">
            <a:spAutoFit/>
          </a:bodyPr>
          <a:lstStyle/>
          <a:p>
            <a:r>
              <a:rPr lang="en-US" sz="1000" b="1" dirty="0"/>
              <a:t>Router A</a:t>
            </a:r>
            <a:endParaRPr lang="en-PK" sz="1000" b="1" dirty="0"/>
          </a:p>
        </p:txBody>
      </p:sp>
      <p:sp>
        <p:nvSpPr>
          <p:cNvPr id="13" name="TextBox 12">
            <a:extLst>
              <a:ext uri="{FF2B5EF4-FFF2-40B4-BE49-F238E27FC236}">
                <a16:creationId xmlns:a16="http://schemas.microsoft.com/office/drawing/2014/main" id="{2EADBA8D-A3D2-1A32-40D8-DC1E0B941C7C}"/>
              </a:ext>
            </a:extLst>
          </p:cNvPr>
          <p:cNvSpPr txBox="1"/>
          <p:nvPr/>
        </p:nvSpPr>
        <p:spPr>
          <a:xfrm>
            <a:off x="6276988" y="1265226"/>
            <a:ext cx="772658" cy="246221"/>
          </a:xfrm>
          <a:prstGeom prst="rect">
            <a:avLst/>
          </a:prstGeom>
          <a:noFill/>
        </p:spPr>
        <p:txBody>
          <a:bodyPr wrap="square">
            <a:spAutoFit/>
          </a:bodyPr>
          <a:lstStyle/>
          <a:p>
            <a:r>
              <a:rPr lang="en-US" sz="1000" b="1" dirty="0"/>
              <a:t>Router B</a:t>
            </a:r>
            <a:endParaRPr lang="en-PK" sz="1000" b="1" dirty="0"/>
          </a:p>
        </p:txBody>
      </p:sp>
      <p:sp>
        <p:nvSpPr>
          <p:cNvPr id="15" name="TextBox 14">
            <a:extLst>
              <a:ext uri="{FF2B5EF4-FFF2-40B4-BE49-F238E27FC236}">
                <a16:creationId xmlns:a16="http://schemas.microsoft.com/office/drawing/2014/main" id="{F4F9EC23-151E-F0D6-41F8-D937F4F1EC5D}"/>
              </a:ext>
            </a:extLst>
          </p:cNvPr>
          <p:cNvSpPr txBox="1"/>
          <p:nvPr/>
        </p:nvSpPr>
        <p:spPr>
          <a:xfrm>
            <a:off x="7666566" y="1946237"/>
            <a:ext cx="825574" cy="246221"/>
          </a:xfrm>
          <a:prstGeom prst="rect">
            <a:avLst/>
          </a:prstGeom>
          <a:noFill/>
        </p:spPr>
        <p:txBody>
          <a:bodyPr wrap="square">
            <a:spAutoFit/>
          </a:bodyPr>
          <a:lstStyle/>
          <a:p>
            <a:r>
              <a:rPr lang="en-US" sz="1000" b="1" dirty="0"/>
              <a:t>Router C</a:t>
            </a:r>
            <a:endParaRPr lang="en-PK" sz="1000" b="1" dirty="0"/>
          </a:p>
        </p:txBody>
      </p:sp>
      <p:sp>
        <p:nvSpPr>
          <p:cNvPr id="18" name="TextBox 17">
            <a:extLst>
              <a:ext uri="{FF2B5EF4-FFF2-40B4-BE49-F238E27FC236}">
                <a16:creationId xmlns:a16="http://schemas.microsoft.com/office/drawing/2014/main" id="{B4952417-7F13-E9AB-5B15-77D5F87454E3}"/>
              </a:ext>
            </a:extLst>
          </p:cNvPr>
          <p:cNvSpPr txBox="1"/>
          <p:nvPr/>
        </p:nvSpPr>
        <p:spPr>
          <a:xfrm>
            <a:off x="5816599" y="3172099"/>
            <a:ext cx="745068" cy="246221"/>
          </a:xfrm>
          <a:prstGeom prst="rect">
            <a:avLst/>
          </a:prstGeom>
          <a:noFill/>
        </p:spPr>
        <p:txBody>
          <a:bodyPr wrap="square">
            <a:spAutoFit/>
          </a:bodyPr>
          <a:lstStyle/>
          <a:p>
            <a:r>
              <a:rPr lang="en-US" sz="1000" b="1" dirty="0"/>
              <a:t>Router D</a:t>
            </a:r>
            <a:endParaRPr lang="en-PK" sz="1000" b="1" dirty="0"/>
          </a:p>
        </p:txBody>
      </p:sp>
      <p:sp>
        <p:nvSpPr>
          <p:cNvPr id="20" name="TextBox 19">
            <a:extLst>
              <a:ext uri="{FF2B5EF4-FFF2-40B4-BE49-F238E27FC236}">
                <a16:creationId xmlns:a16="http://schemas.microsoft.com/office/drawing/2014/main" id="{2E16B68A-1A55-1B47-DCBA-2B18CD707904}"/>
              </a:ext>
            </a:extLst>
          </p:cNvPr>
          <p:cNvSpPr txBox="1"/>
          <p:nvPr/>
        </p:nvSpPr>
        <p:spPr>
          <a:xfrm>
            <a:off x="4854603" y="3969033"/>
            <a:ext cx="728134" cy="246221"/>
          </a:xfrm>
          <a:prstGeom prst="rect">
            <a:avLst/>
          </a:prstGeom>
          <a:noFill/>
        </p:spPr>
        <p:txBody>
          <a:bodyPr wrap="square">
            <a:spAutoFit/>
          </a:bodyPr>
          <a:lstStyle/>
          <a:p>
            <a:r>
              <a:rPr lang="en-US" sz="1000" b="1" dirty="0"/>
              <a:t>Router E</a:t>
            </a:r>
            <a:endParaRPr lang="en-PK" sz="1000" b="1" dirty="0"/>
          </a:p>
        </p:txBody>
      </p:sp>
      <p:sp>
        <p:nvSpPr>
          <p:cNvPr id="22" name="TextBox 21">
            <a:extLst>
              <a:ext uri="{FF2B5EF4-FFF2-40B4-BE49-F238E27FC236}">
                <a16:creationId xmlns:a16="http://schemas.microsoft.com/office/drawing/2014/main" id="{70F23191-943F-4A27-F9A6-A91BAA033333}"/>
              </a:ext>
            </a:extLst>
          </p:cNvPr>
          <p:cNvSpPr txBox="1"/>
          <p:nvPr/>
        </p:nvSpPr>
        <p:spPr>
          <a:xfrm>
            <a:off x="5978610" y="4111947"/>
            <a:ext cx="952502" cy="246221"/>
          </a:xfrm>
          <a:prstGeom prst="rect">
            <a:avLst/>
          </a:prstGeom>
          <a:noFill/>
        </p:spPr>
        <p:txBody>
          <a:bodyPr wrap="square">
            <a:spAutoFit/>
          </a:bodyPr>
          <a:lstStyle/>
          <a:p>
            <a:r>
              <a:rPr lang="en-US" sz="1000" b="1" dirty="0"/>
              <a:t>Router F</a:t>
            </a:r>
            <a:endParaRPr lang="en-PK" sz="1000" b="1" dirty="0"/>
          </a:p>
        </p:txBody>
      </p:sp>
      <p:sp>
        <p:nvSpPr>
          <p:cNvPr id="24" name="TextBox 23">
            <a:extLst>
              <a:ext uri="{FF2B5EF4-FFF2-40B4-BE49-F238E27FC236}">
                <a16:creationId xmlns:a16="http://schemas.microsoft.com/office/drawing/2014/main" id="{24F14986-63BB-681E-925E-43125537DCAE}"/>
              </a:ext>
            </a:extLst>
          </p:cNvPr>
          <p:cNvSpPr txBox="1"/>
          <p:nvPr/>
        </p:nvSpPr>
        <p:spPr>
          <a:xfrm>
            <a:off x="7767434" y="3969034"/>
            <a:ext cx="736601" cy="246221"/>
          </a:xfrm>
          <a:prstGeom prst="rect">
            <a:avLst/>
          </a:prstGeom>
          <a:noFill/>
        </p:spPr>
        <p:txBody>
          <a:bodyPr wrap="square">
            <a:spAutoFit/>
          </a:bodyPr>
          <a:lstStyle/>
          <a:p>
            <a:r>
              <a:rPr lang="en-US" sz="1000" b="1" dirty="0"/>
              <a:t>Router G</a:t>
            </a:r>
            <a:endParaRPr lang="en-PK" sz="1000" b="1" dirty="0"/>
          </a:p>
        </p:txBody>
      </p:sp>
      <p:sp>
        <p:nvSpPr>
          <p:cNvPr id="28" name="Oval 27">
            <a:extLst>
              <a:ext uri="{FF2B5EF4-FFF2-40B4-BE49-F238E27FC236}">
                <a16:creationId xmlns:a16="http://schemas.microsoft.com/office/drawing/2014/main" id="{4581EBB9-533A-D8DF-0D38-9CECBB82D21E}"/>
              </a:ext>
            </a:extLst>
          </p:cNvPr>
          <p:cNvSpPr/>
          <p:nvPr/>
        </p:nvSpPr>
        <p:spPr>
          <a:xfrm>
            <a:off x="1100515" y="4636814"/>
            <a:ext cx="999068" cy="25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Destination</a:t>
            </a:r>
            <a:endParaRPr lang="en-PK" sz="800" dirty="0"/>
          </a:p>
        </p:txBody>
      </p:sp>
      <p:sp>
        <p:nvSpPr>
          <p:cNvPr id="29" name="Oval 28">
            <a:extLst>
              <a:ext uri="{FF2B5EF4-FFF2-40B4-BE49-F238E27FC236}">
                <a16:creationId xmlns:a16="http://schemas.microsoft.com/office/drawing/2014/main" id="{63B784D1-C612-A7EF-09AB-2A57118A6559}"/>
              </a:ext>
            </a:extLst>
          </p:cNvPr>
          <p:cNvSpPr/>
          <p:nvPr/>
        </p:nvSpPr>
        <p:spPr>
          <a:xfrm>
            <a:off x="2343085" y="4657724"/>
            <a:ext cx="1074543" cy="25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Any Subnet </a:t>
            </a:r>
            <a:endParaRPr lang="en-PK" sz="800" dirty="0"/>
          </a:p>
        </p:txBody>
      </p:sp>
      <p:sp>
        <p:nvSpPr>
          <p:cNvPr id="30" name="Oval 29">
            <a:extLst>
              <a:ext uri="{FF2B5EF4-FFF2-40B4-BE49-F238E27FC236}">
                <a16:creationId xmlns:a16="http://schemas.microsoft.com/office/drawing/2014/main" id="{7A65C103-C253-7CD4-8AE2-560D70215D5C}"/>
              </a:ext>
            </a:extLst>
          </p:cNvPr>
          <p:cNvSpPr/>
          <p:nvPr/>
        </p:nvSpPr>
        <p:spPr>
          <a:xfrm>
            <a:off x="3708404" y="4636814"/>
            <a:ext cx="1074543" cy="25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Next Hope</a:t>
            </a:r>
          </a:p>
          <a:p>
            <a:pPr algn="ctr"/>
            <a:r>
              <a:rPr lang="en-US" sz="800" dirty="0"/>
              <a:t>Router A</a:t>
            </a:r>
            <a:endParaRPr lang="en-PK" sz="800" dirty="0"/>
          </a:p>
        </p:txBody>
      </p:sp>
      <p:cxnSp>
        <p:nvCxnSpPr>
          <p:cNvPr id="32" name="Straight Arrow Connector 31">
            <a:extLst>
              <a:ext uri="{FF2B5EF4-FFF2-40B4-BE49-F238E27FC236}">
                <a16:creationId xmlns:a16="http://schemas.microsoft.com/office/drawing/2014/main" id="{1EA3035A-FD89-39EF-C996-A8684DECC0F1}"/>
              </a:ext>
            </a:extLst>
          </p:cNvPr>
          <p:cNvCxnSpPr>
            <a:cxnSpLocks/>
            <a:stCxn id="28" idx="0"/>
          </p:cNvCxnSpPr>
          <p:nvPr/>
        </p:nvCxnSpPr>
        <p:spPr>
          <a:xfrm flipV="1">
            <a:off x="1600049" y="4358168"/>
            <a:ext cx="452260" cy="27864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A25A7A38-409F-170F-0D1A-F6051997C2C7}"/>
              </a:ext>
            </a:extLst>
          </p:cNvPr>
          <p:cNvCxnSpPr>
            <a:cxnSpLocks/>
            <a:stCxn id="29" idx="0"/>
          </p:cNvCxnSpPr>
          <p:nvPr/>
        </p:nvCxnSpPr>
        <p:spPr>
          <a:xfrm flipH="1" flipV="1">
            <a:off x="2842396" y="4358168"/>
            <a:ext cx="37961" cy="29955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3C63FD1D-8BE8-4A97-E852-19C6666BA463}"/>
              </a:ext>
            </a:extLst>
          </p:cNvPr>
          <p:cNvCxnSpPr>
            <a:cxnSpLocks/>
            <a:stCxn id="30" idx="0"/>
          </p:cNvCxnSpPr>
          <p:nvPr/>
        </p:nvCxnSpPr>
        <p:spPr>
          <a:xfrm flipH="1" flipV="1">
            <a:off x="3547533" y="4358168"/>
            <a:ext cx="698143" cy="27864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31214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2F224-F70F-6545-9362-BB3E3A9E70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0A91E3D-DF33-7415-C31D-135FBCBB73AD}"/>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948E315-5D88-0EC7-A5EA-0B0177E340E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4AD1DF1-B6BC-53AD-A253-C1F093CC1DB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B351B3E-2BCD-899E-D575-5AE0A1A9E6E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FE85637-FB11-26AD-3172-685EBBC78CC4}"/>
              </a:ext>
            </a:extLst>
          </p:cNvPr>
          <p:cNvSpPr txBox="1"/>
          <p:nvPr/>
        </p:nvSpPr>
        <p:spPr>
          <a:xfrm>
            <a:off x="2781371" y="115523"/>
            <a:ext cx="3581254" cy="400110"/>
          </a:xfrm>
          <a:prstGeom prst="rect">
            <a:avLst/>
          </a:prstGeom>
          <a:noFill/>
        </p:spPr>
        <p:txBody>
          <a:bodyPr wrap="square">
            <a:spAutoFit/>
          </a:bodyPr>
          <a:lstStyle/>
          <a:p>
            <a:r>
              <a:rPr lang="en-US" sz="2000" b="1" dirty="0">
                <a:solidFill>
                  <a:srgbClr val="403CCF"/>
                </a:solidFill>
                <a:latin typeface="Libre Baskerville" pitchFamily="34" charset="0"/>
              </a:rPr>
              <a:t>Default Route</a:t>
            </a:r>
          </a:p>
        </p:txBody>
      </p:sp>
      <p:sp>
        <p:nvSpPr>
          <p:cNvPr id="17" name="TextBox 16">
            <a:extLst>
              <a:ext uri="{FF2B5EF4-FFF2-40B4-BE49-F238E27FC236}">
                <a16:creationId xmlns:a16="http://schemas.microsoft.com/office/drawing/2014/main" id="{7654A592-1758-852A-7AC8-9D0DAFCCF531}"/>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pic>
        <p:nvPicPr>
          <p:cNvPr id="7" name="Picture 6">
            <a:extLst>
              <a:ext uri="{FF2B5EF4-FFF2-40B4-BE49-F238E27FC236}">
                <a16:creationId xmlns:a16="http://schemas.microsoft.com/office/drawing/2014/main" id="{E3F7F3AC-1305-6E76-D24E-98F592154B0D}"/>
              </a:ext>
            </a:extLst>
          </p:cNvPr>
          <p:cNvPicPr>
            <a:picLocks noChangeAspect="1"/>
          </p:cNvPicPr>
          <p:nvPr/>
        </p:nvPicPr>
        <p:blipFill>
          <a:blip r:embed="rId3"/>
          <a:stretch>
            <a:fillRect/>
          </a:stretch>
        </p:blipFill>
        <p:spPr>
          <a:xfrm>
            <a:off x="4473997" y="1174465"/>
            <a:ext cx="4687036" cy="3905144"/>
          </a:xfrm>
          <a:prstGeom prst="rect">
            <a:avLst/>
          </a:prstGeom>
        </p:spPr>
      </p:pic>
      <p:sp>
        <p:nvSpPr>
          <p:cNvPr id="11" name="TextBox 10">
            <a:extLst>
              <a:ext uri="{FF2B5EF4-FFF2-40B4-BE49-F238E27FC236}">
                <a16:creationId xmlns:a16="http://schemas.microsoft.com/office/drawing/2014/main" id="{4D88A60D-B3A6-4FCA-6CBE-A50377CF3D99}"/>
              </a:ext>
            </a:extLst>
          </p:cNvPr>
          <p:cNvSpPr txBox="1"/>
          <p:nvPr/>
        </p:nvSpPr>
        <p:spPr>
          <a:xfrm>
            <a:off x="4796759" y="1929852"/>
            <a:ext cx="744673" cy="246221"/>
          </a:xfrm>
          <a:prstGeom prst="rect">
            <a:avLst/>
          </a:prstGeom>
          <a:noFill/>
        </p:spPr>
        <p:txBody>
          <a:bodyPr wrap="square">
            <a:spAutoFit/>
          </a:bodyPr>
          <a:lstStyle/>
          <a:p>
            <a:r>
              <a:rPr lang="en-US" sz="1000" b="1" dirty="0"/>
              <a:t>Router A</a:t>
            </a:r>
            <a:endParaRPr lang="en-PK" sz="1000" b="1" dirty="0"/>
          </a:p>
        </p:txBody>
      </p:sp>
      <p:sp>
        <p:nvSpPr>
          <p:cNvPr id="13" name="TextBox 12">
            <a:extLst>
              <a:ext uri="{FF2B5EF4-FFF2-40B4-BE49-F238E27FC236}">
                <a16:creationId xmlns:a16="http://schemas.microsoft.com/office/drawing/2014/main" id="{86566C83-10DA-64FB-422D-A95DCBC78448}"/>
              </a:ext>
            </a:extLst>
          </p:cNvPr>
          <p:cNvSpPr txBox="1"/>
          <p:nvPr/>
        </p:nvSpPr>
        <p:spPr>
          <a:xfrm>
            <a:off x="6276988" y="1265226"/>
            <a:ext cx="772658" cy="246221"/>
          </a:xfrm>
          <a:prstGeom prst="rect">
            <a:avLst/>
          </a:prstGeom>
          <a:noFill/>
        </p:spPr>
        <p:txBody>
          <a:bodyPr wrap="square">
            <a:spAutoFit/>
          </a:bodyPr>
          <a:lstStyle/>
          <a:p>
            <a:r>
              <a:rPr lang="en-US" sz="1000" b="1" dirty="0"/>
              <a:t>Router B</a:t>
            </a:r>
            <a:endParaRPr lang="en-PK" sz="1000" b="1" dirty="0"/>
          </a:p>
        </p:txBody>
      </p:sp>
      <p:sp>
        <p:nvSpPr>
          <p:cNvPr id="15" name="TextBox 14">
            <a:extLst>
              <a:ext uri="{FF2B5EF4-FFF2-40B4-BE49-F238E27FC236}">
                <a16:creationId xmlns:a16="http://schemas.microsoft.com/office/drawing/2014/main" id="{8725A7C8-F9C1-4331-6DB1-CB2F3C8B88E5}"/>
              </a:ext>
            </a:extLst>
          </p:cNvPr>
          <p:cNvSpPr txBox="1"/>
          <p:nvPr/>
        </p:nvSpPr>
        <p:spPr>
          <a:xfrm>
            <a:off x="7666566" y="1946237"/>
            <a:ext cx="825574" cy="246221"/>
          </a:xfrm>
          <a:prstGeom prst="rect">
            <a:avLst/>
          </a:prstGeom>
          <a:noFill/>
        </p:spPr>
        <p:txBody>
          <a:bodyPr wrap="square">
            <a:spAutoFit/>
          </a:bodyPr>
          <a:lstStyle/>
          <a:p>
            <a:r>
              <a:rPr lang="en-US" sz="1000" b="1" dirty="0"/>
              <a:t>Router C</a:t>
            </a:r>
            <a:endParaRPr lang="en-PK" sz="1000" b="1" dirty="0"/>
          </a:p>
        </p:txBody>
      </p:sp>
      <p:sp>
        <p:nvSpPr>
          <p:cNvPr id="18" name="TextBox 17">
            <a:extLst>
              <a:ext uri="{FF2B5EF4-FFF2-40B4-BE49-F238E27FC236}">
                <a16:creationId xmlns:a16="http://schemas.microsoft.com/office/drawing/2014/main" id="{3A14E63F-9C73-A467-FB51-0D0D1D575236}"/>
              </a:ext>
            </a:extLst>
          </p:cNvPr>
          <p:cNvSpPr txBox="1"/>
          <p:nvPr/>
        </p:nvSpPr>
        <p:spPr>
          <a:xfrm>
            <a:off x="5816599" y="3172099"/>
            <a:ext cx="745068" cy="246221"/>
          </a:xfrm>
          <a:prstGeom prst="rect">
            <a:avLst/>
          </a:prstGeom>
          <a:noFill/>
        </p:spPr>
        <p:txBody>
          <a:bodyPr wrap="square">
            <a:spAutoFit/>
          </a:bodyPr>
          <a:lstStyle/>
          <a:p>
            <a:r>
              <a:rPr lang="en-US" sz="1000" b="1" dirty="0"/>
              <a:t>Router D</a:t>
            </a:r>
            <a:endParaRPr lang="en-PK" sz="1000" b="1" dirty="0"/>
          </a:p>
        </p:txBody>
      </p:sp>
      <p:sp>
        <p:nvSpPr>
          <p:cNvPr id="20" name="TextBox 19">
            <a:extLst>
              <a:ext uri="{FF2B5EF4-FFF2-40B4-BE49-F238E27FC236}">
                <a16:creationId xmlns:a16="http://schemas.microsoft.com/office/drawing/2014/main" id="{56B469E1-EDF8-6F93-A765-04850C289747}"/>
              </a:ext>
            </a:extLst>
          </p:cNvPr>
          <p:cNvSpPr txBox="1"/>
          <p:nvPr/>
        </p:nvSpPr>
        <p:spPr>
          <a:xfrm>
            <a:off x="4854603" y="3969033"/>
            <a:ext cx="728134" cy="246221"/>
          </a:xfrm>
          <a:prstGeom prst="rect">
            <a:avLst/>
          </a:prstGeom>
          <a:noFill/>
        </p:spPr>
        <p:txBody>
          <a:bodyPr wrap="square">
            <a:spAutoFit/>
          </a:bodyPr>
          <a:lstStyle/>
          <a:p>
            <a:r>
              <a:rPr lang="en-US" sz="1000" b="1" dirty="0"/>
              <a:t>Router E</a:t>
            </a:r>
            <a:endParaRPr lang="en-PK" sz="1000" b="1" dirty="0"/>
          </a:p>
        </p:txBody>
      </p:sp>
      <p:sp>
        <p:nvSpPr>
          <p:cNvPr id="22" name="TextBox 21">
            <a:extLst>
              <a:ext uri="{FF2B5EF4-FFF2-40B4-BE49-F238E27FC236}">
                <a16:creationId xmlns:a16="http://schemas.microsoft.com/office/drawing/2014/main" id="{B7F77377-CC23-79FC-1CFA-B13D1BA47F21}"/>
              </a:ext>
            </a:extLst>
          </p:cNvPr>
          <p:cNvSpPr txBox="1"/>
          <p:nvPr/>
        </p:nvSpPr>
        <p:spPr>
          <a:xfrm>
            <a:off x="5978610" y="4111947"/>
            <a:ext cx="952502" cy="246221"/>
          </a:xfrm>
          <a:prstGeom prst="rect">
            <a:avLst/>
          </a:prstGeom>
          <a:noFill/>
        </p:spPr>
        <p:txBody>
          <a:bodyPr wrap="square">
            <a:spAutoFit/>
          </a:bodyPr>
          <a:lstStyle/>
          <a:p>
            <a:r>
              <a:rPr lang="en-US" sz="1000" b="1" dirty="0"/>
              <a:t>Router F</a:t>
            </a:r>
            <a:endParaRPr lang="en-PK" sz="1000" b="1" dirty="0"/>
          </a:p>
        </p:txBody>
      </p:sp>
      <p:sp>
        <p:nvSpPr>
          <p:cNvPr id="24" name="TextBox 23">
            <a:extLst>
              <a:ext uri="{FF2B5EF4-FFF2-40B4-BE49-F238E27FC236}">
                <a16:creationId xmlns:a16="http://schemas.microsoft.com/office/drawing/2014/main" id="{E6D0DD70-4976-756B-7995-95D0875732F2}"/>
              </a:ext>
            </a:extLst>
          </p:cNvPr>
          <p:cNvSpPr txBox="1"/>
          <p:nvPr/>
        </p:nvSpPr>
        <p:spPr>
          <a:xfrm>
            <a:off x="7767434" y="3969034"/>
            <a:ext cx="736601" cy="246221"/>
          </a:xfrm>
          <a:prstGeom prst="rect">
            <a:avLst/>
          </a:prstGeom>
          <a:noFill/>
        </p:spPr>
        <p:txBody>
          <a:bodyPr wrap="square">
            <a:spAutoFit/>
          </a:bodyPr>
          <a:lstStyle/>
          <a:p>
            <a:r>
              <a:rPr lang="en-US" sz="1000" b="1" dirty="0"/>
              <a:t>Router G</a:t>
            </a:r>
            <a:endParaRPr lang="en-PK" sz="1000" b="1" dirty="0"/>
          </a:p>
        </p:txBody>
      </p:sp>
      <p:sp>
        <p:nvSpPr>
          <p:cNvPr id="8" name="TextBox 7">
            <a:extLst>
              <a:ext uri="{FF2B5EF4-FFF2-40B4-BE49-F238E27FC236}">
                <a16:creationId xmlns:a16="http://schemas.microsoft.com/office/drawing/2014/main" id="{D10C31AA-DE87-9D8E-9620-7F7AC4512206}"/>
              </a:ext>
            </a:extLst>
          </p:cNvPr>
          <p:cNvSpPr txBox="1"/>
          <p:nvPr/>
        </p:nvSpPr>
        <p:spPr>
          <a:xfrm>
            <a:off x="54912" y="858221"/>
            <a:ext cx="4110689" cy="3539430"/>
          </a:xfrm>
          <a:prstGeom prst="rect">
            <a:avLst/>
          </a:prstGeom>
          <a:noFill/>
        </p:spPr>
        <p:txBody>
          <a:bodyPr wrap="square">
            <a:spAutoFit/>
          </a:bodyPr>
          <a:lstStyle/>
          <a:p>
            <a:r>
              <a:rPr lang="en-US" b="1" dirty="0"/>
              <a:t>Note:</a:t>
            </a:r>
            <a:r>
              <a:rPr lang="en-US" dirty="0"/>
              <a:t> Default routes cannot be added on Router A, B,C D</a:t>
            </a:r>
          </a:p>
          <a:p>
            <a:endParaRPr lang="en-US" dirty="0"/>
          </a:p>
          <a:p>
            <a:endParaRPr lang="en-US" dirty="0"/>
          </a:p>
          <a:p>
            <a:r>
              <a:rPr lang="en-US" dirty="0"/>
              <a:t>They are only suitable at end locations, such as Router E, Router F, and Router G. </a:t>
            </a:r>
          </a:p>
          <a:p>
            <a:endParaRPr lang="en-US" dirty="0"/>
          </a:p>
          <a:p>
            <a:r>
              <a:rPr lang="en-US" dirty="0"/>
              <a:t>This allows traffic to be forwarded to the next hop without adding static routes for every destination.</a:t>
            </a:r>
          </a:p>
          <a:p>
            <a:endParaRPr lang="en-US" dirty="0"/>
          </a:p>
          <a:p>
            <a:endParaRPr lang="en-US" dirty="0"/>
          </a:p>
          <a:p>
            <a:endParaRPr lang="en-US" dirty="0"/>
          </a:p>
          <a:p>
            <a:endParaRPr lang="en-US" dirty="0"/>
          </a:p>
          <a:p>
            <a:r>
              <a:rPr lang="en-US" dirty="0"/>
              <a:t>Note: All other routers must know the path of Router E, and Router E must have only one </a:t>
            </a:r>
            <a:r>
              <a:rPr lang="en-US"/>
              <a:t>default route.</a:t>
            </a:r>
            <a:endParaRPr lang="en-US" dirty="0"/>
          </a:p>
        </p:txBody>
      </p:sp>
    </p:spTree>
    <p:extLst>
      <p:ext uri="{BB962C8B-B14F-4D97-AF65-F5344CB8AC3E}">
        <p14:creationId xmlns:p14="http://schemas.microsoft.com/office/powerpoint/2010/main" val="3534728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0BF38-F448-26EC-2CF6-83A80DF5E97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B02429F-3E2F-E4D4-7F68-7583F791AF1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091CC11-F40F-436C-0230-080597B06B3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C26C809-5062-B57D-A212-9CB2BE92251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0AC8AD2-443E-191C-AC7C-5EC3ACC76C09}"/>
              </a:ext>
            </a:extLst>
          </p:cNvPr>
          <p:cNvSpPr txBox="1"/>
          <p:nvPr/>
        </p:nvSpPr>
        <p:spPr>
          <a:xfrm>
            <a:off x="2683369" y="125565"/>
            <a:ext cx="4242363" cy="400110"/>
          </a:xfrm>
          <a:prstGeom prst="rect">
            <a:avLst/>
          </a:prstGeom>
          <a:noFill/>
        </p:spPr>
        <p:txBody>
          <a:bodyPr wrap="square">
            <a:spAutoFit/>
          </a:bodyPr>
          <a:lstStyle/>
          <a:p>
            <a:r>
              <a:rPr lang="en-US" sz="2000" b="1" dirty="0">
                <a:solidFill>
                  <a:srgbClr val="403CCF"/>
                </a:solidFill>
                <a:latin typeface="Libre Baskerville" pitchFamily="34" charset="0"/>
              </a:rPr>
              <a:t>Dynamic routing Protocols</a:t>
            </a:r>
          </a:p>
        </p:txBody>
      </p:sp>
      <p:sp>
        <p:nvSpPr>
          <p:cNvPr id="17" name="TextBox 16">
            <a:extLst>
              <a:ext uri="{FF2B5EF4-FFF2-40B4-BE49-F238E27FC236}">
                <a16:creationId xmlns:a16="http://schemas.microsoft.com/office/drawing/2014/main" id="{F000291C-4BC8-5289-7DA7-D7765AF93501}"/>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D5BCA208-D68C-DF81-D558-8DBDEE2AB430}"/>
              </a:ext>
            </a:extLst>
          </p:cNvPr>
          <p:cNvSpPr txBox="1"/>
          <p:nvPr/>
        </p:nvSpPr>
        <p:spPr>
          <a:xfrm>
            <a:off x="397369" y="785710"/>
            <a:ext cx="8094698" cy="2031325"/>
          </a:xfrm>
          <a:prstGeom prst="rect">
            <a:avLst/>
          </a:prstGeom>
          <a:noFill/>
        </p:spPr>
        <p:txBody>
          <a:bodyPr wrap="square">
            <a:spAutoFit/>
          </a:bodyPr>
          <a:lstStyle/>
          <a:p>
            <a:r>
              <a:rPr lang="en-US" dirty="0"/>
              <a:t>✅ What is a Dynamic Routing Protocol?</a:t>
            </a:r>
          </a:p>
          <a:p>
            <a:endParaRPr lang="en-US" dirty="0"/>
          </a:p>
          <a:p>
            <a:r>
              <a:rPr lang="en-US" dirty="0"/>
              <a:t>A dynamic routing protocol is a way for routers to automatically find the best path to send data in a network.</a:t>
            </a:r>
          </a:p>
          <a:p>
            <a:endParaRPr lang="en-US" dirty="0"/>
          </a:p>
          <a:p>
            <a:endParaRPr lang="en-US" dirty="0"/>
          </a:p>
          <a:p>
            <a:pPr marL="285750" indent="-285750">
              <a:buFont typeface="Wingdings" panose="05000000000000000000" pitchFamily="2" charset="2"/>
              <a:buChar char="ü"/>
            </a:pPr>
            <a:r>
              <a:rPr lang="en-US" dirty="0"/>
              <a:t>Routers talk to each other and share information.</a:t>
            </a:r>
          </a:p>
          <a:p>
            <a:pPr marL="285750" indent="-285750">
              <a:buFont typeface="Wingdings" panose="05000000000000000000" pitchFamily="2" charset="2"/>
              <a:buChar char="ü"/>
            </a:pPr>
            <a:r>
              <a:rPr lang="en-US" dirty="0"/>
              <a:t>They automatically update routes if the network changes (like a link breaks).</a:t>
            </a:r>
          </a:p>
          <a:p>
            <a:pPr marL="285750" indent="-285750">
              <a:buFont typeface="Wingdings" panose="05000000000000000000" pitchFamily="2" charset="2"/>
              <a:buChar char="ü"/>
            </a:pPr>
            <a:r>
              <a:rPr lang="en-US" dirty="0"/>
              <a:t>You don’t need to set routes manually.</a:t>
            </a:r>
            <a:endParaRPr lang="en-PK" dirty="0"/>
          </a:p>
        </p:txBody>
      </p:sp>
    </p:spTree>
    <p:extLst>
      <p:ext uri="{BB962C8B-B14F-4D97-AF65-F5344CB8AC3E}">
        <p14:creationId xmlns:p14="http://schemas.microsoft.com/office/powerpoint/2010/main" val="2138438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09784-6B09-67F2-7C7F-5D1732E7492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A102F04-C1F8-0E86-79B3-DAAB4398FDF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68A1426-EE6A-EE8E-A1B1-342BA714A40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7798257-EC67-261A-17B4-9E7A47C2416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3336C51-46F9-6DE8-C0A0-86CC58AC213E}"/>
              </a:ext>
            </a:extLst>
          </p:cNvPr>
          <p:cNvSpPr txBox="1"/>
          <p:nvPr/>
        </p:nvSpPr>
        <p:spPr>
          <a:xfrm>
            <a:off x="2683369" y="125565"/>
            <a:ext cx="4242363" cy="400110"/>
          </a:xfrm>
          <a:prstGeom prst="rect">
            <a:avLst/>
          </a:prstGeom>
          <a:noFill/>
        </p:spPr>
        <p:txBody>
          <a:bodyPr wrap="square">
            <a:spAutoFit/>
          </a:bodyPr>
          <a:lstStyle/>
          <a:p>
            <a:r>
              <a:rPr lang="en-US" sz="2000" b="1" dirty="0">
                <a:solidFill>
                  <a:srgbClr val="403CCF"/>
                </a:solidFill>
                <a:latin typeface="Libre Baskerville" pitchFamily="34" charset="0"/>
              </a:rPr>
              <a:t>Dynamic routing Protocols</a:t>
            </a:r>
          </a:p>
        </p:txBody>
      </p:sp>
      <p:sp>
        <p:nvSpPr>
          <p:cNvPr id="17" name="TextBox 16">
            <a:extLst>
              <a:ext uri="{FF2B5EF4-FFF2-40B4-BE49-F238E27FC236}">
                <a16:creationId xmlns:a16="http://schemas.microsoft.com/office/drawing/2014/main" id="{385D1E8F-2894-61C9-6919-84F4572E0399}"/>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0E167B76-3028-1085-BBCB-7EBE094F8C75}"/>
              </a:ext>
            </a:extLst>
          </p:cNvPr>
          <p:cNvSpPr txBox="1"/>
          <p:nvPr/>
        </p:nvSpPr>
        <p:spPr>
          <a:xfrm>
            <a:off x="64319" y="731306"/>
            <a:ext cx="7589548" cy="307777"/>
          </a:xfrm>
          <a:prstGeom prst="rect">
            <a:avLst/>
          </a:prstGeom>
          <a:noFill/>
        </p:spPr>
        <p:txBody>
          <a:bodyPr wrap="square">
            <a:spAutoFit/>
          </a:bodyPr>
          <a:lstStyle/>
          <a:p>
            <a:r>
              <a:rPr lang="en-US" dirty="0">
                <a:highlight>
                  <a:srgbClr val="00FFFF"/>
                </a:highlight>
              </a:rPr>
              <a:t>Dynamic routing protocols are divided into two categories:  IGP and EGP.</a:t>
            </a:r>
          </a:p>
        </p:txBody>
      </p:sp>
      <p:sp>
        <p:nvSpPr>
          <p:cNvPr id="6" name="TextBox 5">
            <a:extLst>
              <a:ext uri="{FF2B5EF4-FFF2-40B4-BE49-F238E27FC236}">
                <a16:creationId xmlns:a16="http://schemas.microsoft.com/office/drawing/2014/main" id="{2C4A1540-5ED5-E9B6-F00B-55F9120C1942}"/>
              </a:ext>
            </a:extLst>
          </p:cNvPr>
          <p:cNvSpPr txBox="1"/>
          <p:nvPr/>
        </p:nvSpPr>
        <p:spPr>
          <a:xfrm>
            <a:off x="159473" y="1431894"/>
            <a:ext cx="8010859" cy="2646878"/>
          </a:xfrm>
          <a:prstGeom prst="rect">
            <a:avLst/>
          </a:prstGeom>
          <a:noFill/>
        </p:spPr>
        <p:txBody>
          <a:bodyPr wrap="square">
            <a:spAutoFit/>
          </a:bodyPr>
          <a:lstStyle/>
          <a:p>
            <a:r>
              <a:rPr lang="en-US" dirty="0"/>
              <a:t>✅ IGP (Interior Gateway Protocol):</a:t>
            </a:r>
          </a:p>
          <a:p>
            <a:pPr marL="171450" indent="-171450">
              <a:buFont typeface="Wingdings" panose="05000000000000000000" pitchFamily="2" charset="2"/>
              <a:buChar char="ü"/>
            </a:pPr>
            <a:r>
              <a:rPr lang="en-US" sz="1200" dirty="0"/>
              <a:t>Used inside a single organization or company.</a:t>
            </a:r>
          </a:p>
          <a:p>
            <a:pPr marL="171450" indent="-171450">
              <a:buFont typeface="Wingdings" panose="05000000000000000000" pitchFamily="2" charset="2"/>
              <a:buChar char="ü"/>
            </a:pPr>
            <a:r>
              <a:rPr lang="en-US" sz="1200" dirty="0"/>
              <a:t>Helps routers within the same network talk to each other.</a:t>
            </a:r>
          </a:p>
          <a:p>
            <a:pPr marL="171450" indent="-171450">
              <a:buFont typeface="Wingdings" panose="05000000000000000000" pitchFamily="2" charset="2"/>
              <a:buChar char="ü"/>
            </a:pPr>
            <a:r>
              <a:rPr lang="en-US" sz="1200" dirty="0"/>
              <a:t>IGP protocols run within an Autonomous System</a:t>
            </a:r>
          </a:p>
          <a:p>
            <a:pPr marL="171450" indent="-171450">
              <a:buFont typeface="Wingdings" panose="05000000000000000000" pitchFamily="2" charset="2"/>
              <a:buChar char="ü"/>
            </a:pPr>
            <a:r>
              <a:rPr lang="en-US" sz="1200" dirty="0"/>
              <a:t>Examples: OSPF, EIGRP, RIP, IS-IS</a:t>
            </a:r>
          </a:p>
          <a:p>
            <a:endParaRPr lang="en-US" dirty="0"/>
          </a:p>
          <a:p>
            <a:endParaRPr lang="en-US" dirty="0"/>
          </a:p>
          <a:p>
            <a:endParaRPr lang="en-US" dirty="0"/>
          </a:p>
          <a:p>
            <a:r>
              <a:rPr lang="en-US" dirty="0"/>
              <a:t>✅ EGP (Exterior Gateway Protocol):</a:t>
            </a:r>
          </a:p>
          <a:p>
            <a:pPr marL="171450" indent="-171450">
              <a:buFont typeface="Wingdings" panose="05000000000000000000" pitchFamily="2" charset="2"/>
              <a:buChar char="ü"/>
            </a:pPr>
            <a:r>
              <a:rPr lang="en-US" sz="1200" dirty="0"/>
              <a:t>Used to connect different organizations’ networks (Autonomous Systems).</a:t>
            </a:r>
          </a:p>
          <a:p>
            <a:pPr marL="171450" indent="-171450">
              <a:buFont typeface="Wingdings" panose="05000000000000000000" pitchFamily="2" charset="2"/>
              <a:buChar char="ü"/>
            </a:pPr>
            <a:r>
              <a:rPr lang="en-US" sz="1200" dirty="0"/>
              <a:t>Helps routers from different companies or ISPs to communicate.</a:t>
            </a:r>
          </a:p>
          <a:p>
            <a:pPr marL="171450" indent="-171450">
              <a:buFont typeface="Wingdings" panose="05000000000000000000" pitchFamily="2" charset="2"/>
              <a:buChar char="ü"/>
            </a:pPr>
            <a:r>
              <a:rPr lang="en-US" sz="1200" dirty="0"/>
              <a:t>EGP protocols connect different Autonomous Systems.</a:t>
            </a:r>
          </a:p>
          <a:p>
            <a:pPr marL="171450" indent="-171450">
              <a:buFont typeface="Wingdings" panose="05000000000000000000" pitchFamily="2" charset="2"/>
              <a:buChar char="ü"/>
            </a:pPr>
            <a:r>
              <a:rPr lang="en-US" sz="1200" dirty="0"/>
              <a:t>Example: BGP</a:t>
            </a:r>
            <a:endParaRPr lang="en-PK" sz="1200" dirty="0"/>
          </a:p>
        </p:txBody>
      </p:sp>
    </p:spTree>
    <p:extLst>
      <p:ext uri="{BB962C8B-B14F-4D97-AF65-F5344CB8AC3E}">
        <p14:creationId xmlns:p14="http://schemas.microsoft.com/office/powerpoint/2010/main" val="1106185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22253-B843-77F2-BE5D-FFA49132F86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1B329DD-DA1F-500E-D911-3623CE74CBB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39A62B9-7443-48AD-27B5-749DD922FA7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3616AD8-0A1F-150B-15E3-E4162EB4DCE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042F3AD-35EA-DFC3-9042-8F7C56334B71}"/>
              </a:ext>
            </a:extLst>
          </p:cNvPr>
          <p:cNvSpPr txBox="1"/>
          <p:nvPr/>
        </p:nvSpPr>
        <p:spPr>
          <a:xfrm>
            <a:off x="2683369" y="125565"/>
            <a:ext cx="4242363" cy="400110"/>
          </a:xfrm>
          <a:prstGeom prst="rect">
            <a:avLst/>
          </a:prstGeom>
          <a:noFill/>
        </p:spPr>
        <p:txBody>
          <a:bodyPr wrap="square">
            <a:spAutoFit/>
          </a:bodyPr>
          <a:lstStyle/>
          <a:p>
            <a:r>
              <a:rPr lang="en-US" sz="2000" b="1" dirty="0">
                <a:solidFill>
                  <a:srgbClr val="403CCF"/>
                </a:solidFill>
                <a:latin typeface="Libre Baskerville" pitchFamily="34" charset="0"/>
              </a:rPr>
              <a:t>Dynamic routing Protocols</a:t>
            </a:r>
          </a:p>
        </p:txBody>
      </p:sp>
      <p:sp>
        <p:nvSpPr>
          <p:cNvPr id="17" name="TextBox 16">
            <a:extLst>
              <a:ext uri="{FF2B5EF4-FFF2-40B4-BE49-F238E27FC236}">
                <a16:creationId xmlns:a16="http://schemas.microsoft.com/office/drawing/2014/main" id="{93AD0B39-E3BC-8808-7BF2-B88FD957511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8B570836-05F7-B617-17B6-7E4D1B8378B9}"/>
              </a:ext>
            </a:extLst>
          </p:cNvPr>
          <p:cNvSpPr txBox="1"/>
          <p:nvPr/>
        </p:nvSpPr>
        <p:spPr>
          <a:xfrm>
            <a:off x="232549" y="814025"/>
            <a:ext cx="8801384" cy="3454792"/>
          </a:xfrm>
          <a:prstGeom prst="rect">
            <a:avLst/>
          </a:prstGeom>
          <a:noFill/>
        </p:spPr>
        <p:txBody>
          <a:bodyPr wrap="square">
            <a:spAutoFit/>
          </a:bodyPr>
          <a:lstStyle/>
          <a:p>
            <a:r>
              <a:rPr lang="en-US" dirty="0"/>
              <a:t>💡 What is an Autonomous System (AS)?</a:t>
            </a:r>
          </a:p>
          <a:p>
            <a:endParaRPr lang="en-US" dirty="0"/>
          </a:p>
          <a:p>
            <a:r>
              <a:rPr lang="en-US" sz="1200" dirty="0"/>
              <a:t>An Autonomous System (AS) is a group of connected networks managed by one organization (like a company or ISP).</a:t>
            </a:r>
          </a:p>
          <a:p>
            <a:endParaRPr lang="en-US" sz="1200" dirty="0"/>
          </a:p>
          <a:p>
            <a:endParaRPr lang="en-US" sz="1200" b="1" dirty="0"/>
          </a:p>
          <a:p>
            <a:r>
              <a:rPr lang="en-US" sz="1200" b="1" dirty="0"/>
              <a:t>🏢 Example of IGP and EGP:</a:t>
            </a:r>
          </a:p>
          <a:p>
            <a:pPr marL="171450" indent="-171450">
              <a:buFont typeface="Wingdings" panose="05000000000000000000" pitchFamily="2" charset="2"/>
              <a:buChar char="ü"/>
            </a:pPr>
            <a:endParaRPr lang="en-US" sz="1200" dirty="0"/>
          </a:p>
          <a:p>
            <a:pPr marL="171450" indent="-171450">
              <a:buFont typeface="Wingdings" panose="05000000000000000000" pitchFamily="2" charset="2"/>
              <a:buChar char="ü"/>
            </a:pPr>
            <a:r>
              <a:rPr lang="en-US" sz="1100" dirty="0"/>
              <a:t>Company A has offices in New York, London, and Dubai</a:t>
            </a:r>
          </a:p>
          <a:p>
            <a:pPr marL="171450" indent="-171450">
              <a:buFont typeface="Wingdings" panose="05000000000000000000" pitchFamily="2" charset="2"/>
              <a:buChar char="ü"/>
            </a:pPr>
            <a:r>
              <a:rPr lang="en-US" sz="1100" dirty="0"/>
              <a:t>All their offices are connected through routers and private networks.</a:t>
            </a:r>
          </a:p>
          <a:p>
            <a:pPr marL="171450" indent="-171450">
              <a:buFont typeface="Wingdings" panose="05000000000000000000" pitchFamily="2" charset="2"/>
              <a:buChar char="ü"/>
            </a:pPr>
            <a:r>
              <a:rPr lang="en-US" sz="1100" dirty="0"/>
              <a:t>This entire setup is managed by Company A’s IT team.</a:t>
            </a:r>
          </a:p>
          <a:p>
            <a:pPr marL="171450" indent="-171450">
              <a:buFont typeface="Wingdings" panose="05000000000000000000" pitchFamily="2" charset="2"/>
              <a:buChar char="ü"/>
            </a:pPr>
            <a:r>
              <a:rPr lang="en-US" sz="1100" dirty="0"/>
              <a:t>This is one Autonomous System (AS).</a:t>
            </a:r>
          </a:p>
          <a:p>
            <a:pPr marL="171450" indent="-171450">
              <a:buFont typeface="Wingdings" panose="05000000000000000000" pitchFamily="2" charset="2"/>
              <a:buChar char="ü"/>
            </a:pPr>
            <a:r>
              <a:rPr lang="en-US" sz="1100" dirty="0"/>
              <a:t>The routers inside Company A’s network use IGP protocols like OSPF or EIGRP to talk to each other</a:t>
            </a:r>
          </a:p>
          <a:p>
            <a:pPr marL="171450" indent="-171450">
              <a:buFont typeface="Wingdings" panose="05000000000000000000" pitchFamily="2" charset="2"/>
              <a:buChar char="ü"/>
            </a:pPr>
            <a:endParaRPr lang="en-US" sz="1100" dirty="0"/>
          </a:p>
          <a:p>
            <a:endParaRPr lang="en-US" sz="1100" dirty="0"/>
          </a:p>
          <a:p>
            <a:r>
              <a:rPr lang="en-US" sz="1100" dirty="0"/>
              <a:t>Now</a:t>
            </a:r>
          </a:p>
          <a:p>
            <a:endParaRPr lang="en-US" sz="1100" dirty="0"/>
          </a:p>
          <a:p>
            <a:pPr marL="171450" indent="-171450">
              <a:buFont typeface="Wingdings" panose="05000000000000000000" pitchFamily="2" charset="2"/>
              <a:buChar char="ü"/>
            </a:pPr>
            <a:r>
              <a:rPr lang="en-US" sz="1050" dirty="0"/>
              <a:t>Company A needs to send data to Google or Facebook (which are separate companies with their own networks and Autonomous System).</a:t>
            </a:r>
          </a:p>
          <a:p>
            <a:pPr marL="171450" indent="-171450">
              <a:buFont typeface="Wingdings" panose="05000000000000000000" pitchFamily="2" charset="2"/>
              <a:buChar char="ü"/>
            </a:pPr>
            <a:r>
              <a:rPr lang="en-US" sz="1050" dirty="0"/>
              <a:t>To do this, Company A’s routers must communicate with the routers of Google or Facebook.</a:t>
            </a:r>
          </a:p>
          <a:p>
            <a:pPr marL="171450" indent="-171450">
              <a:buFont typeface="Wingdings" panose="05000000000000000000" pitchFamily="2" charset="2"/>
              <a:buChar char="ü"/>
            </a:pPr>
            <a:r>
              <a:rPr lang="en-US" sz="1050" dirty="0"/>
              <a:t>This is done using EGP protocols, like BGP, which connect different Autonomous systems (Company A ↔ Google ↔ Facebook).</a:t>
            </a:r>
            <a:endParaRPr lang="en-PK" sz="1050" dirty="0"/>
          </a:p>
        </p:txBody>
      </p:sp>
    </p:spTree>
    <p:extLst>
      <p:ext uri="{BB962C8B-B14F-4D97-AF65-F5344CB8AC3E}">
        <p14:creationId xmlns:p14="http://schemas.microsoft.com/office/powerpoint/2010/main" val="2423786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CFBD9-53EE-EEB0-2064-65E5E91656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EDE84E-BABF-DC75-B5BF-2A8CCF108388}"/>
              </a:ext>
            </a:extLst>
          </p:cNvPr>
          <p:cNvSpPr txBox="1"/>
          <p:nvPr/>
        </p:nvSpPr>
        <p:spPr>
          <a:xfrm>
            <a:off x="321733" y="394901"/>
            <a:ext cx="7069667" cy="4131900"/>
          </a:xfrm>
          <a:prstGeom prst="rect">
            <a:avLst/>
          </a:prstGeom>
          <a:noFill/>
        </p:spPr>
        <p:txBody>
          <a:bodyPr wrap="square">
            <a:spAutoFit/>
          </a:bodyPr>
          <a:lstStyle/>
          <a:p>
            <a:r>
              <a:rPr lang="en-US" sz="1050" b="1" dirty="0">
                <a:latin typeface="Arial" panose="020B0604020202020204" pitchFamily="34" charset="0"/>
                <a:cs typeface="Arial" panose="020B0604020202020204" pitchFamily="34" charset="0"/>
              </a:rPr>
              <a:t>How Routing Protocols Choose the Best Path</a:t>
            </a:r>
          </a:p>
          <a:p>
            <a:endParaRPr lang="en-US" sz="1050" dirty="0"/>
          </a:p>
          <a:p>
            <a:r>
              <a:rPr lang="en-US" sz="1050" dirty="0">
                <a:highlight>
                  <a:srgbClr val="00FFFF"/>
                </a:highlight>
                <a:latin typeface="Arial" panose="020B0604020202020204" pitchFamily="34" charset="0"/>
                <a:cs typeface="Arial" panose="020B0604020202020204" pitchFamily="34" charset="0"/>
              </a:rPr>
              <a:t>RIP (Routing Information Protocol):</a:t>
            </a:r>
          </a:p>
          <a:p>
            <a:r>
              <a:rPr lang="en-US" sz="1050" dirty="0">
                <a:latin typeface="Arial" panose="020B0604020202020204" pitchFamily="34" charset="0"/>
                <a:cs typeface="Arial" panose="020B0604020202020204" pitchFamily="34" charset="0"/>
              </a:rPr>
              <a:t>✔ Metric = Hop Count</a:t>
            </a:r>
          </a:p>
          <a:p>
            <a:r>
              <a:rPr lang="en-US" sz="1050" dirty="0">
                <a:latin typeface="Arial" panose="020B0604020202020204" pitchFamily="34" charset="0"/>
                <a:cs typeface="Arial" panose="020B0604020202020204" pitchFamily="34" charset="0"/>
              </a:rPr>
              <a:t>✔ Chooses path with fewest hops</a:t>
            </a:r>
          </a:p>
          <a:p>
            <a:endParaRPr lang="en-US" sz="1050" dirty="0"/>
          </a:p>
          <a:p>
            <a:endParaRPr lang="en-US" sz="1050" dirty="0"/>
          </a:p>
          <a:p>
            <a:r>
              <a:rPr lang="en-US" sz="1050" dirty="0">
                <a:highlight>
                  <a:srgbClr val="00FFFF"/>
                </a:highlight>
                <a:latin typeface="Arial" panose="020B0604020202020204" pitchFamily="34" charset="0"/>
                <a:cs typeface="Arial" panose="020B0604020202020204" pitchFamily="34" charset="0"/>
              </a:rPr>
              <a:t>OSPF (Open Shortest Path First):</a:t>
            </a:r>
          </a:p>
          <a:p>
            <a:r>
              <a:rPr lang="en-US" sz="1050" dirty="0">
                <a:latin typeface="Arial" panose="020B0604020202020204" pitchFamily="34" charset="0"/>
                <a:cs typeface="Arial" panose="020B0604020202020204" pitchFamily="34" charset="0"/>
              </a:rPr>
              <a:t>✔ Metric = Cost (based on bandwidth)</a:t>
            </a:r>
          </a:p>
          <a:p>
            <a:r>
              <a:rPr lang="en-US" sz="1050" dirty="0">
                <a:latin typeface="Arial" panose="020B0604020202020204" pitchFamily="34" charset="0"/>
                <a:cs typeface="Arial" panose="020B0604020202020204" pitchFamily="34" charset="0"/>
              </a:rPr>
              <a:t>✔ Chooses path with highest bandwidth / lowest cost</a:t>
            </a:r>
          </a:p>
          <a:p>
            <a:endParaRPr lang="en-US" sz="1050" dirty="0"/>
          </a:p>
          <a:p>
            <a:endParaRPr lang="en-US" sz="1050" dirty="0"/>
          </a:p>
          <a:p>
            <a:r>
              <a:rPr lang="en-US" sz="1050" dirty="0">
                <a:highlight>
                  <a:srgbClr val="00FFFF"/>
                </a:highlight>
                <a:latin typeface="Arial" panose="020B0604020202020204" pitchFamily="34" charset="0"/>
                <a:cs typeface="Arial" panose="020B0604020202020204" pitchFamily="34" charset="0"/>
              </a:rPr>
              <a:t>EIGRP (Enhanced Interior Gateway Routing Protocol):</a:t>
            </a:r>
          </a:p>
          <a:p>
            <a:r>
              <a:rPr lang="en-US" sz="1050" dirty="0">
                <a:latin typeface="Arial" panose="020B0604020202020204" pitchFamily="34" charset="0"/>
                <a:cs typeface="Arial" panose="020B0604020202020204" pitchFamily="34" charset="0"/>
              </a:rPr>
              <a:t>✔ Metric = Composite (Bandwidth + Delay)</a:t>
            </a:r>
          </a:p>
          <a:p>
            <a:r>
              <a:rPr lang="en-US" sz="1050" dirty="0">
                <a:latin typeface="Arial" panose="020B0604020202020204" pitchFamily="34" charset="0"/>
                <a:cs typeface="Arial" panose="020B0604020202020204" pitchFamily="34" charset="0"/>
              </a:rPr>
              <a:t>✔ By default: lowest delay &amp; highest bandwidth path</a:t>
            </a:r>
          </a:p>
          <a:p>
            <a:endParaRPr lang="en-US" sz="1050" dirty="0"/>
          </a:p>
          <a:p>
            <a:endParaRPr lang="en-US" sz="1050" dirty="0"/>
          </a:p>
          <a:p>
            <a:r>
              <a:rPr lang="en-US" sz="1050" dirty="0">
                <a:highlight>
                  <a:srgbClr val="00FFFF"/>
                </a:highlight>
                <a:latin typeface="Arial" panose="020B0604020202020204" pitchFamily="34" charset="0"/>
                <a:cs typeface="Arial" panose="020B0604020202020204" pitchFamily="34" charset="0"/>
              </a:rPr>
              <a:t>IS-IS (Intermediate System to Intermediate System):</a:t>
            </a:r>
          </a:p>
          <a:p>
            <a:r>
              <a:rPr lang="en-US" sz="1050" dirty="0">
                <a:latin typeface="Arial" panose="020B0604020202020204" pitchFamily="34" charset="0"/>
                <a:cs typeface="Arial" panose="020B0604020202020204" pitchFamily="34" charset="0"/>
              </a:rPr>
              <a:t>✔ Metric = Cost (similar to OSPF, based on bandwidth)</a:t>
            </a:r>
          </a:p>
          <a:p>
            <a:r>
              <a:rPr lang="en-US" sz="1050" dirty="0">
                <a:latin typeface="Arial" panose="020B0604020202020204" pitchFamily="34" charset="0"/>
                <a:cs typeface="Arial" panose="020B0604020202020204" pitchFamily="34" charset="0"/>
              </a:rPr>
              <a:t>✔ Chooses path with lowest cost</a:t>
            </a:r>
          </a:p>
          <a:p>
            <a:endParaRPr lang="en-US" sz="1050" dirty="0"/>
          </a:p>
          <a:p>
            <a:endParaRPr lang="en-US" sz="1050" dirty="0"/>
          </a:p>
          <a:p>
            <a:r>
              <a:rPr lang="en-US" sz="1050" dirty="0">
                <a:highlight>
                  <a:srgbClr val="00FFFF"/>
                </a:highlight>
                <a:latin typeface="Arial" panose="020B0604020202020204" pitchFamily="34" charset="0"/>
                <a:cs typeface="Arial" panose="020B0604020202020204" pitchFamily="34" charset="0"/>
              </a:rPr>
              <a:t>BGP (Border Gateway Protocol):</a:t>
            </a:r>
          </a:p>
          <a:p>
            <a:r>
              <a:rPr lang="en-US" sz="1050" dirty="0">
                <a:latin typeface="Arial" panose="020B0604020202020204" pitchFamily="34" charset="0"/>
                <a:cs typeface="Arial" panose="020B0604020202020204" pitchFamily="34" charset="0"/>
              </a:rPr>
              <a:t>✔ Metric = Path Attributes (main one = AS-Path)</a:t>
            </a:r>
          </a:p>
          <a:p>
            <a:r>
              <a:rPr lang="en-US" sz="1050" dirty="0">
                <a:latin typeface="Arial" panose="020B0604020202020204" pitchFamily="34" charset="0"/>
                <a:cs typeface="Arial" panose="020B0604020202020204" pitchFamily="34" charset="0"/>
              </a:rPr>
              <a:t>✔ Chooses path with fewest Autonomous Systems (AS hops)</a:t>
            </a:r>
          </a:p>
        </p:txBody>
      </p:sp>
    </p:spTree>
    <p:extLst>
      <p:ext uri="{BB962C8B-B14F-4D97-AF65-F5344CB8AC3E}">
        <p14:creationId xmlns:p14="http://schemas.microsoft.com/office/powerpoint/2010/main" val="2871893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6AF2F-32BD-9A0A-00F5-45D96B0FD45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1B2F56A-D32A-71FE-06AA-3F252973F89E}"/>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8853E57-3EDC-02E1-9504-E0DAA58CC49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68E7589-3C74-0980-B1C9-1F832B65B5DA}"/>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6AD03F2-F9B6-04C2-8BCA-54D4C01C58B2}"/>
              </a:ext>
            </a:extLst>
          </p:cNvPr>
          <p:cNvSpPr txBox="1"/>
          <p:nvPr/>
        </p:nvSpPr>
        <p:spPr>
          <a:xfrm>
            <a:off x="1049867" y="125565"/>
            <a:ext cx="7984066" cy="400110"/>
          </a:xfrm>
          <a:prstGeom prst="rect">
            <a:avLst/>
          </a:prstGeom>
          <a:noFill/>
        </p:spPr>
        <p:txBody>
          <a:bodyPr wrap="square">
            <a:spAutoFit/>
          </a:bodyPr>
          <a:lstStyle/>
          <a:p>
            <a:r>
              <a:rPr lang="en-US" sz="2000" b="1" dirty="0">
                <a:solidFill>
                  <a:srgbClr val="403CCF"/>
                </a:solidFill>
                <a:latin typeface="Libre Baskerville" pitchFamily="34" charset="0"/>
              </a:rPr>
              <a:t>Classification of Dynamic Routing Protocols</a:t>
            </a:r>
          </a:p>
        </p:txBody>
      </p:sp>
      <p:sp>
        <p:nvSpPr>
          <p:cNvPr id="17" name="TextBox 16">
            <a:extLst>
              <a:ext uri="{FF2B5EF4-FFF2-40B4-BE49-F238E27FC236}">
                <a16:creationId xmlns:a16="http://schemas.microsoft.com/office/drawing/2014/main" id="{357AB1F1-5AC2-FDBB-53E8-09173C08330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13" name="TextBox 12">
            <a:extLst>
              <a:ext uri="{FF2B5EF4-FFF2-40B4-BE49-F238E27FC236}">
                <a16:creationId xmlns:a16="http://schemas.microsoft.com/office/drawing/2014/main" id="{3BBA6E16-25B0-81D2-F0C5-A248748BEF79}"/>
              </a:ext>
            </a:extLst>
          </p:cNvPr>
          <p:cNvSpPr txBox="1"/>
          <p:nvPr/>
        </p:nvSpPr>
        <p:spPr>
          <a:xfrm>
            <a:off x="232550" y="518787"/>
            <a:ext cx="7751517" cy="4093428"/>
          </a:xfrm>
          <a:prstGeom prst="rect">
            <a:avLst/>
          </a:prstGeom>
          <a:noFill/>
        </p:spPr>
        <p:txBody>
          <a:bodyPr wrap="square">
            <a:spAutoFit/>
          </a:bodyPr>
          <a:lstStyle/>
          <a:p>
            <a:r>
              <a:rPr lang="en-US" sz="1000" b="1" dirty="0">
                <a:solidFill>
                  <a:srgbClr val="403CCF"/>
                </a:solidFill>
                <a:highlight>
                  <a:srgbClr val="00FFFF"/>
                </a:highlight>
                <a:latin typeface="Libre Baskerville" pitchFamily="34" charset="0"/>
              </a:rPr>
              <a:t>Distance Vector Protocols:</a:t>
            </a:r>
          </a:p>
          <a:p>
            <a:pPr marL="285750" indent="-285750">
              <a:buFont typeface="Wingdings" panose="05000000000000000000" pitchFamily="2" charset="2"/>
              <a:buChar char="ü"/>
            </a:pPr>
            <a:r>
              <a:rPr lang="en-US" sz="1000" dirty="0"/>
              <a:t>Choose the best path based on distance (number of hops).</a:t>
            </a:r>
          </a:p>
          <a:p>
            <a:pPr marL="285750" indent="-285750">
              <a:buFont typeface="Wingdings" panose="05000000000000000000" pitchFamily="2" charset="2"/>
              <a:buChar char="ü"/>
            </a:pPr>
            <a:r>
              <a:rPr lang="en-US" sz="1000" dirty="0"/>
              <a:t>Routers share their routing table with neighbors.</a:t>
            </a:r>
          </a:p>
          <a:p>
            <a:pPr marL="285750" indent="-285750">
              <a:buFont typeface="Wingdings" panose="05000000000000000000" pitchFamily="2" charset="2"/>
              <a:buChar char="ü"/>
            </a:pPr>
            <a:r>
              <a:rPr lang="en-US" sz="1000" dirty="0"/>
              <a:t>Sends periodic update , It sends updates all the time </a:t>
            </a:r>
          </a:p>
          <a:p>
            <a:pPr marL="285750" indent="-285750">
              <a:buFont typeface="Wingdings" panose="05000000000000000000" pitchFamily="2" charset="2"/>
              <a:buChar char="ü"/>
            </a:pPr>
            <a:r>
              <a:rPr lang="en-US" sz="1000" dirty="0"/>
              <a:t>Example: RIP</a:t>
            </a:r>
          </a:p>
          <a:p>
            <a:endParaRPr lang="en-US" sz="1000" dirty="0"/>
          </a:p>
          <a:p>
            <a:r>
              <a:rPr lang="en-US" sz="1000" b="1" dirty="0">
                <a:solidFill>
                  <a:srgbClr val="403CCF"/>
                </a:solidFill>
                <a:highlight>
                  <a:srgbClr val="00FFFF"/>
                </a:highlight>
                <a:latin typeface="Libre Baskerville" pitchFamily="34" charset="0"/>
              </a:rPr>
              <a:t>Link State Protocols:</a:t>
            </a:r>
          </a:p>
          <a:p>
            <a:pPr marL="285750" indent="-285750">
              <a:buFont typeface="Wingdings" panose="05000000000000000000" pitchFamily="2" charset="2"/>
              <a:buChar char="ü"/>
            </a:pPr>
            <a:r>
              <a:rPr lang="en-US" sz="1000" dirty="0"/>
              <a:t>Routers build a complete map of the network.</a:t>
            </a:r>
          </a:p>
          <a:p>
            <a:pPr marL="285750" indent="-285750">
              <a:buFont typeface="Wingdings" panose="05000000000000000000" pitchFamily="2" charset="2"/>
              <a:buChar char="ü"/>
            </a:pPr>
            <a:r>
              <a:rPr lang="en-US" sz="1000" dirty="0"/>
              <a:t>They use algorithms (like Dijkstra) to find the shortest path.</a:t>
            </a:r>
          </a:p>
          <a:p>
            <a:pPr marL="285750" indent="-285750">
              <a:buFont typeface="Wingdings" panose="05000000000000000000" pitchFamily="2" charset="2"/>
              <a:buChar char="ü"/>
            </a:pPr>
            <a:r>
              <a:rPr lang="en-US" sz="1000" dirty="0"/>
              <a:t>Routers share link information with all routers.</a:t>
            </a:r>
          </a:p>
          <a:p>
            <a:pPr marL="285750" indent="-285750">
              <a:buFont typeface="Wingdings" panose="05000000000000000000" pitchFamily="2" charset="2"/>
              <a:buChar char="ü"/>
            </a:pPr>
            <a:r>
              <a:rPr lang="en-US" sz="1000" dirty="0"/>
              <a:t>Sends incremental update, It only update when the new changes occurs</a:t>
            </a:r>
          </a:p>
          <a:p>
            <a:pPr marL="285750" indent="-285750">
              <a:buFont typeface="Wingdings" panose="05000000000000000000" pitchFamily="2" charset="2"/>
              <a:buChar char="ü"/>
            </a:pPr>
            <a:r>
              <a:rPr lang="en-US" sz="1000" dirty="0"/>
              <a:t>Example: OSPF</a:t>
            </a:r>
          </a:p>
          <a:p>
            <a:pPr marL="285750" indent="-285750">
              <a:buFont typeface="Wingdings" panose="05000000000000000000" pitchFamily="2" charset="2"/>
              <a:buChar char="ü"/>
            </a:pPr>
            <a:endParaRPr lang="en-US" sz="1000" dirty="0"/>
          </a:p>
          <a:p>
            <a:r>
              <a:rPr lang="en-US" sz="1000" b="1" dirty="0">
                <a:solidFill>
                  <a:srgbClr val="403CCF"/>
                </a:solidFill>
                <a:highlight>
                  <a:srgbClr val="00FFFF"/>
                </a:highlight>
                <a:latin typeface="Libre Baskerville" pitchFamily="34" charset="0"/>
              </a:rPr>
              <a:t>Path Vector Protocols:</a:t>
            </a:r>
          </a:p>
          <a:p>
            <a:pPr marL="285750" indent="-285750">
              <a:buFont typeface="Wingdings" panose="05000000000000000000" pitchFamily="2" charset="2"/>
              <a:buChar char="ü"/>
            </a:pPr>
            <a:r>
              <a:rPr lang="en-US" sz="1000" dirty="0"/>
              <a:t>Use the full path (not just distance) to reach a destination.</a:t>
            </a:r>
          </a:p>
          <a:p>
            <a:pPr marL="285750" indent="-285750">
              <a:buFont typeface="Wingdings" panose="05000000000000000000" pitchFamily="2" charset="2"/>
              <a:buChar char="ü"/>
            </a:pPr>
            <a:r>
              <a:rPr lang="en-US" sz="1000" dirty="0"/>
              <a:t>Routers share the entire route with neighbors.</a:t>
            </a:r>
          </a:p>
          <a:p>
            <a:pPr marL="285750" indent="-285750">
              <a:buFont typeface="Wingdings" panose="05000000000000000000" pitchFamily="2" charset="2"/>
              <a:buChar char="ü"/>
            </a:pPr>
            <a:r>
              <a:rPr lang="en-US" sz="1000" dirty="0"/>
              <a:t>Used between large networks (like the internet).</a:t>
            </a:r>
          </a:p>
          <a:p>
            <a:pPr marL="285750" indent="-285750">
              <a:buFont typeface="Wingdings" panose="05000000000000000000" pitchFamily="2" charset="2"/>
              <a:buChar char="ü"/>
            </a:pPr>
            <a:r>
              <a:rPr lang="en-US" sz="1000" dirty="0"/>
              <a:t>Example: BGP</a:t>
            </a:r>
          </a:p>
          <a:p>
            <a:pPr marL="285750" indent="-285750">
              <a:buFont typeface="Wingdings" panose="05000000000000000000" pitchFamily="2" charset="2"/>
              <a:buChar char="ü"/>
            </a:pPr>
            <a:r>
              <a:rPr lang="en-US" sz="1000" dirty="0"/>
              <a:t>BGP choose best path  = AS-Path (number of Autonomous Systems)</a:t>
            </a:r>
          </a:p>
          <a:p>
            <a:pPr marL="285750" indent="-285750">
              <a:buFont typeface="Wingdings" panose="05000000000000000000" pitchFamily="2" charset="2"/>
              <a:buChar char="ü"/>
            </a:pPr>
            <a:r>
              <a:rPr lang="en-US" sz="1000" dirty="0"/>
              <a:t>Path 1: AS 100 → AS 200 → AS 300 (3 AS hops)     Path 2: AS 100 → AS 400 (2 AS hops)</a:t>
            </a:r>
          </a:p>
          <a:p>
            <a:pPr marL="285750" indent="-285750">
              <a:buFont typeface="Wingdings" panose="05000000000000000000" pitchFamily="2" charset="2"/>
              <a:buChar char="ü"/>
            </a:pPr>
            <a:r>
              <a:rPr lang="en-US" sz="1000" dirty="0"/>
              <a:t> BGP will prefer Path 2 because it has fewer AS hops.</a:t>
            </a:r>
          </a:p>
          <a:p>
            <a:pPr marL="285750" indent="-285750">
              <a:buFont typeface="Wingdings" panose="05000000000000000000" pitchFamily="2" charset="2"/>
              <a:buChar char="ü"/>
            </a:pPr>
            <a:endParaRPr lang="en-US" sz="1000" dirty="0"/>
          </a:p>
          <a:p>
            <a:r>
              <a:rPr lang="en-US" sz="1000" b="1" dirty="0">
                <a:solidFill>
                  <a:srgbClr val="403CCF"/>
                </a:solidFill>
                <a:highlight>
                  <a:srgbClr val="00FFFF"/>
                </a:highlight>
                <a:latin typeface="Libre Baskerville" pitchFamily="34" charset="0"/>
              </a:rPr>
              <a:t>Hybrid Protocols:</a:t>
            </a:r>
          </a:p>
          <a:p>
            <a:pPr marL="285750" indent="-285750">
              <a:buFont typeface="Wingdings" panose="05000000000000000000" pitchFamily="2" charset="2"/>
              <a:buChar char="ü"/>
            </a:pPr>
            <a:r>
              <a:rPr lang="en-US" sz="1000" dirty="0"/>
              <a:t>Mix features of both distance vector and link state.</a:t>
            </a:r>
          </a:p>
          <a:p>
            <a:pPr marL="285750" indent="-285750">
              <a:buFont typeface="Wingdings" panose="05000000000000000000" pitchFamily="2" charset="2"/>
              <a:buChar char="ü"/>
            </a:pPr>
            <a:r>
              <a:rPr lang="en-US" sz="1000" dirty="0"/>
              <a:t>Easier to use, more scalable, and flexible.</a:t>
            </a:r>
          </a:p>
          <a:p>
            <a:pPr marL="285750" indent="-285750">
              <a:buFont typeface="Wingdings" panose="05000000000000000000" pitchFamily="2" charset="2"/>
              <a:buChar char="ü"/>
            </a:pPr>
            <a:r>
              <a:rPr lang="en-US" sz="1000" dirty="0"/>
              <a:t>Example: EIGRP</a:t>
            </a:r>
          </a:p>
        </p:txBody>
      </p:sp>
    </p:spTree>
    <p:extLst>
      <p:ext uri="{BB962C8B-B14F-4D97-AF65-F5344CB8AC3E}">
        <p14:creationId xmlns:p14="http://schemas.microsoft.com/office/powerpoint/2010/main" val="2944270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53261-18EE-D695-D7DC-D44CD9FB767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06570ED-DDF1-FEA0-26AA-0E71FA8A5DD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00F19D4-E406-1B49-CDA7-3D642F0FACB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D0990145-72FE-C978-7E50-9D72668AFB4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1DD9832-98B5-C662-1268-2EF43E8C6E71}"/>
              </a:ext>
            </a:extLst>
          </p:cNvPr>
          <p:cNvSpPr txBox="1"/>
          <p:nvPr/>
        </p:nvSpPr>
        <p:spPr>
          <a:xfrm>
            <a:off x="2683369" y="125565"/>
            <a:ext cx="4242363" cy="400110"/>
          </a:xfrm>
          <a:prstGeom prst="rect">
            <a:avLst/>
          </a:prstGeom>
          <a:noFill/>
        </p:spPr>
        <p:txBody>
          <a:bodyPr wrap="square">
            <a:spAutoFit/>
          </a:bodyPr>
          <a:lstStyle/>
          <a:p>
            <a:r>
              <a:rPr lang="en-US" sz="2000" b="1" dirty="0">
                <a:solidFill>
                  <a:srgbClr val="403CCF"/>
                </a:solidFill>
                <a:latin typeface="Libre Baskerville" pitchFamily="34" charset="0"/>
              </a:rPr>
              <a:t>Dynamic routing Protocols</a:t>
            </a:r>
          </a:p>
        </p:txBody>
      </p:sp>
      <p:sp>
        <p:nvSpPr>
          <p:cNvPr id="17" name="TextBox 16">
            <a:extLst>
              <a:ext uri="{FF2B5EF4-FFF2-40B4-BE49-F238E27FC236}">
                <a16:creationId xmlns:a16="http://schemas.microsoft.com/office/drawing/2014/main" id="{C60C9FC9-6EB4-F7EA-9075-01830A17DCA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39B791D0-BC74-E6AA-BE03-4A55507A58E7}"/>
              </a:ext>
            </a:extLst>
          </p:cNvPr>
          <p:cNvSpPr txBox="1"/>
          <p:nvPr/>
        </p:nvSpPr>
        <p:spPr>
          <a:xfrm>
            <a:off x="4218" y="636579"/>
            <a:ext cx="3644916" cy="1292662"/>
          </a:xfrm>
          <a:prstGeom prst="rect">
            <a:avLst/>
          </a:prstGeom>
          <a:noFill/>
        </p:spPr>
        <p:txBody>
          <a:bodyPr wrap="square">
            <a:spAutoFit/>
          </a:bodyPr>
          <a:lstStyle/>
          <a:p>
            <a:r>
              <a:rPr lang="en-US" b="1" u="sng" dirty="0">
                <a:solidFill>
                  <a:srgbClr val="403CCF"/>
                </a:solidFill>
                <a:highlight>
                  <a:srgbClr val="00FFFF"/>
                </a:highlight>
                <a:latin typeface="Libre Baskerville" pitchFamily="34" charset="0"/>
              </a:rPr>
              <a:t>Distance Vector Protocols</a:t>
            </a:r>
          </a:p>
          <a:p>
            <a:endParaRPr lang="en-US" b="1" dirty="0">
              <a:solidFill>
                <a:srgbClr val="403CCF"/>
              </a:solidFill>
              <a:latin typeface="Libre Baskerville" pitchFamily="34" charset="0"/>
            </a:endParaRPr>
          </a:p>
          <a:p>
            <a:r>
              <a:rPr lang="en-US" b="1" dirty="0"/>
              <a:t>1. RIP (Routing Information Protocol)</a:t>
            </a:r>
            <a:endParaRPr lang="en-US" dirty="0"/>
          </a:p>
          <a:p>
            <a:pPr marL="285750" indent="-285750">
              <a:buFont typeface="Wingdings" panose="05000000000000000000" pitchFamily="2" charset="2"/>
              <a:buChar char="ü"/>
            </a:pPr>
            <a:r>
              <a:rPr lang="en-US" sz="1200" dirty="0"/>
              <a:t>Administrative Distance (AD): 120</a:t>
            </a:r>
          </a:p>
          <a:p>
            <a:pPr marL="285750" indent="-285750">
              <a:buFont typeface="Wingdings" panose="05000000000000000000" pitchFamily="2" charset="2"/>
              <a:buChar char="ü"/>
            </a:pPr>
            <a:r>
              <a:rPr lang="en-US" sz="1200" dirty="0"/>
              <a:t>Used for: Small to medium-sized networks.</a:t>
            </a:r>
          </a:p>
          <a:p>
            <a:pPr marL="285750" indent="-285750">
              <a:buFont typeface="Wingdings" panose="05000000000000000000" pitchFamily="2" charset="2"/>
              <a:buChar char="ü"/>
            </a:pPr>
            <a:r>
              <a:rPr lang="en-US" sz="1200" dirty="0"/>
              <a:t>Metric: Hop count (maximum of 15 hops).</a:t>
            </a:r>
          </a:p>
        </p:txBody>
      </p:sp>
      <p:sp>
        <p:nvSpPr>
          <p:cNvPr id="7" name="TextBox 6">
            <a:extLst>
              <a:ext uri="{FF2B5EF4-FFF2-40B4-BE49-F238E27FC236}">
                <a16:creationId xmlns:a16="http://schemas.microsoft.com/office/drawing/2014/main" id="{4D84E812-D8AD-8D52-7748-E39B0EDF48C6}"/>
              </a:ext>
            </a:extLst>
          </p:cNvPr>
          <p:cNvSpPr txBox="1"/>
          <p:nvPr/>
        </p:nvSpPr>
        <p:spPr>
          <a:xfrm>
            <a:off x="0" y="2144684"/>
            <a:ext cx="7112000" cy="2677656"/>
          </a:xfrm>
          <a:prstGeom prst="rect">
            <a:avLst/>
          </a:prstGeom>
          <a:noFill/>
        </p:spPr>
        <p:txBody>
          <a:bodyPr wrap="square">
            <a:spAutoFit/>
          </a:bodyPr>
          <a:lstStyle/>
          <a:p>
            <a:r>
              <a:rPr lang="en-US" b="1" u="sng" dirty="0">
                <a:solidFill>
                  <a:srgbClr val="403CCF"/>
                </a:solidFill>
                <a:highlight>
                  <a:srgbClr val="00FFFF"/>
                </a:highlight>
                <a:latin typeface="Libre Baskerville" pitchFamily="34" charset="0"/>
              </a:rPr>
              <a:t>Link-State Protocols</a:t>
            </a:r>
          </a:p>
          <a:p>
            <a:endParaRPr lang="en-US" b="1" dirty="0">
              <a:solidFill>
                <a:srgbClr val="403CCF"/>
              </a:solidFill>
              <a:latin typeface="Libre Baskerville" pitchFamily="34" charset="0"/>
            </a:endParaRPr>
          </a:p>
          <a:p>
            <a:r>
              <a:rPr lang="en-US" b="1" dirty="0"/>
              <a:t>1. OSPF (Open Shortest Path First)</a:t>
            </a:r>
            <a:endParaRPr lang="en-US" dirty="0"/>
          </a:p>
          <a:p>
            <a:pPr marL="285750" indent="-285750">
              <a:buFont typeface="Wingdings" panose="05000000000000000000" pitchFamily="2" charset="2"/>
              <a:buChar char="ü"/>
            </a:pPr>
            <a:r>
              <a:rPr lang="en-US" sz="1200" dirty="0"/>
              <a:t>AD: 110</a:t>
            </a:r>
          </a:p>
          <a:p>
            <a:pPr marL="285750" indent="-285750">
              <a:buFont typeface="Wingdings" panose="05000000000000000000" pitchFamily="2" charset="2"/>
              <a:buChar char="ü"/>
            </a:pPr>
            <a:r>
              <a:rPr lang="en-US" sz="1200" dirty="0"/>
              <a:t>Used for: Larger networks and scalable environments.</a:t>
            </a:r>
          </a:p>
          <a:p>
            <a:pPr marL="285750" indent="-285750">
              <a:buFont typeface="Wingdings" panose="05000000000000000000" pitchFamily="2" charset="2"/>
              <a:buChar char="ü"/>
            </a:pPr>
            <a:r>
              <a:rPr lang="en-US" sz="1200" dirty="0"/>
              <a:t>Metric: Cost (based on link bandwidth).</a:t>
            </a:r>
          </a:p>
          <a:p>
            <a:endParaRPr lang="en-US" b="1" dirty="0"/>
          </a:p>
          <a:p>
            <a:endParaRPr lang="en-US" b="1" dirty="0"/>
          </a:p>
          <a:p>
            <a:r>
              <a:rPr lang="en-US" b="1" dirty="0"/>
              <a:t>2. IS-IS (Intermediate System to Intermediate System)</a:t>
            </a:r>
            <a:endParaRPr lang="en-US" sz="1200" dirty="0"/>
          </a:p>
          <a:p>
            <a:pPr marL="285750" indent="-285750">
              <a:buFont typeface="Wingdings" panose="05000000000000000000" pitchFamily="2" charset="2"/>
              <a:buChar char="ü"/>
            </a:pPr>
            <a:r>
              <a:rPr lang="en-US" sz="1200" dirty="0"/>
              <a:t>Administrative Distance (AD): </a:t>
            </a:r>
          </a:p>
          <a:p>
            <a:pPr marL="285750" indent="-285750">
              <a:buFont typeface="Wingdings" panose="05000000000000000000" pitchFamily="2" charset="2"/>
              <a:buChar char="ü"/>
            </a:pPr>
            <a:r>
              <a:rPr lang="en-US" sz="1200" dirty="0"/>
              <a:t>Used for: Large-scale enterprise and service provider networks.</a:t>
            </a:r>
          </a:p>
          <a:p>
            <a:pPr marL="285750" indent="-285750">
              <a:buFont typeface="Wingdings" panose="05000000000000000000" pitchFamily="2" charset="2"/>
              <a:buChar char="ü"/>
            </a:pPr>
            <a:r>
              <a:rPr lang="en-US" sz="1200" dirty="0"/>
              <a:t>Used on ISP Side</a:t>
            </a:r>
          </a:p>
          <a:p>
            <a:pPr marL="285750" indent="-285750">
              <a:buFont typeface="Wingdings" panose="05000000000000000000" pitchFamily="2" charset="2"/>
              <a:buChar char="ü"/>
            </a:pPr>
            <a:r>
              <a:rPr lang="en-US" sz="1200" dirty="0"/>
              <a:t>Metric: Cost (similar to OSPF but uses different algorithm)</a:t>
            </a:r>
          </a:p>
        </p:txBody>
      </p:sp>
    </p:spTree>
    <p:extLst>
      <p:ext uri="{BB962C8B-B14F-4D97-AF65-F5344CB8AC3E}">
        <p14:creationId xmlns:p14="http://schemas.microsoft.com/office/powerpoint/2010/main" val="3009743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60E7A-D6C6-8375-C424-B3137DB9143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37B91F6-D28E-BBCB-1B03-00A1F539EF82}"/>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BE30987-8212-8460-4A71-EC82DF87F02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60FA006-8C36-24F1-430E-45184DF877E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BE1F282-6009-A3A7-8B95-30B07741668F}"/>
              </a:ext>
            </a:extLst>
          </p:cNvPr>
          <p:cNvSpPr txBox="1"/>
          <p:nvPr/>
        </p:nvSpPr>
        <p:spPr>
          <a:xfrm>
            <a:off x="2683369" y="125565"/>
            <a:ext cx="4242363" cy="400110"/>
          </a:xfrm>
          <a:prstGeom prst="rect">
            <a:avLst/>
          </a:prstGeom>
          <a:noFill/>
        </p:spPr>
        <p:txBody>
          <a:bodyPr wrap="square">
            <a:spAutoFit/>
          </a:bodyPr>
          <a:lstStyle/>
          <a:p>
            <a:r>
              <a:rPr lang="en-US" sz="2000" b="1" dirty="0">
                <a:solidFill>
                  <a:srgbClr val="403CCF"/>
                </a:solidFill>
                <a:latin typeface="Libre Baskerville" pitchFamily="34" charset="0"/>
              </a:rPr>
              <a:t>Dynamic routing Protocols</a:t>
            </a:r>
          </a:p>
        </p:txBody>
      </p:sp>
      <p:sp>
        <p:nvSpPr>
          <p:cNvPr id="17" name="TextBox 16">
            <a:extLst>
              <a:ext uri="{FF2B5EF4-FFF2-40B4-BE49-F238E27FC236}">
                <a16:creationId xmlns:a16="http://schemas.microsoft.com/office/drawing/2014/main" id="{E5BE5D4D-DD29-C5AF-60D6-E02B02B9E9C4}"/>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7CBA51B5-3E11-3BD3-450A-18E656644E8B}"/>
              </a:ext>
            </a:extLst>
          </p:cNvPr>
          <p:cNvSpPr txBox="1"/>
          <p:nvPr/>
        </p:nvSpPr>
        <p:spPr>
          <a:xfrm>
            <a:off x="-13345" y="525675"/>
            <a:ext cx="4394845" cy="2031325"/>
          </a:xfrm>
          <a:prstGeom prst="rect">
            <a:avLst/>
          </a:prstGeom>
          <a:noFill/>
        </p:spPr>
        <p:txBody>
          <a:bodyPr wrap="square">
            <a:spAutoFit/>
          </a:bodyPr>
          <a:lstStyle/>
          <a:p>
            <a:r>
              <a:rPr lang="en-US" b="1" u="sng" dirty="0">
                <a:solidFill>
                  <a:srgbClr val="403CCF"/>
                </a:solidFill>
                <a:highlight>
                  <a:srgbClr val="00FFFF"/>
                </a:highlight>
                <a:latin typeface="Libre Baskerville" pitchFamily="34" charset="0"/>
              </a:rPr>
              <a:t>Path Vector Protocols</a:t>
            </a:r>
          </a:p>
          <a:p>
            <a:endParaRPr lang="en-US" b="1" dirty="0">
              <a:solidFill>
                <a:srgbClr val="403CCF"/>
              </a:solidFill>
              <a:latin typeface="Libre Baskerville" pitchFamily="34" charset="0"/>
            </a:endParaRPr>
          </a:p>
          <a:p>
            <a:r>
              <a:rPr lang="en-US" b="1" dirty="0"/>
              <a:t>BGP (Border Gateway Protocol)</a:t>
            </a:r>
          </a:p>
          <a:p>
            <a:endParaRPr lang="en-US" sz="1200" b="1" dirty="0"/>
          </a:p>
          <a:p>
            <a:pPr marL="285750" indent="-285750">
              <a:buFont typeface="Wingdings" panose="05000000000000000000" pitchFamily="2" charset="2"/>
              <a:buChar char="ü"/>
            </a:pPr>
            <a:r>
              <a:rPr lang="en-US" sz="1200" dirty="0"/>
              <a:t>AD: 20 (eBGP), 200 (iBGP)</a:t>
            </a:r>
          </a:p>
          <a:p>
            <a:pPr marL="285750" indent="-285750">
              <a:buFont typeface="Wingdings" panose="05000000000000000000" pitchFamily="2" charset="2"/>
              <a:buChar char="ü"/>
            </a:pPr>
            <a:r>
              <a:rPr lang="en-US" sz="1200" dirty="0"/>
              <a:t>Used for: Inter-domain routing, primarily for large-scale networks like the internet.</a:t>
            </a:r>
          </a:p>
          <a:p>
            <a:pPr marL="285750" indent="-285750">
              <a:buFont typeface="Wingdings" panose="05000000000000000000" pitchFamily="2" charset="2"/>
              <a:buChar char="ü"/>
            </a:pPr>
            <a:r>
              <a:rPr lang="en-US" sz="1200" dirty="0"/>
              <a:t>Metric: AS path (path through autonomous systems).</a:t>
            </a:r>
          </a:p>
          <a:p>
            <a:pPr marL="285750" indent="-285750">
              <a:buFont typeface="Wingdings" panose="05000000000000000000" pitchFamily="2" charset="2"/>
              <a:buChar char="ü"/>
            </a:pPr>
            <a:r>
              <a:rPr lang="en-US" sz="1200" dirty="0"/>
              <a:t>Type: Exterior Gateway Protocol (EGP), used between different autonomous systems</a:t>
            </a:r>
          </a:p>
        </p:txBody>
      </p:sp>
      <p:sp>
        <p:nvSpPr>
          <p:cNvPr id="7" name="TextBox 6">
            <a:extLst>
              <a:ext uri="{FF2B5EF4-FFF2-40B4-BE49-F238E27FC236}">
                <a16:creationId xmlns:a16="http://schemas.microsoft.com/office/drawing/2014/main" id="{780A7FAB-380E-806B-9C14-EB83E821C255}"/>
              </a:ext>
            </a:extLst>
          </p:cNvPr>
          <p:cNvSpPr txBox="1"/>
          <p:nvPr/>
        </p:nvSpPr>
        <p:spPr>
          <a:xfrm>
            <a:off x="4572000" y="577418"/>
            <a:ext cx="4572000" cy="1723549"/>
          </a:xfrm>
          <a:prstGeom prst="rect">
            <a:avLst/>
          </a:prstGeom>
          <a:noFill/>
        </p:spPr>
        <p:txBody>
          <a:bodyPr wrap="square">
            <a:spAutoFit/>
          </a:bodyPr>
          <a:lstStyle/>
          <a:p>
            <a:r>
              <a:rPr lang="en-US" b="1" u="sng" dirty="0">
                <a:solidFill>
                  <a:srgbClr val="403CCF"/>
                </a:solidFill>
                <a:highlight>
                  <a:srgbClr val="00FFFF"/>
                </a:highlight>
                <a:latin typeface="Libre Baskerville" pitchFamily="34" charset="0"/>
              </a:rPr>
              <a:t>Hybrid Protocol</a:t>
            </a:r>
          </a:p>
          <a:p>
            <a:endParaRPr lang="en-US" b="1" u="sng" dirty="0">
              <a:solidFill>
                <a:srgbClr val="403CCF"/>
              </a:solidFill>
              <a:latin typeface="Libre Baskerville" pitchFamily="34" charset="0"/>
            </a:endParaRPr>
          </a:p>
          <a:p>
            <a:r>
              <a:rPr lang="en-US" b="1" dirty="0"/>
              <a:t>EIGRP (Enhanced Interior Gateway Routing</a:t>
            </a:r>
          </a:p>
          <a:p>
            <a:endParaRPr lang="en-US" b="1" dirty="0"/>
          </a:p>
          <a:p>
            <a:pPr marL="285750" indent="-285750">
              <a:buFont typeface="Wingdings" panose="05000000000000000000" pitchFamily="2" charset="2"/>
              <a:buChar char="ü"/>
            </a:pPr>
            <a:r>
              <a:rPr lang="en-US" sz="1200" dirty="0"/>
              <a:t>Protocol)AD: 90 (internal), 170 (external)</a:t>
            </a:r>
          </a:p>
          <a:p>
            <a:pPr marL="285750" indent="-285750">
              <a:buFont typeface="Wingdings" panose="05000000000000000000" pitchFamily="2" charset="2"/>
              <a:buChar char="ü"/>
            </a:pPr>
            <a:r>
              <a:rPr lang="en-US" sz="1200" dirty="0"/>
              <a:t>Used for: Medium to large networks. Cisco-based networks.</a:t>
            </a:r>
          </a:p>
          <a:p>
            <a:pPr marL="285750" indent="-285750">
              <a:buFont typeface="Wingdings" panose="05000000000000000000" pitchFamily="2" charset="2"/>
              <a:buChar char="ü"/>
            </a:pPr>
            <a:r>
              <a:rPr lang="en-US" sz="1200" dirty="0"/>
              <a:t>Metric: Uses bandwidth, delay, load, and reliability in its metric to calculate the best path</a:t>
            </a:r>
            <a:r>
              <a:rPr lang="en-US" dirty="0"/>
              <a:t>.</a:t>
            </a:r>
          </a:p>
        </p:txBody>
      </p:sp>
      <p:graphicFrame>
        <p:nvGraphicFramePr>
          <p:cNvPr id="2" name="Table 1">
            <a:extLst>
              <a:ext uri="{FF2B5EF4-FFF2-40B4-BE49-F238E27FC236}">
                <a16:creationId xmlns:a16="http://schemas.microsoft.com/office/drawing/2014/main" id="{3D6216B4-E388-D94A-3985-BF9BD2A10DAC}"/>
              </a:ext>
            </a:extLst>
          </p:cNvPr>
          <p:cNvGraphicFramePr>
            <a:graphicFrameLocks noGrp="1"/>
          </p:cNvGraphicFramePr>
          <p:nvPr>
            <p:extLst>
              <p:ext uri="{D42A27DB-BD31-4B8C-83A1-F6EECF244321}">
                <p14:modId xmlns:p14="http://schemas.microsoft.com/office/powerpoint/2010/main" val="1461365032"/>
              </p:ext>
            </p:extLst>
          </p:nvPr>
        </p:nvGraphicFramePr>
        <p:xfrm>
          <a:off x="1051984" y="3049274"/>
          <a:ext cx="6849533" cy="1739778"/>
        </p:xfrm>
        <a:graphic>
          <a:graphicData uri="http://schemas.openxmlformats.org/drawingml/2006/table">
            <a:tbl>
              <a:tblPr firstRow="1" bandRow="1">
                <a:tableStyleId>{17343FFC-C285-48B6-A5F1-531E15585DCF}</a:tableStyleId>
              </a:tblPr>
              <a:tblGrid>
                <a:gridCol w="821268">
                  <a:extLst>
                    <a:ext uri="{9D8B030D-6E8A-4147-A177-3AD203B41FA5}">
                      <a16:colId xmlns:a16="http://schemas.microsoft.com/office/drawing/2014/main" val="240202103"/>
                    </a:ext>
                  </a:extLst>
                </a:gridCol>
                <a:gridCol w="1947333">
                  <a:extLst>
                    <a:ext uri="{9D8B030D-6E8A-4147-A177-3AD203B41FA5}">
                      <a16:colId xmlns:a16="http://schemas.microsoft.com/office/drawing/2014/main" val="4119681763"/>
                    </a:ext>
                  </a:extLst>
                </a:gridCol>
                <a:gridCol w="2040467">
                  <a:extLst>
                    <a:ext uri="{9D8B030D-6E8A-4147-A177-3AD203B41FA5}">
                      <a16:colId xmlns:a16="http://schemas.microsoft.com/office/drawing/2014/main" val="3780568919"/>
                    </a:ext>
                  </a:extLst>
                </a:gridCol>
                <a:gridCol w="2040465">
                  <a:extLst>
                    <a:ext uri="{9D8B030D-6E8A-4147-A177-3AD203B41FA5}">
                      <a16:colId xmlns:a16="http://schemas.microsoft.com/office/drawing/2014/main" val="3194986311"/>
                    </a:ext>
                  </a:extLst>
                </a:gridCol>
              </a:tblGrid>
              <a:tr h="289963">
                <a:tc>
                  <a:txBody>
                    <a:bodyPr/>
                    <a:lstStyle/>
                    <a:p>
                      <a:r>
                        <a:rPr lang="en-US" sz="1000" b="1" dirty="0"/>
                        <a:t>Protocol</a:t>
                      </a:r>
                    </a:p>
                  </a:txBody>
                  <a:tcPr anchor="ctr"/>
                </a:tc>
                <a:tc>
                  <a:txBody>
                    <a:bodyPr/>
                    <a:lstStyle/>
                    <a:p>
                      <a:r>
                        <a:rPr lang="en-US" sz="1000" b="1" dirty="0"/>
                        <a:t>Routing Type</a:t>
                      </a:r>
                      <a:endParaRPr lang="en-US" sz="1000" dirty="0"/>
                    </a:p>
                  </a:txBody>
                  <a:tcPr anchor="ctr"/>
                </a:tc>
                <a:tc>
                  <a:txBody>
                    <a:bodyPr/>
                    <a:lstStyle/>
                    <a:p>
                      <a:r>
                        <a:rPr lang="en-US" sz="1000" b="1" dirty="0"/>
                        <a:t>Administrative Distance (AD)</a:t>
                      </a:r>
                      <a:endParaRPr lang="en-US" sz="1000" dirty="0"/>
                    </a:p>
                  </a:txBody>
                  <a:tcPr anchor="ctr"/>
                </a:tc>
                <a:tc>
                  <a:txBody>
                    <a:bodyPr/>
                    <a:lstStyle/>
                    <a:p>
                      <a:r>
                        <a:rPr lang="en-US" sz="1000" b="1" dirty="0"/>
                        <a:t>Metric Type</a:t>
                      </a:r>
                      <a:endParaRPr lang="en-US" sz="1000" dirty="0"/>
                    </a:p>
                  </a:txBody>
                  <a:tcPr anchor="ctr"/>
                </a:tc>
                <a:extLst>
                  <a:ext uri="{0D108BD9-81ED-4DB2-BD59-A6C34878D82A}">
                    <a16:rowId xmlns:a16="http://schemas.microsoft.com/office/drawing/2014/main" val="3872846285"/>
                  </a:ext>
                </a:extLst>
              </a:tr>
              <a:tr h="289963">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RIP</a:t>
                      </a:r>
                      <a:endParaRPr lang="en-PK" sz="800" b="1" i="0" u="none" strike="noStrike" cap="none" dirty="0">
                        <a:solidFill>
                          <a:srgbClr val="000000"/>
                        </a:solidFill>
                        <a:latin typeface="Arial"/>
                        <a:cs typeface="Arial"/>
                        <a:sym typeface="Arial"/>
                      </a:endParaRPr>
                    </a:p>
                  </a:txBody>
                  <a:tcP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Distance Vector</a:t>
                      </a:r>
                    </a:p>
                  </a:txBody>
                  <a:tcPr anchor="ctr"/>
                </a:tc>
                <a:tc>
                  <a:txBody>
                    <a:bodyPr/>
                    <a:lstStyle/>
                    <a:p>
                      <a:pPr marR="0" algn="l" rtl="0">
                        <a:lnSpc>
                          <a:spcPct val="100000"/>
                        </a:lnSpc>
                        <a:spcBef>
                          <a:spcPts val="0"/>
                        </a:spcBef>
                        <a:spcAft>
                          <a:spcPts val="0"/>
                        </a:spcAft>
                        <a:buClr>
                          <a:srgbClr val="000000"/>
                        </a:buClr>
                        <a:buFont typeface="Arial"/>
                      </a:pPr>
                      <a:r>
                        <a:rPr lang="en-PK" sz="800" b="1" i="0" u="none" strike="noStrike" cap="none" dirty="0">
                          <a:solidFill>
                            <a:srgbClr val="000000"/>
                          </a:solidFill>
                          <a:latin typeface="Arial"/>
                          <a:cs typeface="Arial"/>
                          <a:sym typeface="Arial"/>
                        </a:rPr>
                        <a:t>120</a:t>
                      </a:r>
                    </a:p>
                  </a:txBody>
                  <a:tcP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Hop count</a:t>
                      </a:r>
                    </a:p>
                  </a:txBody>
                  <a:tcPr anchor="ctr"/>
                </a:tc>
                <a:extLst>
                  <a:ext uri="{0D108BD9-81ED-4DB2-BD59-A6C34878D82A}">
                    <a16:rowId xmlns:a16="http://schemas.microsoft.com/office/drawing/2014/main" val="4059403230"/>
                  </a:ext>
                </a:extLst>
              </a:tr>
              <a:tr h="289963">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EIGRP</a:t>
                      </a:r>
                      <a:endParaRPr lang="en-PK" sz="800" b="1" i="0" u="none" strike="noStrike" cap="none" dirty="0">
                        <a:solidFill>
                          <a:srgbClr val="000000"/>
                        </a:solidFill>
                        <a:latin typeface="Arial"/>
                        <a:cs typeface="Arial"/>
                        <a:sym typeface="Arial"/>
                      </a:endParaRPr>
                    </a:p>
                  </a:txBody>
                  <a:tcP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Hybrid (Distance Vector/Link-State)</a:t>
                      </a:r>
                    </a:p>
                  </a:txBody>
                  <a:tcPr anchor="ct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90 (internal), 170 (external)</a:t>
                      </a:r>
                    </a:p>
                  </a:txBody>
                  <a:tcPr anchor="ct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Bandwidth, delay, load, reliability</a:t>
                      </a:r>
                    </a:p>
                  </a:txBody>
                  <a:tcPr anchor="ctr"/>
                </a:tc>
                <a:extLst>
                  <a:ext uri="{0D108BD9-81ED-4DB2-BD59-A6C34878D82A}">
                    <a16:rowId xmlns:a16="http://schemas.microsoft.com/office/drawing/2014/main" val="2634799986"/>
                  </a:ext>
                </a:extLst>
              </a:tr>
              <a:tr h="289963">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OSPF</a:t>
                      </a:r>
                      <a:endParaRPr lang="en-PK" sz="800" b="1" i="0" u="none" strike="noStrike" cap="none" dirty="0">
                        <a:solidFill>
                          <a:srgbClr val="000000"/>
                        </a:solidFill>
                        <a:latin typeface="Arial"/>
                        <a:cs typeface="Arial"/>
                        <a:sym typeface="Arial"/>
                      </a:endParaRPr>
                    </a:p>
                  </a:txBody>
                  <a:tcP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Link-State</a:t>
                      </a:r>
                    </a:p>
                  </a:txBody>
                  <a:tcPr anchor="ctr"/>
                </a:tc>
                <a:tc>
                  <a:txBody>
                    <a:bodyPr/>
                    <a:lstStyle/>
                    <a:p>
                      <a:pPr marR="0" algn="l" rtl="0">
                        <a:lnSpc>
                          <a:spcPct val="100000"/>
                        </a:lnSpc>
                        <a:spcBef>
                          <a:spcPts val="0"/>
                        </a:spcBef>
                        <a:spcAft>
                          <a:spcPts val="0"/>
                        </a:spcAft>
                        <a:buClr>
                          <a:srgbClr val="000000"/>
                        </a:buClr>
                        <a:buFont typeface="Arial"/>
                      </a:pPr>
                      <a:r>
                        <a:rPr lang="en-PK" sz="800" b="1" i="0" u="none" strike="noStrike" cap="none" dirty="0">
                          <a:solidFill>
                            <a:srgbClr val="000000"/>
                          </a:solidFill>
                          <a:latin typeface="Arial"/>
                          <a:cs typeface="Arial"/>
                          <a:sym typeface="Arial"/>
                        </a:rPr>
                        <a:t>110</a:t>
                      </a:r>
                    </a:p>
                  </a:txBody>
                  <a:tcP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Cost (based on bandwidth)</a:t>
                      </a:r>
                    </a:p>
                  </a:txBody>
                  <a:tcPr anchor="ctr"/>
                </a:tc>
                <a:extLst>
                  <a:ext uri="{0D108BD9-81ED-4DB2-BD59-A6C34878D82A}">
                    <a16:rowId xmlns:a16="http://schemas.microsoft.com/office/drawing/2014/main" val="947704722"/>
                  </a:ext>
                </a:extLst>
              </a:tr>
              <a:tr h="289963">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IS-IS</a:t>
                      </a:r>
                    </a:p>
                  </a:txBody>
                  <a:tcPr anchor="ct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Link-State</a:t>
                      </a:r>
                    </a:p>
                  </a:txBody>
                  <a:tcPr anchor="ctr"/>
                </a:tc>
                <a:tc>
                  <a:txBody>
                    <a:bodyPr/>
                    <a:lstStyle/>
                    <a:p>
                      <a:pPr marR="0" algn="l" rtl="0">
                        <a:lnSpc>
                          <a:spcPct val="100000"/>
                        </a:lnSpc>
                        <a:spcBef>
                          <a:spcPts val="0"/>
                        </a:spcBef>
                        <a:spcAft>
                          <a:spcPts val="0"/>
                        </a:spcAft>
                        <a:buClr>
                          <a:srgbClr val="000000"/>
                        </a:buClr>
                        <a:buFont typeface="Arial"/>
                      </a:pPr>
                      <a:r>
                        <a:rPr lang="en-PK" sz="800" b="1" i="0" u="none" strike="noStrike" cap="none" dirty="0">
                          <a:solidFill>
                            <a:srgbClr val="000000"/>
                          </a:solidFill>
                          <a:latin typeface="Arial"/>
                          <a:cs typeface="Arial"/>
                          <a:sym typeface="Arial"/>
                        </a:rPr>
                        <a:t>115</a:t>
                      </a:r>
                    </a:p>
                  </a:txBody>
                  <a:tcP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Cost</a:t>
                      </a:r>
                      <a:endParaRPr lang="en-PK" sz="800" b="1" i="0" u="none" strike="noStrike" cap="none" dirty="0">
                        <a:solidFill>
                          <a:srgbClr val="000000"/>
                        </a:solidFill>
                        <a:latin typeface="Arial"/>
                        <a:cs typeface="Arial"/>
                        <a:sym typeface="Arial"/>
                      </a:endParaRPr>
                    </a:p>
                  </a:txBody>
                  <a:tcPr/>
                </a:tc>
                <a:extLst>
                  <a:ext uri="{0D108BD9-81ED-4DB2-BD59-A6C34878D82A}">
                    <a16:rowId xmlns:a16="http://schemas.microsoft.com/office/drawing/2014/main" val="2094241123"/>
                  </a:ext>
                </a:extLst>
              </a:tr>
              <a:tr h="289963">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BGP</a:t>
                      </a:r>
                      <a:endParaRPr lang="en-PK" sz="800" b="1" i="0" u="none" strike="noStrike" cap="none" dirty="0">
                        <a:solidFill>
                          <a:srgbClr val="000000"/>
                        </a:solidFill>
                        <a:latin typeface="Arial"/>
                        <a:cs typeface="Arial"/>
                        <a:sym typeface="Arial"/>
                      </a:endParaRPr>
                    </a:p>
                  </a:txBody>
                  <a:tcP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Path Vector</a:t>
                      </a:r>
                    </a:p>
                  </a:txBody>
                  <a:tcPr anchor="ct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20 (eBGP), 200 (iBGP)</a:t>
                      </a:r>
                    </a:p>
                  </a:txBody>
                  <a:tcPr anchor="ctr"/>
                </a:tc>
                <a:tc>
                  <a:txBody>
                    <a:bodyPr/>
                    <a:lstStyle/>
                    <a:p>
                      <a:pPr marR="0" algn="l" rtl="0">
                        <a:lnSpc>
                          <a:spcPct val="100000"/>
                        </a:lnSpc>
                        <a:spcBef>
                          <a:spcPts val="0"/>
                        </a:spcBef>
                        <a:spcAft>
                          <a:spcPts val="0"/>
                        </a:spcAft>
                        <a:buClr>
                          <a:srgbClr val="000000"/>
                        </a:buClr>
                        <a:buFont typeface="Arial"/>
                      </a:pPr>
                      <a:r>
                        <a:rPr lang="en-US" sz="800" b="1" i="0" u="none" strike="noStrike" cap="none" dirty="0">
                          <a:solidFill>
                            <a:srgbClr val="000000"/>
                          </a:solidFill>
                          <a:latin typeface="Arial"/>
                          <a:cs typeface="Arial"/>
                          <a:sym typeface="Arial"/>
                        </a:rPr>
                        <a:t>AS path</a:t>
                      </a:r>
                    </a:p>
                  </a:txBody>
                  <a:tcPr anchor="ctr"/>
                </a:tc>
                <a:extLst>
                  <a:ext uri="{0D108BD9-81ED-4DB2-BD59-A6C34878D82A}">
                    <a16:rowId xmlns:a16="http://schemas.microsoft.com/office/drawing/2014/main" val="640609709"/>
                  </a:ext>
                </a:extLst>
              </a:tr>
            </a:tbl>
          </a:graphicData>
        </a:graphic>
      </p:graphicFrame>
    </p:spTree>
    <p:extLst>
      <p:ext uri="{BB962C8B-B14F-4D97-AF65-F5344CB8AC3E}">
        <p14:creationId xmlns:p14="http://schemas.microsoft.com/office/powerpoint/2010/main" val="496768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7D113-8D68-BE42-F702-9485921878E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27293EA-09E4-4DC4-B379-D135EB4D1D0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91BC7FD-5665-71AC-442E-600248B14BD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0C718FB-78C0-02B8-7787-F4D1EC83548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75F1E11-E13A-006C-6C66-32BCAE016CAC}"/>
              </a:ext>
            </a:extLst>
          </p:cNvPr>
          <p:cNvSpPr txBox="1"/>
          <p:nvPr/>
        </p:nvSpPr>
        <p:spPr>
          <a:xfrm>
            <a:off x="2683369" y="125565"/>
            <a:ext cx="4242363" cy="400110"/>
          </a:xfrm>
          <a:prstGeom prst="rect">
            <a:avLst/>
          </a:prstGeom>
          <a:noFill/>
        </p:spPr>
        <p:txBody>
          <a:bodyPr wrap="square">
            <a:spAutoFit/>
          </a:bodyPr>
          <a:lstStyle/>
          <a:p>
            <a:r>
              <a:rPr lang="en-US" sz="2000" b="1" dirty="0">
                <a:solidFill>
                  <a:srgbClr val="403CCF"/>
                </a:solidFill>
                <a:latin typeface="Libre Baskerville" pitchFamily="34" charset="0"/>
              </a:rPr>
              <a:t>Dynamic routing Protocols</a:t>
            </a:r>
          </a:p>
        </p:txBody>
      </p:sp>
      <p:sp>
        <p:nvSpPr>
          <p:cNvPr id="17" name="TextBox 16">
            <a:extLst>
              <a:ext uri="{FF2B5EF4-FFF2-40B4-BE49-F238E27FC236}">
                <a16:creationId xmlns:a16="http://schemas.microsoft.com/office/drawing/2014/main" id="{8538D75B-12FE-31B0-E588-2E9C332869F0}"/>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C6698E97-B0E3-830D-46E2-1EC45D3B1909}"/>
              </a:ext>
            </a:extLst>
          </p:cNvPr>
          <p:cNvSpPr txBox="1"/>
          <p:nvPr/>
        </p:nvSpPr>
        <p:spPr>
          <a:xfrm>
            <a:off x="-13345" y="525675"/>
            <a:ext cx="8894878" cy="3939540"/>
          </a:xfrm>
          <a:prstGeom prst="rect">
            <a:avLst/>
          </a:prstGeom>
          <a:noFill/>
        </p:spPr>
        <p:txBody>
          <a:bodyPr wrap="square">
            <a:spAutoFit/>
          </a:bodyPr>
          <a:lstStyle/>
          <a:p>
            <a:r>
              <a:rPr lang="en-US" b="1" u="sng" dirty="0">
                <a:solidFill>
                  <a:srgbClr val="403CCF"/>
                </a:solidFill>
                <a:highlight>
                  <a:srgbClr val="00FFFF"/>
                </a:highlight>
                <a:latin typeface="Libre Baskerville" pitchFamily="34" charset="0"/>
              </a:rPr>
              <a:t>Difference between hope and metric</a:t>
            </a:r>
          </a:p>
          <a:p>
            <a:endParaRPr lang="en-US" sz="1200" b="1" dirty="0"/>
          </a:p>
          <a:p>
            <a:r>
              <a:rPr lang="en-US" sz="1600" dirty="0"/>
              <a:t>🔹 Hop</a:t>
            </a:r>
          </a:p>
          <a:p>
            <a:pPr marL="171450" indent="-171450">
              <a:buFont typeface="Wingdings" panose="05000000000000000000" pitchFamily="2" charset="2"/>
              <a:buChar char="ü"/>
            </a:pPr>
            <a:r>
              <a:rPr lang="en-US" sz="1200" dirty="0"/>
              <a:t>A hop = one router the packet passes through.</a:t>
            </a:r>
          </a:p>
          <a:p>
            <a:pPr marL="171450" indent="-171450">
              <a:buFont typeface="Wingdings" panose="05000000000000000000" pitchFamily="2" charset="2"/>
              <a:buChar char="ü"/>
            </a:pPr>
            <a:r>
              <a:rPr lang="en-US" sz="1200" dirty="0"/>
              <a:t>It’s basically “how many routers are in the path” from source to destination.</a:t>
            </a:r>
          </a:p>
          <a:p>
            <a:endParaRPr lang="en-US" sz="1200" dirty="0"/>
          </a:p>
          <a:p>
            <a:r>
              <a:rPr lang="en-US" sz="1200" dirty="0"/>
              <a:t>Example: If a packet goes through 3 routers → 3 hops.</a:t>
            </a:r>
          </a:p>
          <a:p>
            <a:endParaRPr lang="en-US" sz="1200" dirty="0"/>
          </a:p>
          <a:p>
            <a:endParaRPr lang="en-US" sz="1200" dirty="0"/>
          </a:p>
          <a:p>
            <a:endParaRPr lang="en-US" sz="1200" dirty="0"/>
          </a:p>
          <a:p>
            <a:endParaRPr lang="en-US" sz="1200" dirty="0"/>
          </a:p>
          <a:p>
            <a:r>
              <a:rPr lang="en-US" sz="1600" dirty="0"/>
              <a:t>🔹 Metric</a:t>
            </a:r>
          </a:p>
          <a:p>
            <a:endParaRPr lang="en-US" sz="1200" dirty="0"/>
          </a:p>
          <a:p>
            <a:pPr marL="171450" indent="-171450">
              <a:buFont typeface="Wingdings" panose="05000000000000000000" pitchFamily="2" charset="2"/>
              <a:buChar char="ü"/>
            </a:pPr>
            <a:r>
              <a:rPr lang="en-US" sz="1200" dirty="0"/>
              <a:t>A metric = a value routers use to choose the best path.</a:t>
            </a:r>
          </a:p>
          <a:p>
            <a:pPr marL="171450" indent="-171450">
              <a:buFont typeface="Wingdings" panose="05000000000000000000" pitchFamily="2" charset="2"/>
              <a:buChar char="ü"/>
            </a:pPr>
            <a:r>
              <a:rPr lang="en-US" sz="1200" dirty="0"/>
              <a:t>It’s like a score or cost for the route.</a:t>
            </a:r>
          </a:p>
          <a:p>
            <a:endParaRPr lang="en-US" sz="1200" dirty="0"/>
          </a:p>
          <a:p>
            <a:r>
              <a:rPr lang="en-US" sz="1200" dirty="0"/>
              <a:t>Depends on the routing protocol:</a:t>
            </a:r>
          </a:p>
          <a:p>
            <a:r>
              <a:rPr lang="en-US" sz="1200" dirty="0"/>
              <a:t>RIP → metric = hop count</a:t>
            </a:r>
          </a:p>
          <a:p>
            <a:r>
              <a:rPr lang="en-US" sz="1200" dirty="0"/>
              <a:t>OSPF → metric = bandwidth (cost)</a:t>
            </a:r>
          </a:p>
          <a:p>
            <a:r>
              <a:rPr lang="en-US" sz="1200" dirty="0"/>
              <a:t>EIGRP → metric = bandwidth + delay (and more factors)</a:t>
            </a:r>
          </a:p>
        </p:txBody>
      </p:sp>
    </p:spTree>
    <p:extLst>
      <p:ext uri="{BB962C8B-B14F-4D97-AF65-F5344CB8AC3E}">
        <p14:creationId xmlns:p14="http://schemas.microsoft.com/office/powerpoint/2010/main" val="3062748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E27C5-23BA-9C88-4B52-0637DF0CB50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5566C7B-B75D-AD52-E693-19211089D13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F6D8C81-1FB6-D7CC-6952-2EBA59B994E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D40840C8-16E0-937D-B8DE-055E14BBE4B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7CC3F3E-43CC-46B3-903A-1582DC3F8413}"/>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Difference between Classless and Classful routing Protocols</a:t>
            </a:r>
          </a:p>
        </p:txBody>
      </p:sp>
      <p:sp>
        <p:nvSpPr>
          <p:cNvPr id="17" name="TextBox 16">
            <a:extLst>
              <a:ext uri="{FF2B5EF4-FFF2-40B4-BE49-F238E27FC236}">
                <a16:creationId xmlns:a16="http://schemas.microsoft.com/office/drawing/2014/main" id="{ABBE5C28-4D94-DCA7-7058-5AE400ED53C2}"/>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8" name="TextBox 7">
            <a:extLst>
              <a:ext uri="{FF2B5EF4-FFF2-40B4-BE49-F238E27FC236}">
                <a16:creationId xmlns:a16="http://schemas.microsoft.com/office/drawing/2014/main" id="{EC16BAF7-AEE3-3A9D-21AC-30E3B544D49C}"/>
              </a:ext>
            </a:extLst>
          </p:cNvPr>
          <p:cNvSpPr txBox="1"/>
          <p:nvPr/>
        </p:nvSpPr>
        <p:spPr>
          <a:xfrm>
            <a:off x="139667" y="939598"/>
            <a:ext cx="7776665" cy="1446550"/>
          </a:xfrm>
          <a:prstGeom prst="rect">
            <a:avLst/>
          </a:prstGeom>
          <a:noFill/>
        </p:spPr>
        <p:txBody>
          <a:bodyPr wrap="square">
            <a:spAutoFit/>
          </a:bodyPr>
          <a:lstStyle/>
          <a:p>
            <a:r>
              <a:rPr lang="en-US" b="1" u="sng" dirty="0">
                <a:solidFill>
                  <a:srgbClr val="403CCF"/>
                </a:solidFill>
                <a:latin typeface="Libre Baskerville" pitchFamily="34" charset="0"/>
              </a:rPr>
              <a:t>Classful Routing Protocol</a:t>
            </a:r>
          </a:p>
          <a:p>
            <a:endParaRPr lang="en-US" b="1" u="sng" dirty="0">
              <a:solidFill>
                <a:srgbClr val="403CCF"/>
              </a:solidFill>
              <a:latin typeface="Libre Baskerville" pitchFamily="34" charset="0"/>
            </a:endParaRPr>
          </a:p>
          <a:p>
            <a:pPr marL="285750" indent="-285750">
              <a:buFont typeface="Wingdings" panose="05000000000000000000" pitchFamily="2" charset="2"/>
              <a:buChar char="ü"/>
            </a:pPr>
            <a:r>
              <a:rPr lang="en-US" sz="1200" dirty="0"/>
              <a:t>Uses default subnet masks based on IP classes (A, B, C).</a:t>
            </a:r>
          </a:p>
          <a:p>
            <a:pPr marL="285750" indent="-285750">
              <a:buFont typeface="Wingdings" panose="05000000000000000000" pitchFamily="2" charset="2"/>
              <a:buChar char="ü"/>
            </a:pPr>
            <a:endParaRPr lang="en-US" sz="1200" dirty="0"/>
          </a:p>
          <a:p>
            <a:pPr marL="285750" indent="-285750">
              <a:buFont typeface="Wingdings" panose="05000000000000000000" pitchFamily="2" charset="2"/>
              <a:buChar char="ü"/>
            </a:pPr>
            <a:r>
              <a:rPr lang="en-US" sz="1200" dirty="0"/>
              <a:t>Doesn't include subnet mask in routing updates.</a:t>
            </a:r>
          </a:p>
          <a:p>
            <a:pPr marL="285750" indent="-285750">
              <a:buFont typeface="Wingdings" panose="05000000000000000000" pitchFamily="2" charset="2"/>
              <a:buChar char="ü"/>
            </a:pPr>
            <a:endParaRPr lang="en-US" sz="1200" dirty="0"/>
          </a:p>
          <a:p>
            <a:pPr marL="285750" indent="-285750">
              <a:buFont typeface="Wingdings" panose="05000000000000000000" pitchFamily="2" charset="2"/>
              <a:buChar char="ü"/>
            </a:pPr>
            <a:r>
              <a:rPr lang="en-US" sz="1200" dirty="0"/>
              <a:t>Example: RIPv1.</a:t>
            </a:r>
          </a:p>
        </p:txBody>
      </p:sp>
      <p:sp>
        <p:nvSpPr>
          <p:cNvPr id="12" name="TextBox 11">
            <a:extLst>
              <a:ext uri="{FF2B5EF4-FFF2-40B4-BE49-F238E27FC236}">
                <a16:creationId xmlns:a16="http://schemas.microsoft.com/office/drawing/2014/main" id="{A9BD0680-0ED1-1CF6-5794-282A3F50F1AE}"/>
              </a:ext>
            </a:extLst>
          </p:cNvPr>
          <p:cNvSpPr txBox="1"/>
          <p:nvPr/>
        </p:nvSpPr>
        <p:spPr>
          <a:xfrm>
            <a:off x="139667" y="2914705"/>
            <a:ext cx="8572533" cy="1477328"/>
          </a:xfrm>
          <a:prstGeom prst="rect">
            <a:avLst/>
          </a:prstGeom>
          <a:noFill/>
        </p:spPr>
        <p:txBody>
          <a:bodyPr wrap="square">
            <a:spAutoFit/>
          </a:bodyPr>
          <a:lstStyle/>
          <a:p>
            <a:r>
              <a:rPr lang="en-US" b="1" u="sng" dirty="0">
                <a:solidFill>
                  <a:srgbClr val="403CCF"/>
                </a:solidFill>
                <a:latin typeface="Libre Baskerville" pitchFamily="34" charset="0"/>
              </a:rPr>
              <a:t>Classless Routing Protocol:</a:t>
            </a:r>
          </a:p>
          <a:p>
            <a:endParaRPr lang="en-US" b="1" u="sng" dirty="0">
              <a:solidFill>
                <a:srgbClr val="403CCF"/>
              </a:solidFill>
              <a:latin typeface="Libre Baskerville" pitchFamily="34" charset="0"/>
            </a:endParaRPr>
          </a:p>
          <a:p>
            <a:pPr marL="285750" indent="-285750">
              <a:buFont typeface="Wingdings" panose="05000000000000000000" pitchFamily="2" charset="2"/>
              <a:buChar char="ü"/>
            </a:pPr>
            <a:r>
              <a:rPr lang="en-US" sz="1200" dirty="0"/>
              <a:t>Allows any subnet mask, not just the default.</a:t>
            </a:r>
          </a:p>
          <a:p>
            <a:pPr marL="285750" indent="-285750">
              <a:buFont typeface="Wingdings" panose="05000000000000000000" pitchFamily="2" charset="2"/>
              <a:buChar char="ü"/>
            </a:pPr>
            <a:endParaRPr lang="en-US" sz="1200" dirty="0"/>
          </a:p>
          <a:p>
            <a:pPr marL="285750" indent="-285750">
              <a:buFont typeface="Wingdings" panose="05000000000000000000" pitchFamily="2" charset="2"/>
              <a:buChar char="ü"/>
            </a:pPr>
            <a:r>
              <a:rPr lang="en-US" sz="1200" dirty="0"/>
              <a:t>Includes subnet mask in routing updates.</a:t>
            </a:r>
          </a:p>
          <a:p>
            <a:pPr marL="285750" indent="-285750">
              <a:buFont typeface="Wingdings" panose="05000000000000000000" pitchFamily="2" charset="2"/>
              <a:buChar char="ü"/>
            </a:pPr>
            <a:endParaRPr lang="en-US" sz="1200" dirty="0"/>
          </a:p>
          <a:p>
            <a:pPr marL="285750" indent="-285750">
              <a:buFont typeface="Wingdings" panose="05000000000000000000" pitchFamily="2" charset="2"/>
              <a:buChar char="ü"/>
            </a:pPr>
            <a:r>
              <a:rPr lang="en-US" sz="1200" dirty="0"/>
              <a:t>Example: OSPF, EIGRP</a:t>
            </a:r>
            <a:r>
              <a:rPr lang="en-US" dirty="0"/>
              <a:t>.</a:t>
            </a:r>
          </a:p>
        </p:txBody>
      </p:sp>
    </p:spTree>
    <p:extLst>
      <p:ext uri="{BB962C8B-B14F-4D97-AF65-F5344CB8AC3E}">
        <p14:creationId xmlns:p14="http://schemas.microsoft.com/office/powerpoint/2010/main" val="7821558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54BDC-C40A-A681-D4C5-45E7213D013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2E1FB08-3515-53C9-55D7-F0F6065B4C6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D089797-FC2D-EF36-EB6A-FD8A1484403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30F7BE4-8C59-6455-0019-60B0CAEEDCA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C5D3294-B847-BD83-57DA-C2C4380D7F6E}"/>
              </a:ext>
            </a:extLst>
          </p:cNvPr>
          <p:cNvSpPr txBox="1"/>
          <p:nvPr/>
        </p:nvSpPr>
        <p:spPr>
          <a:xfrm>
            <a:off x="228601" y="125565"/>
            <a:ext cx="7213600" cy="307777"/>
          </a:xfrm>
          <a:prstGeom prst="rect">
            <a:avLst/>
          </a:prstGeom>
          <a:noFill/>
        </p:spPr>
        <p:txBody>
          <a:bodyPr wrap="square">
            <a:spAutoFit/>
          </a:bodyPr>
          <a:lstStyle/>
          <a:p>
            <a:r>
              <a:rPr lang="en-US" b="1" dirty="0">
                <a:solidFill>
                  <a:srgbClr val="403CCF"/>
                </a:solidFill>
                <a:latin typeface="Libre Baskerville" pitchFamily="34" charset="0"/>
              </a:rPr>
              <a:t>Understanding Single Area and Multi-Area OSPF with Backbone (Area 0)</a:t>
            </a:r>
          </a:p>
        </p:txBody>
      </p:sp>
      <p:sp>
        <p:nvSpPr>
          <p:cNvPr id="17" name="TextBox 16">
            <a:extLst>
              <a:ext uri="{FF2B5EF4-FFF2-40B4-BE49-F238E27FC236}">
                <a16:creationId xmlns:a16="http://schemas.microsoft.com/office/drawing/2014/main" id="{D65E155C-D047-6D4D-3C6B-CBB4406615D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D0925379-44D0-8C93-BCFF-2779AEF1C2CF}"/>
              </a:ext>
            </a:extLst>
          </p:cNvPr>
          <p:cNvSpPr txBox="1"/>
          <p:nvPr/>
        </p:nvSpPr>
        <p:spPr>
          <a:xfrm>
            <a:off x="228600" y="611921"/>
            <a:ext cx="8805333" cy="4401205"/>
          </a:xfrm>
          <a:prstGeom prst="rect">
            <a:avLst/>
          </a:prstGeom>
          <a:noFill/>
        </p:spPr>
        <p:txBody>
          <a:bodyPr wrap="square">
            <a:spAutoFit/>
          </a:bodyPr>
          <a:lstStyle/>
          <a:p>
            <a:endParaRPr lang="en-US" sz="1000" dirty="0"/>
          </a:p>
          <a:p>
            <a:r>
              <a:rPr lang="en-US" sz="1000" dirty="0"/>
              <a:t>✅ Single Area OSPF</a:t>
            </a:r>
          </a:p>
          <a:p>
            <a:endParaRPr lang="en-US" sz="1000" dirty="0"/>
          </a:p>
          <a:p>
            <a:pPr marL="171450" indent="-171450">
              <a:buFont typeface="Wingdings" panose="05000000000000000000" pitchFamily="2" charset="2"/>
              <a:buChar char="ü"/>
            </a:pPr>
            <a:r>
              <a:rPr lang="en-US" sz="1000" dirty="0"/>
              <a:t>All routers are in one big area called Area 0 (the backbone area).</a:t>
            </a:r>
          </a:p>
          <a:p>
            <a:pPr marL="171450" indent="-171450">
              <a:buFont typeface="Wingdings" panose="05000000000000000000" pitchFamily="2" charset="2"/>
              <a:buChar char="ü"/>
            </a:pPr>
            <a:r>
              <a:rPr lang="en-US" sz="1000" dirty="0"/>
              <a:t>All routers share full routing information with each other inside this single area.</a:t>
            </a:r>
          </a:p>
          <a:p>
            <a:pPr marL="171450" indent="-171450">
              <a:buFont typeface="Wingdings" panose="05000000000000000000" pitchFamily="2" charset="2"/>
              <a:buChar char="ü"/>
            </a:pPr>
            <a:r>
              <a:rPr lang="en-US" sz="1000" dirty="0"/>
              <a:t>Easy to set up but can get slow and complex if the network grows very large.</a:t>
            </a:r>
          </a:p>
          <a:p>
            <a:endParaRPr lang="en-US" sz="1000" dirty="0"/>
          </a:p>
          <a:p>
            <a:r>
              <a:rPr lang="en-US" sz="1000" dirty="0"/>
              <a:t>Example: A small office network with 10 routers, all in Area 0, connected in a single OSPF domain.</a:t>
            </a:r>
          </a:p>
          <a:p>
            <a:pPr marL="171450" indent="-171450">
              <a:buFont typeface="Wingdings" panose="05000000000000000000" pitchFamily="2" charset="2"/>
              <a:buChar char="ü"/>
            </a:pPr>
            <a:endParaRPr lang="en-US" sz="1000" dirty="0"/>
          </a:p>
          <a:p>
            <a:endParaRPr lang="en-US" sz="1000" dirty="0"/>
          </a:p>
          <a:p>
            <a:endParaRPr lang="en-US" sz="1000" dirty="0"/>
          </a:p>
          <a:p>
            <a:endParaRPr lang="en-US" sz="1000" dirty="0"/>
          </a:p>
          <a:p>
            <a:endParaRPr lang="en-US" sz="1000" dirty="0"/>
          </a:p>
          <a:p>
            <a:endParaRPr lang="en-US" sz="1000" dirty="0"/>
          </a:p>
          <a:p>
            <a:r>
              <a:rPr lang="en-US" sz="1000" dirty="0"/>
              <a:t>✅ Multiple Areas OSPF</a:t>
            </a:r>
          </a:p>
          <a:p>
            <a:endParaRPr lang="en-US" sz="1000" dirty="0"/>
          </a:p>
          <a:p>
            <a:pPr marL="171450" indent="-171450">
              <a:buFont typeface="Wingdings" panose="05000000000000000000" pitchFamily="2" charset="2"/>
              <a:buChar char="ü"/>
            </a:pPr>
            <a:r>
              <a:rPr lang="en-US" sz="1000" dirty="0"/>
              <a:t>The network is divided into several smaller areas.</a:t>
            </a:r>
          </a:p>
          <a:p>
            <a:pPr marL="171450" indent="-171450">
              <a:buFont typeface="Wingdings" panose="05000000000000000000" pitchFamily="2" charset="2"/>
              <a:buChar char="ü"/>
            </a:pPr>
            <a:r>
              <a:rPr lang="en-US" sz="1000" dirty="0"/>
              <a:t>These areas connect to a central Area 0 (backbone area).</a:t>
            </a:r>
          </a:p>
          <a:p>
            <a:pPr marL="171450" indent="-171450">
              <a:buFont typeface="Wingdings" panose="05000000000000000000" pitchFamily="2" charset="2"/>
              <a:buChar char="ü"/>
            </a:pPr>
            <a:r>
              <a:rPr lang="en-US" sz="1000" dirty="0"/>
              <a:t>Routers share detailed routing info inside their own area but summarized info between areas.</a:t>
            </a:r>
          </a:p>
          <a:p>
            <a:pPr marL="171450" indent="-171450">
              <a:buFont typeface="Wingdings" panose="05000000000000000000" pitchFamily="2" charset="2"/>
              <a:buChar char="ü"/>
            </a:pPr>
            <a:r>
              <a:rPr lang="en-US" sz="1000" dirty="0"/>
              <a:t>This reduces the workload on routers and improves performance in large networks</a:t>
            </a:r>
          </a:p>
          <a:p>
            <a:pPr marL="171450" indent="-171450">
              <a:buFont typeface="Wingdings" panose="05000000000000000000" pitchFamily="2" charset="2"/>
              <a:buChar char="ü"/>
            </a:pPr>
            <a:endParaRPr lang="en-US" sz="1000" dirty="0"/>
          </a:p>
          <a:p>
            <a:r>
              <a:rPr lang="en-US" sz="1000" dirty="0"/>
              <a:t>Example:</a:t>
            </a:r>
          </a:p>
          <a:p>
            <a:r>
              <a:rPr lang="en-US" sz="1000" dirty="0"/>
              <a:t>A company has:</a:t>
            </a:r>
          </a:p>
          <a:p>
            <a:r>
              <a:rPr lang="en-US" sz="1000" dirty="0"/>
              <a:t>Head Office with 20 routers in Area 0 (backbone).</a:t>
            </a:r>
          </a:p>
          <a:p>
            <a:r>
              <a:rPr lang="en-US" sz="1000" dirty="0"/>
              <a:t>Branch 1 with 10 routers in Area 1.</a:t>
            </a:r>
          </a:p>
          <a:p>
            <a:r>
              <a:rPr lang="en-US" sz="1000" dirty="0"/>
              <a:t>Branch 2 with 15 routers in Area 2.</a:t>
            </a:r>
          </a:p>
          <a:p>
            <a:endParaRPr lang="en-US" sz="1000" dirty="0"/>
          </a:p>
          <a:p>
            <a:r>
              <a:rPr lang="en-US" sz="1000" dirty="0"/>
              <a:t>Each branch connects to Area 0 via an ABR (Area Border Router).</a:t>
            </a:r>
          </a:p>
        </p:txBody>
      </p:sp>
    </p:spTree>
    <p:extLst>
      <p:ext uri="{BB962C8B-B14F-4D97-AF65-F5344CB8AC3E}">
        <p14:creationId xmlns:p14="http://schemas.microsoft.com/office/powerpoint/2010/main" val="2428115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832DB-78D1-6C52-052A-8D25F7542C2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791DEFC-A940-CD87-EB8A-EC822EA5490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F0A356B-6161-B601-25B1-D2DB897F685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A10EE11-9230-F3A4-9992-DFAE92B1076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8D9F4DC-797F-2FC0-43C5-56344A98317A}"/>
              </a:ext>
            </a:extLst>
          </p:cNvPr>
          <p:cNvSpPr txBox="1"/>
          <p:nvPr/>
        </p:nvSpPr>
        <p:spPr>
          <a:xfrm>
            <a:off x="228601" y="125565"/>
            <a:ext cx="7213600" cy="307777"/>
          </a:xfrm>
          <a:prstGeom prst="rect">
            <a:avLst/>
          </a:prstGeom>
          <a:noFill/>
        </p:spPr>
        <p:txBody>
          <a:bodyPr wrap="square">
            <a:spAutoFit/>
          </a:bodyPr>
          <a:lstStyle/>
          <a:p>
            <a:r>
              <a:rPr lang="en-US" b="1" dirty="0">
                <a:solidFill>
                  <a:srgbClr val="403CCF"/>
                </a:solidFill>
                <a:latin typeface="Libre Baskerville" pitchFamily="34" charset="0"/>
              </a:rPr>
              <a:t>Is Area 0 Necessary in OSPF? Can You Use Any Area Like Area 30?</a:t>
            </a:r>
          </a:p>
        </p:txBody>
      </p:sp>
      <p:sp>
        <p:nvSpPr>
          <p:cNvPr id="17" name="TextBox 16">
            <a:extLst>
              <a:ext uri="{FF2B5EF4-FFF2-40B4-BE49-F238E27FC236}">
                <a16:creationId xmlns:a16="http://schemas.microsoft.com/office/drawing/2014/main" id="{41971485-F873-42AD-9F55-FE434174A935}"/>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42E3EA68-9612-8089-2D0F-325CAD8BB279}"/>
              </a:ext>
            </a:extLst>
          </p:cNvPr>
          <p:cNvSpPr txBox="1"/>
          <p:nvPr/>
        </p:nvSpPr>
        <p:spPr>
          <a:xfrm>
            <a:off x="228600" y="611921"/>
            <a:ext cx="8805333" cy="2400657"/>
          </a:xfrm>
          <a:prstGeom prst="rect">
            <a:avLst/>
          </a:prstGeom>
          <a:noFill/>
        </p:spPr>
        <p:txBody>
          <a:bodyPr wrap="square">
            <a:spAutoFit/>
          </a:bodyPr>
          <a:lstStyle/>
          <a:p>
            <a:endParaRPr lang="en-US" sz="1000" dirty="0"/>
          </a:p>
          <a:p>
            <a:r>
              <a:rPr lang="en-US" sz="1000" dirty="0"/>
              <a:t>✅ Yes, you can use any area number like Area 30, Area 10, etc.</a:t>
            </a:r>
          </a:p>
          <a:p>
            <a:endParaRPr lang="en-US" sz="1000" dirty="0"/>
          </a:p>
          <a:p>
            <a:pPr marL="171450" indent="-171450">
              <a:buFont typeface="Wingdings" panose="05000000000000000000" pitchFamily="2" charset="2"/>
              <a:buChar char="ü"/>
            </a:pPr>
            <a:r>
              <a:rPr lang="en-US" sz="1000" dirty="0"/>
              <a:t>Area 0 is always required as the Backbone Area.</a:t>
            </a:r>
          </a:p>
          <a:p>
            <a:pPr marL="171450" indent="-171450">
              <a:buFont typeface="Wingdings" panose="05000000000000000000" pitchFamily="2" charset="2"/>
              <a:buChar char="ü"/>
            </a:pPr>
            <a:r>
              <a:rPr lang="en-US" sz="1000" dirty="0"/>
              <a:t>OSPF requires Area 0 to connect multiple areas.</a:t>
            </a:r>
          </a:p>
          <a:p>
            <a:pPr marL="171450" indent="-171450">
              <a:buFont typeface="Wingdings" panose="05000000000000000000" pitchFamily="2" charset="2"/>
              <a:buChar char="ü"/>
            </a:pPr>
            <a:r>
              <a:rPr lang="en-US" sz="1000" dirty="0"/>
              <a:t>All other areas (e.g., Area 30) must connect to Area 0 either directly or virtually.</a:t>
            </a:r>
          </a:p>
          <a:p>
            <a:pPr marL="171450" indent="-171450">
              <a:buFont typeface="Wingdings" panose="05000000000000000000" pitchFamily="2" charset="2"/>
              <a:buChar char="ü"/>
            </a:pPr>
            <a:r>
              <a:rPr lang="en-US" sz="1000" dirty="0"/>
              <a:t>If you use only one area (single area OSPF), it is best practice to use Area 0.</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r>
              <a:rPr lang="en-US" sz="1000" dirty="0"/>
              <a:t>✅ Conclusion:</a:t>
            </a:r>
          </a:p>
          <a:p>
            <a:pPr marL="171450" indent="-171450">
              <a:buFont typeface="Wingdings" panose="05000000000000000000" pitchFamily="2" charset="2"/>
              <a:buChar char="ü"/>
            </a:pPr>
            <a:r>
              <a:rPr lang="en-US" sz="1000" dirty="0"/>
              <a:t>You can type any area number like area 30.</a:t>
            </a:r>
          </a:p>
          <a:p>
            <a:pPr marL="171450" indent="-171450">
              <a:buFont typeface="Wingdings" panose="05000000000000000000" pitchFamily="2" charset="2"/>
              <a:buChar char="ü"/>
            </a:pPr>
            <a:r>
              <a:rPr lang="en-US" sz="1000" dirty="0"/>
              <a:t>If you configure Area 10 and Area 30, but do not have Area 0, OSPF won’t work properly.</a:t>
            </a:r>
          </a:p>
          <a:p>
            <a:pPr marL="171450" indent="-171450">
              <a:buFont typeface="Wingdings" panose="05000000000000000000" pitchFamily="2" charset="2"/>
              <a:buChar char="ü"/>
            </a:pPr>
            <a:r>
              <a:rPr lang="en-US" sz="1000" dirty="0"/>
              <a:t>Area 0 is necessary in OSPF design to interconnect multiple areas.</a:t>
            </a:r>
          </a:p>
        </p:txBody>
      </p:sp>
    </p:spTree>
    <p:extLst>
      <p:ext uri="{BB962C8B-B14F-4D97-AF65-F5344CB8AC3E}">
        <p14:creationId xmlns:p14="http://schemas.microsoft.com/office/powerpoint/2010/main" val="3801093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EBDD-554C-7F4F-9B25-D28B3267B8A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279A443-F1CB-715D-3646-51871D3E42A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C5B0344-340E-87F8-EDD1-7D4E240ED997}"/>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BDB0B5B-98C0-8F5F-E0F1-BFCE9F0B93B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42A7F30-D44B-4FF8-DCC6-EF1FA8C8202E}"/>
              </a:ext>
            </a:extLst>
          </p:cNvPr>
          <p:cNvSpPr txBox="1"/>
          <p:nvPr/>
        </p:nvSpPr>
        <p:spPr>
          <a:xfrm>
            <a:off x="228601" y="125565"/>
            <a:ext cx="7213600" cy="307777"/>
          </a:xfrm>
          <a:prstGeom prst="rect">
            <a:avLst/>
          </a:prstGeom>
          <a:noFill/>
        </p:spPr>
        <p:txBody>
          <a:bodyPr wrap="square">
            <a:spAutoFit/>
          </a:bodyPr>
          <a:lstStyle/>
          <a:p>
            <a:r>
              <a:rPr lang="en-US" b="1" dirty="0">
                <a:solidFill>
                  <a:srgbClr val="403CCF"/>
                </a:solidFill>
                <a:latin typeface="Libre Baskerville" pitchFamily="34" charset="0"/>
              </a:rPr>
              <a:t>Using One OSPF Area for All Branches: Good or Bad?</a:t>
            </a:r>
          </a:p>
        </p:txBody>
      </p:sp>
      <p:sp>
        <p:nvSpPr>
          <p:cNvPr id="17" name="TextBox 16">
            <a:extLst>
              <a:ext uri="{FF2B5EF4-FFF2-40B4-BE49-F238E27FC236}">
                <a16:creationId xmlns:a16="http://schemas.microsoft.com/office/drawing/2014/main" id="{F1615451-7835-F403-DC4C-562CA973CD8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A01DAB52-0E9F-F62D-4DA1-1D1A470F30C6}"/>
              </a:ext>
            </a:extLst>
          </p:cNvPr>
          <p:cNvSpPr txBox="1"/>
          <p:nvPr/>
        </p:nvSpPr>
        <p:spPr>
          <a:xfrm>
            <a:off x="228600" y="611921"/>
            <a:ext cx="8805333" cy="3170099"/>
          </a:xfrm>
          <a:prstGeom prst="rect">
            <a:avLst/>
          </a:prstGeom>
          <a:noFill/>
        </p:spPr>
        <p:txBody>
          <a:bodyPr wrap="square">
            <a:spAutoFit/>
          </a:bodyPr>
          <a:lstStyle/>
          <a:p>
            <a:endParaRPr lang="en-US" sz="1000" dirty="0"/>
          </a:p>
          <a:p>
            <a:r>
              <a:rPr lang="en-US" sz="1000" dirty="0"/>
              <a:t>✅ If You Use the Same Area (e.g., Area 0) for Islamabad, Lahore, and Karachi:</a:t>
            </a:r>
          </a:p>
          <a:p>
            <a:endParaRPr lang="en-US" sz="1000" dirty="0"/>
          </a:p>
          <a:p>
            <a:pPr marL="171450" indent="-171450">
              <a:buFont typeface="Wingdings" panose="05000000000000000000" pitchFamily="2" charset="2"/>
              <a:buChar char="ü"/>
            </a:pPr>
            <a:r>
              <a:rPr lang="en-US" sz="1000" dirty="0"/>
              <a:t>You are using Single Area OSPF.</a:t>
            </a:r>
          </a:p>
          <a:p>
            <a:pPr marL="171450" indent="-171450">
              <a:buFont typeface="Wingdings" panose="05000000000000000000" pitchFamily="2" charset="2"/>
              <a:buChar char="ü"/>
            </a:pPr>
            <a:r>
              <a:rPr lang="en-US" sz="1000" dirty="0"/>
              <a:t>All routers share full routing information with each other.</a:t>
            </a:r>
          </a:p>
          <a:p>
            <a:pPr marL="171450" indent="-171450">
              <a:buFont typeface="Wingdings" panose="05000000000000000000" pitchFamily="2" charset="2"/>
              <a:buChar char="ü"/>
            </a:pPr>
            <a:r>
              <a:rPr lang="en-US" sz="1000" dirty="0"/>
              <a:t>There is no route summarization.</a:t>
            </a:r>
          </a:p>
          <a:p>
            <a:pPr marL="171450" indent="-171450">
              <a:buFont typeface="Wingdings" panose="05000000000000000000" pitchFamily="2" charset="2"/>
              <a:buChar char="ü"/>
            </a:pPr>
            <a:r>
              <a:rPr lang="en-US" sz="1000" dirty="0"/>
              <a:t>It works well for small or simple networks.</a:t>
            </a:r>
          </a:p>
          <a:p>
            <a:pPr marL="171450" indent="-171450">
              <a:buFont typeface="Wingdings" panose="05000000000000000000" pitchFamily="2" charset="2"/>
              <a:buChar char="ü"/>
            </a:pPr>
            <a:r>
              <a:rPr lang="en-US" sz="1000" dirty="0"/>
              <a:t>Easy to configure and manage.</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r>
              <a:rPr lang="en-US" sz="1000" dirty="0"/>
              <a:t>❌ Drawbacks in Large Networks:</a:t>
            </a:r>
          </a:p>
          <a:p>
            <a:r>
              <a:rPr lang="en-US" sz="1000" dirty="0"/>
              <a:t>High CPU and memory usage on routers.</a:t>
            </a:r>
          </a:p>
          <a:p>
            <a:r>
              <a:rPr lang="en-US" sz="1000" dirty="0"/>
              <a:t>Slower convergence time.</a:t>
            </a:r>
          </a:p>
          <a:p>
            <a:r>
              <a:rPr lang="en-US" sz="1000" dirty="0"/>
              <a:t>Hard to manage when the network grows.</a:t>
            </a:r>
          </a:p>
          <a:p>
            <a:r>
              <a:rPr lang="en-US" sz="1000" dirty="0"/>
              <a:t>Less efficient in handling routing updates</a:t>
            </a:r>
          </a:p>
          <a:p>
            <a:endParaRPr lang="en-US" sz="1000" dirty="0"/>
          </a:p>
          <a:p>
            <a:endParaRPr lang="en-US" sz="1000" dirty="0"/>
          </a:p>
          <a:p>
            <a:endParaRPr lang="en-US" sz="1000" dirty="0"/>
          </a:p>
          <a:p>
            <a:r>
              <a:rPr lang="en-US" sz="1000" dirty="0"/>
              <a:t>✅ Conclusion:</a:t>
            </a:r>
          </a:p>
          <a:p>
            <a:r>
              <a:rPr lang="en-US" sz="1000" dirty="0"/>
              <a:t>For multiple remote locations, it's better to use multiple areas, connected via Area 0.</a:t>
            </a:r>
          </a:p>
        </p:txBody>
      </p:sp>
    </p:spTree>
    <p:extLst>
      <p:ext uri="{BB962C8B-B14F-4D97-AF65-F5344CB8AC3E}">
        <p14:creationId xmlns:p14="http://schemas.microsoft.com/office/powerpoint/2010/main" val="3820918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CE03D-117F-9523-CDB0-0BDD0C9FECE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371A1C5-15BC-FB0B-BD60-41EDE9A4396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460DD76-2A29-1F13-138F-F7F38DF5AF4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E177C60-5743-6B58-E77B-D6B335782E5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A56DACF-5336-C34C-88CA-F6067FA3DCA7}"/>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C30C774E-031C-D94D-87EF-23312893C230}"/>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81D2DAB6-67B4-BE52-3608-0ECBF57852BC}"/>
              </a:ext>
            </a:extLst>
          </p:cNvPr>
          <p:cNvSpPr txBox="1"/>
          <p:nvPr/>
        </p:nvSpPr>
        <p:spPr>
          <a:xfrm>
            <a:off x="228600" y="611921"/>
            <a:ext cx="8805333" cy="3785652"/>
          </a:xfrm>
          <a:prstGeom prst="rect">
            <a:avLst/>
          </a:prstGeom>
          <a:noFill/>
        </p:spPr>
        <p:txBody>
          <a:bodyPr wrap="square">
            <a:spAutoFit/>
          </a:bodyPr>
          <a:lstStyle/>
          <a:p>
            <a:pPr marL="285750" indent="-285750">
              <a:buFont typeface="Wingdings" panose="05000000000000000000" pitchFamily="2" charset="2"/>
              <a:buChar char="Ø"/>
            </a:pPr>
            <a:r>
              <a:rPr lang="en-US" sz="1000" dirty="0"/>
              <a:t>OSPF (Open Shortest Path First):</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OSPF is a classless routing protocol, supporting both VLSM and FLSM.</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It is a link-state routing protocol, meaning it selects the best path based on bandwidth (preferring higher bandwidth paths).</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Incremental updates: OSPF shares routing information only when there is a change.</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Can connect an unlimited number of routers.</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The OSPF metric is called cost, calculated as 10^8 / sum of bandwidth.</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Uses the SPF algorithm (Shortest Path First) to calculate the best route.</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Each OSPF process has a Process ID (range: 1–65535) to create separate OSPF domains.</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OSPF uses a wildcard mask (WCM) to define network addresses.</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Area ID: OSPF can operate in single-area or multi-area setups. Area 0 is the backbone area.</a:t>
            </a:r>
          </a:p>
          <a:p>
            <a:pPr marL="285750" indent="-285750">
              <a:buFont typeface="Wingdings" panose="05000000000000000000" pitchFamily="2" charset="2"/>
              <a:buChar char="Ø"/>
            </a:pPr>
            <a:endParaRPr lang="en-US" sz="1000" dirty="0"/>
          </a:p>
          <a:p>
            <a:pPr marL="285750" indent="-285750">
              <a:buFont typeface="Wingdings" panose="05000000000000000000" pitchFamily="2" charset="2"/>
              <a:buChar char="Ø"/>
            </a:pPr>
            <a:r>
              <a:rPr lang="en-US" sz="1000" dirty="0"/>
              <a:t>OSPF creates three tables:</a:t>
            </a:r>
          </a:p>
          <a:p>
            <a:pPr marL="742950" lvl="1" indent="-285750">
              <a:buFont typeface="Arial" panose="020B0604020202020204" pitchFamily="34" charset="0"/>
              <a:buChar char="•"/>
            </a:pPr>
            <a:r>
              <a:rPr lang="en-US" sz="1000" dirty="0"/>
              <a:t>Neighbor Table</a:t>
            </a:r>
          </a:p>
          <a:p>
            <a:pPr marL="742950" lvl="1" indent="-285750">
              <a:buFont typeface="Arial" panose="020B0604020202020204" pitchFamily="34" charset="0"/>
              <a:buChar char="•"/>
            </a:pPr>
            <a:r>
              <a:rPr lang="en-US" sz="1000" dirty="0"/>
              <a:t>Database Table</a:t>
            </a:r>
          </a:p>
          <a:p>
            <a:pPr marL="742950" lvl="1" indent="-285750">
              <a:buFont typeface="Arial" panose="020B0604020202020204" pitchFamily="34" charset="0"/>
              <a:buChar char="•"/>
            </a:pPr>
            <a:r>
              <a:rPr lang="en-US" sz="1000" dirty="0"/>
              <a:t>Routing Table</a:t>
            </a:r>
          </a:p>
        </p:txBody>
      </p:sp>
    </p:spTree>
    <p:extLst>
      <p:ext uri="{BB962C8B-B14F-4D97-AF65-F5344CB8AC3E}">
        <p14:creationId xmlns:p14="http://schemas.microsoft.com/office/powerpoint/2010/main" val="2201986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984C-1390-B6C9-C2BC-9849CCB3346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A2E3575-0962-151A-5AE2-0606BEB8AEF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54E30C6-C618-9A5E-4338-7A112D7E264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7E9BEA6-7D95-4A1D-E5F6-8A2ABDF57E3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346E753-767E-F984-C8B0-0A5C5014A85F}"/>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9D57321B-1ADC-93A9-208D-5BA5DFD9E4A5}"/>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F9483F5B-40DE-B90D-378B-239CE58B3AE2}"/>
              </a:ext>
            </a:extLst>
          </p:cNvPr>
          <p:cNvSpPr txBox="1"/>
          <p:nvPr/>
        </p:nvSpPr>
        <p:spPr>
          <a:xfrm>
            <a:off x="228600" y="515221"/>
            <a:ext cx="8805333" cy="4555093"/>
          </a:xfrm>
          <a:prstGeom prst="rect">
            <a:avLst/>
          </a:prstGeom>
          <a:noFill/>
        </p:spPr>
        <p:txBody>
          <a:bodyPr wrap="square">
            <a:spAutoFit/>
          </a:bodyPr>
          <a:lstStyle/>
          <a:p>
            <a:r>
              <a:rPr lang="en-US" sz="1000" dirty="0">
                <a:highlight>
                  <a:srgbClr val="00FFFF"/>
                </a:highlight>
              </a:rPr>
              <a:t>What is a Wildcard Mask?</a:t>
            </a:r>
          </a:p>
          <a:p>
            <a:r>
              <a:rPr lang="en-US" sz="1000" dirty="0"/>
              <a:t>A wildcard mask tells the router which IP addresses to match and which parts to ignore.</a:t>
            </a:r>
          </a:p>
          <a:p>
            <a:endParaRPr lang="en-US" sz="1000" dirty="0"/>
          </a:p>
          <a:p>
            <a:r>
              <a:rPr lang="en-US" sz="1000" dirty="0"/>
              <a:t>0 = must match exactly</a:t>
            </a:r>
          </a:p>
          <a:p>
            <a:r>
              <a:rPr lang="en-US" sz="1000" dirty="0"/>
              <a:t>255 = can be anything</a:t>
            </a:r>
          </a:p>
          <a:p>
            <a:endParaRPr lang="en-US" sz="1000" dirty="0"/>
          </a:p>
          <a:p>
            <a:r>
              <a:rPr lang="en-US" sz="1000" dirty="0"/>
              <a:t>Example:  192.168.1.0    0.0.0.255  → match all IPs from  192.168.1.0   to   192.168.1.255</a:t>
            </a:r>
          </a:p>
          <a:p>
            <a:endParaRPr lang="en-US" sz="1000" dirty="0"/>
          </a:p>
          <a:p>
            <a:r>
              <a:rPr lang="en-US" sz="1000" dirty="0">
                <a:highlight>
                  <a:srgbClr val="00FFFF"/>
                </a:highlight>
              </a:rPr>
              <a:t>Why OSPF Uses a Wildcard Mask?</a:t>
            </a:r>
          </a:p>
          <a:p>
            <a:r>
              <a:rPr lang="en-US" sz="1000" dirty="0"/>
              <a:t>Other routing protocols like RIP and EIGRP are simple , they only need the network name, for example:</a:t>
            </a:r>
          </a:p>
          <a:p>
            <a:r>
              <a:rPr lang="en-US" sz="1000" dirty="0"/>
              <a:t>network 192.168.1.0. They automatically know which interfaces belong to that network.</a:t>
            </a:r>
          </a:p>
          <a:p>
            <a:endParaRPr lang="en-US" sz="1000" dirty="0"/>
          </a:p>
          <a:p>
            <a:r>
              <a:rPr lang="en-US" sz="1000" dirty="0"/>
              <a:t>But OSPF is more detailed and stricter,  interface-based. It doesn’t guess , it wants to know exactly which interfaces to include.</a:t>
            </a:r>
          </a:p>
          <a:p>
            <a:endParaRPr lang="en-US" sz="1000" dirty="0"/>
          </a:p>
          <a:p>
            <a:r>
              <a:rPr lang="en-US" sz="1000" dirty="0"/>
              <a:t>So, we use:</a:t>
            </a:r>
          </a:p>
          <a:p>
            <a:pPr marL="171450" indent="-171450">
              <a:buFont typeface="Wingdings" panose="05000000000000000000" pitchFamily="2" charset="2"/>
              <a:buChar char="q"/>
            </a:pPr>
            <a:r>
              <a:rPr lang="en-US" sz="1000" dirty="0"/>
              <a:t>network 192.168.1.0    0.0.0.255   area   0</a:t>
            </a:r>
          </a:p>
          <a:p>
            <a:r>
              <a:rPr lang="en-US" sz="1000" dirty="0"/>
              <a:t>This tells OSPF the exact range of IPs it should look for.</a:t>
            </a:r>
          </a:p>
          <a:p>
            <a:endParaRPr lang="en-US" sz="1000" dirty="0"/>
          </a:p>
          <a:p>
            <a:r>
              <a:rPr lang="en-US" sz="1000" dirty="0">
                <a:highlight>
                  <a:srgbClr val="00FFFF"/>
                </a:highlight>
              </a:rPr>
              <a:t>How OSPF Uses It</a:t>
            </a:r>
          </a:p>
          <a:p>
            <a:r>
              <a:rPr lang="en-US" sz="1000" dirty="0"/>
              <a:t>When you configure OSPF globally like this:</a:t>
            </a:r>
          </a:p>
          <a:p>
            <a:r>
              <a:rPr lang="en-US" sz="1000" dirty="0"/>
              <a:t>router ospf 1</a:t>
            </a:r>
          </a:p>
          <a:p>
            <a:pPr marL="171450" indent="-171450">
              <a:buFont typeface="Wingdings" panose="05000000000000000000" pitchFamily="2" charset="2"/>
              <a:buChar char="q"/>
            </a:pPr>
            <a:r>
              <a:rPr lang="en-US" sz="1000" dirty="0"/>
              <a:t>network    1.0.0.0    0.255.255.255    area 0</a:t>
            </a:r>
          </a:p>
          <a:p>
            <a:pPr marL="171450" indent="-171450">
              <a:buFont typeface="Wingdings" panose="05000000000000000000" pitchFamily="2" charset="2"/>
              <a:buChar char="q"/>
            </a:pPr>
            <a:r>
              <a:rPr lang="en-US" sz="1000" dirty="0"/>
              <a:t>network    192.168.1.0    0.0.0.255    area 0</a:t>
            </a:r>
          </a:p>
          <a:p>
            <a:r>
              <a:rPr lang="en-US" sz="1000" dirty="0"/>
              <a:t>Router checks all interface on itself , It compares each interface’s IP with your network wildcard mask. If an interface IP fits inside that range , OSPF automatically activates on that interface</a:t>
            </a:r>
          </a:p>
          <a:p>
            <a:endParaRPr lang="en-US" sz="1000" dirty="0"/>
          </a:p>
          <a:p>
            <a:r>
              <a:rPr lang="en-US" sz="1000" dirty="0"/>
              <a:t>1.0.0.0             0.255.255.255 matches 1.1.1.1 → ✅ Serial0/0 joins OSPF</a:t>
            </a:r>
          </a:p>
          <a:p>
            <a:r>
              <a:rPr lang="en-US" sz="1000" dirty="0"/>
              <a:t>192.168.1.0     0.0.0.255 matches 192.168.1.1 → ✅ FastEthernet0/0 joins OSPF</a:t>
            </a:r>
          </a:p>
          <a:p>
            <a:r>
              <a:rPr lang="en-US" sz="1000" dirty="0">
                <a:highlight>
                  <a:srgbClr val="00FF00"/>
                </a:highlight>
              </a:rPr>
              <a:t>OSPF then activates on those interfaces and starts sending Hello packets.</a:t>
            </a:r>
          </a:p>
        </p:txBody>
      </p:sp>
    </p:spTree>
    <p:extLst>
      <p:ext uri="{BB962C8B-B14F-4D97-AF65-F5344CB8AC3E}">
        <p14:creationId xmlns:p14="http://schemas.microsoft.com/office/powerpoint/2010/main" val="4038760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5722-44F0-E91F-0BBD-472FC3A9008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B835DA7-934A-D3C3-1F77-BDD36ACE067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40B2D08-982B-481B-3AE8-6F583C58B87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3678D12-8E3A-3255-45C6-91A5D1C04DF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16F54E40-A9EF-71B6-1913-A4E7851CA045}"/>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C433444F-B7A1-4F3D-B593-D65CBCEC6B62}"/>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56805DFF-7710-BD21-8AAD-BB66C4D3BA02}"/>
              </a:ext>
            </a:extLst>
          </p:cNvPr>
          <p:cNvSpPr txBox="1"/>
          <p:nvPr/>
        </p:nvSpPr>
        <p:spPr>
          <a:xfrm>
            <a:off x="228600" y="515221"/>
            <a:ext cx="8805333" cy="2000548"/>
          </a:xfrm>
          <a:prstGeom prst="rect">
            <a:avLst/>
          </a:prstGeom>
          <a:noFill/>
        </p:spPr>
        <p:txBody>
          <a:bodyPr wrap="square">
            <a:spAutoFit/>
          </a:bodyPr>
          <a:lstStyle/>
          <a:p>
            <a:r>
              <a:rPr lang="en-US" b="1" dirty="0">
                <a:highlight>
                  <a:srgbClr val="00FFFF"/>
                </a:highlight>
              </a:rPr>
              <a:t>Note:</a:t>
            </a:r>
          </a:p>
          <a:p>
            <a:endParaRPr lang="en-US" sz="1000" dirty="0">
              <a:highlight>
                <a:srgbClr val="00FFFF"/>
              </a:highlight>
            </a:endParaRPr>
          </a:p>
          <a:p>
            <a:endParaRPr lang="en-US" sz="1000" dirty="0"/>
          </a:p>
          <a:p>
            <a:r>
              <a:rPr lang="en-US" sz="1000" dirty="0"/>
              <a:t>RIP , EIGRP and OSPF “all look around”  at all interfaces to find which ones belong to the network you mentioned </a:t>
            </a:r>
          </a:p>
          <a:p>
            <a:endParaRPr lang="en-US" sz="1000" dirty="0"/>
          </a:p>
          <a:p>
            <a:r>
              <a:rPr lang="en-US" sz="1000" dirty="0"/>
              <a:t>The only difference is that</a:t>
            </a:r>
          </a:p>
          <a:p>
            <a:endParaRPr lang="en-US" sz="1000" dirty="0"/>
          </a:p>
          <a:p>
            <a:pPr marL="171450" indent="-171450">
              <a:buFont typeface="Wingdings" panose="05000000000000000000" pitchFamily="2" charset="2"/>
              <a:buChar char="ü"/>
            </a:pPr>
            <a:r>
              <a:rPr lang="en-US" sz="1000" dirty="0"/>
              <a:t>RIP/EIGRP don’t need wildcard mask , they use the network address directly </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r>
              <a:rPr lang="en-US" sz="1000" dirty="0"/>
              <a:t>OSPF needs wildcard mask , its more exact and stricter  </a:t>
            </a:r>
          </a:p>
          <a:p>
            <a:endParaRPr lang="en-US" sz="1000" dirty="0"/>
          </a:p>
          <a:p>
            <a:endParaRPr lang="en-US" sz="1000" dirty="0"/>
          </a:p>
        </p:txBody>
      </p:sp>
    </p:spTree>
    <p:extLst>
      <p:ext uri="{BB962C8B-B14F-4D97-AF65-F5344CB8AC3E}">
        <p14:creationId xmlns:p14="http://schemas.microsoft.com/office/powerpoint/2010/main" val="41042445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EAF91-E27A-EE5F-26F5-516F27E2A4B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2928DAA-2DA8-B626-C0AC-C4127D5D78C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ACCED0D-4A14-5740-AAE5-54BAA93D043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7E9AA523-6BEC-A2F4-5168-0CEB97451FE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C85511C-43D5-3B33-EDE7-72DC31E88942}"/>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33675478-262E-1F64-1AA5-3B9C6EAF61F4}"/>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29BDBA41-9A89-3A06-5541-A897F44441C7}"/>
              </a:ext>
            </a:extLst>
          </p:cNvPr>
          <p:cNvSpPr txBox="1"/>
          <p:nvPr/>
        </p:nvSpPr>
        <p:spPr>
          <a:xfrm>
            <a:off x="228600" y="515221"/>
            <a:ext cx="8805333" cy="2292935"/>
          </a:xfrm>
          <a:prstGeom prst="rect">
            <a:avLst/>
          </a:prstGeom>
          <a:noFill/>
        </p:spPr>
        <p:txBody>
          <a:bodyPr wrap="square">
            <a:spAutoFit/>
          </a:bodyPr>
          <a:lstStyle/>
          <a:p>
            <a:endParaRPr lang="en-US" sz="1000" dirty="0">
              <a:highlight>
                <a:srgbClr val="00FF00"/>
              </a:highlight>
            </a:endParaRPr>
          </a:p>
          <a:p>
            <a:pPr marL="0" lvl="0" indent="0" defTabSz="914400" eaLnBrk="1" fontAlgn="auto" latinLnBrk="0" hangingPunct="1">
              <a:buSzTx/>
              <a:buFont typeface="Arial"/>
              <a:buNone/>
              <a:tabLst/>
              <a:defRPr/>
            </a:pPr>
            <a:r>
              <a:rPr lang="en-US" sz="1200" b="1" dirty="0">
                <a:highlight>
                  <a:srgbClr val="00FFFF"/>
                </a:highlight>
              </a:rPr>
              <a:t>Wildcard Mask calculation: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Example 1: </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Arial"/>
                <a:cs typeface="Arial"/>
                <a:sym typeface="Arial"/>
              </a:rPr>
              <a:t>Global Subnet Mask - Sub netmask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Arial"/>
                <a:cs typeface="Arial"/>
                <a:sym typeface="Arial"/>
              </a:rPr>
              <a:t>255.255.255.255   - 255.255.255.248  = 0.0.0.7</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highlight>
                  <a:srgbClr val="00FF00"/>
                </a:highlight>
              </a:rPr>
              <a:t>0.0.0.7 is the wildcard mask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dirty="0">
              <a:highlight>
                <a:srgbClr val="00FF00"/>
              </a:highligh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Example 2</a:t>
            </a:r>
          </a:p>
          <a:p>
            <a:r>
              <a:rPr lang="en-US" sz="1100" dirty="0"/>
              <a:t>Subnet Mask = 255.255.255.0</a:t>
            </a:r>
          </a:p>
          <a:p>
            <a:r>
              <a:rPr lang="en-US" sz="1100" dirty="0"/>
              <a:t>255.255.255.255  -  255.255.255.0  = 0.0.0.255</a:t>
            </a:r>
          </a:p>
          <a:p>
            <a:r>
              <a:rPr lang="en-US" sz="1100" dirty="0">
                <a:highlight>
                  <a:srgbClr val="00FF00"/>
                </a:highlight>
              </a:rPr>
              <a:t>0.0.0.255 is the wildcard mask</a:t>
            </a:r>
          </a:p>
        </p:txBody>
      </p:sp>
    </p:spTree>
    <p:extLst>
      <p:ext uri="{BB962C8B-B14F-4D97-AF65-F5344CB8AC3E}">
        <p14:creationId xmlns:p14="http://schemas.microsoft.com/office/powerpoint/2010/main" val="967698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847F-F3E8-3501-24E8-EC1FEC01A84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ECC63DF-C291-CC8A-96AF-9D58A4B4687F}"/>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209E8CF-7943-A858-E236-CE8A43E6335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76B60850-BB53-A717-9BAE-3DAB67954B6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0B9F920-1FEE-8C35-A893-0BCA23C6D7E0}"/>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4C549401-520B-B900-89BD-F0453A45A93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E4D7D007-3EFE-C74B-93F8-FDC21FF7A9A6}"/>
              </a:ext>
            </a:extLst>
          </p:cNvPr>
          <p:cNvSpPr txBox="1"/>
          <p:nvPr/>
        </p:nvSpPr>
        <p:spPr>
          <a:xfrm>
            <a:off x="381819" y="660137"/>
            <a:ext cx="7813914" cy="3785652"/>
          </a:xfrm>
          <a:prstGeom prst="rect">
            <a:avLst/>
          </a:prstGeom>
          <a:noFill/>
        </p:spPr>
        <p:txBody>
          <a:bodyPr wrap="square">
            <a:spAutoFit/>
          </a:bodyPr>
          <a:lstStyle/>
          <a:p>
            <a:r>
              <a:rPr lang="en-US" sz="1000" dirty="0">
                <a:highlight>
                  <a:srgbClr val="00FFFF"/>
                </a:highlight>
              </a:rPr>
              <a:t>Understanding OSPF Interface Configuration</a:t>
            </a:r>
          </a:p>
          <a:p>
            <a:endParaRPr lang="en-US" sz="1000" dirty="0"/>
          </a:p>
          <a:p>
            <a:r>
              <a:rPr lang="en-US" sz="1000" dirty="0"/>
              <a:t>FastEthernet0/0 → IP: 192.168.1.1 /24</a:t>
            </a:r>
          </a:p>
          <a:p>
            <a:endParaRPr lang="en-US" sz="1000" dirty="0"/>
          </a:p>
          <a:p>
            <a:r>
              <a:rPr lang="en-US" sz="1000" dirty="0"/>
              <a:t>You want to enable OSPF on this interface</a:t>
            </a:r>
          </a:p>
          <a:p>
            <a:endParaRPr lang="en-US" sz="1000" dirty="0"/>
          </a:p>
          <a:p>
            <a:pPr marL="171450" indent="-171450">
              <a:buFont typeface="Wingdings" panose="05000000000000000000" pitchFamily="2" charset="2"/>
              <a:buChar char="q"/>
            </a:pPr>
            <a:r>
              <a:rPr lang="en-US" sz="1000" dirty="0"/>
              <a:t>Router(config)# router   ospf   1</a:t>
            </a:r>
          </a:p>
          <a:p>
            <a:pPr marL="171450" indent="-171450">
              <a:buFont typeface="Wingdings" panose="05000000000000000000" pitchFamily="2" charset="2"/>
              <a:buChar char="q"/>
            </a:pPr>
            <a:r>
              <a:rPr lang="en-US" sz="1000" dirty="0"/>
              <a:t>Router(config)# interface   fastethernet0/0</a:t>
            </a:r>
          </a:p>
          <a:p>
            <a:pPr marL="171450" indent="-171450">
              <a:buFont typeface="Wingdings" panose="05000000000000000000" pitchFamily="2" charset="2"/>
              <a:buChar char="q"/>
            </a:pPr>
            <a:r>
              <a:rPr lang="en-US" sz="1000" dirty="0"/>
              <a:t>Router(config-if)# ip   ospf   1   area 0</a:t>
            </a:r>
          </a:p>
          <a:p>
            <a:endParaRPr lang="en-US" sz="1000" dirty="0"/>
          </a:p>
          <a:p>
            <a:endParaRPr lang="en-US" sz="1000" dirty="0"/>
          </a:p>
          <a:p>
            <a:r>
              <a:rPr lang="en-US" sz="1000" dirty="0"/>
              <a:t>Now OSPF will run on this interface and it belongs to area 0.</a:t>
            </a:r>
          </a:p>
          <a:p>
            <a:endParaRPr lang="en-US" sz="1000" dirty="0"/>
          </a:p>
          <a:p>
            <a:endParaRPr lang="en-US" sz="1000" dirty="0"/>
          </a:p>
          <a:p>
            <a:pPr marL="171450" indent="-171450">
              <a:buFont typeface="Wingdings" panose="05000000000000000000" pitchFamily="2" charset="2"/>
              <a:buChar char="ü"/>
            </a:pPr>
            <a:r>
              <a:rPr lang="en-US" sz="1000" dirty="0"/>
              <a:t>The router already knows that Fa0/0 has IP 192.168.1.1 with subnet mask 255.255.255.0.</a:t>
            </a:r>
          </a:p>
          <a:p>
            <a:pPr marL="171450" indent="-171450">
              <a:buFont typeface="Wingdings" panose="05000000000000000000" pitchFamily="2" charset="2"/>
              <a:buChar char="ü"/>
            </a:pPr>
            <a:r>
              <a:rPr lang="en-US" sz="1000" dirty="0"/>
              <a:t>So, it doesn’t need you to tell it the range again (no wildcard mask needed).</a:t>
            </a:r>
          </a:p>
          <a:p>
            <a:pPr marL="171450" indent="-171450">
              <a:buFont typeface="Wingdings" panose="05000000000000000000" pitchFamily="2" charset="2"/>
              <a:buChar char="ü"/>
            </a:pPr>
            <a:r>
              <a:rPr lang="en-US" sz="1000" dirty="0"/>
              <a:t>It starts sending OSPF Hello packets from that interface.</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r>
              <a:rPr lang="en-US" sz="1000" dirty="0">
                <a:highlight>
                  <a:srgbClr val="00FFFF"/>
                </a:highlight>
              </a:rPr>
              <a:t>Why no wildcard mask here?</a:t>
            </a:r>
          </a:p>
          <a:p>
            <a:r>
              <a:rPr lang="en-US" sz="1000" dirty="0"/>
              <a:t>Because the router is already standing on the exact interface , it knows its IP and mask, so it doesn’t need to search for it. Wildcard masks are only needed when you use the global method</a:t>
            </a:r>
          </a:p>
          <a:p>
            <a:endParaRPr lang="en-US" sz="1000" dirty="0"/>
          </a:p>
          <a:p>
            <a:endParaRPr lang="en-PK" sz="1000" dirty="0"/>
          </a:p>
        </p:txBody>
      </p:sp>
    </p:spTree>
    <p:extLst>
      <p:ext uri="{BB962C8B-B14F-4D97-AF65-F5344CB8AC3E}">
        <p14:creationId xmlns:p14="http://schemas.microsoft.com/office/powerpoint/2010/main" val="2224102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24E4-21B0-F67A-0F17-A26F33B3E15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E638256-F5EF-938F-6BC2-419A5CC69F8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74DF3D3-5F7A-E1BC-7DD0-469060AB613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B1352F2-3214-AD83-3400-0D8876CF1AC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83ABAFF-C10A-E78C-0AF9-BC2BFA3534AC}"/>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A257E30F-5347-ED65-A078-6B336EEF528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66A7D179-B151-9299-EC84-34037D22C50F}"/>
              </a:ext>
            </a:extLst>
          </p:cNvPr>
          <p:cNvSpPr txBox="1"/>
          <p:nvPr/>
        </p:nvSpPr>
        <p:spPr>
          <a:xfrm>
            <a:off x="381819" y="660137"/>
            <a:ext cx="8652114" cy="4401205"/>
          </a:xfrm>
          <a:prstGeom prst="rect">
            <a:avLst/>
          </a:prstGeom>
          <a:noFill/>
        </p:spPr>
        <p:txBody>
          <a:bodyPr wrap="square">
            <a:spAutoFit/>
          </a:bodyPr>
          <a:lstStyle/>
          <a:p>
            <a:r>
              <a:rPr lang="en-US" sz="1000" b="1" dirty="0">
                <a:highlight>
                  <a:srgbClr val="00FFFF"/>
                </a:highlight>
              </a:rPr>
              <a:t>How routers make neighborhood ?</a:t>
            </a:r>
          </a:p>
          <a:p>
            <a:endParaRPr lang="en-US" sz="1000" dirty="0"/>
          </a:p>
          <a:p>
            <a:r>
              <a:rPr lang="en-US" sz="1000" dirty="0"/>
              <a:t>Routers check these details to become OSPF neighbors:</a:t>
            </a:r>
          </a:p>
          <a:p>
            <a:endParaRPr lang="en-US" sz="1000" dirty="0"/>
          </a:p>
          <a:p>
            <a:r>
              <a:rPr lang="en-US" sz="1000" b="1" dirty="0"/>
              <a:t>1️⃣ Same Area ID			</a:t>
            </a:r>
          </a:p>
          <a:p>
            <a:pPr marL="171450" indent="-171450">
              <a:buFont typeface="Wingdings" panose="05000000000000000000" pitchFamily="2" charset="2"/>
              <a:buChar char="ü"/>
            </a:pPr>
            <a:r>
              <a:rPr lang="en-US" sz="1000" dirty="0"/>
              <a:t>Both routers must be in the same area (e.g., Area 0)</a:t>
            </a:r>
          </a:p>
          <a:p>
            <a:endParaRPr lang="en-US" sz="1000" dirty="0"/>
          </a:p>
          <a:p>
            <a:r>
              <a:rPr lang="en-US" sz="1000" b="1" dirty="0"/>
              <a:t>2️⃣ Same Subnet (must be directly connected) 		</a:t>
            </a:r>
          </a:p>
          <a:p>
            <a:pPr marL="171450" indent="-171450">
              <a:buFont typeface="Wingdings" panose="05000000000000000000" pitchFamily="2" charset="2"/>
              <a:buChar char="ü"/>
            </a:pPr>
            <a:r>
              <a:rPr lang="en-US" sz="1000" dirty="0"/>
              <a:t>They must be directly connected and in the same subnet (e.g., 192.168.1.0/24).</a:t>
            </a:r>
          </a:p>
          <a:p>
            <a:endParaRPr lang="en-US" sz="1000" dirty="0"/>
          </a:p>
          <a:p>
            <a:r>
              <a:rPr lang="en-US" sz="1000" b="1" dirty="0"/>
              <a:t>3️⃣ Same Hello timer			</a:t>
            </a:r>
          </a:p>
          <a:p>
            <a:pPr marL="171450" indent="-171450">
              <a:buFont typeface="Wingdings" panose="05000000000000000000" pitchFamily="2" charset="2"/>
              <a:buChar char="ü"/>
            </a:pPr>
            <a:r>
              <a:rPr lang="en-US" sz="1000" dirty="0"/>
              <a:t>It’s the time interval at which an OSPF router sends Hello packets to its neighbors.</a:t>
            </a:r>
          </a:p>
          <a:p>
            <a:pPr marL="171450" indent="-171450">
              <a:buFont typeface="Wingdings" panose="05000000000000000000" pitchFamily="2" charset="2"/>
              <a:buChar char="ü"/>
            </a:pPr>
            <a:r>
              <a:rPr lang="en-US" sz="1000" dirty="0"/>
              <a:t>Default: 10 seconds , </a:t>
            </a:r>
          </a:p>
          <a:p>
            <a:pPr marL="171450" indent="-171450">
              <a:buFont typeface="Wingdings" panose="05000000000000000000" pitchFamily="2" charset="2"/>
              <a:buChar char="ü"/>
            </a:pPr>
            <a:r>
              <a:rPr lang="en-US" sz="1000" dirty="0"/>
              <a:t>Think of it like saying “Hey, I’m alive!” every 10 seconds.</a:t>
            </a:r>
          </a:p>
          <a:p>
            <a:endParaRPr lang="en-US" sz="1000" dirty="0"/>
          </a:p>
          <a:p>
            <a:r>
              <a:rPr lang="en-US" sz="1000" b="1" dirty="0"/>
              <a:t>4️⃣ Same Dead timer</a:t>
            </a:r>
          </a:p>
          <a:p>
            <a:pPr marL="171450" indent="-171450">
              <a:buFont typeface="Wingdings" panose="05000000000000000000" pitchFamily="2" charset="2"/>
              <a:buChar char="ü"/>
            </a:pPr>
            <a:r>
              <a:rPr lang="en-US" sz="1000" dirty="0"/>
              <a:t>It’s the time a router waits without hearing any Hello from a neighbor before declaring it dead.</a:t>
            </a:r>
          </a:p>
          <a:p>
            <a:pPr marL="171450" indent="-171450">
              <a:buFont typeface="Wingdings" panose="05000000000000000000" pitchFamily="2" charset="2"/>
              <a:buChar char="ü"/>
            </a:pPr>
            <a:r>
              <a:rPr lang="en-US" sz="1000" dirty="0"/>
              <a:t>Default: 40 seconds (4 times the Hello time).</a:t>
            </a:r>
          </a:p>
          <a:p>
            <a:endParaRPr lang="en-US" sz="1000" dirty="0"/>
          </a:p>
          <a:p>
            <a:r>
              <a:rPr lang="en-US" sz="1000" b="1" dirty="0"/>
              <a:t>5️⃣ Same Authentication (if used)</a:t>
            </a:r>
          </a:p>
          <a:p>
            <a:pPr marL="171450" indent="-171450">
              <a:buFont typeface="Wingdings" panose="05000000000000000000" pitchFamily="2" charset="2"/>
              <a:buChar char="ü"/>
            </a:pPr>
            <a:r>
              <a:rPr lang="en-US" sz="1000" dirty="0"/>
              <a:t>Passwords or keys for OSPF, Must match on both routers (same password).</a:t>
            </a:r>
          </a:p>
          <a:p>
            <a:endParaRPr lang="en-US" sz="1000" dirty="0"/>
          </a:p>
          <a:p>
            <a:r>
              <a:rPr lang="en-US" sz="1000" b="1" dirty="0"/>
              <a:t>6️⃣ Same Network type (like broadcast, point-to-point, etc.)</a:t>
            </a:r>
          </a:p>
          <a:p>
            <a:pPr marL="171450" indent="-171450">
              <a:buFont typeface="Wingdings" panose="05000000000000000000" pitchFamily="2" charset="2"/>
              <a:buChar char="ü"/>
            </a:pPr>
            <a:r>
              <a:rPr lang="en-US" sz="1000" dirty="0"/>
              <a:t>Must be same on both sides so they talk properly.</a:t>
            </a:r>
          </a:p>
          <a:p>
            <a:endParaRPr lang="en-US" sz="1000" dirty="0"/>
          </a:p>
          <a:p>
            <a:r>
              <a:rPr lang="en-US" sz="1000" b="1" dirty="0"/>
              <a:t>7️⃣ Unique Router IDs (must not be same)</a:t>
            </a:r>
          </a:p>
          <a:p>
            <a:pPr marL="171450" indent="-171450">
              <a:buFont typeface="Wingdings" panose="05000000000000000000" pitchFamily="2" charset="2"/>
              <a:buChar char="ü"/>
            </a:pPr>
            <a:r>
              <a:rPr lang="en-US" sz="1000" dirty="0"/>
              <a:t>Unique ID of each router (like a name)Must be different (can’t be same).</a:t>
            </a:r>
          </a:p>
        </p:txBody>
      </p:sp>
    </p:spTree>
    <p:extLst>
      <p:ext uri="{BB962C8B-B14F-4D97-AF65-F5344CB8AC3E}">
        <p14:creationId xmlns:p14="http://schemas.microsoft.com/office/powerpoint/2010/main" val="20433878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CAFED-1D40-D9FA-A9BC-A9D9AA95E01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39D3193-A488-9DAF-706D-05BD2324CE1E}"/>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C153613D-F949-D1C6-6190-3C51D87E8D2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0490538-4217-82E6-9FF5-9F86DBE341E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ACD0476-64A0-1CC7-0C24-4539C9576486}"/>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A9E2BAA3-9E44-5047-F867-7BD4634D9DB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C974D3C8-6258-158C-42AD-3A07B70D9DD9}"/>
              </a:ext>
            </a:extLst>
          </p:cNvPr>
          <p:cNvSpPr txBox="1"/>
          <p:nvPr/>
        </p:nvSpPr>
        <p:spPr>
          <a:xfrm>
            <a:off x="381819" y="660137"/>
            <a:ext cx="8652114" cy="3016210"/>
          </a:xfrm>
          <a:prstGeom prst="rect">
            <a:avLst/>
          </a:prstGeom>
          <a:noFill/>
        </p:spPr>
        <p:txBody>
          <a:bodyPr wrap="square">
            <a:spAutoFit/>
          </a:bodyPr>
          <a:lstStyle/>
          <a:p>
            <a:r>
              <a:rPr lang="en-US" sz="1000" b="1" dirty="0">
                <a:highlight>
                  <a:srgbClr val="00FFFF"/>
                </a:highlight>
              </a:rPr>
              <a:t>What is OSPF Database?</a:t>
            </a:r>
          </a:p>
          <a:p>
            <a:endParaRPr lang="en-US" sz="1000" dirty="0"/>
          </a:p>
          <a:p>
            <a:pPr marL="171450" indent="-171450">
              <a:buFont typeface="Wingdings" panose="05000000000000000000" pitchFamily="2" charset="2"/>
              <a:buChar char="ü"/>
            </a:pPr>
            <a:r>
              <a:rPr lang="en-US" sz="1000" dirty="0"/>
              <a:t>The OSPF database is like a map or record book inside each router that stores all the link and network information collected from OSPF neighbors.</a:t>
            </a:r>
          </a:p>
          <a:p>
            <a:pPr marL="171450" indent="-171450">
              <a:buFont typeface="Wingdings" panose="05000000000000000000" pitchFamily="2" charset="2"/>
              <a:buChar char="ü"/>
            </a:pPr>
            <a:endParaRPr lang="en-US" sz="1000" dirty="0"/>
          </a:p>
          <a:p>
            <a:r>
              <a:rPr lang="en-US" sz="1000" dirty="0"/>
              <a:t>1️⃣ Each router tells others about its links using LSAs (Link-State Advertisements) — like saying, “Hey, I’m Router1 and I’m connected to Network A and Router2.”</a:t>
            </a:r>
          </a:p>
          <a:p>
            <a:endParaRPr lang="en-US" sz="1000" dirty="0"/>
          </a:p>
          <a:p>
            <a:r>
              <a:rPr lang="en-US" sz="1000" dirty="0"/>
              <a:t>2️⃣ All routers share their LSAs with each other.</a:t>
            </a:r>
          </a:p>
          <a:p>
            <a:endParaRPr lang="en-US" sz="1000" dirty="0"/>
          </a:p>
          <a:p>
            <a:r>
              <a:rPr lang="en-US" sz="1000" dirty="0"/>
              <a:t>3️⃣ Each router stores all received LSAs in its OSPF database (LSDB).</a:t>
            </a:r>
          </a:p>
          <a:p>
            <a:endParaRPr lang="en-US" sz="1000" dirty="0"/>
          </a:p>
          <a:p>
            <a:r>
              <a:rPr lang="en-US" sz="1000" dirty="0"/>
              <a:t>4️⃣ Then each router uses this LSDB to calculate the best paths using the Dijkstra algorithm (SPF algorithm).</a:t>
            </a:r>
          </a:p>
          <a:p>
            <a:endParaRPr lang="en-US" sz="1000" dirty="0"/>
          </a:p>
          <a:p>
            <a:endParaRPr lang="en-US" sz="1000" dirty="0"/>
          </a:p>
          <a:p>
            <a:r>
              <a:rPr lang="en-US" sz="1000" dirty="0">
                <a:highlight>
                  <a:srgbClr val="00FF00"/>
                </a:highlight>
              </a:rPr>
              <a:t>The OSPF database is the router’s collection of all network information it learned from neighbors ;it’s used to build the routing table.</a:t>
            </a:r>
          </a:p>
          <a:p>
            <a:endParaRPr lang="en-US" sz="1000" dirty="0">
              <a:highlight>
                <a:srgbClr val="00FF00"/>
              </a:highlight>
            </a:endParaRPr>
          </a:p>
          <a:p>
            <a:r>
              <a:rPr lang="en-US" sz="1000" dirty="0">
                <a:highlight>
                  <a:srgbClr val="00FF00"/>
                </a:highlight>
              </a:rPr>
              <a:t>The OSPF database is like a map of the whole network that every router keeps. They all share and update this map so everyone knows the same routes. </a:t>
            </a:r>
          </a:p>
          <a:p>
            <a:pPr marL="171450" indent="-171450">
              <a:buFont typeface="Wingdings" panose="05000000000000000000" pitchFamily="2" charset="2"/>
              <a:buChar char="ü"/>
            </a:pPr>
            <a:endParaRPr lang="en-US" sz="1000" dirty="0"/>
          </a:p>
        </p:txBody>
      </p:sp>
    </p:spTree>
    <p:extLst>
      <p:ext uri="{BB962C8B-B14F-4D97-AF65-F5344CB8AC3E}">
        <p14:creationId xmlns:p14="http://schemas.microsoft.com/office/powerpoint/2010/main" val="4248352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BEA9B-5E8B-4EA1-05CA-326B004196C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1421C52-8407-DEFA-642A-BF4700AD21F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7B8BC53-9FC9-4285-C719-77A4E9A0793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AB3F98F-C918-581C-00BC-B3697BAFEBE0}"/>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28215FB-F42B-2820-87D6-1CE43BFA058C}"/>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DEFCF29A-6562-9F5A-9FE5-07590CF07AB6}"/>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pic>
        <p:nvPicPr>
          <p:cNvPr id="6" name="Picture 5">
            <a:extLst>
              <a:ext uri="{FF2B5EF4-FFF2-40B4-BE49-F238E27FC236}">
                <a16:creationId xmlns:a16="http://schemas.microsoft.com/office/drawing/2014/main" id="{9BC8000C-0863-E1EA-4144-41AD78DD442E}"/>
              </a:ext>
            </a:extLst>
          </p:cNvPr>
          <p:cNvPicPr>
            <a:picLocks noChangeAspect="1"/>
          </p:cNvPicPr>
          <p:nvPr/>
        </p:nvPicPr>
        <p:blipFill>
          <a:blip r:embed="rId3"/>
          <a:stretch>
            <a:fillRect/>
          </a:stretch>
        </p:blipFill>
        <p:spPr>
          <a:xfrm>
            <a:off x="1" y="500873"/>
            <a:ext cx="9144000" cy="4642628"/>
          </a:xfrm>
          <a:prstGeom prst="rect">
            <a:avLst/>
          </a:prstGeom>
        </p:spPr>
      </p:pic>
      <p:sp>
        <p:nvSpPr>
          <p:cNvPr id="8" name="TextBox 7">
            <a:extLst>
              <a:ext uri="{FF2B5EF4-FFF2-40B4-BE49-F238E27FC236}">
                <a16:creationId xmlns:a16="http://schemas.microsoft.com/office/drawing/2014/main" id="{001D5D44-B7A5-0613-2751-780B01D94BFB}"/>
              </a:ext>
            </a:extLst>
          </p:cNvPr>
          <p:cNvSpPr txBox="1"/>
          <p:nvPr/>
        </p:nvSpPr>
        <p:spPr>
          <a:xfrm>
            <a:off x="3230034" y="831877"/>
            <a:ext cx="461433" cy="307777"/>
          </a:xfrm>
          <a:prstGeom prst="rect">
            <a:avLst/>
          </a:prstGeom>
          <a:noFill/>
        </p:spPr>
        <p:txBody>
          <a:bodyPr wrap="square">
            <a:spAutoFit/>
          </a:bodyPr>
          <a:lstStyle/>
          <a:p>
            <a:r>
              <a:rPr lang="en-US" b="1" dirty="0"/>
              <a:t>R1</a:t>
            </a:r>
            <a:endParaRPr lang="en-PK" b="1" dirty="0"/>
          </a:p>
        </p:txBody>
      </p:sp>
      <p:sp>
        <p:nvSpPr>
          <p:cNvPr id="12" name="TextBox 11">
            <a:extLst>
              <a:ext uri="{FF2B5EF4-FFF2-40B4-BE49-F238E27FC236}">
                <a16:creationId xmlns:a16="http://schemas.microsoft.com/office/drawing/2014/main" id="{0BE3225D-5253-B85A-7BEF-F46A112E18F2}"/>
              </a:ext>
            </a:extLst>
          </p:cNvPr>
          <p:cNvSpPr txBox="1"/>
          <p:nvPr/>
        </p:nvSpPr>
        <p:spPr>
          <a:xfrm>
            <a:off x="5808099" y="798637"/>
            <a:ext cx="486833" cy="307777"/>
          </a:xfrm>
          <a:prstGeom prst="rect">
            <a:avLst/>
          </a:prstGeom>
          <a:noFill/>
        </p:spPr>
        <p:txBody>
          <a:bodyPr wrap="square">
            <a:spAutoFit/>
          </a:bodyPr>
          <a:lstStyle/>
          <a:p>
            <a:r>
              <a:rPr lang="en-US" b="1" dirty="0"/>
              <a:t>R2</a:t>
            </a:r>
            <a:endParaRPr lang="en-PK" dirty="0"/>
          </a:p>
        </p:txBody>
      </p:sp>
      <p:sp>
        <p:nvSpPr>
          <p:cNvPr id="14" name="TextBox 13">
            <a:extLst>
              <a:ext uri="{FF2B5EF4-FFF2-40B4-BE49-F238E27FC236}">
                <a16:creationId xmlns:a16="http://schemas.microsoft.com/office/drawing/2014/main" id="{F7BBD98E-4B11-DA30-0DD5-80EBF61D62C1}"/>
              </a:ext>
            </a:extLst>
          </p:cNvPr>
          <p:cNvSpPr txBox="1"/>
          <p:nvPr/>
        </p:nvSpPr>
        <p:spPr>
          <a:xfrm>
            <a:off x="3069167" y="3028235"/>
            <a:ext cx="469900" cy="307777"/>
          </a:xfrm>
          <a:prstGeom prst="rect">
            <a:avLst/>
          </a:prstGeom>
          <a:noFill/>
        </p:spPr>
        <p:txBody>
          <a:bodyPr wrap="square">
            <a:spAutoFit/>
          </a:bodyPr>
          <a:lstStyle/>
          <a:p>
            <a:r>
              <a:rPr lang="en-US" b="1" dirty="0"/>
              <a:t>R3</a:t>
            </a:r>
            <a:endParaRPr lang="en-PK" dirty="0"/>
          </a:p>
        </p:txBody>
      </p:sp>
      <p:sp>
        <p:nvSpPr>
          <p:cNvPr id="16" name="TextBox 15">
            <a:extLst>
              <a:ext uri="{FF2B5EF4-FFF2-40B4-BE49-F238E27FC236}">
                <a16:creationId xmlns:a16="http://schemas.microsoft.com/office/drawing/2014/main" id="{3B7CFB20-3720-AB56-E101-FA842596D311}"/>
              </a:ext>
            </a:extLst>
          </p:cNvPr>
          <p:cNvSpPr txBox="1"/>
          <p:nvPr/>
        </p:nvSpPr>
        <p:spPr>
          <a:xfrm>
            <a:off x="5856816" y="3028234"/>
            <a:ext cx="664633" cy="307777"/>
          </a:xfrm>
          <a:prstGeom prst="rect">
            <a:avLst/>
          </a:prstGeom>
          <a:noFill/>
        </p:spPr>
        <p:txBody>
          <a:bodyPr wrap="square">
            <a:spAutoFit/>
          </a:bodyPr>
          <a:lstStyle/>
          <a:p>
            <a:r>
              <a:rPr lang="en-US" b="1" dirty="0"/>
              <a:t>R4</a:t>
            </a:r>
            <a:endParaRPr lang="en-PK" dirty="0"/>
          </a:p>
        </p:txBody>
      </p:sp>
    </p:spTree>
    <p:extLst>
      <p:ext uri="{BB962C8B-B14F-4D97-AF65-F5344CB8AC3E}">
        <p14:creationId xmlns:p14="http://schemas.microsoft.com/office/powerpoint/2010/main" val="2577909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C5312-52A5-49FF-7525-DD29EE7F247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B263C16-D261-965A-5438-95D40E8F441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EF8B757-2332-F654-82A0-F0597E571F1D}"/>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3416FDF-9349-156B-01C9-B29E3ECBC8C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BEF2BF0-5934-F747-502B-87D2073617E8}"/>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9B6B65B4-8746-7734-2848-7504B0025E11}"/>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89697416-29C1-D866-F3EF-9203AD4D65A7}"/>
              </a:ext>
            </a:extLst>
          </p:cNvPr>
          <p:cNvSpPr txBox="1"/>
          <p:nvPr/>
        </p:nvSpPr>
        <p:spPr>
          <a:xfrm>
            <a:off x="228600" y="609290"/>
            <a:ext cx="4038600" cy="4062651"/>
          </a:xfrm>
          <a:prstGeom prst="rect">
            <a:avLst/>
          </a:prstGeom>
          <a:noFill/>
        </p:spPr>
        <p:txBody>
          <a:bodyPr wrap="square">
            <a:spAutoFit/>
          </a:bodyPr>
          <a:lstStyle/>
          <a:p>
            <a:r>
              <a:rPr lang="en-US" b="1" dirty="0"/>
              <a:t>R1</a:t>
            </a:r>
          </a:p>
          <a:p>
            <a:r>
              <a:rPr lang="en-US" sz="1000" dirty="0"/>
              <a:t>Router&gt; enable</a:t>
            </a:r>
          </a:p>
          <a:p>
            <a:r>
              <a:rPr lang="en-US" sz="1000" dirty="0"/>
              <a:t>Router# configure terminal</a:t>
            </a:r>
          </a:p>
          <a:p>
            <a:endParaRPr lang="en-US" sz="1000" dirty="0"/>
          </a:p>
          <a:p>
            <a:r>
              <a:rPr lang="en-US" sz="1000" dirty="0"/>
              <a:t>Router(config)# interface FastEthernet0/0</a:t>
            </a:r>
          </a:p>
          <a:p>
            <a:r>
              <a:rPr lang="en-US" sz="1000" dirty="0"/>
              <a:t>Router(config-if)# ip  address 192.168.1.1   255.255.255.0</a:t>
            </a:r>
          </a:p>
          <a:p>
            <a:r>
              <a:rPr lang="en-US" sz="1000" dirty="0"/>
              <a:t>Router(config-if)# no shutdown</a:t>
            </a:r>
          </a:p>
          <a:p>
            <a:r>
              <a:rPr lang="en-US" sz="1000" dirty="0"/>
              <a:t>Router(config-if)# exit</a:t>
            </a:r>
          </a:p>
          <a:p>
            <a:endParaRPr lang="en-US" sz="1000" dirty="0"/>
          </a:p>
          <a:p>
            <a:r>
              <a:rPr lang="en-US" sz="1000" dirty="0"/>
              <a:t>Router(config)# interface Serial0/0</a:t>
            </a:r>
          </a:p>
          <a:p>
            <a:r>
              <a:rPr lang="en-US" sz="1000" dirty="0"/>
              <a:t>Router(config-if)# ip  address 4.1.1.1   255.0.0.0</a:t>
            </a:r>
          </a:p>
          <a:p>
            <a:r>
              <a:rPr lang="en-US" sz="1000" dirty="0"/>
              <a:t>Router(config-if)# no shutdown</a:t>
            </a:r>
          </a:p>
          <a:p>
            <a:r>
              <a:rPr lang="en-US" sz="1000" dirty="0"/>
              <a:t>Router(config-if)# exit</a:t>
            </a:r>
          </a:p>
          <a:p>
            <a:endParaRPr lang="en-US" sz="1000" dirty="0"/>
          </a:p>
          <a:p>
            <a:r>
              <a:rPr lang="en-US" sz="1000" dirty="0"/>
              <a:t>Router(config)# interface Serial0/1</a:t>
            </a:r>
          </a:p>
          <a:p>
            <a:r>
              <a:rPr lang="en-US" sz="1000" dirty="0"/>
              <a:t>Router(config-if)# ip  address 1.1.1.1   255.0.0.0</a:t>
            </a:r>
          </a:p>
          <a:p>
            <a:r>
              <a:rPr lang="en-US" sz="1000" dirty="0"/>
              <a:t>Router(config-if)# no  shutdown</a:t>
            </a:r>
          </a:p>
          <a:p>
            <a:r>
              <a:rPr lang="en-US" sz="1000" dirty="0"/>
              <a:t>Router(config-if)# exit</a:t>
            </a:r>
          </a:p>
          <a:p>
            <a:endParaRPr lang="en-US" sz="1000" dirty="0"/>
          </a:p>
          <a:p>
            <a:r>
              <a:rPr lang="en-US" sz="1000" dirty="0"/>
              <a:t>Router(config)# router ospf 30</a:t>
            </a:r>
          </a:p>
          <a:p>
            <a:r>
              <a:rPr lang="en-US" sz="1000" dirty="0"/>
              <a:t>Router(config-router)# network   4.0.0.0     0.255.255.255  area 0</a:t>
            </a:r>
          </a:p>
          <a:p>
            <a:r>
              <a:rPr lang="en-US" sz="1000" dirty="0"/>
              <a:t>Router(config-router)# network   1.0.0.0     0.255.255.255  area 0</a:t>
            </a:r>
          </a:p>
          <a:p>
            <a:r>
              <a:rPr lang="en-US" sz="1000" dirty="0"/>
              <a:t>Router(config-router)# network   192.168.1.0     0.0.0.255  area 0</a:t>
            </a:r>
          </a:p>
          <a:p>
            <a:r>
              <a:rPr lang="en-US" sz="1000" dirty="0"/>
              <a:t>Router(config-router)# exit</a:t>
            </a:r>
          </a:p>
          <a:p>
            <a:endParaRPr lang="en-PK" dirty="0"/>
          </a:p>
        </p:txBody>
      </p:sp>
      <p:sp>
        <p:nvSpPr>
          <p:cNvPr id="8" name="TextBox 7">
            <a:extLst>
              <a:ext uri="{FF2B5EF4-FFF2-40B4-BE49-F238E27FC236}">
                <a16:creationId xmlns:a16="http://schemas.microsoft.com/office/drawing/2014/main" id="{429F55F9-856C-6400-48D1-5792440EB431}"/>
              </a:ext>
            </a:extLst>
          </p:cNvPr>
          <p:cNvSpPr txBox="1"/>
          <p:nvPr/>
        </p:nvSpPr>
        <p:spPr>
          <a:xfrm>
            <a:off x="4995333" y="609290"/>
            <a:ext cx="4038600" cy="3847207"/>
          </a:xfrm>
          <a:prstGeom prst="rect">
            <a:avLst/>
          </a:prstGeom>
          <a:noFill/>
        </p:spPr>
        <p:txBody>
          <a:bodyPr wrap="square">
            <a:spAutoFit/>
          </a:bodyPr>
          <a:lstStyle/>
          <a:p>
            <a:r>
              <a:rPr lang="en-US" b="1" dirty="0"/>
              <a:t>R2</a:t>
            </a:r>
          </a:p>
          <a:p>
            <a:r>
              <a:rPr lang="en-US" sz="1000" dirty="0"/>
              <a:t>Router&gt; enable</a:t>
            </a:r>
          </a:p>
          <a:p>
            <a:r>
              <a:rPr lang="en-US" sz="1000" dirty="0"/>
              <a:t>Router# configure terminal</a:t>
            </a:r>
          </a:p>
          <a:p>
            <a:endParaRPr lang="en-US" sz="1000" dirty="0"/>
          </a:p>
          <a:p>
            <a:r>
              <a:rPr lang="en-US" sz="1000" dirty="0"/>
              <a:t>Router(config)# interface FastEthernet0/0</a:t>
            </a:r>
          </a:p>
          <a:p>
            <a:r>
              <a:rPr lang="en-US" sz="1000" dirty="0"/>
              <a:t>Router(config-if)# ip  address 192.168.2.1   255.255.255.0</a:t>
            </a:r>
          </a:p>
          <a:p>
            <a:r>
              <a:rPr lang="en-US" sz="1000" dirty="0"/>
              <a:t>Router(config-if)# no shutdown</a:t>
            </a:r>
          </a:p>
          <a:p>
            <a:r>
              <a:rPr lang="en-US" sz="1000" dirty="0"/>
              <a:t>Router(config-if)# exit</a:t>
            </a:r>
          </a:p>
          <a:p>
            <a:endParaRPr lang="en-US" sz="1000" dirty="0"/>
          </a:p>
          <a:p>
            <a:r>
              <a:rPr lang="en-US" sz="1000" dirty="0"/>
              <a:t>Router(config)# interface Serial0/0</a:t>
            </a:r>
          </a:p>
          <a:p>
            <a:r>
              <a:rPr lang="en-US" sz="1000" dirty="0"/>
              <a:t>Router(config-if)# ip  address 4.1.1.2   255.0.0.0</a:t>
            </a:r>
          </a:p>
          <a:p>
            <a:r>
              <a:rPr lang="en-US" sz="1000" dirty="0"/>
              <a:t>Router(config-if)# no shutdown</a:t>
            </a:r>
          </a:p>
          <a:p>
            <a:r>
              <a:rPr lang="en-US" sz="1000" dirty="0"/>
              <a:t>Router(config-if)# exit</a:t>
            </a:r>
          </a:p>
          <a:p>
            <a:endParaRPr lang="en-US" sz="1000" dirty="0"/>
          </a:p>
          <a:p>
            <a:r>
              <a:rPr lang="en-US" sz="1000" dirty="0"/>
              <a:t>Router(config)# interface Serial0/3</a:t>
            </a:r>
          </a:p>
          <a:p>
            <a:r>
              <a:rPr lang="en-US" sz="1000" dirty="0"/>
              <a:t>Router(config-if)# ip  address 3.1.1.1   255.0.0.0</a:t>
            </a:r>
          </a:p>
          <a:p>
            <a:r>
              <a:rPr lang="en-US" sz="1000" dirty="0"/>
              <a:t>Router(config-if)# no  shutdown</a:t>
            </a:r>
          </a:p>
          <a:p>
            <a:r>
              <a:rPr lang="en-US" sz="1000" dirty="0"/>
              <a:t>Router(config-if)# exit</a:t>
            </a:r>
          </a:p>
          <a:p>
            <a:endParaRPr lang="en-US" sz="1000" dirty="0"/>
          </a:p>
          <a:p>
            <a:r>
              <a:rPr lang="en-US" sz="1000" dirty="0"/>
              <a:t>Router(config)# router ospf 30</a:t>
            </a:r>
          </a:p>
          <a:p>
            <a:r>
              <a:rPr lang="en-US" sz="1000" dirty="0"/>
              <a:t>Router(config-router)# network   192.168.2.0     0.0.0.255   area 0</a:t>
            </a:r>
          </a:p>
          <a:p>
            <a:r>
              <a:rPr lang="en-US" sz="1000" dirty="0"/>
              <a:t>Router(config-router)# network   4.0.0.0     0.255.255.255   area 0</a:t>
            </a:r>
          </a:p>
          <a:p>
            <a:r>
              <a:rPr lang="en-US" sz="1000" dirty="0"/>
              <a:t>Router(config-router)# network   3.0.0.0     0.255.255.255   area 0</a:t>
            </a:r>
          </a:p>
          <a:p>
            <a:r>
              <a:rPr lang="en-US" sz="1000" dirty="0"/>
              <a:t>Router(config-router)# exit</a:t>
            </a:r>
          </a:p>
        </p:txBody>
      </p:sp>
      <p:sp>
        <p:nvSpPr>
          <p:cNvPr id="12" name="TextBox 11">
            <a:extLst>
              <a:ext uri="{FF2B5EF4-FFF2-40B4-BE49-F238E27FC236}">
                <a16:creationId xmlns:a16="http://schemas.microsoft.com/office/drawing/2014/main" id="{84997788-13A2-652F-B964-AA0FDCBF3590}"/>
              </a:ext>
            </a:extLst>
          </p:cNvPr>
          <p:cNvSpPr txBox="1"/>
          <p:nvPr/>
        </p:nvSpPr>
        <p:spPr>
          <a:xfrm>
            <a:off x="1363526" y="4543336"/>
            <a:ext cx="2285607" cy="600164"/>
          </a:xfrm>
          <a:prstGeom prst="rect">
            <a:avLst/>
          </a:prstGeom>
          <a:noFill/>
        </p:spPr>
        <p:txBody>
          <a:bodyPr wrap="square">
            <a:spAutoFit/>
          </a:bodyPr>
          <a:lstStyle/>
          <a:p>
            <a:r>
              <a:rPr lang="en-US" sz="1100" dirty="0">
                <a:highlight>
                  <a:srgbClr val="00FF00"/>
                </a:highlight>
              </a:rPr>
              <a:t>Check Result :	</a:t>
            </a:r>
          </a:p>
          <a:p>
            <a:r>
              <a:rPr lang="en-US" sz="1100" dirty="0">
                <a:highlight>
                  <a:srgbClr val="00FF00"/>
                </a:highlight>
              </a:rPr>
              <a:t>show   ip   route   ospf</a:t>
            </a:r>
          </a:p>
          <a:p>
            <a:r>
              <a:rPr lang="en-US" sz="1100" dirty="0">
                <a:highlight>
                  <a:srgbClr val="00FF00"/>
                </a:highlight>
              </a:rPr>
              <a:t>show   ip   route</a:t>
            </a:r>
          </a:p>
        </p:txBody>
      </p:sp>
      <p:sp>
        <p:nvSpPr>
          <p:cNvPr id="6" name="TextBox 5">
            <a:extLst>
              <a:ext uri="{FF2B5EF4-FFF2-40B4-BE49-F238E27FC236}">
                <a16:creationId xmlns:a16="http://schemas.microsoft.com/office/drawing/2014/main" id="{353EAB11-591A-09B0-9FBC-DD2514C5C636}"/>
              </a:ext>
            </a:extLst>
          </p:cNvPr>
          <p:cNvSpPr txBox="1"/>
          <p:nvPr/>
        </p:nvSpPr>
        <p:spPr>
          <a:xfrm>
            <a:off x="4460874" y="4564813"/>
            <a:ext cx="2694517" cy="600164"/>
          </a:xfrm>
          <a:prstGeom prst="rect">
            <a:avLst/>
          </a:prstGeom>
          <a:noFill/>
        </p:spPr>
        <p:txBody>
          <a:bodyPr wrap="square">
            <a:spAutoFit/>
          </a:bodyPr>
          <a:lstStyle/>
          <a:p>
            <a:r>
              <a:rPr lang="en-US" sz="1100" dirty="0">
                <a:highlight>
                  <a:srgbClr val="00FF00"/>
                </a:highlight>
              </a:rPr>
              <a:t>Check Result :	</a:t>
            </a:r>
          </a:p>
          <a:p>
            <a:r>
              <a:rPr lang="en-US" sz="1100" dirty="0">
                <a:highlight>
                  <a:srgbClr val="00FF00"/>
                </a:highlight>
              </a:rPr>
              <a:t>show   ip   ospf   neighbor</a:t>
            </a:r>
          </a:p>
          <a:p>
            <a:r>
              <a:rPr lang="en-US" sz="1100" dirty="0">
                <a:highlight>
                  <a:srgbClr val="00FF00"/>
                </a:highlight>
              </a:rPr>
              <a:t>show   ip   ospf   database</a:t>
            </a:r>
          </a:p>
        </p:txBody>
      </p:sp>
    </p:spTree>
    <p:extLst>
      <p:ext uri="{BB962C8B-B14F-4D97-AF65-F5344CB8AC3E}">
        <p14:creationId xmlns:p14="http://schemas.microsoft.com/office/powerpoint/2010/main" val="2462590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D8664-B1B2-C9B2-A5E9-5BEAE712474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3558065-3535-B336-ECAC-5335F3CD715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3084206-FE11-90B8-7AEA-6826DBC7CB4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212357C-12B2-D0E1-8BE3-E540B9FC00B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4388061-65C3-415E-480E-708C6ABC733A}"/>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E9111A1F-0CFF-648E-AFBA-E2275B0D7C6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034C2450-FD88-82F2-ACF6-FB704D6EC8ED}"/>
              </a:ext>
            </a:extLst>
          </p:cNvPr>
          <p:cNvSpPr txBox="1"/>
          <p:nvPr/>
        </p:nvSpPr>
        <p:spPr>
          <a:xfrm>
            <a:off x="228600" y="609290"/>
            <a:ext cx="4343400" cy="4062651"/>
          </a:xfrm>
          <a:prstGeom prst="rect">
            <a:avLst/>
          </a:prstGeom>
          <a:noFill/>
        </p:spPr>
        <p:txBody>
          <a:bodyPr wrap="square">
            <a:spAutoFit/>
          </a:bodyPr>
          <a:lstStyle/>
          <a:p>
            <a:r>
              <a:rPr lang="en-US" b="1" dirty="0"/>
              <a:t>R3</a:t>
            </a:r>
          </a:p>
          <a:p>
            <a:r>
              <a:rPr lang="en-US" sz="1000" dirty="0"/>
              <a:t>Router&gt; enable</a:t>
            </a:r>
          </a:p>
          <a:p>
            <a:r>
              <a:rPr lang="en-US" sz="1000" dirty="0"/>
              <a:t>Router# configure terminal</a:t>
            </a:r>
          </a:p>
          <a:p>
            <a:endParaRPr lang="en-US" sz="1000" dirty="0"/>
          </a:p>
          <a:p>
            <a:r>
              <a:rPr lang="en-US" sz="1000" dirty="0"/>
              <a:t>Router(config)# interface FastEthernet0/0</a:t>
            </a:r>
          </a:p>
          <a:p>
            <a:r>
              <a:rPr lang="en-US" sz="1000" dirty="0"/>
              <a:t>Router(config-if)# ip  address 192.168.3.1   255.255.255.0</a:t>
            </a:r>
          </a:p>
          <a:p>
            <a:r>
              <a:rPr lang="en-US" sz="1000" dirty="0"/>
              <a:t>Router(config-if)# no  shutdown</a:t>
            </a:r>
          </a:p>
          <a:p>
            <a:r>
              <a:rPr lang="en-US" sz="1000" dirty="0"/>
              <a:t>Router(config-if)# exit</a:t>
            </a:r>
          </a:p>
          <a:p>
            <a:endParaRPr lang="en-US" sz="1000" dirty="0"/>
          </a:p>
          <a:p>
            <a:r>
              <a:rPr lang="en-US" sz="1000" dirty="0"/>
              <a:t>Router(config)# interface Serial0/0</a:t>
            </a:r>
          </a:p>
          <a:p>
            <a:r>
              <a:rPr lang="en-US" sz="1000" dirty="0"/>
              <a:t>Router(config-if)# ip  address 1.1.1.2   255.0.0.0</a:t>
            </a:r>
          </a:p>
          <a:p>
            <a:r>
              <a:rPr lang="en-US" sz="1000" dirty="0"/>
              <a:t>Router(config-if)# no  shutdown</a:t>
            </a:r>
          </a:p>
          <a:p>
            <a:r>
              <a:rPr lang="en-US" sz="1000" dirty="0"/>
              <a:t>Router(config-if)# exit</a:t>
            </a:r>
          </a:p>
          <a:p>
            <a:endParaRPr lang="en-US" sz="1000" dirty="0"/>
          </a:p>
          <a:p>
            <a:r>
              <a:rPr lang="en-US" sz="1000" dirty="0"/>
              <a:t>Router(config)# interface Serial0/2</a:t>
            </a:r>
          </a:p>
          <a:p>
            <a:r>
              <a:rPr lang="en-US" sz="1000" dirty="0"/>
              <a:t>Router(config-if)# ip  address 2.1.1.1   255.0.0.0</a:t>
            </a:r>
          </a:p>
          <a:p>
            <a:r>
              <a:rPr lang="en-US" sz="1000" dirty="0"/>
              <a:t>Router(config-if)# no  shutdown</a:t>
            </a:r>
          </a:p>
          <a:p>
            <a:r>
              <a:rPr lang="en-US" sz="1000" dirty="0"/>
              <a:t>Router(config-if)# exit</a:t>
            </a:r>
          </a:p>
          <a:p>
            <a:endParaRPr lang="en-US" sz="1000" dirty="0"/>
          </a:p>
          <a:p>
            <a:r>
              <a:rPr lang="en-US" sz="1000" dirty="0"/>
              <a:t>Router(config)# router ospf  30</a:t>
            </a:r>
          </a:p>
          <a:p>
            <a:r>
              <a:rPr lang="en-US" sz="1000" dirty="0"/>
              <a:t>Router(config-router)# network   1.0.0.0    0.255.255.255   area 0</a:t>
            </a:r>
          </a:p>
          <a:p>
            <a:r>
              <a:rPr lang="en-US" sz="1000" dirty="0"/>
              <a:t>Router(config-router)# network   2.0.0.0    0.255.255.255   area 0</a:t>
            </a:r>
          </a:p>
          <a:p>
            <a:r>
              <a:rPr lang="en-US" sz="1000" dirty="0"/>
              <a:t>Router(config-router)# network   192.168.3.0    0.0.0.255   area 0</a:t>
            </a:r>
          </a:p>
          <a:p>
            <a:r>
              <a:rPr lang="en-US" sz="1000" dirty="0"/>
              <a:t>Router(config-router)# exit</a:t>
            </a:r>
          </a:p>
          <a:p>
            <a:endParaRPr lang="en-PK" dirty="0"/>
          </a:p>
        </p:txBody>
      </p:sp>
      <p:sp>
        <p:nvSpPr>
          <p:cNvPr id="8" name="TextBox 7">
            <a:extLst>
              <a:ext uri="{FF2B5EF4-FFF2-40B4-BE49-F238E27FC236}">
                <a16:creationId xmlns:a16="http://schemas.microsoft.com/office/drawing/2014/main" id="{D95106BB-601C-1285-2954-CFA4C5F38568}"/>
              </a:ext>
            </a:extLst>
          </p:cNvPr>
          <p:cNvSpPr txBox="1"/>
          <p:nvPr/>
        </p:nvSpPr>
        <p:spPr>
          <a:xfrm>
            <a:off x="4995333" y="609290"/>
            <a:ext cx="4038600" cy="3847207"/>
          </a:xfrm>
          <a:prstGeom prst="rect">
            <a:avLst/>
          </a:prstGeom>
          <a:noFill/>
        </p:spPr>
        <p:txBody>
          <a:bodyPr wrap="square">
            <a:spAutoFit/>
          </a:bodyPr>
          <a:lstStyle/>
          <a:p>
            <a:r>
              <a:rPr lang="en-US" b="1" dirty="0"/>
              <a:t>R4</a:t>
            </a:r>
          </a:p>
          <a:p>
            <a:r>
              <a:rPr lang="en-US" sz="1000" dirty="0"/>
              <a:t>Router&gt; enable</a:t>
            </a:r>
          </a:p>
          <a:p>
            <a:r>
              <a:rPr lang="en-US" sz="1000" dirty="0"/>
              <a:t>Router# configure terminal</a:t>
            </a:r>
          </a:p>
          <a:p>
            <a:endParaRPr lang="en-US" sz="1000" dirty="0"/>
          </a:p>
          <a:p>
            <a:r>
              <a:rPr lang="en-US" sz="1000" dirty="0"/>
              <a:t>Router(config)# interface FastEthernet0/0</a:t>
            </a:r>
          </a:p>
          <a:p>
            <a:r>
              <a:rPr lang="en-US" sz="1000" dirty="0"/>
              <a:t>Router(config-if)# ip  address 192.168.4.1   255.255.255.0</a:t>
            </a:r>
          </a:p>
          <a:p>
            <a:r>
              <a:rPr lang="en-US" sz="1000" dirty="0"/>
              <a:t>Router(config-if)# no  shutdown</a:t>
            </a:r>
          </a:p>
          <a:p>
            <a:r>
              <a:rPr lang="en-US" sz="1000" dirty="0"/>
              <a:t>Router(config-if)# exit</a:t>
            </a:r>
          </a:p>
          <a:p>
            <a:endParaRPr lang="en-US" sz="1000" dirty="0"/>
          </a:p>
          <a:p>
            <a:r>
              <a:rPr lang="en-US" sz="1000" dirty="0"/>
              <a:t>Router(config)# interface Serial0/0</a:t>
            </a:r>
          </a:p>
          <a:p>
            <a:r>
              <a:rPr lang="en-US" sz="1000" dirty="0"/>
              <a:t>Router(config-if)# ip  address 3.1.1.2   255.0.0.0</a:t>
            </a:r>
          </a:p>
          <a:p>
            <a:r>
              <a:rPr lang="en-US" sz="1000" dirty="0"/>
              <a:t>Router(config-if)# no shutdown</a:t>
            </a:r>
          </a:p>
          <a:p>
            <a:r>
              <a:rPr lang="en-US" sz="1000" dirty="0"/>
              <a:t>Router(config-if)# exit</a:t>
            </a:r>
          </a:p>
          <a:p>
            <a:endParaRPr lang="en-US" sz="1000" dirty="0"/>
          </a:p>
          <a:p>
            <a:r>
              <a:rPr lang="en-US" sz="1000" dirty="0"/>
              <a:t>Router(config)# interface Serial0/2</a:t>
            </a:r>
          </a:p>
          <a:p>
            <a:r>
              <a:rPr lang="en-US" sz="1000" dirty="0"/>
              <a:t>Router(config-if)# ip  address 2.1.1.2   255.0.0.0</a:t>
            </a:r>
          </a:p>
          <a:p>
            <a:r>
              <a:rPr lang="en-US" sz="1000" dirty="0"/>
              <a:t>Router(config-if)# no shutdown</a:t>
            </a:r>
          </a:p>
          <a:p>
            <a:r>
              <a:rPr lang="en-US" sz="1000" dirty="0"/>
              <a:t>Router(config-if)# exit</a:t>
            </a:r>
          </a:p>
          <a:p>
            <a:endParaRPr lang="en-US" sz="1000" dirty="0"/>
          </a:p>
          <a:p>
            <a:r>
              <a:rPr lang="en-US" sz="1000" dirty="0"/>
              <a:t>Router(config)# router ospf  30</a:t>
            </a:r>
          </a:p>
          <a:p>
            <a:r>
              <a:rPr lang="en-US" sz="1000" dirty="0"/>
              <a:t>Router(config-router)# network   192.168.4.0     0.0.0.255   area 0</a:t>
            </a:r>
          </a:p>
          <a:p>
            <a:r>
              <a:rPr lang="en-US" sz="1000" dirty="0"/>
              <a:t>Router(config-router)# network   3.0.0.0     0.255.255.255   area 0</a:t>
            </a:r>
          </a:p>
          <a:p>
            <a:r>
              <a:rPr lang="en-US" sz="1000" dirty="0"/>
              <a:t>Router(config-router)# network   2.0.0.0     0.255.255.255   area 0</a:t>
            </a:r>
          </a:p>
          <a:p>
            <a:r>
              <a:rPr lang="en-US" sz="1000" dirty="0"/>
              <a:t>Router(config-router)# exit</a:t>
            </a:r>
          </a:p>
        </p:txBody>
      </p:sp>
      <p:sp>
        <p:nvSpPr>
          <p:cNvPr id="7" name="TextBox 6">
            <a:extLst>
              <a:ext uri="{FF2B5EF4-FFF2-40B4-BE49-F238E27FC236}">
                <a16:creationId xmlns:a16="http://schemas.microsoft.com/office/drawing/2014/main" id="{6BC843FE-3159-C193-ED0D-932AA46F0F63}"/>
              </a:ext>
            </a:extLst>
          </p:cNvPr>
          <p:cNvSpPr txBox="1"/>
          <p:nvPr/>
        </p:nvSpPr>
        <p:spPr>
          <a:xfrm>
            <a:off x="1363526" y="4543336"/>
            <a:ext cx="2319867" cy="600164"/>
          </a:xfrm>
          <a:prstGeom prst="rect">
            <a:avLst/>
          </a:prstGeom>
          <a:noFill/>
        </p:spPr>
        <p:txBody>
          <a:bodyPr wrap="square">
            <a:spAutoFit/>
          </a:bodyPr>
          <a:lstStyle/>
          <a:p>
            <a:r>
              <a:rPr lang="en-US" sz="1100" dirty="0">
                <a:highlight>
                  <a:srgbClr val="00FF00"/>
                </a:highlight>
              </a:rPr>
              <a:t>Check Result :	</a:t>
            </a:r>
          </a:p>
          <a:p>
            <a:r>
              <a:rPr lang="en-US" sz="1100" dirty="0">
                <a:highlight>
                  <a:srgbClr val="00FF00"/>
                </a:highlight>
              </a:rPr>
              <a:t>show   ip   route   ospf</a:t>
            </a:r>
          </a:p>
          <a:p>
            <a:r>
              <a:rPr lang="en-US" sz="1100" dirty="0">
                <a:highlight>
                  <a:srgbClr val="00FF00"/>
                </a:highlight>
              </a:rPr>
              <a:t>show   ip   route</a:t>
            </a:r>
          </a:p>
        </p:txBody>
      </p:sp>
      <p:sp>
        <p:nvSpPr>
          <p:cNvPr id="12" name="TextBox 11">
            <a:extLst>
              <a:ext uri="{FF2B5EF4-FFF2-40B4-BE49-F238E27FC236}">
                <a16:creationId xmlns:a16="http://schemas.microsoft.com/office/drawing/2014/main" id="{F5D65B2E-E157-929F-E56F-A1E1CC39E3E4}"/>
              </a:ext>
            </a:extLst>
          </p:cNvPr>
          <p:cNvSpPr txBox="1"/>
          <p:nvPr/>
        </p:nvSpPr>
        <p:spPr>
          <a:xfrm>
            <a:off x="4457699" y="4554174"/>
            <a:ext cx="2379134" cy="600164"/>
          </a:xfrm>
          <a:prstGeom prst="rect">
            <a:avLst/>
          </a:prstGeom>
          <a:noFill/>
        </p:spPr>
        <p:txBody>
          <a:bodyPr wrap="square">
            <a:spAutoFit/>
          </a:bodyPr>
          <a:lstStyle/>
          <a:p>
            <a:r>
              <a:rPr lang="en-US" sz="1100" dirty="0">
                <a:highlight>
                  <a:srgbClr val="00FF00"/>
                </a:highlight>
              </a:rPr>
              <a:t>Check Result :	</a:t>
            </a:r>
          </a:p>
          <a:p>
            <a:r>
              <a:rPr lang="en-US" sz="1100" dirty="0">
                <a:highlight>
                  <a:srgbClr val="00FF00"/>
                </a:highlight>
              </a:rPr>
              <a:t>show   ip   ospf   neighbor</a:t>
            </a:r>
          </a:p>
          <a:p>
            <a:r>
              <a:rPr lang="en-US" sz="1100" dirty="0">
                <a:highlight>
                  <a:srgbClr val="00FF00"/>
                </a:highlight>
              </a:rPr>
              <a:t>show   ip   ospf   database</a:t>
            </a:r>
          </a:p>
        </p:txBody>
      </p:sp>
    </p:spTree>
    <p:extLst>
      <p:ext uri="{BB962C8B-B14F-4D97-AF65-F5344CB8AC3E}">
        <p14:creationId xmlns:p14="http://schemas.microsoft.com/office/powerpoint/2010/main" val="3718371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163F-1A4D-54D2-AEFB-C2CB4AC844B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0C69993-8412-E3CC-3857-B9ED150FC8F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AF894A5-0871-0216-BEFB-06BD58D116B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841C3ED-FF3C-906D-77C9-66F1CBA7B92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CC6B8BE-4659-1995-3D86-8EA7017A7AF0}"/>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249712F6-532E-8140-7E91-2CB1F8E677E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870309F5-4D31-492D-5CCF-342E9246AB6F}"/>
              </a:ext>
            </a:extLst>
          </p:cNvPr>
          <p:cNvSpPr txBox="1"/>
          <p:nvPr/>
        </p:nvSpPr>
        <p:spPr>
          <a:xfrm>
            <a:off x="228600" y="459035"/>
            <a:ext cx="7823200" cy="4385816"/>
          </a:xfrm>
          <a:prstGeom prst="rect">
            <a:avLst/>
          </a:prstGeom>
          <a:noFill/>
        </p:spPr>
        <p:txBody>
          <a:bodyPr wrap="square">
            <a:spAutoFit/>
          </a:bodyPr>
          <a:lstStyle/>
          <a:p>
            <a:endParaRPr lang="en-US" sz="900" b="1" dirty="0">
              <a:highlight>
                <a:srgbClr val="00FFFF"/>
              </a:highlight>
            </a:endParaRPr>
          </a:p>
          <a:p>
            <a:endParaRPr lang="en-US" sz="900" b="1" dirty="0">
              <a:highlight>
                <a:srgbClr val="00FFFF"/>
              </a:highlight>
            </a:endParaRPr>
          </a:p>
          <a:p>
            <a:r>
              <a:rPr lang="en-US" sz="900" b="1" dirty="0">
                <a:highlight>
                  <a:srgbClr val="00FFFF"/>
                </a:highlight>
              </a:rPr>
              <a:t>#show ip ospf database</a:t>
            </a:r>
          </a:p>
          <a:p>
            <a:endParaRPr lang="en-US" sz="900" dirty="0"/>
          </a:p>
          <a:p>
            <a:r>
              <a:rPr lang="en-US" sz="900" dirty="0"/>
              <a:t>you see information about OSPF LSAs (Link State Advertisements). Each LSA is like a "piece of information" that routers share with each other about the network.</a:t>
            </a:r>
          </a:p>
          <a:p>
            <a:endParaRPr lang="en-US" sz="900" dirty="0"/>
          </a:p>
          <a:p>
            <a:r>
              <a:rPr lang="en-PK" sz="900" dirty="0"/>
              <a:t>🔹 </a:t>
            </a:r>
            <a:r>
              <a:rPr lang="en-US" sz="900" dirty="0"/>
              <a:t>Link ID</a:t>
            </a:r>
          </a:p>
          <a:p>
            <a:pPr marL="171450" indent="-171450">
              <a:buFont typeface="Wingdings" panose="05000000000000000000" pitchFamily="2" charset="2"/>
              <a:buChar char="ü"/>
            </a:pPr>
            <a:r>
              <a:rPr lang="en-US" sz="900" dirty="0"/>
              <a:t>Think of this as the "name" of the network or link being advertised.</a:t>
            </a:r>
          </a:p>
          <a:p>
            <a:pPr marL="171450" indent="-171450">
              <a:buFont typeface="Wingdings" panose="05000000000000000000" pitchFamily="2" charset="2"/>
              <a:buChar char="ü"/>
            </a:pPr>
            <a:r>
              <a:rPr lang="en-US" sz="900" dirty="0"/>
              <a:t>It could be a router ID, a network ID, or something else depending on the LSA type.</a:t>
            </a:r>
          </a:p>
          <a:p>
            <a:endParaRPr lang="en-US" sz="900" dirty="0"/>
          </a:p>
          <a:p>
            <a:r>
              <a:rPr lang="en-US" sz="900" dirty="0"/>
              <a:t>🔹 ADV Router (Advertising Router)</a:t>
            </a:r>
          </a:p>
          <a:p>
            <a:pPr marL="171450" indent="-171450">
              <a:buFont typeface="Wingdings" panose="05000000000000000000" pitchFamily="2" charset="2"/>
              <a:buChar char="ü"/>
            </a:pPr>
            <a:r>
              <a:rPr lang="en-US" sz="900" dirty="0"/>
              <a:t>This is the router ID of the router that created and sent this LSA.</a:t>
            </a:r>
          </a:p>
          <a:p>
            <a:pPr marL="171450" indent="-171450">
              <a:buFont typeface="Wingdings" panose="05000000000000000000" pitchFamily="2" charset="2"/>
              <a:buChar char="ü"/>
            </a:pPr>
            <a:r>
              <a:rPr lang="en-US" sz="900" dirty="0"/>
              <a:t>It tells you who is the author of this information.</a:t>
            </a:r>
          </a:p>
          <a:p>
            <a:endParaRPr lang="en-US" sz="900" dirty="0"/>
          </a:p>
          <a:p>
            <a:r>
              <a:rPr lang="en-US" sz="900" dirty="0"/>
              <a:t>🔹 Age</a:t>
            </a:r>
          </a:p>
          <a:p>
            <a:r>
              <a:rPr lang="en-US" sz="900" dirty="0"/>
              <a:t>How old this information is (in seconds).</a:t>
            </a:r>
          </a:p>
          <a:p>
            <a:pPr marL="171450" indent="-171450">
              <a:buFont typeface="Wingdings" panose="05000000000000000000" pitchFamily="2" charset="2"/>
              <a:buChar char="ü"/>
            </a:pPr>
            <a:r>
              <a:rPr lang="en-US" sz="900" dirty="0"/>
              <a:t>LSAs "age out" after 1800 seconds (30 minutes).</a:t>
            </a:r>
          </a:p>
          <a:p>
            <a:pPr marL="171450" indent="-171450">
              <a:buFont typeface="Wingdings" panose="05000000000000000000" pitchFamily="2" charset="2"/>
              <a:buChar char="ü"/>
            </a:pPr>
            <a:r>
              <a:rPr lang="en-US" sz="900" dirty="0"/>
              <a:t>If it gets too old, it is refreshed or removed.</a:t>
            </a:r>
          </a:p>
          <a:p>
            <a:endParaRPr lang="en-US" sz="900" dirty="0"/>
          </a:p>
          <a:p>
            <a:r>
              <a:rPr lang="en-PK" sz="900" dirty="0"/>
              <a:t>🔹 </a:t>
            </a:r>
            <a:r>
              <a:rPr lang="en-US" sz="900" dirty="0"/>
              <a:t>Seq# (Sequence Number)</a:t>
            </a:r>
          </a:p>
          <a:p>
            <a:r>
              <a:rPr lang="en-US" sz="900" dirty="0"/>
              <a:t>This is like a version number of the LSA.</a:t>
            </a:r>
          </a:p>
          <a:p>
            <a:pPr marL="171450" indent="-171450">
              <a:buFont typeface="Wingdings" panose="05000000000000000000" pitchFamily="2" charset="2"/>
              <a:buChar char="ü"/>
            </a:pPr>
            <a:r>
              <a:rPr lang="en-US" sz="900" dirty="0"/>
              <a:t>Newer LSAs have a higher sequence number.</a:t>
            </a:r>
          </a:p>
          <a:p>
            <a:pPr marL="171450" indent="-171450">
              <a:buFont typeface="Wingdings" panose="05000000000000000000" pitchFamily="2" charset="2"/>
              <a:buChar char="ü"/>
            </a:pPr>
            <a:r>
              <a:rPr lang="en-US" sz="900" dirty="0"/>
              <a:t>Routers use this to know which copy of the info is the latest.</a:t>
            </a:r>
          </a:p>
          <a:p>
            <a:endParaRPr lang="en-US" sz="900" dirty="0"/>
          </a:p>
          <a:p>
            <a:r>
              <a:rPr lang="en-US" sz="900" dirty="0"/>
              <a:t>🔹 Checksum</a:t>
            </a:r>
          </a:p>
          <a:p>
            <a:pPr marL="171450" indent="-171450">
              <a:buFont typeface="Wingdings" panose="05000000000000000000" pitchFamily="2" charset="2"/>
              <a:buChar char="ü"/>
            </a:pPr>
            <a:r>
              <a:rPr lang="en-US" sz="900" dirty="0"/>
              <a:t>This is a kind of "error check" to make sure the LSA wasn’t damaged while traveling through the network.</a:t>
            </a:r>
          </a:p>
          <a:p>
            <a:endParaRPr lang="en-US" sz="900" dirty="0"/>
          </a:p>
          <a:p>
            <a:r>
              <a:rPr lang="en-US" sz="900" dirty="0"/>
              <a:t>🔹 Length</a:t>
            </a:r>
          </a:p>
          <a:p>
            <a:pPr marL="171450" indent="-171450">
              <a:buFont typeface="Wingdings" panose="05000000000000000000" pitchFamily="2" charset="2"/>
              <a:buChar char="ü"/>
            </a:pPr>
            <a:r>
              <a:rPr lang="en-US" sz="900" dirty="0"/>
              <a:t>This shows how big the LSA is (size in bytes).</a:t>
            </a:r>
          </a:p>
          <a:p>
            <a:pPr marL="171450" indent="-171450">
              <a:buFont typeface="Wingdings" panose="05000000000000000000" pitchFamily="2" charset="2"/>
              <a:buChar char="ü"/>
            </a:pPr>
            <a:r>
              <a:rPr lang="en-US" sz="900" dirty="0"/>
              <a:t>Some LSAs have more details, so they are longer.</a:t>
            </a:r>
            <a:endParaRPr lang="en-PK" sz="900" dirty="0"/>
          </a:p>
        </p:txBody>
      </p:sp>
    </p:spTree>
    <p:extLst>
      <p:ext uri="{BB962C8B-B14F-4D97-AF65-F5344CB8AC3E}">
        <p14:creationId xmlns:p14="http://schemas.microsoft.com/office/powerpoint/2010/main" val="35085708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A6C34-45D8-E7AE-C834-87E4E55278D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BFD286C-1EFE-F69F-37D9-E17F0E09E63B}"/>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9" name="TextBox 8">
            <a:extLst>
              <a:ext uri="{FF2B5EF4-FFF2-40B4-BE49-F238E27FC236}">
                <a16:creationId xmlns:a16="http://schemas.microsoft.com/office/drawing/2014/main" id="{303282AF-17FE-0B44-E70E-E89FA6D14DC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E5ABAD28-6AE2-EAA9-F0EA-D65BF98A3BA8}"/>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Configure and Verify Single Area OSPF </a:t>
            </a:r>
          </a:p>
        </p:txBody>
      </p:sp>
      <p:sp>
        <p:nvSpPr>
          <p:cNvPr id="17" name="TextBox 16">
            <a:extLst>
              <a:ext uri="{FF2B5EF4-FFF2-40B4-BE49-F238E27FC236}">
                <a16:creationId xmlns:a16="http://schemas.microsoft.com/office/drawing/2014/main" id="{847BCC3E-83F1-1B93-6B3A-5A7629E59AEF}"/>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38B814C0-6645-2485-C1BD-5D70D7339561}"/>
              </a:ext>
            </a:extLst>
          </p:cNvPr>
          <p:cNvSpPr txBox="1"/>
          <p:nvPr/>
        </p:nvSpPr>
        <p:spPr>
          <a:xfrm>
            <a:off x="228600" y="459035"/>
            <a:ext cx="7823200" cy="3000821"/>
          </a:xfrm>
          <a:prstGeom prst="rect">
            <a:avLst/>
          </a:prstGeom>
          <a:noFill/>
        </p:spPr>
        <p:txBody>
          <a:bodyPr wrap="square">
            <a:spAutoFit/>
          </a:bodyPr>
          <a:lstStyle/>
          <a:p>
            <a:endParaRPr lang="en-US" sz="900" b="1" dirty="0">
              <a:highlight>
                <a:srgbClr val="00FFFF"/>
              </a:highlight>
            </a:endParaRPr>
          </a:p>
          <a:p>
            <a:endParaRPr lang="en-US" sz="900" b="1" dirty="0">
              <a:highlight>
                <a:srgbClr val="00FFFF"/>
              </a:highlight>
            </a:endParaRPr>
          </a:p>
          <a:p>
            <a:r>
              <a:rPr lang="en-US" sz="900" b="1" dirty="0">
                <a:highlight>
                  <a:srgbClr val="00FFFF"/>
                </a:highlight>
              </a:rPr>
              <a:t>LSA = Link State Advertisement</a:t>
            </a:r>
            <a:endParaRPr lang="en-US" sz="900" dirty="0"/>
          </a:p>
          <a:p>
            <a:endParaRPr lang="en-US" sz="900" dirty="0"/>
          </a:p>
          <a:p>
            <a:r>
              <a:rPr lang="en-US" sz="900" dirty="0"/>
              <a:t>👉 In simple words:</a:t>
            </a:r>
          </a:p>
          <a:p>
            <a:r>
              <a:rPr lang="en-US" sz="900" dirty="0"/>
              <a:t>An LSA is a small message that a router creates and shares with other routers to describe part of the network.</a:t>
            </a:r>
          </a:p>
          <a:p>
            <a:endParaRPr lang="en-US" sz="900" dirty="0"/>
          </a:p>
          <a:p>
            <a:endParaRPr lang="en-US" sz="900" dirty="0"/>
          </a:p>
          <a:p>
            <a:r>
              <a:rPr lang="en-US" sz="900" dirty="0"/>
              <a:t>Each router in OSPF sends LSAs to tell others things like:</a:t>
            </a:r>
          </a:p>
          <a:p>
            <a:endParaRPr lang="en-US" sz="900" dirty="0"/>
          </a:p>
          <a:p>
            <a:r>
              <a:rPr lang="en-US" sz="900" dirty="0"/>
              <a:t>“I am router A, and I’m connected to network 10.1.1.0/24”</a:t>
            </a:r>
          </a:p>
          <a:p>
            <a:r>
              <a:rPr lang="en-US" sz="900" dirty="0"/>
              <a:t>“I am router B, and I have a link to Router A with cost 10”</a:t>
            </a:r>
          </a:p>
          <a:p>
            <a:endParaRPr lang="en-US" sz="900" dirty="0"/>
          </a:p>
          <a:p>
            <a:r>
              <a:rPr lang="en-US" sz="900" dirty="0"/>
              <a:t>All routers collect these LSAs from each other and put them into the OSPF database. From that database, they build a complete map of the network, and then use it to calculate the best routes.</a:t>
            </a:r>
          </a:p>
          <a:p>
            <a:endParaRPr lang="en-US" sz="900" dirty="0"/>
          </a:p>
          <a:p>
            <a:endParaRPr lang="en-US" sz="900" dirty="0"/>
          </a:p>
          <a:p>
            <a:endParaRPr lang="en-US" sz="900" dirty="0"/>
          </a:p>
          <a:p>
            <a:r>
              <a:rPr lang="en-US" sz="900" dirty="0"/>
              <a:t>🔹 Think of LSAs like pieces of a puzzle:</a:t>
            </a:r>
          </a:p>
          <a:p>
            <a:pPr marL="171450" indent="-171450">
              <a:buFont typeface="Wingdings" panose="05000000000000000000" pitchFamily="2" charset="2"/>
              <a:buChar char="ü"/>
            </a:pPr>
            <a:r>
              <a:rPr lang="en-US" sz="900" dirty="0"/>
              <a:t>Each router contributes a piece (its own LSA).</a:t>
            </a:r>
          </a:p>
          <a:p>
            <a:pPr marL="171450" indent="-171450">
              <a:buFont typeface="Wingdings" panose="05000000000000000000" pitchFamily="2" charset="2"/>
              <a:buChar char="ü"/>
            </a:pPr>
            <a:r>
              <a:rPr lang="en-US" sz="900" dirty="0"/>
              <a:t>When you put all the pieces together, you get the full picture of the network.</a:t>
            </a:r>
            <a:endParaRPr lang="en-PK" sz="900" dirty="0"/>
          </a:p>
        </p:txBody>
      </p:sp>
    </p:spTree>
    <p:extLst>
      <p:ext uri="{BB962C8B-B14F-4D97-AF65-F5344CB8AC3E}">
        <p14:creationId xmlns:p14="http://schemas.microsoft.com/office/powerpoint/2010/main" val="3693138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5E018-6F7C-F0D2-ABF4-AF91DC2C1AE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2B52A2B-DD15-4F9F-4A53-3D407786A0A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5446D83-91FE-0C12-69A5-BAF04B018B2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7FFB6AF-313B-9C6C-0D8D-8CDC9DA36D9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8CB50EB-AD9F-4A69-04FF-94914DE87955}"/>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6171A547-6084-9B4F-1C59-77A39D5B56A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pic>
        <p:nvPicPr>
          <p:cNvPr id="13" name="Picture 12">
            <a:extLst>
              <a:ext uri="{FF2B5EF4-FFF2-40B4-BE49-F238E27FC236}">
                <a16:creationId xmlns:a16="http://schemas.microsoft.com/office/drawing/2014/main" id="{1E681AF2-A4F9-6233-FDF9-9B7CECEE6C8A}"/>
              </a:ext>
            </a:extLst>
          </p:cNvPr>
          <p:cNvPicPr>
            <a:picLocks noChangeAspect="1"/>
          </p:cNvPicPr>
          <p:nvPr/>
        </p:nvPicPr>
        <p:blipFill>
          <a:blip r:embed="rId3"/>
          <a:stretch>
            <a:fillRect/>
          </a:stretch>
        </p:blipFill>
        <p:spPr>
          <a:xfrm>
            <a:off x="4267199" y="831877"/>
            <a:ext cx="4876801" cy="4311623"/>
          </a:xfrm>
          <a:prstGeom prst="rect">
            <a:avLst/>
          </a:prstGeom>
        </p:spPr>
      </p:pic>
      <p:sp>
        <p:nvSpPr>
          <p:cNvPr id="15" name="TextBox 14">
            <a:extLst>
              <a:ext uri="{FF2B5EF4-FFF2-40B4-BE49-F238E27FC236}">
                <a16:creationId xmlns:a16="http://schemas.microsoft.com/office/drawing/2014/main" id="{0E2A0179-3437-A377-2A38-3C1C470957D2}"/>
              </a:ext>
            </a:extLst>
          </p:cNvPr>
          <p:cNvSpPr txBox="1"/>
          <p:nvPr/>
        </p:nvSpPr>
        <p:spPr>
          <a:xfrm>
            <a:off x="8250732" y="1059959"/>
            <a:ext cx="495300" cy="338554"/>
          </a:xfrm>
          <a:prstGeom prst="rect">
            <a:avLst/>
          </a:prstGeom>
          <a:noFill/>
        </p:spPr>
        <p:txBody>
          <a:bodyPr wrap="square">
            <a:spAutoFit/>
          </a:bodyPr>
          <a:lstStyle/>
          <a:p>
            <a:r>
              <a:rPr lang="en-US" sz="1600" b="1" dirty="0"/>
              <a:t>R4</a:t>
            </a:r>
            <a:endParaRPr lang="en-PK" sz="1600" b="1" dirty="0"/>
          </a:p>
        </p:txBody>
      </p:sp>
      <p:sp>
        <p:nvSpPr>
          <p:cNvPr id="18" name="TextBox 17">
            <a:extLst>
              <a:ext uri="{FF2B5EF4-FFF2-40B4-BE49-F238E27FC236}">
                <a16:creationId xmlns:a16="http://schemas.microsoft.com/office/drawing/2014/main" id="{AD3A02C1-6972-2747-DA96-A00B0B927920}"/>
              </a:ext>
            </a:extLst>
          </p:cNvPr>
          <p:cNvSpPr txBox="1"/>
          <p:nvPr/>
        </p:nvSpPr>
        <p:spPr>
          <a:xfrm>
            <a:off x="4838074" y="3259203"/>
            <a:ext cx="520700" cy="338554"/>
          </a:xfrm>
          <a:prstGeom prst="rect">
            <a:avLst/>
          </a:prstGeom>
          <a:noFill/>
        </p:spPr>
        <p:txBody>
          <a:bodyPr wrap="square">
            <a:spAutoFit/>
          </a:bodyPr>
          <a:lstStyle/>
          <a:p>
            <a:r>
              <a:rPr lang="en-US" sz="1600" b="1" dirty="0"/>
              <a:t>R2</a:t>
            </a:r>
            <a:endParaRPr lang="en-PK" sz="1600" b="1" dirty="0"/>
          </a:p>
        </p:txBody>
      </p:sp>
      <p:sp>
        <p:nvSpPr>
          <p:cNvPr id="20" name="TextBox 19">
            <a:extLst>
              <a:ext uri="{FF2B5EF4-FFF2-40B4-BE49-F238E27FC236}">
                <a16:creationId xmlns:a16="http://schemas.microsoft.com/office/drawing/2014/main" id="{B897804F-EC8A-71ED-21F1-6513D0E14CAA}"/>
              </a:ext>
            </a:extLst>
          </p:cNvPr>
          <p:cNvSpPr txBox="1"/>
          <p:nvPr/>
        </p:nvSpPr>
        <p:spPr>
          <a:xfrm>
            <a:off x="4906450" y="1059959"/>
            <a:ext cx="520700" cy="338554"/>
          </a:xfrm>
          <a:prstGeom prst="rect">
            <a:avLst/>
          </a:prstGeom>
          <a:noFill/>
        </p:spPr>
        <p:txBody>
          <a:bodyPr wrap="square">
            <a:spAutoFit/>
          </a:bodyPr>
          <a:lstStyle/>
          <a:p>
            <a:r>
              <a:rPr lang="en-US" sz="1600" b="1" dirty="0"/>
              <a:t>R1</a:t>
            </a:r>
            <a:endParaRPr lang="en-PK" sz="1600" b="1" dirty="0"/>
          </a:p>
        </p:txBody>
      </p:sp>
      <p:sp>
        <p:nvSpPr>
          <p:cNvPr id="22" name="TextBox 21">
            <a:extLst>
              <a:ext uri="{FF2B5EF4-FFF2-40B4-BE49-F238E27FC236}">
                <a16:creationId xmlns:a16="http://schemas.microsoft.com/office/drawing/2014/main" id="{AC41F8DE-5D30-BF7A-4270-4A6E14D80260}"/>
              </a:ext>
            </a:extLst>
          </p:cNvPr>
          <p:cNvSpPr txBox="1"/>
          <p:nvPr/>
        </p:nvSpPr>
        <p:spPr>
          <a:xfrm>
            <a:off x="8411635" y="3792208"/>
            <a:ext cx="520700" cy="338554"/>
          </a:xfrm>
          <a:prstGeom prst="rect">
            <a:avLst/>
          </a:prstGeom>
          <a:noFill/>
        </p:spPr>
        <p:txBody>
          <a:bodyPr wrap="square">
            <a:spAutoFit/>
          </a:bodyPr>
          <a:lstStyle/>
          <a:p>
            <a:r>
              <a:rPr lang="en-US" sz="1600" b="1" dirty="0"/>
              <a:t>R3</a:t>
            </a:r>
            <a:endParaRPr lang="en-PK" sz="1600" b="1" dirty="0"/>
          </a:p>
        </p:txBody>
      </p:sp>
      <p:sp>
        <p:nvSpPr>
          <p:cNvPr id="25" name="TextBox 24">
            <a:extLst>
              <a:ext uri="{FF2B5EF4-FFF2-40B4-BE49-F238E27FC236}">
                <a16:creationId xmlns:a16="http://schemas.microsoft.com/office/drawing/2014/main" id="{4A149355-EEE6-8EC1-5C41-F05449A84202}"/>
              </a:ext>
            </a:extLst>
          </p:cNvPr>
          <p:cNvSpPr txBox="1"/>
          <p:nvPr/>
        </p:nvSpPr>
        <p:spPr>
          <a:xfrm>
            <a:off x="275166" y="1029181"/>
            <a:ext cx="3992033" cy="2400657"/>
          </a:xfrm>
          <a:prstGeom prst="rect">
            <a:avLst/>
          </a:prstGeom>
          <a:noFill/>
        </p:spPr>
        <p:txBody>
          <a:bodyPr wrap="square">
            <a:spAutoFit/>
          </a:bodyPr>
          <a:lstStyle/>
          <a:p>
            <a:r>
              <a:rPr lang="en-US" b="1" dirty="0"/>
              <a:t>OSPF Without DR and BDR</a:t>
            </a:r>
          </a:p>
          <a:p>
            <a:endParaRPr lang="en-US" dirty="0"/>
          </a:p>
          <a:p>
            <a:pPr marL="285750" indent="-285750">
              <a:buFont typeface="Wingdings" panose="05000000000000000000" pitchFamily="2" charset="2"/>
              <a:buChar char="ü"/>
            </a:pPr>
            <a:r>
              <a:rPr lang="en-US" sz="1100" dirty="0"/>
              <a:t>Increased adjacencies between all routers.</a:t>
            </a:r>
          </a:p>
          <a:p>
            <a:pPr marL="285750" indent="-285750">
              <a:buFont typeface="Wingdings" panose="05000000000000000000" pitchFamily="2" charset="2"/>
              <a:buChar char="ü"/>
            </a:pPr>
            <a:r>
              <a:rPr lang="en-US" sz="1100" dirty="0"/>
              <a:t>Excessive routing updates.</a:t>
            </a:r>
          </a:p>
          <a:p>
            <a:pPr marL="285750" indent="-285750">
              <a:buFont typeface="Wingdings" panose="05000000000000000000" pitchFamily="2" charset="2"/>
              <a:buChar char="ü"/>
            </a:pPr>
            <a:r>
              <a:rPr lang="en-US" sz="1100" dirty="0"/>
              <a:t>Higher network congestion.</a:t>
            </a:r>
          </a:p>
          <a:p>
            <a:pPr marL="285750" indent="-285750">
              <a:buFont typeface="Wingdings" panose="05000000000000000000" pitchFamily="2" charset="2"/>
              <a:buChar char="ü"/>
            </a:pPr>
            <a:r>
              <a:rPr lang="en-US" sz="1100" dirty="0"/>
              <a:t>Reduced efficiency in large networks.</a:t>
            </a:r>
          </a:p>
          <a:p>
            <a:pPr marL="285750" indent="-285750">
              <a:buFont typeface="Wingdings" panose="05000000000000000000" pitchFamily="2" charset="2"/>
              <a:buChar char="ü"/>
            </a:pPr>
            <a:endParaRPr lang="en-US" dirty="0"/>
          </a:p>
          <a:p>
            <a:endParaRPr lang="en-US" dirty="0"/>
          </a:p>
          <a:p>
            <a:r>
              <a:rPr lang="en-US" b="1" dirty="0"/>
              <a:t>Solution: </a:t>
            </a:r>
          </a:p>
          <a:p>
            <a:endParaRPr lang="en-US" dirty="0"/>
          </a:p>
          <a:p>
            <a:r>
              <a:rPr lang="en-US" sz="1100" dirty="0"/>
              <a:t>The OSPF protocol introduces the concept of DR, BDR, and DR Others to address these issues effectively.</a:t>
            </a:r>
            <a:endParaRPr lang="en-PK" sz="1100" dirty="0"/>
          </a:p>
        </p:txBody>
      </p:sp>
    </p:spTree>
    <p:extLst>
      <p:ext uri="{BB962C8B-B14F-4D97-AF65-F5344CB8AC3E}">
        <p14:creationId xmlns:p14="http://schemas.microsoft.com/office/powerpoint/2010/main" val="28909752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C8E0-006A-5687-3B54-5885A58A5C9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96359CE-4A82-28A8-BE96-3CBE6C23470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7681504-BEEF-B58F-25AD-63F8BA07D337}"/>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FE18C0F-800E-B7F3-1AB2-4C0FDAC15EA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8D8F892-BAC9-6FD0-A5D3-834654E872AA}"/>
              </a:ext>
            </a:extLst>
          </p:cNvPr>
          <p:cNvSpPr txBox="1"/>
          <p:nvPr/>
        </p:nvSpPr>
        <p:spPr>
          <a:xfrm>
            <a:off x="228600" y="125565"/>
            <a:ext cx="8373533" cy="338554"/>
          </a:xfrm>
          <a:prstGeom prst="rect">
            <a:avLst/>
          </a:prstGeom>
          <a:noFill/>
        </p:spPr>
        <p:txBody>
          <a:bodyPr wrap="square">
            <a:spAutoFit/>
          </a:bodyPr>
          <a:lstStyle/>
          <a:p>
            <a:r>
              <a:rPr lang="en-US" sz="16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0E3CD7BB-CE5E-DB55-4F78-48B3B630AE7F}"/>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25" name="TextBox 24">
            <a:extLst>
              <a:ext uri="{FF2B5EF4-FFF2-40B4-BE49-F238E27FC236}">
                <a16:creationId xmlns:a16="http://schemas.microsoft.com/office/drawing/2014/main" id="{A8899405-5426-257A-005A-07E079920DFF}"/>
              </a:ext>
            </a:extLst>
          </p:cNvPr>
          <p:cNvSpPr txBox="1"/>
          <p:nvPr/>
        </p:nvSpPr>
        <p:spPr>
          <a:xfrm>
            <a:off x="234121" y="636579"/>
            <a:ext cx="8909879" cy="3200876"/>
          </a:xfrm>
          <a:prstGeom prst="rect">
            <a:avLst/>
          </a:prstGeom>
          <a:noFill/>
        </p:spPr>
        <p:txBody>
          <a:bodyPr wrap="square">
            <a:spAutoFit/>
          </a:bodyPr>
          <a:lstStyle/>
          <a:p>
            <a:pPr marL="171450" indent="-171450">
              <a:buFont typeface="Wingdings" panose="05000000000000000000" pitchFamily="2" charset="2"/>
              <a:buChar char="ü"/>
            </a:pPr>
            <a:r>
              <a:rPr lang="en-US" sz="1000" dirty="0"/>
              <a:t>DR (Designated Router), BDR (Backup Designated Router), and DROthers are concepts that belong specifically to OSPF (Open Shortest Path First).</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r>
              <a:rPr lang="en-US" sz="1000" dirty="0"/>
              <a:t>RIP, EIGRP, BGP, IS-IS → They don’t use DR/BDR election.</a:t>
            </a:r>
          </a:p>
          <a:p>
            <a:endParaRPr lang="en-US" sz="1000" dirty="0"/>
          </a:p>
          <a:p>
            <a:endParaRPr lang="en-US" sz="1000" dirty="0"/>
          </a:p>
          <a:p>
            <a:endParaRPr lang="en-US" sz="1000" dirty="0"/>
          </a:p>
          <a:p>
            <a:r>
              <a:rPr lang="en-US" sz="1000" dirty="0"/>
              <a:t>In networks like OSPF (a routing protocol), when many routers are connected in the same network (like LAN), they need a leader to avoid too much traffic.</a:t>
            </a:r>
          </a:p>
          <a:p>
            <a:endParaRPr lang="en-US" sz="1000" dirty="0"/>
          </a:p>
          <a:p>
            <a:pPr marL="171450" indent="-171450">
              <a:buFont typeface="Wingdings" panose="05000000000000000000" pitchFamily="2" charset="2"/>
              <a:buChar char="ü"/>
            </a:pPr>
            <a:r>
              <a:rPr lang="en-US" sz="1000" dirty="0"/>
              <a:t>DR (Designated Router): Works like the “leader” router. It shares routing information with others.</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r>
              <a:rPr lang="en-US" sz="1000" dirty="0"/>
              <a:t>BDR (Backup Designated Router): Works like the “vice leader.” If the DR fails, BDR takes over.</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r>
              <a:rPr lang="en-US" sz="1000" dirty="0"/>
              <a:t>Other routers just talk to the DR/BDR, not to everyone directly → this reduces chaos.</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r>
              <a:rPr lang="en-US" dirty="0">
                <a:highlight>
                  <a:srgbClr val="00FF00"/>
                </a:highlight>
              </a:rPr>
              <a:t>Election is automatic: routers with highest priority (or highest Router ID if priority ties) become DR, second best becomes BDR.</a:t>
            </a:r>
          </a:p>
          <a:p>
            <a:endParaRPr lang="en-US" dirty="0"/>
          </a:p>
        </p:txBody>
      </p:sp>
    </p:spTree>
    <p:extLst>
      <p:ext uri="{BB962C8B-B14F-4D97-AF65-F5344CB8AC3E}">
        <p14:creationId xmlns:p14="http://schemas.microsoft.com/office/powerpoint/2010/main" val="2823442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EE1A-1A0B-2BFB-2E0D-7ECACDBAE26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CAE6C07-A815-ED34-29D5-D011521D76B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94459D6-813D-86D2-4BF2-5CCFCCF341E2}"/>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ABAC4EC-81DA-E92A-C020-A58D36DA818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05DDB72-431D-BC03-C98C-219316DB7BB6}"/>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F133FA67-4CC0-7FA8-E67D-E26CA9437A9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FD732D06-4A97-5490-33B2-05A2EB49BDF5}"/>
              </a:ext>
            </a:extLst>
          </p:cNvPr>
          <p:cNvSpPr txBox="1"/>
          <p:nvPr/>
        </p:nvSpPr>
        <p:spPr>
          <a:xfrm>
            <a:off x="228599" y="682748"/>
            <a:ext cx="8419282" cy="2970044"/>
          </a:xfrm>
          <a:prstGeom prst="rect">
            <a:avLst/>
          </a:prstGeom>
          <a:noFill/>
        </p:spPr>
        <p:txBody>
          <a:bodyPr wrap="square">
            <a:spAutoFit/>
          </a:bodyPr>
          <a:lstStyle/>
          <a:p>
            <a:r>
              <a:rPr lang="en-US" sz="1000" dirty="0"/>
              <a:t>DR, BDR, and DR Others are roles used in networks like Ethernet to reduce the number of connections between devices and make the network work more efficiently.</a:t>
            </a:r>
          </a:p>
          <a:p>
            <a:endParaRPr lang="en-US" dirty="0"/>
          </a:p>
          <a:p>
            <a:r>
              <a:rPr lang="en-US" sz="1100" b="1" dirty="0">
                <a:solidFill>
                  <a:srgbClr val="403CCF"/>
                </a:solidFill>
                <a:latin typeface="Libre Baskerville" pitchFamily="34" charset="0"/>
              </a:rPr>
              <a:t>DR (Designated Router):</a:t>
            </a:r>
            <a:r>
              <a:rPr lang="en-US" sz="1000" dirty="0"/>
              <a:t>The main router that exchanges OSPF information with all other routers in the network. It minimizes unnecessary communication by centralizing updates.</a:t>
            </a:r>
          </a:p>
          <a:p>
            <a:endParaRPr lang="en-US" dirty="0"/>
          </a:p>
          <a:p>
            <a:r>
              <a:rPr lang="en-US" sz="1100" b="1" dirty="0">
                <a:solidFill>
                  <a:srgbClr val="403CCF"/>
                </a:solidFill>
                <a:latin typeface="Libre Baskerville" pitchFamily="34" charset="0"/>
              </a:rPr>
              <a:t>BDR (Backup Designated Router):</a:t>
            </a:r>
            <a:r>
              <a:rPr lang="en-US" sz="1000" dirty="0"/>
              <a:t>A backup router that takes over if the DR fails. It ensures network continuity and reliability.</a:t>
            </a:r>
          </a:p>
          <a:p>
            <a:endParaRPr lang="en-US" dirty="0"/>
          </a:p>
          <a:p>
            <a:r>
              <a:rPr lang="en-US" sz="1100" b="1" dirty="0">
                <a:solidFill>
                  <a:srgbClr val="403CCF"/>
                </a:solidFill>
                <a:latin typeface="Libre Baskerville" pitchFamily="34" charset="0"/>
              </a:rPr>
              <a:t>DR Others: </a:t>
            </a:r>
            <a:r>
              <a:rPr lang="en-US" sz="1000" dirty="0"/>
              <a:t>All other routers in the network that are neither DR nor BDR. They form adjacencies only with the DR and BDR to keep the communication simple.</a:t>
            </a:r>
          </a:p>
          <a:p>
            <a:endParaRPr lang="en-US" dirty="0"/>
          </a:p>
          <a:p>
            <a:endParaRPr lang="en-US" dirty="0"/>
          </a:p>
          <a:p>
            <a:r>
              <a:rPr lang="en-US" b="1" dirty="0">
                <a:solidFill>
                  <a:srgbClr val="403CCF"/>
                </a:solidFill>
                <a:latin typeface="Libre Baskerville" pitchFamily="34" charset="0"/>
              </a:rPr>
              <a:t>Purpose:</a:t>
            </a:r>
          </a:p>
          <a:p>
            <a:pPr marL="171450" indent="-171450">
              <a:buFont typeface="Wingdings" panose="05000000000000000000" pitchFamily="2" charset="2"/>
              <a:buChar char="ü"/>
            </a:pPr>
            <a:r>
              <a:rPr lang="en-US" sz="1000" dirty="0"/>
              <a:t>Avoid Flooding by having routers communicate only with the DR or BDR if the DR fails.</a:t>
            </a:r>
          </a:p>
          <a:p>
            <a:pPr marL="171450" indent="-171450">
              <a:buFont typeface="Wingdings" panose="05000000000000000000" pitchFamily="2" charset="2"/>
              <a:buChar char="ü"/>
            </a:pPr>
            <a:r>
              <a:rPr lang="en-US" sz="1000" dirty="0"/>
              <a:t>Reduces the number of OSPF adjacencies. </a:t>
            </a:r>
          </a:p>
          <a:p>
            <a:pPr marL="171450" indent="-171450">
              <a:buFont typeface="Wingdings" panose="05000000000000000000" pitchFamily="2" charset="2"/>
              <a:buChar char="ü"/>
            </a:pPr>
            <a:r>
              <a:rPr lang="en-US" sz="1000" dirty="0"/>
              <a:t>Ensures efficient routing in networks with multiple routers.</a:t>
            </a:r>
            <a:endParaRPr lang="en-PK" sz="1000" dirty="0"/>
          </a:p>
        </p:txBody>
      </p:sp>
    </p:spTree>
    <p:extLst>
      <p:ext uri="{BB962C8B-B14F-4D97-AF65-F5344CB8AC3E}">
        <p14:creationId xmlns:p14="http://schemas.microsoft.com/office/powerpoint/2010/main" val="8355990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F5551-6403-1873-108D-E0866B46DDD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BB97153-9354-4FED-15CE-3601D23467F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9A497B5-790B-24E0-AFD0-C5C72573946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AECA50D2-9C55-371C-D6F3-83BA60FC5F3D}"/>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2A6D138-A750-8C2F-A456-D62AF38371DC}"/>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C4950055-1431-B0F2-CEB4-53B2F820C51E}"/>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31DB7BDE-160D-02D3-5183-DDBF4A7A7743}"/>
              </a:ext>
            </a:extLst>
          </p:cNvPr>
          <p:cNvSpPr txBox="1"/>
          <p:nvPr/>
        </p:nvSpPr>
        <p:spPr>
          <a:xfrm>
            <a:off x="228600" y="525675"/>
            <a:ext cx="8805334" cy="2677656"/>
          </a:xfrm>
          <a:prstGeom prst="rect">
            <a:avLst/>
          </a:prstGeom>
          <a:noFill/>
        </p:spPr>
        <p:txBody>
          <a:bodyPr wrap="square">
            <a:spAutoFit/>
          </a:bodyPr>
          <a:lstStyle/>
          <a:p>
            <a:endParaRPr lang="en-US" dirty="0"/>
          </a:p>
          <a:p>
            <a:r>
              <a:rPr lang="en-US" b="1" dirty="0">
                <a:solidFill>
                  <a:srgbClr val="403CCF"/>
                </a:solidFill>
                <a:latin typeface="Libre Baskerville" pitchFamily="34" charset="0"/>
              </a:rPr>
              <a:t>Note:</a:t>
            </a:r>
          </a:p>
          <a:p>
            <a:r>
              <a:rPr lang="en-US" sz="1000" dirty="0"/>
              <a:t>DR Others do not communicate directly with each other to exchange routing information. </a:t>
            </a:r>
          </a:p>
          <a:p>
            <a:endParaRPr lang="en-US" sz="1000" dirty="0"/>
          </a:p>
          <a:p>
            <a:endParaRPr lang="en-US" sz="1000" dirty="0"/>
          </a:p>
          <a:p>
            <a:r>
              <a:rPr lang="en-US" sz="1000" b="1" dirty="0"/>
              <a:t>Instead:</a:t>
            </a:r>
          </a:p>
          <a:p>
            <a:r>
              <a:rPr lang="en-US" sz="1000" dirty="0"/>
              <a:t>DR Others send their routing updates only to the DR (and the BDR, as a backup).The DR then shares the collected routing information with all the routers in the network, including the DR Others.</a:t>
            </a:r>
          </a:p>
          <a:p>
            <a:endParaRPr lang="en-US" dirty="0"/>
          </a:p>
          <a:p>
            <a:endParaRPr lang="en-US" dirty="0"/>
          </a:p>
          <a:p>
            <a:r>
              <a:rPr lang="en-US" sz="1000" dirty="0"/>
              <a:t>DR Others → Send updates to DR only.</a:t>
            </a:r>
          </a:p>
          <a:p>
            <a:r>
              <a:rPr lang="en-US" sz="1000" dirty="0"/>
              <a:t>DR → Distributes updates to all routers, including DR Others</a:t>
            </a:r>
            <a:r>
              <a:rPr lang="en-US" dirty="0"/>
              <a:t>.</a:t>
            </a:r>
          </a:p>
          <a:p>
            <a:endParaRPr lang="en-US" dirty="0"/>
          </a:p>
          <a:p>
            <a:endParaRPr lang="en-US" dirty="0"/>
          </a:p>
        </p:txBody>
      </p:sp>
    </p:spTree>
    <p:extLst>
      <p:ext uri="{BB962C8B-B14F-4D97-AF65-F5344CB8AC3E}">
        <p14:creationId xmlns:p14="http://schemas.microsoft.com/office/powerpoint/2010/main" val="15749501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4828E-A9FA-E1D4-7900-51A46678CB2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51011BF-EA1E-FC61-7E65-306CED03D5E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BCB3EBF-1E86-5E6E-C921-D94F2CA7508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46CF9DC0-0696-925F-94CA-94B8851A644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52B5BB7-364D-975D-CF0A-8C61D1FD810A}"/>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494F3E1E-3D96-F4A4-4DC2-7328FB42C4C6}"/>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A940982B-3BE1-0607-4538-12901E6C0A39}"/>
              </a:ext>
            </a:extLst>
          </p:cNvPr>
          <p:cNvSpPr txBox="1"/>
          <p:nvPr/>
        </p:nvSpPr>
        <p:spPr>
          <a:xfrm>
            <a:off x="110067" y="636579"/>
            <a:ext cx="8923866" cy="4016484"/>
          </a:xfrm>
          <a:prstGeom prst="rect">
            <a:avLst/>
          </a:prstGeom>
          <a:noFill/>
        </p:spPr>
        <p:txBody>
          <a:bodyPr wrap="square">
            <a:spAutoFit/>
          </a:bodyPr>
          <a:lstStyle/>
          <a:p>
            <a:r>
              <a:rPr lang="en-US" dirty="0">
                <a:highlight>
                  <a:srgbClr val="00FFFF"/>
                </a:highlight>
              </a:rPr>
              <a:t>Election will take place based on the following factors:</a:t>
            </a:r>
          </a:p>
          <a:p>
            <a:endParaRPr lang="en-US" dirty="0">
              <a:highlight>
                <a:srgbClr val="00FFFF"/>
              </a:highlight>
            </a:endParaRPr>
          </a:p>
          <a:p>
            <a:pPr marL="285750" indent="-285750">
              <a:buFont typeface="Wingdings" panose="05000000000000000000" pitchFamily="2" charset="2"/>
              <a:buChar char="Ø"/>
            </a:pPr>
            <a:r>
              <a:rPr lang="en-US" sz="1100" dirty="0"/>
              <a:t>Highest Priority</a:t>
            </a:r>
          </a:p>
          <a:p>
            <a:pPr marL="285750" indent="-285750">
              <a:buFont typeface="Wingdings" panose="05000000000000000000" pitchFamily="2" charset="2"/>
              <a:buChar char="Ø"/>
            </a:pPr>
            <a:r>
              <a:rPr lang="en-US" sz="1100" dirty="0"/>
              <a:t>Highest Router ID</a:t>
            </a:r>
          </a:p>
          <a:p>
            <a:pPr marL="285750" indent="-285750">
              <a:buFont typeface="Wingdings" panose="05000000000000000000" pitchFamily="2" charset="2"/>
              <a:buChar char="Ø"/>
            </a:pPr>
            <a:r>
              <a:rPr lang="en-US" sz="1100" dirty="0"/>
              <a:t>Highest Active IP address (if no router ID is set or no loop back IP is set)</a:t>
            </a:r>
          </a:p>
          <a:p>
            <a:endParaRPr lang="en-US" dirty="0"/>
          </a:p>
          <a:p>
            <a:endParaRPr lang="en-US" sz="1100" dirty="0">
              <a:highlight>
                <a:srgbClr val="00FFFF"/>
              </a:highlight>
            </a:endParaRPr>
          </a:p>
          <a:p>
            <a:endParaRPr lang="en-US" sz="1100" dirty="0">
              <a:highlight>
                <a:srgbClr val="00FFFF"/>
              </a:highlight>
            </a:endParaRPr>
          </a:p>
          <a:p>
            <a:r>
              <a:rPr lang="en-US" sz="1200" b="1" dirty="0">
                <a:highlight>
                  <a:srgbClr val="00FFFF"/>
                </a:highlight>
              </a:rPr>
              <a:t>Election by Priority: </a:t>
            </a:r>
          </a:p>
          <a:p>
            <a:endParaRPr lang="en-US" sz="1100" dirty="0"/>
          </a:p>
          <a:p>
            <a:pPr marL="171450" indent="-171450">
              <a:buFont typeface="Wingdings" panose="05000000000000000000" pitchFamily="2" charset="2"/>
              <a:buChar char="ü"/>
            </a:pPr>
            <a:r>
              <a:rPr lang="en-US" sz="1100" dirty="0"/>
              <a:t>By default, the priority is set to 1</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Election by Priority will tie because of the same priority , we can increase the priority also. So, the router with highest priority will become the DR &amp; second highest priority will become BDR.</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We can also manually assign the DR, BDR, and DR Others by changing the priority or assigning a higher IP address.</a:t>
            </a:r>
          </a:p>
          <a:p>
            <a:endParaRPr lang="en-US" sz="1100" dirty="0"/>
          </a:p>
          <a:p>
            <a:endParaRPr lang="en-US" sz="1100" dirty="0"/>
          </a:p>
          <a:p>
            <a:r>
              <a:rPr lang="en-US" sz="1100" dirty="0"/>
              <a:t>Router(config)# interface   f0/0</a:t>
            </a:r>
          </a:p>
          <a:p>
            <a:r>
              <a:rPr lang="en-US" sz="1100" dirty="0"/>
              <a:t>Router(config-if)# ip   ospf   priority   ?</a:t>
            </a:r>
          </a:p>
          <a:p>
            <a:r>
              <a:rPr lang="en-US" sz="1100" dirty="0"/>
              <a:t>Router(config-if)#ip   ospf   priority   10</a:t>
            </a:r>
          </a:p>
          <a:p>
            <a:endParaRPr lang="en-US" dirty="0"/>
          </a:p>
        </p:txBody>
      </p:sp>
    </p:spTree>
    <p:extLst>
      <p:ext uri="{BB962C8B-B14F-4D97-AF65-F5344CB8AC3E}">
        <p14:creationId xmlns:p14="http://schemas.microsoft.com/office/powerpoint/2010/main" val="2419899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4FCB8-32A7-B3BB-E46C-C28C656AA78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75B3198-88C6-6DA9-E09B-DAD96596194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6C13AA0-D64C-5CC6-299D-14862A49AD7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009003F-A6B2-9028-9D29-DF8B35C6106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3FC698A-B1E3-4161-FD8E-D2B230F97BB5}"/>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C699EDF1-6E51-1CAD-B268-117EB666DA61}"/>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ED62DAC0-8BA5-CFF2-1BBB-5C8FC9ECF2E7}"/>
              </a:ext>
            </a:extLst>
          </p:cNvPr>
          <p:cNvSpPr txBox="1"/>
          <p:nvPr/>
        </p:nvSpPr>
        <p:spPr>
          <a:xfrm>
            <a:off x="110067" y="636579"/>
            <a:ext cx="8923866" cy="4462760"/>
          </a:xfrm>
          <a:prstGeom prst="rect">
            <a:avLst/>
          </a:prstGeom>
          <a:noFill/>
        </p:spPr>
        <p:txBody>
          <a:bodyPr wrap="square">
            <a:spAutoFit/>
          </a:bodyPr>
          <a:lstStyle/>
          <a:p>
            <a:r>
              <a:rPr lang="en-US" dirty="0">
                <a:highlight>
                  <a:srgbClr val="00FFFF"/>
                </a:highlight>
              </a:rPr>
              <a:t>Election will take place based on the following factors:</a:t>
            </a:r>
          </a:p>
          <a:p>
            <a:endParaRPr lang="en-US" dirty="0">
              <a:highlight>
                <a:srgbClr val="00FFFF"/>
              </a:highlight>
            </a:endParaRPr>
          </a:p>
          <a:p>
            <a:pPr marL="285750" indent="-285750">
              <a:buFont typeface="Wingdings" panose="05000000000000000000" pitchFamily="2" charset="2"/>
              <a:buChar char="Ø"/>
            </a:pPr>
            <a:r>
              <a:rPr lang="en-US" sz="1100" dirty="0"/>
              <a:t>Highest Priority</a:t>
            </a:r>
          </a:p>
          <a:p>
            <a:pPr marL="285750" indent="-285750">
              <a:buFont typeface="Wingdings" panose="05000000000000000000" pitchFamily="2" charset="2"/>
              <a:buChar char="Ø"/>
            </a:pPr>
            <a:r>
              <a:rPr lang="en-US" sz="1100" dirty="0"/>
              <a:t>Highest Router ID</a:t>
            </a:r>
          </a:p>
          <a:p>
            <a:pPr marL="285750" indent="-285750">
              <a:buFont typeface="Wingdings" panose="05000000000000000000" pitchFamily="2" charset="2"/>
              <a:buChar char="Ø"/>
            </a:pPr>
            <a:r>
              <a:rPr lang="en-US" sz="1100" dirty="0"/>
              <a:t>Highest Active IP address (if router ID is not set or no loop back IP is set)</a:t>
            </a:r>
            <a:endParaRPr lang="en-US" sz="1100" dirty="0">
              <a:highlight>
                <a:srgbClr val="00FFFF"/>
              </a:highlight>
            </a:endParaRPr>
          </a:p>
          <a:p>
            <a:endParaRPr lang="en-US" sz="1100" dirty="0">
              <a:highlight>
                <a:srgbClr val="00FFFF"/>
              </a:highlight>
            </a:endParaRPr>
          </a:p>
          <a:p>
            <a:r>
              <a:rPr lang="en-US" sz="1200" b="1" dirty="0">
                <a:highlight>
                  <a:srgbClr val="00FFFF"/>
                </a:highlight>
              </a:rPr>
              <a:t>Election by Highest Router ID: </a:t>
            </a:r>
          </a:p>
          <a:p>
            <a:endParaRPr lang="en-US" sz="1100" dirty="0"/>
          </a:p>
          <a:p>
            <a:pPr marL="171450" indent="-171450">
              <a:buFont typeface="Wingdings" panose="05000000000000000000" pitchFamily="2" charset="2"/>
              <a:buChar char="ü"/>
            </a:pPr>
            <a:r>
              <a:rPr lang="en-US" sz="1100" dirty="0"/>
              <a:t>A Router ID is just a unique number/name that identifies a router in OSPF.</a:t>
            </a:r>
          </a:p>
          <a:p>
            <a:pPr marL="171450" indent="-171450">
              <a:buFont typeface="Wingdings" panose="05000000000000000000" pitchFamily="2" charset="2"/>
              <a:buChar char="ü"/>
            </a:pPr>
            <a:r>
              <a:rPr lang="en-US" sz="1100" dirty="0"/>
              <a:t>Think of it like a “roll number” in class. It looks like an IP address (e.g., 1.1.1.1).</a:t>
            </a:r>
          </a:p>
          <a:p>
            <a:endParaRPr lang="en-US" sz="1100" dirty="0"/>
          </a:p>
          <a:p>
            <a:r>
              <a:rPr lang="en-US" sz="1200" b="1" dirty="0">
                <a:highlight>
                  <a:srgbClr val="00FFFF"/>
                </a:highlight>
              </a:rPr>
              <a:t>How it is chosen:</a:t>
            </a:r>
          </a:p>
          <a:p>
            <a:endParaRPr lang="en-US" sz="1100" dirty="0"/>
          </a:p>
          <a:p>
            <a:pPr marL="171450" indent="-171450">
              <a:buFont typeface="Wingdings" panose="05000000000000000000" pitchFamily="2" charset="2"/>
              <a:buChar char="ü"/>
            </a:pPr>
            <a:r>
              <a:rPr lang="en-US" sz="1100" dirty="0"/>
              <a:t>If manually set → that is used.</a:t>
            </a:r>
          </a:p>
          <a:p>
            <a:pPr marL="171450" indent="-171450">
              <a:buFont typeface="Wingdings" panose="05000000000000000000" pitchFamily="2" charset="2"/>
              <a:buChar char="ü"/>
            </a:pPr>
            <a:r>
              <a:rPr lang="en-US" sz="1100" dirty="0"/>
              <a:t>If not set → the highest IP on a loopback interface is used.</a:t>
            </a:r>
          </a:p>
          <a:p>
            <a:pPr marL="171450" indent="-171450">
              <a:buFont typeface="Wingdings" panose="05000000000000000000" pitchFamily="2" charset="2"/>
              <a:buChar char="ü"/>
            </a:pPr>
            <a:r>
              <a:rPr lang="en-US" sz="1100" dirty="0"/>
              <a:t>If no loopback → the highest active IP address on a normal interface is used.</a:t>
            </a:r>
          </a:p>
          <a:p>
            <a:endParaRPr lang="en-US" sz="1100" dirty="0"/>
          </a:p>
          <a:p>
            <a:r>
              <a:rPr lang="en-US" sz="1200" b="1" dirty="0">
                <a:highlight>
                  <a:srgbClr val="00FFFF"/>
                </a:highlight>
              </a:rPr>
              <a:t>How to set Router ID manually:</a:t>
            </a:r>
          </a:p>
          <a:p>
            <a:pPr marL="171450" indent="-171450">
              <a:buFont typeface="Wingdings" panose="05000000000000000000" pitchFamily="2" charset="2"/>
              <a:buChar char="q"/>
            </a:pPr>
            <a:r>
              <a:rPr lang="en-US" sz="1100" dirty="0"/>
              <a:t>Router&gt; enable</a:t>
            </a:r>
          </a:p>
          <a:p>
            <a:pPr marL="171450" indent="-171450">
              <a:buFont typeface="Wingdings" panose="05000000000000000000" pitchFamily="2" charset="2"/>
              <a:buChar char="q"/>
            </a:pPr>
            <a:r>
              <a:rPr lang="en-US" sz="1100" dirty="0"/>
              <a:t>Router# configure   terminal</a:t>
            </a:r>
          </a:p>
          <a:p>
            <a:pPr marL="171450" indent="-171450">
              <a:buFont typeface="Wingdings" panose="05000000000000000000" pitchFamily="2" charset="2"/>
              <a:buChar char="q"/>
            </a:pPr>
            <a:r>
              <a:rPr lang="en-US" sz="1100" dirty="0"/>
              <a:t>Router(config)# router   ospf   1</a:t>
            </a:r>
          </a:p>
          <a:p>
            <a:pPr marL="171450" indent="-171450">
              <a:buFont typeface="Wingdings" panose="05000000000000000000" pitchFamily="2" charset="2"/>
              <a:buChar char="q"/>
            </a:pPr>
            <a:r>
              <a:rPr lang="en-US" sz="1100" dirty="0"/>
              <a:t>Router(config-router)# router-id   5.5.5.5</a:t>
            </a:r>
          </a:p>
          <a:p>
            <a:pPr marL="171450" indent="-171450">
              <a:buFont typeface="Wingdings" panose="05000000000000000000" pitchFamily="2" charset="2"/>
              <a:buChar char="q"/>
            </a:pPr>
            <a:r>
              <a:rPr lang="en-US" sz="1100" dirty="0"/>
              <a:t>Router(config-router)# exit</a:t>
            </a:r>
          </a:p>
          <a:p>
            <a:pPr marL="171450" indent="-171450">
              <a:buFont typeface="Wingdings" panose="05000000000000000000" pitchFamily="2" charset="2"/>
              <a:buChar char="q"/>
            </a:pPr>
            <a:endParaRPr lang="en-US" sz="1100" dirty="0"/>
          </a:p>
          <a:p>
            <a:r>
              <a:rPr lang="en-US" sz="1100" dirty="0">
                <a:highlight>
                  <a:srgbClr val="00FF00"/>
                </a:highlight>
              </a:rPr>
              <a:t>If you set Router ID on one Router , Other will be by default like “no Router ID” . So, this router will become the DR </a:t>
            </a:r>
          </a:p>
        </p:txBody>
      </p:sp>
    </p:spTree>
    <p:extLst>
      <p:ext uri="{BB962C8B-B14F-4D97-AF65-F5344CB8AC3E}">
        <p14:creationId xmlns:p14="http://schemas.microsoft.com/office/powerpoint/2010/main" val="1924541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2CCA0-1052-8507-6884-9FCF3965B71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DB10CAA-1B4F-95A9-7DCE-0ED61386014E}"/>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C5B05E2-1267-84C4-1746-36B83304B56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29302B5-6855-3CB6-FD55-81DF9107F10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A005625-A447-0F58-193E-0C417A2C9771}"/>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26DF2966-77AE-E1A4-12CB-AFD614E4AA14}"/>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AED40BA4-73AA-D20D-73D8-DAEFDA2BDA56}"/>
              </a:ext>
            </a:extLst>
          </p:cNvPr>
          <p:cNvSpPr txBox="1"/>
          <p:nvPr/>
        </p:nvSpPr>
        <p:spPr>
          <a:xfrm>
            <a:off x="110067" y="636579"/>
            <a:ext cx="8923866" cy="1246495"/>
          </a:xfrm>
          <a:prstGeom prst="rect">
            <a:avLst/>
          </a:prstGeom>
          <a:noFill/>
        </p:spPr>
        <p:txBody>
          <a:bodyPr wrap="square">
            <a:spAutoFit/>
          </a:bodyPr>
          <a:lstStyle/>
          <a:p>
            <a:r>
              <a:rPr lang="en-US" sz="1100" dirty="0"/>
              <a:t>How to check Router ID ?</a:t>
            </a:r>
          </a:p>
          <a:p>
            <a:endParaRPr lang="en-US" sz="1100" dirty="0"/>
          </a:p>
          <a:p>
            <a:pPr marL="171450" indent="-171450">
              <a:buFont typeface="Wingdings" panose="05000000000000000000" pitchFamily="2" charset="2"/>
              <a:buChar char="q"/>
            </a:pPr>
            <a:r>
              <a:rPr lang="en-US" sz="1100" dirty="0"/>
              <a:t>show ip ospf</a:t>
            </a:r>
          </a:p>
          <a:p>
            <a:r>
              <a:rPr lang="en-US" sz="1100" dirty="0"/>
              <a:t>Routing   Process   "ospf   1“   with   ID   5.5.5.5</a:t>
            </a:r>
          </a:p>
          <a:p>
            <a:endParaRPr lang="en-US" dirty="0">
              <a:highlight>
                <a:srgbClr val="00FFFF"/>
              </a:highlight>
            </a:endParaRPr>
          </a:p>
          <a:p>
            <a:r>
              <a:rPr lang="en-US" dirty="0">
                <a:highlight>
                  <a:srgbClr val="00FFFF"/>
                </a:highlight>
              </a:rPr>
              <a:t>Here 5.5.5.5 is the Router ID </a:t>
            </a:r>
          </a:p>
        </p:txBody>
      </p:sp>
    </p:spTree>
    <p:extLst>
      <p:ext uri="{BB962C8B-B14F-4D97-AF65-F5344CB8AC3E}">
        <p14:creationId xmlns:p14="http://schemas.microsoft.com/office/powerpoint/2010/main" val="5943369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79531-A47C-07AD-CAEC-4DE0A80E51C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998F442-7D22-F557-3318-FDFD044D1B1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D35F359-3E91-9D61-76F2-9FB05524D06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8F1E047A-A6CC-F0A1-46E2-D929139193E6}"/>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143E5E77-AE89-ADC8-3925-4840AD39E830}"/>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34815D12-AD35-29B1-A261-3FF09301F642}"/>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64EC3235-B488-2FCC-2AAB-E8677EAF122B}"/>
              </a:ext>
            </a:extLst>
          </p:cNvPr>
          <p:cNvSpPr txBox="1"/>
          <p:nvPr/>
        </p:nvSpPr>
        <p:spPr>
          <a:xfrm>
            <a:off x="110067" y="636579"/>
            <a:ext cx="8923866" cy="3600986"/>
          </a:xfrm>
          <a:prstGeom prst="rect">
            <a:avLst/>
          </a:prstGeom>
          <a:noFill/>
        </p:spPr>
        <p:txBody>
          <a:bodyPr wrap="square">
            <a:spAutoFit/>
          </a:bodyPr>
          <a:lstStyle/>
          <a:p>
            <a:r>
              <a:rPr lang="en-US" dirty="0">
                <a:highlight>
                  <a:srgbClr val="00FFFF"/>
                </a:highlight>
              </a:rPr>
              <a:t>Election will take place based on the following factors:</a:t>
            </a:r>
          </a:p>
          <a:p>
            <a:endParaRPr lang="en-US" dirty="0">
              <a:highlight>
                <a:srgbClr val="00FFFF"/>
              </a:highlight>
            </a:endParaRPr>
          </a:p>
          <a:p>
            <a:pPr marL="285750" indent="-285750">
              <a:buFont typeface="Wingdings" panose="05000000000000000000" pitchFamily="2" charset="2"/>
              <a:buChar char="Ø"/>
            </a:pPr>
            <a:r>
              <a:rPr lang="en-US" sz="1100" dirty="0"/>
              <a:t>Highest Priority</a:t>
            </a:r>
          </a:p>
          <a:p>
            <a:pPr marL="285750" indent="-285750">
              <a:buFont typeface="Wingdings" panose="05000000000000000000" pitchFamily="2" charset="2"/>
              <a:buChar char="Ø"/>
            </a:pPr>
            <a:r>
              <a:rPr lang="en-US" sz="1100" dirty="0"/>
              <a:t>Highest Router ID</a:t>
            </a:r>
          </a:p>
          <a:p>
            <a:pPr marL="285750" indent="-285750">
              <a:buFont typeface="Wingdings" panose="05000000000000000000" pitchFamily="2" charset="2"/>
              <a:buChar char="Ø"/>
            </a:pPr>
            <a:r>
              <a:rPr lang="en-US" sz="1100" dirty="0"/>
              <a:t>Highest Active IP address (if router ID is not set or no loop back IP is set)</a:t>
            </a:r>
            <a:endParaRPr lang="en-US" sz="1100" dirty="0">
              <a:highlight>
                <a:srgbClr val="00FFFF"/>
              </a:highlight>
            </a:endParaRPr>
          </a:p>
          <a:p>
            <a:endParaRPr lang="en-US" sz="1100" dirty="0">
              <a:highlight>
                <a:srgbClr val="00FFFF"/>
              </a:highlight>
            </a:endParaRPr>
          </a:p>
          <a:p>
            <a:endParaRPr lang="en-US" sz="1200" b="1" dirty="0">
              <a:highlight>
                <a:srgbClr val="00FFFF"/>
              </a:highlight>
            </a:endParaRPr>
          </a:p>
          <a:p>
            <a:r>
              <a:rPr lang="en-US" sz="1200" b="1" dirty="0">
                <a:highlight>
                  <a:srgbClr val="00FFFF"/>
                </a:highlight>
              </a:rPr>
              <a:t>Election by Highest Active IP address (if no loop back IP is set): </a:t>
            </a:r>
          </a:p>
          <a:p>
            <a:endParaRPr lang="en-US" sz="1100" dirty="0"/>
          </a:p>
          <a:p>
            <a:pPr marL="171450" indent="-171450">
              <a:buFont typeface="Wingdings" panose="05000000000000000000" pitchFamily="2" charset="2"/>
              <a:buChar char="ü"/>
            </a:pPr>
            <a:r>
              <a:rPr lang="en-US" sz="1100" dirty="0"/>
              <a:t>OSPF looks for a loopback interface.</a:t>
            </a:r>
          </a:p>
          <a:p>
            <a:pPr marL="171450" indent="-171450">
              <a:buFont typeface="Wingdings" panose="05000000000000000000" pitchFamily="2" charset="2"/>
              <a:buChar char="ü"/>
            </a:pPr>
            <a:r>
              <a:rPr lang="en-US" sz="1100" dirty="0"/>
              <a:t>It picks the highest IP address on a loopback.</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If no loopback exists: It picks the highest active IP address on normal interfaces (like Fa0/0, Fa0/1, </a:t>
            </a:r>
            <a:r>
              <a:rPr lang="en-US" sz="1100" dirty="0" err="1"/>
              <a:t>etc</a:t>
            </a:r>
            <a:r>
              <a:rPr lang="en-US" sz="1100" dirty="0"/>
              <a:t>).</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r>
              <a:rPr lang="en-US" sz="1100" dirty="0">
                <a:highlight>
                  <a:srgbClr val="00FF00"/>
                </a:highlight>
              </a:rPr>
              <a:t>if Fa0/0 has the highest IP address among all active interfaces and no loopback or manual Router ID is set, then Fa0/0’s IP will be used as the Router ID.</a:t>
            </a:r>
          </a:p>
        </p:txBody>
      </p:sp>
    </p:spTree>
    <p:extLst>
      <p:ext uri="{BB962C8B-B14F-4D97-AF65-F5344CB8AC3E}">
        <p14:creationId xmlns:p14="http://schemas.microsoft.com/office/powerpoint/2010/main" val="7893437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A34F0-3741-0B99-DFB8-113E217B09B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4F0DE57-481D-7AB7-9196-35E738B7FDD2}"/>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D4E0768-2DCD-3822-6548-AD6658B4882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FF82269-B6EC-148D-663A-95EC87CD978A}"/>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3922698-FF00-384F-20BD-0CA8A356258B}"/>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1D9AF9F3-FAAA-00EE-93AA-21030ED508DE}"/>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9E0AD3A8-A5F5-9ED9-BAE7-35A03BC65B49}"/>
              </a:ext>
            </a:extLst>
          </p:cNvPr>
          <p:cNvSpPr txBox="1"/>
          <p:nvPr/>
        </p:nvSpPr>
        <p:spPr>
          <a:xfrm>
            <a:off x="110067" y="636579"/>
            <a:ext cx="8923866" cy="4108817"/>
          </a:xfrm>
          <a:prstGeom prst="rect">
            <a:avLst/>
          </a:prstGeom>
          <a:noFill/>
        </p:spPr>
        <p:txBody>
          <a:bodyPr wrap="square">
            <a:spAutoFit/>
          </a:bodyPr>
          <a:lstStyle/>
          <a:p>
            <a:r>
              <a:rPr lang="en-US" b="1" dirty="0"/>
              <a:t>What is loopback IP?</a:t>
            </a:r>
          </a:p>
          <a:p>
            <a:endParaRPr lang="en-US" dirty="0">
              <a:highlight>
                <a:srgbClr val="00FFFF"/>
              </a:highlight>
            </a:endParaRPr>
          </a:p>
          <a:p>
            <a:endParaRPr lang="en-US" sz="1100" dirty="0"/>
          </a:p>
          <a:p>
            <a:pPr marL="171450" indent="-171450">
              <a:buFont typeface="Wingdings" panose="05000000000000000000" pitchFamily="2" charset="2"/>
              <a:buChar char="ü"/>
            </a:pPr>
            <a:r>
              <a:rPr lang="en-US" sz="1100" dirty="0"/>
              <a:t>A loopback IP is an IP address you assign to a virtual interface inside the router (not a physical port).</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It never goes down as long as the router is on</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Used for Router ID or testing connectivity.</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OSPF often uses it as the Router ID because it is always stable.</a:t>
            </a:r>
          </a:p>
          <a:p>
            <a:endParaRPr lang="en-US" dirty="0">
              <a:highlight>
                <a:srgbClr val="00FFFF"/>
              </a:highlight>
            </a:endParaRPr>
          </a:p>
          <a:p>
            <a:endParaRPr lang="en-US" dirty="0">
              <a:highlight>
                <a:srgbClr val="00FFFF"/>
              </a:highlight>
            </a:endParaRPr>
          </a:p>
          <a:p>
            <a:r>
              <a:rPr lang="en-US" sz="1100" dirty="0"/>
              <a:t>Router(config)# interface loopback0</a:t>
            </a:r>
          </a:p>
          <a:p>
            <a:r>
              <a:rPr lang="en-US" sz="1100" dirty="0"/>
              <a:t>Router(config-if)# ip address 10.10.10.1 255.255.255.255</a:t>
            </a:r>
          </a:p>
          <a:p>
            <a:endParaRPr lang="en-US" sz="1100" dirty="0"/>
          </a:p>
          <a:p>
            <a:endParaRPr lang="en-US" dirty="0">
              <a:highlight>
                <a:srgbClr val="00FFFF"/>
              </a:highlight>
            </a:endParaRPr>
          </a:p>
          <a:p>
            <a:endParaRPr lang="en-US" dirty="0">
              <a:highlight>
                <a:srgbClr val="00FFFF"/>
              </a:highlight>
            </a:endParaRPr>
          </a:p>
          <a:p>
            <a:endParaRPr lang="en-US" dirty="0">
              <a:highlight>
                <a:srgbClr val="00FFFF"/>
              </a:highlight>
            </a:endParaRPr>
          </a:p>
          <a:p>
            <a:r>
              <a:rPr lang="en-US" dirty="0">
                <a:highlight>
                  <a:srgbClr val="00FFFF"/>
                </a:highlight>
              </a:rPr>
              <a:t>If you manually set the Router ID (e.g., 5.5.5.5), that value will always be used, no matter what loopback or interface IPs exist.</a:t>
            </a:r>
          </a:p>
          <a:p>
            <a:r>
              <a:rPr lang="en-US" dirty="0">
                <a:highlight>
                  <a:srgbClr val="00FFFF"/>
                </a:highlight>
              </a:rPr>
              <a:t>Final Router ID = 5.5.5.5</a:t>
            </a:r>
          </a:p>
        </p:txBody>
      </p:sp>
    </p:spTree>
    <p:extLst>
      <p:ext uri="{BB962C8B-B14F-4D97-AF65-F5344CB8AC3E}">
        <p14:creationId xmlns:p14="http://schemas.microsoft.com/office/powerpoint/2010/main" val="23035433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93200-C29D-1B81-1ED4-58FAAC13D8E6}"/>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8E72EF5-3DA2-6880-A97F-DF15A09C19C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E85AF7E-8821-E501-EDB3-42C322EA000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8C07EE57-BA1E-2A84-1A89-6CABEFE13CF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FECD829-9612-5F63-D7D7-913A745CCE04}"/>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36688E72-A35A-88D9-64FF-73F1D33FBB5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7" name="TextBox 6">
            <a:extLst>
              <a:ext uri="{FF2B5EF4-FFF2-40B4-BE49-F238E27FC236}">
                <a16:creationId xmlns:a16="http://schemas.microsoft.com/office/drawing/2014/main" id="{FF295924-AFE8-3DE5-1E0C-37B80532A8E4}"/>
              </a:ext>
            </a:extLst>
          </p:cNvPr>
          <p:cNvSpPr txBox="1"/>
          <p:nvPr/>
        </p:nvSpPr>
        <p:spPr>
          <a:xfrm>
            <a:off x="110067" y="636579"/>
            <a:ext cx="8923866" cy="4385816"/>
          </a:xfrm>
          <a:prstGeom prst="rect">
            <a:avLst/>
          </a:prstGeom>
          <a:noFill/>
        </p:spPr>
        <p:txBody>
          <a:bodyPr wrap="square">
            <a:spAutoFit/>
          </a:bodyPr>
          <a:lstStyle/>
          <a:p>
            <a:r>
              <a:rPr lang="en-US" b="1" dirty="0"/>
              <a:t>🔹 Process of Election</a:t>
            </a:r>
            <a:endParaRPr lang="en-US" dirty="0">
              <a:highlight>
                <a:srgbClr val="00FFFF"/>
              </a:highlight>
            </a:endParaRPr>
          </a:p>
          <a:p>
            <a:endParaRPr lang="en-US" sz="1100" dirty="0"/>
          </a:p>
          <a:p>
            <a:pPr marL="228600" indent="-228600">
              <a:buFont typeface="+mj-lt"/>
              <a:buAutoNum type="arabicPeriod"/>
            </a:pPr>
            <a:r>
              <a:rPr lang="en-US" sz="1100" b="1" dirty="0"/>
              <a:t>Routers on the network send Hello packets</a:t>
            </a:r>
            <a:r>
              <a:rPr lang="en-US" sz="1100" dirty="0"/>
              <a:t>. </a:t>
            </a:r>
          </a:p>
          <a:p>
            <a:pPr marL="171450" indent="-171450">
              <a:buFont typeface="Wingdings" panose="05000000000000000000" pitchFamily="2" charset="2"/>
              <a:buChar char="ü"/>
            </a:pPr>
            <a:r>
              <a:rPr lang="en-US" sz="1100" dirty="0"/>
              <a:t>These packets contain information like Router ID and Priority.</a:t>
            </a:r>
          </a:p>
          <a:p>
            <a:endParaRPr lang="en-US" sz="1100" dirty="0"/>
          </a:p>
          <a:p>
            <a:endParaRPr lang="en-US" sz="1100" dirty="0"/>
          </a:p>
          <a:p>
            <a:pPr marL="228600" indent="-228600">
              <a:buFont typeface="+mj-lt"/>
              <a:buAutoNum type="arabicPeriod" startAt="2"/>
            </a:pPr>
            <a:r>
              <a:rPr lang="en-US" sz="1100" b="1" dirty="0"/>
              <a:t>OSPF checks the Priority first.</a:t>
            </a:r>
          </a:p>
          <a:p>
            <a:pPr marL="171450" indent="-171450">
              <a:buFont typeface="Wingdings" panose="05000000000000000000" pitchFamily="2" charset="2"/>
              <a:buChar char="ü"/>
            </a:pPr>
            <a:r>
              <a:rPr lang="en-US" sz="1100" dirty="0"/>
              <a:t>Each router interface has an OSPF priority value (0–255).</a:t>
            </a:r>
          </a:p>
          <a:p>
            <a:pPr marL="171450" indent="-171450">
              <a:buFont typeface="Wingdings" panose="05000000000000000000" pitchFamily="2" charset="2"/>
              <a:buChar char="ü"/>
            </a:pPr>
            <a:r>
              <a:rPr lang="en-US" sz="1100" dirty="0"/>
              <a:t>The highest priority wins the DR election.</a:t>
            </a:r>
          </a:p>
          <a:p>
            <a:pPr marL="171450" indent="-171450">
              <a:buFont typeface="Wingdings" panose="05000000000000000000" pitchFamily="2" charset="2"/>
              <a:buChar char="ü"/>
            </a:pPr>
            <a:r>
              <a:rPr lang="en-US" sz="1100" dirty="0"/>
              <a:t>If a router has priority 0, it can never be DR/BDR.</a:t>
            </a:r>
          </a:p>
          <a:p>
            <a:endParaRPr lang="en-US" dirty="0">
              <a:highlight>
                <a:srgbClr val="00FFFF"/>
              </a:highlight>
            </a:endParaRPr>
          </a:p>
          <a:p>
            <a:endParaRPr lang="en-US" dirty="0">
              <a:highlight>
                <a:srgbClr val="00FFFF"/>
              </a:highlight>
            </a:endParaRPr>
          </a:p>
          <a:p>
            <a:pPr marL="228600" indent="-228600">
              <a:buFont typeface="+mj-lt"/>
              <a:buAutoNum type="arabicPeriod" startAt="3"/>
            </a:pPr>
            <a:r>
              <a:rPr lang="en-US" sz="1100" b="1" dirty="0"/>
              <a:t>If priorities are the same → Router ID decides.</a:t>
            </a:r>
          </a:p>
          <a:p>
            <a:r>
              <a:rPr lang="en-US" sz="1100" dirty="0"/>
              <a:t>The router with the highest Router ID becomes the DR. The second highest becomes the BDR.</a:t>
            </a:r>
          </a:p>
          <a:p>
            <a:endParaRPr lang="en-US" dirty="0">
              <a:highlight>
                <a:srgbClr val="00FFFF"/>
              </a:highlight>
            </a:endParaRPr>
          </a:p>
          <a:p>
            <a:endParaRPr lang="en-US" dirty="0">
              <a:highlight>
                <a:srgbClr val="00FFFF"/>
              </a:highlight>
            </a:endParaRPr>
          </a:p>
          <a:p>
            <a:pPr marL="228600" indent="-228600">
              <a:buFont typeface="+mj-lt"/>
              <a:buAutoNum type="arabicPeriod" startAt="4"/>
            </a:pPr>
            <a:r>
              <a:rPr lang="en-US" sz="1100" b="1" dirty="0"/>
              <a:t>If Router ID is not manually set</a:t>
            </a:r>
          </a:p>
          <a:p>
            <a:pPr marL="171450" indent="-171450">
              <a:buFont typeface="Wingdings" panose="05000000000000000000" pitchFamily="2" charset="2"/>
              <a:buChar char="ü"/>
            </a:pPr>
            <a:r>
              <a:rPr lang="en-US" sz="1100" dirty="0"/>
              <a:t>Otherwise, the highest IP on any loopback.</a:t>
            </a:r>
          </a:p>
          <a:p>
            <a:pPr marL="171450" indent="-171450">
              <a:buFont typeface="Wingdings" panose="05000000000000000000" pitchFamily="2" charset="2"/>
              <a:buChar char="ü"/>
            </a:pPr>
            <a:r>
              <a:rPr lang="en-US" sz="1100" dirty="0"/>
              <a:t>Otherwise, the highest IP on any active physical interface (like Fa0/0).</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pPr marL="228600" indent="-228600">
              <a:buFont typeface="+mj-lt"/>
              <a:buAutoNum type="arabicPeriod" startAt="5"/>
            </a:pPr>
            <a:r>
              <a:rPr lang="en-US" sz="1100" b="1" dirty="0"/>
              <a:t>Election is not preemptive</a:t>
            </a:r>
          </a:p>
          <a:p>
            <a:pPr marL="171450" indent="-171450">
              <a:buFont typeface="Wingdings" panose="05000000000000000000" pitchFamily="2" charset="2"/>
              <a:buChar char="ü"/>
            </a:pPr>
            <a:r>
              <a:rPr lang="en-US" sz="1100" dirty="0"/>
              <a:t>Once a DR and BDR are chosen, they stay until one fails or the OSPF process restarts.</a:t>
            </a:r>
          </a:p>
          <a:p>
            <a:pPr marL="171450" indent="-171450">
              <a:buFont typeface="Wingdings" panose="05000000000000000000" pitchFamily="2" charset="2"/>
              <a:buChar char="ü"/>
            </a:pPr>
            <a:r>
              <a:rPr lang="en-US" sz="1100" dirty="0"/>
              <a:t>A new “better” router joining later won’t automatically take over.</a:t>
            </a:r>
          </a:p>
        </p:txBody>
      </p:sp>
    </p:spTree>
    <p:extLst>
      <p:ext uri="{BB962C8B-B14F-4D97-AF65-F5344CB8AC3E}">
        <p14:creationId xmlns:p14="http://schemas.microsoft.com/office/powerpoint/2010/main" val="41157107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F7343-9092-E0EE-7950-F562FDF54C7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9FADDFE-27B3-6A39-AF78-0369A8F1516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5573CDD-90C2-7096-60E0-DBCC179C653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177D493-4244-7A45-42B7-F321BE3B6C6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EFD6515-0F51-2E6E-29BB-C1E1FAB37746}"/>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9B5A10B2-6287-3A06-E0A3-33C8289D023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E0A2086F-76F9-338A-69D1-608E8A3118A0}"/>
              </a:ext>
            </a:extLst>
          </p:cNvPr>
          <p:cNvSpPr txBox="1"/>
          <p:nvPr/>
        </p:nvSpPr>
        <p:spPr>
          <a:xfrm>
            <a:off x="228600" y="837098"/>
            <a:ext cx="3749914" cy="1538883"/>
          </a:xfrm>
          <a:prstGeom prst="rect">
            <a:avLst/>
          </a:prstGeom>
          <a:noFill/>
        </p:spPr>
        <p:txBody>
          <a:bodyPr wrap="square">
            <a:spAutoFit/>
          </a:bodyPr>
          <a:lstStyle/>
          <a:p>
            <a:r>
              <a:rPr lang="en-US" b="1" dirty="0">
                <a:highlight>
                  <a:srgbClr val="00FFFF"/>
                </a:highlight>
              </a:rPr>
              <a:t>R1</a:t>
            </a:r>
          </a:p>
          <a:p>
            <a:r>
              <a:rPr lang="en-PK" sz="1000" dirty="0"/>
              <a:t>Router(config)# interface FastEthernet0/0</a:t>
            </a:r>
          </a:p>
          <a:p>
            <a:r>
              <a:rPr lang="en-PK" sz="1000" dirty="0"/>
              <a:t>Router(config-if)# </a:t>
            </a:r>
            <a:r>
              <a:rPr lang="en-PK" sz="1000" dirty="0" err="1"/>
              <a:t>ip</a:t>
            </a:r>
            <a:r>
              <a:rPr lang="en-PK" sz="1000" dirty="0"/>
              <a:t> address 10.1.1.1 255.0.0.0</a:t>
            </a:r>
          </a:p>
          <a:p>
            <a:r>
              <a:rPr lang="en-PK" sz="1000" dirty="0"/>
              <a:t>Router(config-if)# no shutdown</a:t>
            </a:r>
          </a:p>
          <a:p>
            <a:r>
              <a:rPr lang="en-PK" sz="1000" dirty="0"/>
              <a:t>Router(config-if)# exit</a:t>
            </a:r>
          </a:p>
          <a:p>
            <a:endParaRPr lang="en-PK" sz="1000" dirty="0"/>
          </a:p>
          <a:p>
            <a:r>
              <a:rPr lang="en-PK" sz="1000" dirty="0"/>
              <a:t>Router(config)# router </a:t>
            </a:r>
            <a:r>
              <a:rPr lang="en-PK" sz="1000" dirty="0" err="1"/>
              <a:t>ospf</a:t>
            </a:r>
            <a:r>
              <a:rPr lang="en-PK" sz="1000" dirty="0"/>
              <a:t> 40</a:t>
            </a:r>
          </a:p>
          <a:p>
            <a:r>
              <a:rPr lang="en-PK" sz="1000" dirty="0"/>
              <a:t>Router(config-router)# network 10.0.0.0 0.255.255.255 area 0</a:t>
            </a:r>
          </a:p>
          <a:p>
            <a:r>
              <a:rPr lang="en-PK" sz="1000" dirty="0"/>
              <a:t>Router(config-router)# exit</a:t>
            </a:r>
            <a:endParaRPr lang="en-PK" dirty="0"/>
          </a:p>
        </p:txBody>
      </p:sp>
      <p:sp>
        <p:nvSpPr>
          <p:cNvPr id="6" name="TextBox 5">
            <a:extLst>
              <a:ext uri="{FF2B5EF4-FFF2-40B4-BE49-F238E27FC236}">
                <a16:creationId xmlns:a16="http://schemas.microsoft.com/office/drawing/2014/main" id="{8D9C3113-5BCC-EC60-6B1E-D6A39003784F}"/>
              </a:ext>
            </a:extLst>
          </p:cNvPr>
          <p:cNvSpPr txBox="1"/>
          <p:nvPr/>
        </p:nvSpPr>
        <p:spPr>
          <a:xfrm>
            <a:off x="4744940" y="2923994"/>
            <a:ext cx="3783781" cy="1754326"/>
          </a:xfrm>
          <a:prstGeom prst="rect">
            <a:avLst/>
          </a:prstGeom>
          <a:noFill/>
        </p:spPr>
        <p:txBody>
          <a:bodyPr wrap="square">
            <a:spAutoFit/>
          </a:bodyPr>
          <a:lstStyle/>
          <a:p>
            <a:r>
              <a:rPr lang="en-US" b="1" dirty="0">
                <a:highlight>
                  <a:srgbClr val="00FFFF"/>
                </a:highlight>
              </a:rPr>
              <a:t>R4</a:t>
            </a:r>
          </a:p>
          <a:p>
            <a:r>
              <a:rPr lang="en-US" sz="1000" dirty="0"/>
              <a:t>Router(config)# interface FastEthernet0/0</a:t>
            </a:r>
          </a:p>
          <a:p>
            <a:r>
              <a:rPr lang="en-US" sz="1000" dirty="0"/>
              <a:t>Router(config-if)# ip address 10.1.1.4 255.0.0.0</a:t>
            </a:r>
          </a:p>
          <a:p>
            <a:r>
              <a:rPr lang="en-US" sz="1000" dirty="0"/>
              <a:t>Router(config-if)# no shutdown</a:t>
            </a:r>
          </a:p>
          <a:p>
            <a:r>
              <a:rPr lang="en-US" sz="1000" dirty="0"/>
              <a:t>Router(config-if)# exit</a:t>
            </a:r>
          </a:p>
          <a:p>
            <a:endParaRPr lang="en-US" sz="1000" dirty="0"/>
          </a:p>
          <a:p>
            <a:r>
              <a:rPr lang="en-US" sz="1000" dirty="0"/>
              <a:t>Router(config)# router ospf 40</a:t>
            </a:r>
          </a:p>
          <a:p>
            <a:r>
              <a:rPr lang="en-US" sz="1000" dirty="0"/>
              <a:t>Router(config-router)# network 10.0.0.0 0.255.255.255 area 0</a:t>
            </a:r>
          </a:p>
          <a:p>
            <a:r>
              <a:rPr lang="en-US" sz="1000" dirty="0"/>
              <a:t>Router(config-router)# exit</a:t>
            </a:r>
          </a:p>
          <a:p>
            <a:endParaRPr lang="en-PK" dirty="0"/>
          </a:p>
        </p:txBody>
      </p:sp>
      <p:sp>
        <p:nvSpPr>
          <p:cNvPr id="11" name="TextBox 10">
            <a:extLst>
              <a:ext uri="{FF2B5EF4-FFF2-40B4-BE49-F238E27FC236}">
                <a16:creationId xmlns:a16="http://schemas.microsoft.com/office/drawing/2014/main" id="{83F69894-27DB-A5FF-97A7-4D5E251D9C1F}"/>
              </a:ext>
            </a:extLst>
          </p:cNvPr>
          <p:cNvSpPr txBox="1"/>
          <p:nvPr/>
        </p:nvSpPr>
        <p:spPr>
          <a:xfrm>
            <a:off x="228600" y="2923994"/>
            <a:ext cx="4038600" cy="1538883"/>
          </a:xfrm>
          <a:prstGeom prst="rect">
            <a:avLst/>
          </a:prstGeom>
          <a:noFill/>
        </p:spPr>
        <p:txBody>
          <a:bodyPr wrap="square">
            <a:spAutoFit/>
          </a:bodyPr>
          <a:lstStyle/>
          <a:p>
            <a:r>
              <a:rPr lang="en-US" b="1" dirty="0">
                <a:highlight>
                  <a:srgbClr val="00FFFF"/>
                </a:highlight>
              </a:rPr>
              <a:t>R2</a:t>
            </a:r>
            <a:endParaRPr lang="en-PK" b="1" dirty="0">
              <a:highlight>
                <a:srgbClr val="00FFFF"/>
              </a:highlight>
            </a:endParaRPr>
          </a:p>
          <a:p>
            <a:r>
              <a:rPr lang="en-PK" sz="1000" dirty="0"/>
              <a:t>Router(config)# interface FastEthernet0/0</a:t>
            </a:r>
          </a:p>
          <a:p>
            <a:r>
              <a:rPr lang="en-PK" sz="1000" dirty="0"/>
              <a:t>Router(config-if)# </a:t>
            </a:r>
            <a:r>
              <a:rPr lang="en-PK" sz="1000" dirty="0" err="1"/>
              <a:t>ip</a:t>
            </a:r>
            <a:r>
              <a:rPr lang="en-PK" sz="1000" dirty="0"/>
              <a:t> address 10.1.1.2 255.0.0.0</a:t>
            </a:r>
          </a:p>
          <a:p>
            <a:r>
              <a:rPr lang="en-PK" sz="1000" dirty="0"/>
              <a:t>Router(config-if)# no shutdown</a:t>
            </a:r>
          </a:p>
          <a:p>
            <a:r>
              <a:rPr lang="en-PK" sz="1000" dirty="0"/>
              <a:t>Router(config-if)# exit</a:t>
            </a:r>
          </a:p>
          <a:p>
            <a:endParaRPr lang="en-PK" sz="1000" dirty="0"/>
          </a:p>
          <a:p>
            <a:r>
              <a:rPr lang="en-PK" sz="1000" dirty="0"/>
              <a:t>Router(config)# router </a:t>
            </a:r>
            <a:r>
              <a:rPr lang="en-PK" sz="1000" dirty="0" err="1"/>
              <a:t>ospf</a:t>
            </a:r>
            <a:r>
              <a:rPr lang="en-PK" sz="1000" dirty="0"/>
              <a:t> 40</a:t>
            </a:r>
          </a:p>
          <a:p>
            <a:r>
              <a:rPr lang="en-PK" sz="1000" dirty="0"/>
              <a:t>Router(config-router)# network 10.0.0.0 0.255.255.255 area 0</a:t>
            </a:r>
          </a:p>
          <a:p>
            <a:r>
              <a:rPr lang="en-PK" sz="1000" dirty="0"/>
              <a:t>Router(config-router)# exit</a:t>
            </a:r>
          </a:p>
        </p:txBody>
      </p:sp>
      <p:sp>
        <p:nvSpPr>
          <p:cNvPr id="13" name="TextBox 12">
            <a:extLst>
              <a:ext uri="{FF2B5EF4-FFF2-40B4-BE49-F238E27FC236}">
                <a16:creationId xmlns:a16="http://schemas.microsoft.com/office/drawing/2014/main" id="{8579F313-BC67-F022-0A50-5DD7EABAEA74}"/>
              </a:ext>
            </a:extLst>
          </p:cNvPr>
          <p:cNvSpPr txBox="1"/>
          <p:nvPr/>
        </p:nvSpPr>
        <p:spPr>
          <a:xfrm>
            <a:off x="4792136" y="798637"/>
            <a:ext cx="4003915" cy="1538883"/>
          </a:xfrm>
          <a:prstGeom prst="rect">
            <a:avLst/>
          </a:prstGeom>
          <a:noFill/>
        </p:spPr>
        <p:txBody>
          <a:bodyPr wrap="square">
            <a:spAutoFit/>
          </a:bodyPr>
          <a:lstStyle/>
          <a:p>
            <a:r>
              <a:rPr lang="en-US" b="1" dirty="0">
                <a:highlight>
                  <a:srgbClr val="00FFFF"/>
                </a:highlight>
              </a:rPr>
              <a:t>R3</a:t>
            </a:r>
          </a:p>
          <a:p>
            <a:r>
              <a:rPr lang="en-PK" sz="1000" dirty="0"/>
              <a:t>Router(config)# interface FastEthernet0/0</a:t>
            </a:r>
          </a:p>
          <a:p>
            <a:r>
              <a:rPr lang="en-PK" sz="1000" dirty="0"/>
              <a:t>Router(config-if)# </a:t>
            </a:r>
            <a:r>
              <a:rPr lang="en-PK" sz="1000" dirty="0" err="1"/>
              <a:t>ip</a:t>
            </a:r>
            <a:r>
              <a:rPr lang="en-PK" sz="1000" dirty="0"/>
              <a:t> address 10.1.1.3 255.0.0.0</a:t>
            </a:r>
          </a:p>
          <a:p>
            <a:r>
              <a:rPr lang="en-PK" sz="1000" dirty="0"/>
              <a:t>Router(config-if)# no shutdown</a:t>
            </a:r>
          </a:p>
          <a:p>
            <a:r>
              <a:rPr lang="en-PK" sz="1000" dirty="0"/>
              <a:t>Router(config-if)# exit</a:t>
            </a:r>
          </a:p>
          <a:p>
            <a:endParaRPr lang="en-PK" sz="1000" dirty="0"/>
          </a:p>
          <a:p>
            <a:r>
              <a:rPr lang="en-PK" sz="1000" dirty="0"/>
              <a:t>Router(config)# router </a:t>
            </a:r>
            <a:r>
              <a:rPr lang="en-PK" sz="1000" dirty="0" err="1"/>
              <a:t>ospf</a:t>
            </a:r>
            <a:r>
              <a:rPr lang="en-PK" sz="1000" dirty="0"/>
              <a:t> 40</a:t>
            </a:r>
          </a:p>
          <a:p>
            <a:r>
              <a:rPr lang="en-PK" sz="1000" dirty="0"/>
              <a:t>Router(config-router)# network 10.0.0.0 0.255.255.255 area 0</a:t>
            </a:r>
          </a:p>
          <a:p>
            <a:r>
              <a:rPr lang="en-PK" sz="1000" dirty="0"/>
              <a:t>Router(config-router)# exit</a:t>
            </a:r>
          </a:p>
        </p:txBody>
      </p:sp>
      <p:sp>
        <p:nvSpPr>
          <p:cNvPr id="15" name="TextBox 14">
            <a:extLst>
              <a:ext uri="{FF2B5EF4-FFF2-40B4-BE49-F238E27FC236}">
                <a16:creationId xmlns:a16="http://schemas.microsoft.com/office/drawing/2014/main" id="{841CAB56-F3D5-C441-E865-4C4D07D8398C}"/>
              </a:ext>
            </a:extLst>
          </p:cNvPr>
          <p:cNvSpPr txBox="1"/>
          <p:nvPr/>
        </p:nvSpPr>
        <p:spPr>
          <a:xfrm>
            <a:off x="2891366" y="4723019"/>
            <a:ext cx="2916767" cy="307777"/>
          </a:xfrm>
          <a:prstGeom prst="rect">
            <a:avLst/>
          </a:prstGeom>
          <a:noFill/>
        </p:spPr>
        <p:txBody>
          <a:bodyPr wrap="square">
            <a:spAutoFit/>
          </a:bodyPr>
          <a:lstStyle/>
          <a:p>
            <a:r>
              <a:rPr lang="en-US" b="1" dirty="0">
                <a:highlight>
                  <a:srgbClr val="00FF00"/>
                </a:highlight>
              </a:rPr>
              <a:t>Result: show ip ospf neighbor</a:t>
            </a:r>
            <a:endParaRPr lang="en-PK" dirty="0">
              <a:highlight>
                <a:srgbClr val="00FF00"/>
              </a:highlight>
            </a:endParaRPr>
          </a:p>
        </p:txBody>
      </p:sp>
    </p:spTree>
    <p:extLst>
      <p:ext uri="{BB962C8B-B14F-4D97-AF65-F5344CB8AC3E}">
        <p14:creationId xmlns:p14="http://schemas.microsoft.com/office/powerpoint/2010/main" val="9241700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9B3C-B176-35D8-31F6-20CDCDD675D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3C0705D-4B03-02CC-9508-2B169F2DF6F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B2BD1E6-C5E9-FF6F-E9B2-E7BC539AF8C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B303C56-E890-0165-1C5B-F35AEBDDE70F}"/>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B66B9E0-71F0-B975-D2FE-55037A603630}"/>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936E9291-6749-CEB4-399B-D181C7E01472}"/>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11C00471-8665-3585-08D4-1C6F0D6FCBA6}"/>
              </a:ext>
            </a:extLst>
          </p:cNvPr>
          <p:cNvSpPr txBox="1"/>
          <p:nvPr/>
        </p:nvSpPr>
        <p:spPr>
          <a:xfrm>
            <a:off x="228599" y="837098"/>
            <a:ext cx="7882467" cy="2523768"/>
          </a:xfrm>
          <a:prstGeom prst="rect">
            <a:avLst/>
          </a:prstGeom>
          <a:noFill/>
        </p:spPr>
        <p:txBody>
          <a:bodyPr wrap="square">
            <a:spAutoFit/>
          </a:bodyPr>
          <a:lstStyle/>
          <a:p>
            <a:r>
              <a:rPr lang="en-US" b="1" dirty="0"/>
              <a:t>✅ Summary (To the Point &amp; Simple):</a:t>
            </a:r>
          </a:p>
          <a:p>
            <a:endParaRPr lang="en-US" b="1" dirty="0"/>
          </a:p>
          <a:p>
            <a:pPr marL="171450" indent="-171450">
              <a:buFont typeface="Wingdings" panose="05000000000000000000" pitchFamily="2" charset="2"/>
              <a:buChar char="ü"/>
            </a:pPr>
            <a:r>
              <a:rPr lang="en-US" sz="1000" dirty="0"/>
              <a:t>OSPF does not change DR/BDR automatically when you change priority.</a:t>
            </a:r>
          </a:p>
          <a:p>
            <a:pPr marL="171450" indent="-171450">
              <a:buFont typeface="Wingdings" panose="05000000000000000000" pitchFamily="2" charset="2"/>
              <a:buChar char="ü"/>
            </a:pPr>
            <a:r>
              <a:rPr lang="en-US" sz="1000" dirty="0"/>
              <a:t>DR/BDR are elected when OSPF starts.</a:t>
            </a:r>
          </a:p>
          <a:p>
            <a:pPr marL="171450" indent="-171450">
              <a:buFont typeface="Wingdings" panose="05000000000000000000" pitchFamily="2" charset="2"/>
              <a:buChar char="ü"/>
            </a:pPr>
            <a:r>
              <a:rPr lang="en-US" sz="1000" dirty="0"/>
              <a:t>To make R2 the new DR (since it has higher priority), you must: Run this command on both routers:</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q"/>
            </a:pPr>
            <a:r>
              <a:rPr lang="en-US" sz="1000" dirty="0"/>
              <a:t>clear ip ospf process</a:t>
            </a:r>
          </a:p>
          <a:p>
            <a:endParaRPr lang="en-US" sz="1000" dirty="0"/>
          </a:p>
          <a:p>
            <a:r>
              <a:rPr lang="en-US" sz="1000" dirty="0"/>
              <a:t>Or </a:t>
            </a:r>
          </a:p>
          <a:p>
            <a:endParaRPr lang="en-US" sz="1000" dirty="0"/>
          </a:p>
          <a:p>
            <a:r>
              <a:rPr lang="en-US" sz="1000" dirty="0"/>
              <a:t>shut and no shut the interfaces to reset OSPF.</a:t>
            </a:r>
          </a:p>
          <a:p>
            <a:endParaRPr lang="en-US" sz="1000" dirty="0"/>
          </a:p>
          <a:p>
            <a:endParaRPr lang="en-US" sz="1000" dirty="0"/>
          </a:p>
          <a:p>
            <a:r>
              <a:rPr lang="en-US" sz="1000" dirty="0"/>
              <a:t>After reset, OSPF will re-elect DR/BDR, and R2 (priority 255) will become DR</a:t>
            </a:r>
            <a:endParaRPr lang="en-PK" sz="1000" dirty="0"/>
          </a:p>
        </p:txBody>
      </p:sp>
    </p:spTree>
    <p:extLst>
      <p:ext uri="{BB962C8B-B14F-4D97-AF65-F5344CB8AC3E}">
        <p14:creationId xmlns:p14="http://schemas.microsoft.com/office/powerpoint/2010/main" val="26241891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A503-9BD1-3E4C-2DDA-4450E241AD8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4782C45-E3DC-9C2F-DCA6-54046443513F}"/>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FEB10DC-40F1-CBD5-3943-C8E0F1FF66E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CF43DEA-0D97-7C27-26C6-266C3314AE1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D2B98EA-F487-EF5C-4C22-E2A8B0B3F898}"/>
              </a:ext>
            </a:extLst>
          </p:cNvPr>
          <p:cNvSpPr txBox="1"/>
          <p:nvPr/>
        </p:nvSpPr>
        <p:spPr>
          <a:xfrm>
            <a:off x="228600" y="125565"/>
            <a:ext cx="8373533" cy="400110"/>
          </a:xfrm>
          <a:prstGeom prst="rect">
            <a:avLst/>
          </a:prstGeom>
          <a:noFill/>
        </p:spPr>
        <p:txBody>
          <a:bodyPr wrap="square">
            <a:spAutoFit/>
          </a:bodyPr>
          <a:lstStyle/>
          <a:p>
            <a:r>
              <a:rPr lang="en-US" sz="2000" b="1" dirty="0">
                <a:solidFill>
                  <a:srgbClr val="403CCF"/>
                </a:solidFill>
                <a:latin typeface="Libre Baskerville" pitchFamily="34" charset="0"/>
              </a:rPr>
              <a:t>DR and BDR Election, Point to Point , Concept of Router ID</a:t>
            </a:r>
          </a:p>
        </p:txBody>
      </p:sp>
      <p:sp>
        <p:nvSpPr>
          <p:cNvPr id="17" name="TextBox 16">
            <a:extLst>
              <a:ext uri="{FF2B5EF4-FFF2-40B4-BE49-F238E27FC236}">
                <a16:creationId xmlns:a16="http://schemas.microsoft.com/office/drawing/2014/main" id="{82D30D6A-8495-9FA9-F3FD-3160F0E637E3}"/>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5" name="TextBox 4">
            <a:extLst>
              <a:ext uri="{FF2B5EF4-FFF2-40B4-BE49-F238E27FC236}">
                <a16:creationId xmlns:a16="http://schemas.microsoft.com/office/drawing/2014/main" id="{2EE9D89A-68CE-83D5-CBD1-38B36ED8DD3D}"/>
              </a:ext>
            </a:extLst>
          </p:cNvPr>
          <p:cNvSpPr txBox="1"/>
          <p:nvPr/>
        </p:nvSpPr>
        <p:spPr>
          <a:xfrm>
            <a:off x="228599" y="837098"/>
            <a:ext cx="8805334" cy="2585323"/>
          </a:xfrm>
          <a:prstGeom prst="rect">
            <a:avLst/>
          </a:prstGeom>
          <a:noFill/>
        </p:spPr>
        <p:txBody>
          <a:bodyPr wrap="square">
            <a:spAutoFit/>
          </a:bodyPr>
          <a:lstStyle/>
          <a:p>
            <a:r>
              <a:rPr lang="en-US" b="1" dirty="0"/>
              <a:t>Point to Point:</a:t>
            </a:r>
          </a:p>
          <a:p>
            <a:endParaRPr lang="en-US" b="1" dirty="0"/>
          </a:p>
          <a:p>
            <a:pPr marL="171450" indent="-171450">
              <a:buFont typeface="Wingdings" panose="05000000000000000000" pitchFamily="2" charset="2"/>
              <a:buChar char="ü"/>
            </a:pPr>
            <a:r>
              <a:rPr lang="en-US" sz="1000" dirty="0"/>
              <a:t>A point-to-point network means a direct connection between two routers (only 2 devices).</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r>
              <a:rPr lang="en-US" sz="1000" dirty="0"/>
              <a:t>Example: One router connected to another with a serial link. Since there are only two routers, no DR/BDR election is needed (because they can directly talk to each other without confusion).</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r>
              <a:rPr lang="en-US" sz="1000" dirty="0"/>
              <a:t>DR, BDR, and </a:t>
            </a:r>
            <a:r>
              <a:rPr lang="en-US" sz="1000" dirty="0" err="1"/>
              <a:t>DROthers</a:t>
            </a:r>
            <a:r>
              <a:rPr lang="en-US" sz="1000" dirty="0"/>
              <a:t> are only elected on a multi-access network (like when multiple routers are connected to the same switch</a:t>
            </a:r>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p>
          <a:p>
            <a:pPr marL="171450" indent="-171450">
              <a:buFont typeface="Wingdings" panose="05000000000000000000" pitchFamily="2" charset="2"/>
              <a:buChar char="ü"/>
            </a:pPr>
            <a:endParaRPr lang="en-US" sz="1000" dirty="0">
              <a:highlight>
                <a:srgbClr val="00FF00"/>
              </a:highlight>
            </a:endParaRPr>
          </a:p>
          <a:p>
            <a:endParaRPr lang="en-US" sz="1000" dirty="0">
              <a:highlight>
                <a:srgbClr val="00FF00"/>
              </a:highlight>
            </a:endParaRPr>
          </a:p>
          <a:p>
            <a:r>
              <a:rPr lang="en-US" dirty="0">
                <a:highlight>
                  <a:srgbClr val="00FF00"/>
                </a:highlight>
              </a:rPr>
              <a:t>DR, BDR, DR-Other happen when many routers share the same network (like through a switch).</a:t>
            </a:r>
          </a:p>
          <a:p>
            <a:pPr marL="171450" indent="-171450">
              <a:buFont typeface="Wingdings" panose="05000000000000000000" pitchFamily="2" charset="2"/>
              <a:buChar char="ü"/>
            </a:pPr>
            <a:endParaRPr lang="en-US" sz="1000" dirty="0"/>
          </a:p>
        </p:txBody>
      </p:sp>
    </p:spTree>
    <p:extLst>
      <p:ext uri="{BB962C8B-B14F-4D97-AF65-F5344CB8AC3E}">
        <p14:creationId xmlns:p14="http://schemas.microsoft.com/office/powerpoint/2010/main" val="3395370142"/>
      </p:ext>
    </p:extLst>
  </p:cSld>
  <p:clrMapOvr>
    <a:masterClrMapping/>
  </p:clrMapOvr>
</p:sld>
</file>

<file path=ppt/theme/theme1.xml><?xml version="1.0" encoding="utf-8"?>
<a:theme xmlns:a="http://schemas.openxmlformats.org/drawingml/2006/main" name="Computer Networking Project Proposal by Slidesgo">
  <a:themeElements>
    <a:clrScheme name="Simple Light">
      <a:dk1>
        <a:srgbClr val="FFFFFF"/>
      </a:dk1>
      <a:lt1>
        <a:srgbClr val="000000"/>
      </a:lt1>
      <a:dk2>
        <a:srgbClr val="171717"/>
      </a:dk2>
      <a:lt2>
        <a:srgbClr val="434343"/>
      </a:lt2>
      <a:accent1>
        <a:srgbClr val="CCCCCC"/>
      </a:accent1>
      <a:accent2>
        <a:srgbClr val="11C7D7"/>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6040</TotalTime>
  <Words>7797</Words>
  <Application>Microsoft Office PowerPoint</Application>
  <PresentationFormat>On-screen Show (16:9)</PresentationFormat>
  <Paragraphs>1389</Paragraphs>
  <Slides>59</Slides>
  <Notes>52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Red Hat Display</vt:lpstr>
      <vt:lpstr>Encode Sans</vt:lpstr>
      <vt:lpstr>Wingdings</vt:lpstr>
      <vt:lpstr>Libre Baskerville</vt:lpstr>
      <vt:lpstr>Doppio One</vt:lpstr>
      <vt:lpstr>Arial</vt:lpstr>
      <vt:lpstr>Georama</vt:lpstr>
      <vt:lpstr>Encode Sans Condensed</vt:lpstr>
      <vt:lpstr>Computer Networking Project Proposal by Slidesgo</vt:lpstr>
      <vt:lpstr>Computer Networking CCNA 200-301</vt:lpstr>
      <vt:lpstr>Course Outline</vt:lpstr>
      <vt:lpstr>Course Outline</vt:lpstr>
      <vt:lpstr>Course Outline</vt:lpstr>
      <vt:lpstr>Module 3 IP Routing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 CCNA 200-301</dc:title>
  <cp:lastModifiedBy>Sana Ullah</cp:lastModifiedBy>
  <cp:revision>513</cp:revision>
  <dcterms:modified xsi:type="dcterms:W3CDTF">2025-10-29T06:08:48Z</dcterms:modified>
</cp:coreProperties>
</file>