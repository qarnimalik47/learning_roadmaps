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webp" ContentType="image/webp"/>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03"/>
  </p:notesMasterIdLst>
  <p:sldIdLst>
    <p:sldId id="256" r:id="rId2"/>
    <p:sldId id="299" r:id="rId3"/>
    <p:sldId id="300" r:id="rId4"/>
    <p:sldId id="301" r:id="rId5"/>
    <p:sldId id="329" r:id="rId6"/>
    <p:sldId id="331" r:id="rId7"/>
    <p:sldId id="405" r:id="rId8"/>
    <p:sldId id="406" r:id="rId9"/>
    <p:sldId id="404" r:id="rId10"/>
    <p:sldId id="330" r:id="rId11"/>
    <p:sldId id="332" r:id="rId12"/>
    <p:sldId id="333" r:id="rId13"/>
    <p:sldId id="334" r:id="rId14"/>
    <p:sldId id="335" r:id="rId15"/>
    <p:sldId id="336" r:id="rId16"/>
    <p:sldId id="337" r:id="rId17"/>
    <p:sldId id="338" r:id="rId18"/>
    <p:sldId id="339" r:id="rId19"/>
    <p:sldId id="340" r:id="rId20"/>
    <p:sldId id="434" r:id="rId21"/>
    <p:sldId id="435" r:id="rId22"/>
    <p:sldId id="436" r:id="rId23"/>
    <p:sldId id="437" r:id="rId24"/>
    <p:sldId id="438" r:id="rId25"/>
    <p:sldId id="345" r:id="rId26"/>
    <p:sldId id="341" r:id="rId27"/>
    <p:sldId id="342" r:id="rId28"/>
    <p:sldId id="343" r:id="rId29"/>
    <p:sldId id="344" r:id="rId30"/>
    <p:sldId id="346" r:id="rId31"/>
    <p:sldId id="355" r:id="rId32"/>
    <p:sldId id="257" r:id="rId33"/>
    <p:sldId id="399" r:id="rId34"/>
    <p:sldId id="400" r:id="rId35"/>
    <p:sldId id="401" r:id="rId36"/>
    <p:sldId id="402" r:id="rId37"/>
    <p:sldId id="403" r:id="rId38"/>
    <p:sldId id="354" r:id="rId39"/>
    <p:sldId id="347" r:id="rId40"/>
    <p:sldId id="349" r:id="rId41"/>
    <p:sldId id="351" r:id="rId42"/>
    <p:sldId id="352" r:id="rId43"/>
    <p:sldId id="353" r:id="rId44"/>
    <p:sldId id="356" r:id="rId45"/>
    <p:sldId id="359" r:id="rId46"/>
    <p:sldId id="360" r:id="rId47"/>
    <p:sldId id="407" r:id="rId48"/>
    <p:sldId id="361" r:id="rId49"/>
    <p:sldId id="408" r:id="rId50"/>
    <p:sldId id="409" r:id="rId51"/>
    <p:sldId id="357" r:id="rId52"/>
    <p:sldId id="358" r:id="rId53"/>
    <p:sldId id="362" r:id="rId54"/>
    <p:sldId id="433" r:id="rId55"/>
    <p:sldId id="414" r:id="rId56"/>
    <p:sldId id="366" r:id="rId57"/>
    <p:sldId id="367" r:id="rId58"/>
    <p:sldId id="364" r:id="rId59"/>
    <p:sldId id="365" r:id="rId60"/>
    <p:sldId id="363" r:id="rId61"/>
    <p:sldId id="368" r:id="rId62"/>
    <p:sldId id="369" r:id="rId63"/>
    <p:sldId id="370" r:id="rId64"/>
    <p:sldId id="374" r:id="rId65"/>
    <p:sldId id="432" r:id="rId66"/>
    <p:sldId id="410" r:id="rId67"/>
    <p:sldId id="411" r:id="rId68"/>
    <p:sldId id="375" r:id="rId69"/>
    <p:sldId id="412" r:id="rId70"/>
    <p:sldId id="376" r:id="rId71"/>
    <p:sldId id="415" r:id="rId72"/>
    <p:sldId id="381" r:id="rId73"/>
    <p:sldId id="372" r:id="rId74"/>
    <p:sldId id="371" r:id="rId75"/>
    <p:sldId id="439" r:id="rId76"/>
    <p:sldId id="440" r:id="rId77"/>
    <p:sldId id="377" r:id="rId78"/>
    <p:sldId id="378" r:id="rId79"/>
    <p:sldId id="441" r:id="rId80"/>
    <p:sldId id="373" r:id="rId81"/>
    <p:sldId id="379" r:id="rId82"/>
    <p:sldId id="382" r:id="rId83"/>
    <p:sldId id="383" r:id="rId84"/>
    <p:sldId id="384" r:id="rId85"/>
    <p:sldId id="443" r:id="rId86"/>
    <p:sldId id="385" r:id="rId87"/>
    <p:sldId id="431" r:id="rId88"/>
    <p:sldId id="442" r:id="rId89"/>
    <p:sldId id="386" r:id="rId90"/>
    <p:sldId id="387" r:id="rId91"/>
    <p:sldId id="388" r:id="rId92"/>
    <p:sldId id="389" r:id="rId93"/>
    <p:sldId id="390" r:id="rId94"/>
    <p:sldId id="391" r:id="rId95"/>
    <p:sldId id="393" r:id="rId96"/>
    <p:sldId id="392" r:id="rId97"/>
    <p:sldId id="394" r:id="rId98"/>
    <p:sldId id="395" r:id="rId99"/>
    <p:sldId id="396" r:id="rId100"/>
    <p:sldId id="397" r:id="rId101"/>
    <p:sldId id="398" r:id="rId102"/>
  </p:sldIdLst>
  <p:sldSz cx="9144000" cy="5143500" type="screen16x9"/>
  <p:notesSz cx="6858000" cy="9144000"/>
  <p:embeddedFontLst>
    <p:embeddedFont>
      <p:font typeface="Doppio One" panose="020B0604020202020204" charset="0"/>
      <p:regular r:id="rId104"/>
    </p:embeddedFont>
    <p:embeddedFont>
      <p:font typeface="Encode Sans" panose="020B0604020202020204" charset="0"/>
      <p:regular r:id="rId105"/>
      <p:bold r:id="rId106"/>
    </p:embeddedFont>
    <p:embeddedFont>
      <p:font typeface="Encode Sans Condensed" panose="020B0604020202020204" charset="0"/>
      <p:regular r:id="rId107"/>
      <p:bold r:id="rId108"/>
    </p:embeddedFont>
    <p:embeddedFont>
      <p:font typeface="Georama" panose="020B0604020202020204" charset="0"/>
      <p:regular r:id="rId109"/>
      <p:bold r:id="rId110"/>
      <p:italic r:id="rId111"/>
      <p:boldItalic r:id="rId112"/>
    </p:embeddedFont>
    <p:embeddedFont>
      <p:font typeface="Libre Baskerville" panose="02000000000000000000" pitchFamily="2" charset="0"/>
      <p:regular r:id="rId113"/>
      <p:bold r:id="rId114"/>
      <p:italic r:id="rId11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ana Ullah" initials="SU" lastIdx="1" clrIdx="0">
    <p:extLst>
      <p:ext uri="{19B8F6BF-5375-455C-9EA6-DF929625EA0E}">
        <p15:presenceInfo xmlns:p15="http://schemas.microsoft.com/office/powerpoint/2012/main" userId="472a63953c55904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7343FFC-C285-48B6-A5F1-531E15585DCF}">
  <a:tblStyle styleId="{17343FFC-C285-48B6-A5F1-531E15585DCF}"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A1F22B5-B5E0-49D3-970D-E05F3AAD8E8D}"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3" d="100"/>
          <a:sy n="113" d="100"/>
        </p:scale>
        <p:origin x="744"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presProps" Target="pres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9.fntdata"/><Relationship Id="rId16" Type="http://schemas.openxmlformats.org/officeDocument/2006/relationships/slide" Target="slides/slide15.xml"/><Relationship Id="rId107" Type="http://schemas.openxmlformats.org/officeDocument/2006/relationships/font" Target="fonts/font4.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font" Target="fonts/font10.fntdata"/><Relationship Id="rId118"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notesMaster" Target="notesMasters/notesMaster1.xml"/><Relationship Id="rId108" Type="http://schemas.openxmlformats.org/officeDocument/2006/relationships/font" Target="fonts/font5.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font" Target="fonts/font11.fntdata"/><Relationship Id="rId119"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6.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1.fntdata"/><Relationship Id="rId120"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7.fntdata"/><Relationship Id="rId115" Type="http://schemas.openxmlformats.org/officeDocument/2006/relationships/font" Target="fonts/font12.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2.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commentAuthors" Target="commentAuthor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font" Target="fonts/font8.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502afc7aad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502afc7aad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1FE0A3-E64A-68C9-B88C-9A2A0BB88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FB0E99-5B4F-B8E6-C1E3-E068A18B19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1B1E7E4-B23C-3627-B84D-2BDE2866AF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F0C003-B633-2A67-60AA-6E5A0BDCCBCD}"/>
              </a:ext>
            </a:extLst>
          </p:cNvPr>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2926838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CE67E2-D992-599E-DC29-5B21EA21E81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8D421E-56AC-B4BB-2D4F-8737DA27222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ADF86FA-7262-DBA7-6F82-B0573D89B12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0BE2CF5-AEB5-5514-83DF-F3A95632EC68}"/>
              </a:ext>
            </a:extLst>
          </p:cNvPr>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295351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5C6AB0-42E9-6326-D8EC-51585B68D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2B68FF-F318-B0DD-59B0-C5DD581B712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5DB3CC7-349F-FC3C-22CA-266590DAFDE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713A19-81F9-CA71-5E67-EF2436CFB92C}"/>
              </a:ext>
            </a:extLst>
          </p:cNvPr>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2713102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13678-A1E5-1E71-A1E7-38AD0B6F000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235AF2-8332-7369-74A0-07E5CDE036C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A86F2B7-C387-E16E-79A2-FF146559E8C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16A137-E443-1F4F-105F-0C27FDCCE70C}"/>
              </a:ext>
            </a:extLst>
          </p:cNvPr>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39448943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E44BB-46CD-6BD0-A048-B77FAA6097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DB94BF-3CF9-6A5A-A54A-59E66297852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DFE5D7-FFBC-31A3-A72D-A4C63915096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2E70B2-1CAB-F17F-6BE8-74D06F6F2BBB}"/>
              </a:ext>
            </a:extLst>
          </p:cNvPr>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376476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3F3AC-5730-6256-3C05-24BCB057A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75B0ABE-206E-C38B-CE21-114C0E979A9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663AD3F-9C45-DD08-8051-935C8039A8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F8304FF-0BB1-1089-D3FF-12AD369E2484}"/>
              </a:ext>
            </a:extLst>
          </p:cNvPr>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9847843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E82EFB-079E-A513-CEF7-06E5939238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58B01A-FDCA-AB59-864B-0794D6DE507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BF35286-FE17-AC3C-D7CB-3701A219B44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86D0BC-F4C9-1B6A-A607-C01B567E77DA}"/>
              </a:ext>
            </a:extLst>
          </p:cNvPr>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24879186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2602E6-23D6-F775-54A7-9A4C7D280B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95B5F8F-6EA1-21EE-E8C1-607111DB128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098E92-99A7-B0AF-968B-9D1F88CB82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08ADC7-CBE9-13F6-C954-4854D3C79312}"/>
              </a:ext>
            </a:extLst>
          </p:cNvPr>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8210792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845CD-76A3-7705-20AE-6553DCCB19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911863-5CD2-27DC-A5DD-8059842AE54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66028AF-D3CB-BEF0-C8C3-F47A5E18934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227FF1-6D80-1C4C-2423-7BDFC73EB3BD}"/>
              </a:ext>
            </a:extLst>
          </p:cNvPr>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416710584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EC91E4-A21F-9BF3-01CD-1F4261EF46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FE349DE-449C-61A8-1563-16DBB8D1B6C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A352C15-5F9A-46D5-98D0-180B1B87158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9909D0-B5E1-B807-1875-74A89A0C6E1A}"/>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392014497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6A2DE3-078C-DF44-0FA8-A37A011249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14B2AE-5512-6283-D264-30CB77DD01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95CCEB8-36A3-EEE8-1344-D5928D3F144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EF86F-7C14-36C8-47BC-456D5CC88D3E}"/>
              </a:ext>
            </a:extLst>
          </p:cNvPr>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4536395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14632E-1E92-64C1-EB52-D3FB3A287E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3D7F04-B327-1E1A-315F-C2D99851D6B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1A9EFA7-F46E-77D0-437F-38C58AB959B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29A7C5F-EC3A-FCE2-493F-6638E8900370}"/>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30988484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D2003-827F-2F34-3D68-791ABC0C35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9991BA-CDF7-D9A5-E4D9-9CEE96F0009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A9CD5D4-2987-48B6-ABAC-8C0A8439F14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654BD7E-7650-181A-6466-6377C320932A}"/>
              </a:ext>
            </a:extLst>
          </p:cNvPr>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326203232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FBCED1-872E-C492-0DBD-D7A1788FE7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E8D9FD-57F5-FD30-5CB3-BDC4C6C9D61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67ABD6C-E327-231A-B8E2-5892FB3DEA6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E666205-43D7-9B6B-7357-6C54AD5E76CC}"/>
              </a:ext>
            </a:extLst>
          </p:cNvPr>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22388696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E1245-9259-188F-E602-F09F77F0F8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4C71D9-C040-138B-BE24-DF87A66C0F1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7CA2789-041D-6394-27B7-090263A983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7080C5A-9A36-FEF8-A48F-3716F7F5F138}"/>
              </a:ext>
            </a:extLst>
          </p:cNvPr>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20571029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CA9419-2402-4F8C-CE26-634CBC0169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D8A1C4-F73F-C42E-A5E4-E598F56BAB64}"/>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76A6D2-2557-E7F4-4503-4B4105D7C5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F75FFE-03F6-9151-B531-1BE8C46EDA5E}"/>
              </a:ext>
            </a:extLst>
          </p:cNvPr>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95025381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0D542E-1FDC-9E99-1885-12AA924EF2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90D2BDB-265D-03AB-2F4C-F8976D20833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A6F3532-31A2-0886-80E0-D969B0C61F2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43E5B91-D1D4-AE12-2CEE-D5F3DEEE3ECA}"/>
              </a:ext>
            </a:extLst>
          </p:cNvPr>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449797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62C94F-D8F0-DFE1-9BB6-97A110CAA2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E78BB1-CCEE-C00B-ECEF-02A20C7E768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7C92174-0DBC-1C59-8D74-7D616DC306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399CE2-7C65-07D7-D53E-6C7EA9A0919D}"/>
              </a:ext>
            </a:extLst>
          </p:cNvPr>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204449471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935BF-FB88-7F72-226F-4DA1BEB9AC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A21941-66E0-96BE-E424-BDCC0E68E86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14175D9-2137-EDD9-B4AF-86894C0D20A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955258F-D7C3-286A-9ED7-96D84D080B30}"/>
              </a:ext>
            </a:extLst>
          </p:cNvPr>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2725713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4B24B5-D305-F304-F557-F5395E19B9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B64D3-3744-4B89-0A7A-AAA9F39E87A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36207B5-12C7-7546-CC27-69D6B970101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6AD6C2B-5595-608D-34FB-5FA554D63173}"/>
              </a:ext>
            </a:extLst>
          </p:cNvPr>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99087421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85ECE-8825-022A-31E7-A039F40798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6BF17C-EED8-16FE-7685-DD679989150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E4D3BC4-4452-D8E2-8C36-800E2EE6FB9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65322DC-C4A8-3CF8-4B1F-17F4AE9F5E59}"/>
              </a:ext>
            </a:extLst>
          </p:cNvPr>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22500391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EB2971-0C21-4267-4BF9-CB64786B09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A5EEB4-0695-714B-8D9B-E920A6922DE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89CB4A97-A564-3FB5-AE1E-A532993012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CCF43D-F698-3090-23C5-EA13DCFADD80}"/>
              </a:ext>
            </a:extLst>
          </p:cNvPr>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94041057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6E3668-5FD6-105F-797B-570496DA1A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77113A-D975-27CA-A435-11EA2938B1A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DC5EDFC-FFB6-DF5D-8880-6C5A682635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ED71E1-8D7C-A3C0-EEB0-F8EE1F2FA9C5}"/>
              </a:ext>
            </a:extLst>
          </p:cNvPr>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283273361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FE34E-38F6-A9F2-39A7-DAB637F701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2CA85-1816-389D-A413-CE5E7F785A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04F0C7D-481D-863C-1292-C4274BB8E6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FF60FE1-4FC6-8451-A6BA-BEFB1C87D1EE}"/>
              </a:ext>
            </a:extLst>
          </p:cNvPr>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24484670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CAF7B-21E4-0B7E-BC51-3E04651E1D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7AC4F6-B8AA-D71B-EB10-E49AD175672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5CED981-B3E9-A348-E6FA-F0CE775F961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D0C513D-3C9E-364F-CC0B-A20E2AF3D5B7}"/>
              </a:ext>
            </a:extLst>
          </p:cNvPr>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323820925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B3800B-F129-C72F-123D-D938C8E57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AD8397-8888-591B-3431-26C6D243536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602633D-F814-04F0-DFA3-399BD9A5753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5410F3B-97AB-CEC3-B384-50255D12F5A6}"/>
              </a:ext>
            </a:extLst>
          </p:cNvPr>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621614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D9C47A-66D1-8CCE-D9AF-007894FF81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459171-A943-8FF8-2371-24926EAB1251}"/>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524E9CFF-5C08-3D0A-BC0F-780AE42D8B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0687D1-BA12-AB00-F0E5-56DE31F55735}"/>
              </a:ext>
            </a:extLst>
          </p:cNvPr>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46114986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4B222D-6E22-43AF-CCA4-6EF771ABA2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3788D4-5F1D-0669-6FB2-B7B6402C162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D7552CD-DE09-9BFC-93AA-927A409AFE1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C96CB9-58A4-80F4-DD9B-42B1983EECA0}"/>
              </a:ext>
            </a:extLst>
          </p:cNvPr>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807485212"/>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DD5AF-9C73-C224-285A-57ED2D3525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F11985-C523-ED67-71DA-DD3196F2AEB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E16BC7-9222-E2F6-5FD1-0A4BCA9F0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4D4ABF-4F33-2D80-AFE4-03C3BE3C7E50}"/>
              </a:ext>
            </a:extLst>
          </p:cNvPr>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399621458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BFCD7-EAB2-C748-3682-33B5EB7FF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794D0B-D4D6-B621-D5EF-4B0E6080395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249428A-6DF0-3ABF-8315-10FD86E1BD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033178B-EE4A-C57B-7243-A8E78A39C089}"/>
              </a:ext>
            </a:extLst>
          </p:cNvPr>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331485817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E57E75-02D2-CF96-FB36-5AB2457292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52C3F35-AC25-9B9C-23AC-79636F2A978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3445EB7-4B23-E4B2-B700-134278566CB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48BE4-6E4F-D1F2-C101-2A5031AD314D}"/>
              </a:ext>
            </a:extLst>
          </p:cNvPr>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4528872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86037-3B1C-21F9-2DFC-22BE786BB8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F52B16-F82F-740D-98B6-E3255647C6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FACE312-8399-7E07-9F6E-034049724B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3FF8BF-3F0E-69A7-3EB9-122032F46F47}"/>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2566117335"/>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CEB991-11EC-4C9E-C6F9-30B012E17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CE03F7-D388-3EE0-EB89-8FE0F39AA4F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1C25F9A-0FC9-247C-109E-AA9217EE97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782966F-1B6D-0248-1060-EB5FF40C7A95}"/>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42896548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910616-3951-8DF8-322C-D634BD7A6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C76855-1640-54C4-2ED1-7B9B09CDED0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64D3F29-DD6F-17BD-10D7-415DE33324E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CCBFCB-4222-7340-4025-F611F957A0A3}"/>
              </a:ext>
            </a:extLst>
          </p:cNvPr>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15858225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D16303-E22A-5EFF-0508-CC07868C6F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4366C-B955-3E2F-2A67-579865BB55F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441C9E6-F6FD-697E-A7C4-397D3DF279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12F00F-7DAE-6C1A-9E69-B3F4857D4CC9}"/>
              </a:ext>
            </a:extLst>
          </p:cNvPr>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270462841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D6D0A1-49AF-F97A-C3A4-6EC3E8E412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5E72F0-DCE1-4945-F13A-D6359EC4F86F}"/>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9AC54A6-3458-3125-8C17-C2E851B3F96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A73EDA-0E81-3674-972A-63A7871D1760}"/>
              </a:ext>
            </a:extLst>
          </p:cNvPr>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64333339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5B70A-BABA-4143-9A8A-3FF0CEEB37F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BEEFA2-9B35-6910-E6FB-0912C13C8A8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77DBC6A5-1364-ECF2-974D-04542D7B13E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11AF58F-FD20-3917-D3B8-8D36BA09B2BB}"/>
              </a:ext>
            </a:extLst>
          </p:cNvPr>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53734015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EF8899-3ACB-7B00-1441-F79D187FE7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58A643-0D00-7F3A-9D7C-0C3B2C01DE49}"/>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93FAA7-65DE-B2EF-8020-284744465FF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066B620-606B-454E-7969-8AFB1DBAE03D}"/>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54572116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9EA8DD2-DA98-0853-A482-39B808DC8B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B2C37A-6E22-A267-1604-03A763B90E0E}"/>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D6E4F66-C3EA-E339-4164-9F5DBD1E661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9190FB-B630-BDF4-6801-E0FB21E17978}"/>
              </a:ext>
            </a:extLst>
          </p:cNvPr>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357192725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CBC8C6-A983-BE4C-AF67-E8E5F9A973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E9AD29-EDB2-4241-C719-03326F3293D0}"/>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00BD21D6-16A2-8C92-8E79-F88665C3AA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672ED8D-8B63-ACA7-8E55-321D894416BA}"/>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7748713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E15B3-85A7-B38A-7A84-2CA60E1F70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C6C8BD-1C47-846F-937F-BD7FDBF8B14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67690DF3-5596-DFB0-0824-19C4A6F87C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04AB959-8D4A-19B1-21CC-62653D9E0004}"/>
              </a:ext>
            </a:extLst>
          </p:cNvPr>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49631370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48FDF3-0BB2-3BE1-90B8-D4850F46C1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7436816-0B23-0E51-322C-C100A205786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9D1A53C0-EC93-903D-D432-B8F058055B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CF59259-7E48-D0CD-1C72-701280F1D736}"/>
              </a:ext>
            </a:extLst>
          </p:cNvPr>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91321986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284FC-8D4B-6DF1-9823-290093C8C3F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9FF837-DCFE-34A2-FD52-6B2C04FB0FA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6AC630E-A02A-B338-793C-0FFAE076B3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DFA00AA-1B6F-63CE-8E56-2051BB97C468}"/>
              </a:ext>
            </a:extLst>
          </p:cNvPr>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181237208"/>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2B06BE-B9A4-0753-3E7B-ABFE0CC621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63C757-24C1-F1C3-EAAA-05F369D7A4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9EF5639-7F8C-1583-9656-0AF3D6B15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81E70E8-A6B6-C011-9EB4-B118E112AF15}"/>
              </a:ext>
            </a:extLst>
          </p:cNvPr>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232613241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753E5-1A13-D16D-3F71-8D3E7B1644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193E0C-CC43-5877-2252-5232F71A0157}"/>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28CD9533-7C39-6316-08DA-2CA2608867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7B876B2-8D7E-6374-49FB-9B5A85EDB291}"/>
              </a:ext>
            </a:extLst>
          </p:cNvPr>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15049300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6A0ED7-A9C0-E8DD-B152-E0F650898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F634762-5597-7BE6-D13B-1F184ACB0CAD}"/>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62416EB-9CBB-9DB7-8830-24319CC2EBD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F63BC4-B201-250C-B2CF-B127356F2821}"/>
              </a:ext>
            </a:extLst>
          </p:cNvPr>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26798363"/>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56137-E0C3-DEA1-B874-542FE38B6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AC092C-0770-574D-0017-E4C8AD6893FC}"/>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291FA6A-A83A-6E31-2F4D-014BEF2A0A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1D1F99-2777-DAED-6D35-2337E61C0201}"/>
              </a:ext>
            </a:extLst>
          </p:cNvPr>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37385998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AD3E5-1E11-A793-0AE0-1A9B46C214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FE7361-1441-8D5D-E593-B3BF7F6BE316}"/>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B848DF6-F3D3-A1E7-FB6D-506F6263D05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4AEF4C8-6FC2-9216-1408-DC7A2485C050}"/>
              </a:ext>
            </a:extLst>
          </p:cNvPr>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4284090455"/>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D6CE98-C5D6-D8B1-D90A-481572D678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07897-BA2A-2A24-35CE-0CCC63E14CC5}"/>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5221328-234D-5A88-779F-BB5AC04A820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CE3AB5D-0FB0-6772-05ED-3D092A5A1E80}"/>
              </a:ext>
            </a:extLst>
          </p:cNvPr>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340611296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9BD98-415C-3B6E-94F2-C6DE0AA29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E980EB-4129-B098-F99F-79435CBA27F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41B44A86-D7E3-865F-39D0-186DA3D2CCF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864F1BA-24E3-CD45-229B-4269B89DD7DE}"/>
              </a:ext>
            </a:extLst>
          </p:cNvPr>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278963234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92D4FC-FE73-B9FD-BD05-243400EA74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9EF2E28-3E24-C57E-5C51-4877F106E8C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1E3970B2-875E-92B4-CE6D-A8842BE79A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2FB372E-772D-54E9-30EE-CC5AC10BB69D}"/>
              </a:ext>
            </a:extLst>
          </p:cNvPr>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38740122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pic>
        <p:nvPicPr>
          <p:cNvPr id="9" name="Google Shape;9;p2"/>
          <p:cNvPicPr preferRelativeResize="0"/>
          <p:nvPr/>
        </p:nvPicPr>
        <p:blipFill rotWithShape="1">
          <a:blip r:embed="rId2">
            <a:alphaModFix amt="28000"/>
          </a:blip>
          <a:srcRect l="3955" t="33705" r="57710" b="5922"/>
          <a:stretch/>
        </p:blipFill>
        <p:spPr>
          <a:xfrm>
            <a:off x="0" y="2133600"/>
            <a:ext cx="3505200" cy="3105151"/>
          </a:xfrm>
          <a:prstGeom prst="rect">
            <a:avLst/>
          </a:prstGeom>
          <a:noFill/>
          <a:ln>
            <a:noFill/>
          </a:ln>
        </p:spPr>
      </p:pic>
      <p:pic>
        <p:nvPicPr>
          <p:cNvPr id="10" name="Google Shape;10;p2"/>
          <p:cNvPicPr preferRelativeResize="0"/>
          <p:nvPr/>
        </p:nvPicPr>
        <p:blipFill rotWithShape="1">
          <a:blip r:embed="rId2">
            <a:alphaModFix amt="28000"/>
          </a:blip>
          <a:srcRect l="40405" t="33702" r="30010" b="6752"/>
          <a:stretch/>
        </p:blipFill>
        <p:spPr>
          <a:xfrm>
            <a:off x="6438900" y="2176200"/>
            <a:ext cx="2705098" cy="3062551"/>
          </a:xfrm>
          <a:prstGeom prst="rect">
            <a:avLst/>
          </a:prstGeom>
          <a:noFill/>
          <a:ln>
            <a:noFill/>
          </a:ln>
        </p:spPr>
      </p:pic>
      <p:sp>
        <p:nvSpPr>
          <p:cNvPr id="11" name="Google Shape;11;p2"/>
          <p:cNvSpPr txBox="1">
            <a:spLocks noGrp="1"/>
          </p:cNvSpPr>
          <p:nvPr>
            <p:ph type="ctrTitle"/>
          </p:nvPr>
        </p:nvSpPr>
        <p:spPr>
          <a:xfrm>
            <a:off x="1473525" y="2562750"/>
            <a:ext cx="6196800" cy="1512600"/>
          </a:xfrm>
          <a:prstGeom prst="rect">
            <a:avLst/>
          </a:prstGeom>
          <a:solidFill>
            <a:schemeClr val="dk2"/>
          </a:solidFill>
        </p:spPr>
        <p:txBody>
          <a:bodyPr spcFirstLastPara="1" wrap="square" lIns="91425" tIns="91425" rIns="91425" bIns="91425" anchor="b" anchorCtr="0">
            <a:noAutofit/>
          </a:bodyPr>
          <a:lstStyle>
            <a:lvl1pPr lvl="0" algn="ctr">
              <a:spcBef>
                <a:spcPts val="0"/>
              </a:spcBef>
              <a:spcAft>
                <a:spcPts val="0"/>
              </a:spcAft>
              <a:buSzPts val="5200"/>
              <a:buNone/>
              <a:defRPr sz="4200">
                <a:latin typeface="Doppio One"/>
                <a:ea typeface="Doppio One"/>
                <a:cs typeface="Doppio One"/>
                <a:sym typeface="Doppio One"/>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1473675" y="4056400"/>
            <a:ext cx="6196800" cy="528000"/>
          </a:xfrm>
          <a:prstGeom prst="rect">
            <a:avLst/>
          </a:prstGeom>
          <a:solidFill>
            <a:schemeClr val="dk2"/>
          </a:solidFill>
        </p:spPr>
        <p:txBody>
          <a:bodyPr spcFirstLastPara="1" wrap="square" lIns="91425" tIns="91425" rIns="91425" bIns="91425" anchor="ctr" anchorCtr="0">
            <a:noAutofit/>
          </a:bodyPr>
          <a:lstStyle>
            <a:lvl1pPr lvl="0" algn="ctr">
              <a:lnSpc>
                <a:spcPct val="100000"/>
              </a:lnSpc>
              <a:spcBef>
                <a:spcPts val="0"/>
              </a:spcBef>
              <a:spcAft>
                <a:spcPts val="0"/>
              </a:spcAft>
              <a:buSzPts val="2800"/>
              <a:buNone/>
              <a:defRPr sz="1600">
                <a:solidFill>
                  <a:schemeClr val="dk1"/>
                </a:solidFill>
                <a:latin typeface="Encode Sans Condensed"/>
                <a:ea typeface="Encode Sans Condensed"/>
                <a:cs typeface="Encode Sans Condensed"/>
                <a:sym typeface="Encode Sans Condensed"/>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a:spLocks noGrp="1"/>
          </p:cNvSpPr>
          <p:nvPr>
            <p:ph type="pic" idx="2"/>
          </p:nvPr>
        </p:nvSpPr>
        <p:spPr>
          <a:xfrm>
            <a:off x="0" y="0"/>
            <a:ext cx="9144000" cy="21762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lt1"/>
        </a:solidFill>
        <a:effectLst/>
      </p:bgPr>
    </p:bg>
    <p:spTree>
      <p:nvGrpSpPr>
        <p:cNvPr id="1" name="Shape 45"/>
        <p:cNvGrpSpPr/>
        <p:nvPr/>
      </p:nvGrpSpPr>
      <p:grpSpPr>
        <a:xfrm>
          <a:off x="0" y="0"/>
          <a:ext cx="0" cy="0"/>
          <a:chOff x="0" y="0"/>
          <a:chExt cx="0" cy="0"/>
        </a:xfrm>
      </p:grpSpPr>
      <p:pic>
        <p:nvPicPr>
          <p:cNvPr id="46" name="Google Shape;46;p8"/>
          <p:cNvPicPr preferRelativeResize="0"/>
          <p:nvPr/>
        </p:nvPicPr>
        <p:blipFill rotWithShape="1">
          <a:blip r:embed="rId2">
            <a:alphaModFix amt="28000"/>
          </a:blip>
          <a:srcRect l="-10" r="10"/>
          <a:stretch/>
        </p:blipFill>
        <p:spPr>
          <a:xfrm flipH="1">
            <a:off x="-975" y="-60220"/>
            <a:ext cx="9144000" cy="5280390"/>
          </a:xfrm>
          <a:prstGeom prst="rect">
            <a:avLst/>
          </a:prstGeom>
          <a:noFill/>
          <a:ln>
            <a:noFill/>
          </a:ln>
        </p:spPr>
      </p:pic>
      <p:sp>
        <p:nvSpPr>
          <p:cNvPr id="47" name="Google Shape;47;p8"/>
          <p:cNvSpPr txBox="1">
            <a:spLocks noGrp="1"/>
          </p:cNvSpPr>
          <p:nvPr>
            <p:ph type="title"/>
          </p:nvPr>
        </p:nvSpPr>
        <p:spPr>
          <a:xfrm>
            <a:off x="1388100" y="1275900"/>
            <a:ext cx="6367800" cy="2591700"/>
          </a:xfrm>
          <a:prstGeom prst="rect">
            <a:avLst/>
          </a:prstGeom>
          <a:solidFill>
            <a:schemeClr val="dk2"/>
          </a:solidFill>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a:spLocks noGrp="1"/>
          </p:cNvSpPr>
          <p:nvPr>
            <p:ph type="pic" idx="2"/>
          </p:nvPr>
        </p:nvSpPr>
        <p:spPr>
          <a:xfrm>
            <a:off x="-8500" y="0"/>
            <a:ext cx="9152400" cy="5143500"/>
          </a:xfrm>
          <a:prstGeom prst="rect">
            <a:avLst/>
          </a:prstGeom>
          <a:noFill/>
          <a:ln>
            <a:noFill/>
          </a:ln>
        </p:spPr>
      </p:sp>
      <p:sp>
        <p:nvSpPr>
          <p:cNvPr id="54" name="Google Shape;54;p10"/>
          <p:cNvSpPr txBox="1">
            <a:spLocks noGrp="1"/>
          </p:cNvSpPr>
          <p:nvPr>
            <p:ph type="title"/>
          </p:nvPr>
        </p:nvSpPr>
        <p:spPr>
          <a:xfrm>
            <a:off x="720000" y="597425"/>
            <a:ext cx="7704000" cy="572700"/>
          </a:xfrm>
          <a:prstGeom prst="rect">
            <a:avLst/>
          </a:prstGeom>
          <a:solidFill>
            <a:schemeClr val="dk2"/>
          </a:solidFill>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61"/>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1">
  <p:cSld name="CUSTOM_6">
    <p:bg>
      <p:bgPr>
        <a:solidFill>
          <a:schemeClr val="lt1"/>
        </a:solidFill>
        <a:effectLst/>
      </p:bgPr>
    </p:bg>
    <p:spTree>
      <p:nvGrpSpPr>
        <p:cNvPr id="1" name="Shape 101"/>
        <p:cNvGrpSpPr/>
        <p:nvPr/>
      </p:nvGrpSpPr>
      <p:grpSpPr>
        <a:xfrm>
          <a:off x="0" y="0"/>
          <a:ext cx="0" cy="0"/>
          <a:chOff x="0" y="0"/>
          <a:chExt cx="0" cy="0"/>
        </a:xfrm>
      </p:grpSpPr>
      <p:pic>
        <p:nvPicPr>
          <p:cNvPr id="102" name="Google Shape;102;p18"/>
          <p:cNvPicPr preferRelativeResize="0"/>
          <p:nvPr/>
        </p:nvPicPr>
        <p:blipFill rotWithShape="1">
          <a:blip r:embed="rId2">
            <a:alphaModFix amt="28000"/>
          </a:blip>
          <a:srcRect l="-10" r="10"/>
          <a:stretch/>
        </p:blipFill>
        <p:spPr>
          <a:xfrm rot="10800000">
            <a:off x="-975" y="-60220"/>
            <a:ext cx="9144000" cy="5280390"/>
          </a:xfrm>
          <a:prstGeom prst="rect">
            <a:avLst/>
          </a:prstGeom>
          <a:noFill/>
          <a:ln>
            <a:noFill/>
          </a:ln>
        </p:spPr>
      </p:pic>
      <p:sp>
        <p:nvSpPr>
          <p:cNvPr id="103" name="Google Shape;103;p18"/>
          <p:cNvSpPr/>
          <p:nvPr/>
        </p:nvSpPr>
        <p:spPr>
          <a:xfrm>
            <a:off x="447750" y="381000"/>
            <a:ext cx="8248500" cy="4381500"/>
          </a:xfrm>
          <a:prstGeom prst="rect">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 name="Google Shape;104;p18"/>
          <p:cNvSpPr txBox="1">
            <a:spLocks noGrp="1"/>
          </p:cNvSpPr>
          <p:nvPr>
            <p:ph type="title"/>
          </p:nvPr>
        </p:nvSpPr>
        <p:spPr>
          <a:xfrm>
            <a:off x="720000" y="597425"/>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2800"/>
              <a:buNone/>
              <a:defRPr sz="3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105" name="Google Shape;105;p18"/>
          <p:cNvSpPr txBox="1">
            <a:spLocks noGrp="1"/>
          </p:cNvSpPr>
          <p:nvPr>
            <p:ph type="body" idx="1"/>
          </p:nvPr>
        </p:nvSpPr>
        <p:spPr>
          <a:xfrm>
            <a:off x="8034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
        <p:nvSpPr>
          <p:cNvPr id="106" name="Google Shape;106;p18"/>
          <p:cNvSpPr txBox="1">
            <a:spLocks noGrp="1"/>
          </p:cNvSpPr>
          <p:nvPr>
            <p:ph type="body" idx="2"/>
          </p:nvPr>
        </p:nvSpPr>
        <p:spPr>
          <a:xfrm>
            <a:off x="4765800" y="1442900"/>
            <a:ext cx="3574800" cy="3126000"/>
          </a:xfrm>
          <a:prstGeom prst="rect">
            <a:avLst/>
          </a:prstGeom>
        </p:spPr>
        <p:txBody>
          <a:bodyPr spcFirstLastPara="1" wrap="square" lIns="91425" tIns="91425" rIns="91425" bIns="91425" anchor="t" anchorCtr="0">
            <a:noAutofit/>
          </a:bodyPr>
          <a:lstStyle>
            <a:lvl1pPr marL="457200" lvl="0" indent="-317500" rtl="0">
              <a:lnSpc>
                <a:spcPct val="100000"/>
              </a:lnSpc>
              <a:spcBef>
                <a:spcPts val="0"/>
              </a:spcBef>
              <a:spcAft>
                <a:spcPts val="0"/>
              </a:spcAft>
              <a:buClr>
                <a:schemeClr val="accent2"/>
              </a:buClr>
              <a:buSzPts val="1400"/>
              <a:buFont typeface="Georama"/>
              <a:buChar char="●"/>
              <a:defRPr sz="1200"/>
            </a:lvl1pPr>
            <a:lvl2pPr marL="914400" lvl="1" indent="-317500" rtl="0">
              <a:spcBef>
                <a:spcPts val="0"/>
              </a:spcBef>
              <a:spcAft>
                <a:spcPts val="0"/>
              </a:spcAft>
              <a:buSzPts val="1400"/>
              <a:buFont typeface="Red Hat Display"/>
              <a:buChar char="○"/>
              <a:defRPr sz="1200"/>
            </a:lvl2pPr>
            <a:lvl3pPr marL="1371600" lvl="2" indent="-317500" rtl="0">
              <a:spcBef>
                <a:spcPts val="0"/>
              </a:spcBef>
              <a:spcAft>
                <a:spcPts val="0"/>
              </a:spcAft>
              <a:buSzPts val="1400"/>
              <a:buFont typeface="Red Hat Display"/>
              <a:buChar char="■"/>
              <a:defRPr sz="1200"/>
            </a:lvl3pPr>
            <a:lvl4pPr marL="1828800" lvl="3" indent="-317500" rtl="0">
              <a:spcBef>
                <a:spcPts val="0"/>
              </a:spcBef>
              <a:spcAft>
                <a:spcPts val="0"/>
              </a:spcAft>
              <a:buSzPts val="1400"/>
              <a:buFont typeface="Red Hat Display"/>
              <a:buChar char="●"/>
              <a:defRPr sz="1200"/>
            </a:lvl4pPr>
            <a:lvl5pPr marL="2286000" lvl="4" indent="-317500" rtl="0">
              <a:spcBef>
                <a:spcPts val="0"/>
              </a:spcBef>
              <a:spcAft>
                <a:spcPts val="0"/>
              </a:spcAft>
              <a:buSzPts val="1400"/>
              <a:buFont typeface="Red Hat Display"/>
              <a:buChar char="○"/>
              <a:defRPr sz="1200"/>
            </a:lvl5pPr>
            <a:lvl6pPr marL="2743200" lvl="5" indent="-317500" rtl="0">
              <a:spcBef>
                <a:spcPts val="0"/>
              </a:spcBef>
              <a:spcAft>
                <a:spcPts val="0"/>
              </a:spcAft>
              <a:buSzPts val="1400"/>
              <a:buFont typeface="Red Hat Display"/>
              <a:buChar char="■"/>
              <a:defRPr sz="1200"/>
            </a:lvl6pPr>
            <a:lvl7pPr marL="3200400" lvl="6" indent="-317500" rtl="0">
              <a:spcBef>
                <a:spcPts val="0"/>
              </a:spcBef>
              <a:spcAft>
                <a:spcPts val="0"/>
              </a:spcAft>
              <a:buSzPts val="1400"/>
              <a:buFont typeface="Red Hat Display"/>
              <a:buChar char="●"/>
              <a:defRPr sz="1200"/>
            </a:lvl7pPr>
            <a:lvl8pPr marL="3657600" lvl="7" indent="-317500" rtl="0">
              <a:spcBef>
                <a:spcPts val="0"/>
              </a:spcBef>
              <a:spcAft>
                <a:spcPts val="0"/>
              </a:spcAft>
              <a:buSzPts val="1400"/>
              <a:buFont typeface="Red Hat Display"/>
              <a:buChar char="○"/>
              <a:defRPr sz="1200"/>
            </a:lvl8pPr>
            <a:lvl9pPr marL="4114800" lvl="8" indent="-317500" rtl="0">
              <a:spcBef>
                <a:spcPts val="0"/>
              </a:spcBef>
              <a:spcAft>
                <a:spcPts val="0"/>
              </a:spcAft>
              <a:buSzPts val="1400"/>
              <a:buFont typeface="Red Hat Display"/>
              <a:buChar char="■"/>
              <a:defRPr sz="12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ackground">
  <p:cSld name="CUSTOM_7">
    <p:bg>
      <p:bgPr>
        <a:solidFill>
          <a:schemeClr val="lt1"/>
        </a:solidFill>
        <a:effectLst/>
      </p:bgPr>
    </p:bg>
    <p:spTree>
      <p:nvGrpSpPr>
        <p:cNvPr id="1" name="Shape 154"/>
        <p:cNvGrpSpPr/>
        <p:nvPr/>
      </p:nvGrpSpPr>
      <p:grpSpPr>
        <a:xfrm>
          <a:off x="0" y="0"/>
          <a:ext cx="0" cy="0"/>
          <a:chOff x="0" y="0"/>
          <a:chExt cx="0" cy="0"/>
        </a:xfrm>
      </p:grpSpPr>
      <p:pic>
        <p:nvPicPr>
          <p:cNvPr id="155" name="Google Shape;155;p23"/>
          <p:cNvPicPr preferRelativeResize="0"/>
          <p:nvPr/>
        </p:nvPicPr>
        <p:blipFill rotWithShape="1">
          <a:blip r:embed="rId2">
            <a:alphaModFix amt="28000"/>
          </a:blip>
          <a:srcRect l="3953" r="60529"/>
          <a:stretch/>
        </p:blipFill>
        <p:spPr>
          <a:xfrm>
            <a:off x="0" y="0"/>
            <a:ext cx="3247699" cy="51435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ackground 1">
  <p:cSld name="CUSTOM_7_1">
    <p:bg>
      <p:bgPr>
        <a:solidFill>
          <a:schemeClr val="lt2"/>
        </a:solidFill>
        <a:effectLst/>
      </p:bgPr>
    </p:bg>
    <p:spTree>
      <p:nvGrpSpPr>
        <p:cNvPr id="1" name="Shape 156"/>
        <p:cNvGrpSpPr/>
        <p:nvPr/>
      </p:nvGrpSpPr>
      <p:grpSpPr>
        <a:xfrm>
          <a:off x="0" y="0"/>
          <a:ext cx="0" cy="0"/>
          <a:chOff x="0" y="0"/>
          <a:chExt cx="0" cy="0"/>
        </a:xfrm>
      </p:grpSpPr>
      <p:pic>
        <p:nvPicPr>
          <p:cNvPr id="157" name="Google Shape;157;p24"/>
          <p:cNvPicPr preferRelativeResize="0"/>
          <p:nvPr/>
        </p:nvPicPr>
        <p:blipFill rotWithShape="1">
          <a:blip r:embed="rId2">
            <a:alphaModFix amt="28000"/>
          </a:blip>
          <a:srcRect l="43587" r="26256" b="-10"/>
          <a:stretch/>
        </p:blipFill>
        <p:spPr>
          <a:xfrm>
            <a:off x="6347800" y="0"/>
            <a:ext cx="2757350" cy="51435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2">
  <p:cSld name="CUSTOM_7_1_1">
    <p:bg>
      <p:bgPr>
        <a:solidFill>
          <a:schemeClr val="dk2"/>
        </a:solidFill>
        <a:effectLst/>
      </p:bgPr>
    </p:bg>
    <p:spTree>
      <p:nvGrpSpPr>
        <p:cNvPr id="1" name="Shape 158"/>
        <p:cNvGrpSpPr/>
        <p:nvPr/>
      </p:nvGrpSpPr>
      <p:grpSpPr>
        <a:xfrm>
          <a:off x="0" y="0"/>
          <a:ext cx="0" cy="0"/>
          <a:chOff x="0" y="0"/>
          <a:chExt cx="0" cy="0"/>
        </a:xfrm>
      </p:grpSpPr>
      <p:pic>
        <p:nvPicPr>
          <p:cNvPr id="159" name="Google Shape;159;p25"/>
          <p:cNvPicPr preferRelativeResize="0"/>
          <p:nvPr/>
        </p:nvPicPr>
        <p:blipFill rotWithShape="1">
          <a:blip r:embed="rId2">
            <a:alphaModFix amt="28000"/>
          </a:blip>
          <a:srcRect l="43587" r="26256" b="-10"/>
          <a:stretch/>
        </p:blipFill>
        <p:spPr>
          <a:xfrm flipH="1">
            <a:off x="-21813" y="0"/>
            <a:ext cx="2757350" cy="5143500"/>
          </a:xfrm>
          <a:prstGeom prst="rect">
            <a:avLst/>
          </a:prstGeom>
          <a:noFill/>
          <a:ln>
            <a:noFill/>
          </a:ln>
        </p:spPr>
      </p:pic>
      <p:pic>
        <p:nvPicPr>
          <p:cNvPr id="160" name="Google Shape;160;p25"/>
          <p:cNvPicPr preferRelativeResize="0"/>
          <p:nvPr/>
        </p:nvPicPr>
        <p:blipFill rotWithShape="1">
          <a:blip r:embed="rId2">
            <a:alphaModFix amt="28000"/>
          </a:blip>
          <a:srcRect l="3954" r="60452"/>
          <a:stretch/>
        </p:blipFill>
        <p:spPr>
          <a:xfrm flipH="1">
            <a:off x="5889374" y="0"/>
            <a:ext cx="3254626" cy="51435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4F0FF"/>
          </a:solidFill>
          <a:ln/>
        </p:spPr>
      </p:sp>
      <p:sp>
        <p:nvSpPr>
          <p:cNvPr id="3" name="Shape 1"/>
          <p:cNvSpPr/>
          <p:nvPr/>
        </p:nvSpPr>
        <p:spPr>
          <a:xfrm>
            <a:off x="0" y="0"/>
            <a:ext cx="9144000" cy="5143500"/>
          </a:xfrm>
          <a:prstGeom prst="rect">
            <a:avLst/>
          </a:prstGeom>
          <a:solidFill>
            <a:srgbClr val="FBFAFF"/>
          </a:solidFill>
          <a:ln/>
        </p:spPr>
      </p:sp>
      <p:pic>
        <p:nvPicPr>
          <p:cNvPr id="4" name="Image 0" descr="preencoded.png">
            <a:hlinkClick r:id="rId2"/>
          </p:cNvPr>
          <p:cNvPicPr>
            <a:picLocks noChangeAspect="1"/>
          </p:cNvPicPr>
          <p:nvPr/>
        </p:nvPicPr>
        <p:blipFill>
          <a:blip r:embed="rId3"/>
          <a:stretch>
            <a:fillRect/>
          </a:stretch>
        </p:blipFill>
        <p:spPr>
          <a:xfrm>
            <a:off x="8024510" y="4843463"/>
            <a:ext cx="1076628" cy="257175"/>
          </a:xfrm>
          <a:prstGeom prst="rect">
            <a:avLst/>
          </a:prstGeom>
        </p:spPr>
      </p:pic>
    </p:spTree>
    <p:extLst>
      <p:ext uri="{BB962C8B-B14F-4D97-AF65-F5344CB8AC3E}">
        <p14:creationId xmlns:p14="http://schemas.microsoft.com/office/powerpoint/2010/main" val="32460445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1pPr>
            <a:lvl2pPr lvl="1">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2pPr>
            <a:lvl3pPr lvl="2">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3pPr>
            <a:lvl4pPr lvl="3">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4pPr>
            <a:lvl5pPr lvl="4">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5pPr>
            <a:lvl6pPr lvl="5">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6pPr>
            <a:lvl7pPr lvl="6">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7pPr>
            <a:lvl8pPr lvl="7">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8pPr>
            <a:lvl9pPr lvl="8">
              <a:spcBef>
                <a:spcPts val="0"/>
              </a:spcBef>
              <a:spcAft>
                <a:spcPts val="0"/>
              </a:spcAft>
              <a:buClr>
                <a:schemeClr val="dk1"/>
              </a:buClr>
              <a:buSzPts val="2800"/>
              <a:buFont typeface="Doppio One"/>
              <a:buNone/>
              <a:defRPr sz="2800" b="1">
                <a:solidFill>
                  <a:schemeClr val="dk1"/>
                </a:solidFill>
                <a:latin typeface="Doppio One"/>
                <a:ea typeface="Doppio One"/>
                <a:cs typeface="Doppio One"/>
                <a:sym typeface="Doppio One"/>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1"/>
              </a:buClr>
              <a:buSzPts val="1800"/>
              <a:buFont typeface="Encode Sans"/>
              <a:buChar char="●"/>
              <a:defRPr sz="1800">
                <a:solidFill>
                  <a:schemeClr val="dk1"/>
                </a:solidFill>
                <a:latin typeface="Encode Sans"/>
                <a:ea typeface="Encode Sans"/>
                <a:cs typeface="Encode Sans"/>
                <a:sym typeface="Encode Sans"/>
              </a:defRPr>
            </a:lvl1pPr>
            <a:lvl2pPr marL="914400" lvl="1"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2pPr>
            <a:lvl3pPr marL="1371600" lvl="2"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3pPr>
            <a:lvl4pPr marL="1828800" lvl="3"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4pPr>
            <a:lvl5pPr marL="2286000" lvl="4"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5pPr>
            <a:lvl6pPr marL="2743200" lvl="5"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6pPr>
            <a:lvl7pPr marL="3200400" lvl="6"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7pPr>
            <a:lvl8pPr marL="3657600" lvl="7"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8pPr>
            <a:lvl9pPr marL="4114800" lvl="8" indent="-317500">
              <a:lnSpc>
                <a:spcPct val="115000"/>
              </a:lnSpc>
              <a:spcBef>
                <a:spcPts val="0"/>
              </a:spcBef>
              <a:spcAft>
                <a:spcPts val="0"/>
              </a:spcAft>
              <a:buClr>
                <a:schemeClr val="dk1"/>
              </a:buClr>
              <a:buSzPts val="1400"/>
              <a:buFont typeface="Encode Sans"/>
              <a:buChar char="■"/>
              <a:defRPr>
                <a:solidFill>
                  <a:schemeClr val="dk1"/>
                </a:solidFill>
                <a:latin typeface="Encode Sans"/>
                <a:ea typeface="Encode Sans"/>
                <a:cs typeface="Encode Sans"/>
                <a:sym typeface="Encode Sans"/>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4" r:id="rId2"/>
    <p:sldLayoutId id="2147483656" r:id="rId3"/>
    <p:sldLayoutId id="2147483658" r:id="rId4"/>
    <p:sldLayoutId id="2147483664" r:id="rId5"/>
    <p:sldLayoutId id="2147483669" r:id="rId6"/>
    <p:sldLayoutId id="2147483670" r:id="rId7"/>
    <p:sldLayoutId id="2147483671" r:id="rId8"/>
    <p:sldLayoutId id="2147483675"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5.xml"/></Relationships>
</file>

<file path=ppt/slides/_rels/slide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0.xml.rels><?xml version="1.0" encoding="UTF-8" standalone="yes"?>
<Relationships xmlns="http://schemas.openxmlformats.org/package/2006/relationships"><Relationship Id="rId3" Type="http://schemas.openxmlformats.org/officeDocument/2006/relationships/image" Target="../media/image7.webp"/><Relationship Id="rId2" Type="http://schemas.openxmlformats.org/officeDocument/2006/relationships/image" Target="../media/image6.png"/><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9.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9.xml"/></Relationships>
</file>

<file path=ppt/slides/_rels/slide3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3.xml"/><Relationship Id="rId1" Type="http://schemas.openxmlformats.org/officeDocument/2006/relationships/slideLayout" Target="../slideLayouts/slideLayout9.xml"/><Relationship Id="rId4" Type="http://schemas.openxmlformats.org/officeDocument/2006/relationships/image" Target="../media/image15.PNG"/></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9.xml"/></Relationships>
</file>

<file path=ppt/slides/_rels/slide65.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7.xml"/><Relationship Id="rId1" Type="http://schemas.openxmlformats.org/officeDocument/2006/relationships/slideLayout" Target="../slideLayouts/slideLayout9.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9.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9.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9.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9.xml"/></Relationships>
</file>

<file path=ppt/slides/_rels/slide75.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27.xml"/><Relationship Id="rId1" Type="http://schemas.openxmlformats.org/officeDocument/2006/relationships/slideLayout" Target="../slideLayouts/slideLayout9.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9.xml"/></Relationships>
</file>

<file path=ppt/slides/_rels/slide7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9.xml"/><Relationship Id="rId1" Type="http://schemas.openxmlformats.org/officeDocument/2006/relationships/slideLayout" Target="../slideLayouts/slideLayout9.xml"/></Relationships>
</file>

<file path=ppt/slides/_rels/slide7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9.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9.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9.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9.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8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9.xml"/></Relationships>
</file>

<file path=ppt/slides/_rels/slide9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2.xml"/><Relationship Id="rId1" Type="http://schemas.openxmlformats.org/officeDocument/2006/relationships/slideLayout" Target="../slideLayouts/slideLayout9.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9.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9.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46.xml"/><Relationship Id="rId1" Type="http://schemas.openxmlformats.org/officeDocument/2006/relationships/slideLayout" Target="../slideLayouts/slideLayout9.xml"/></Relationships>
</file>

<file path=ppt/slides/_rels/slide9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7.xml"/><Relationship Id="rId1" Type="http://schemas.openxmlformats.org/officeDocument/2006/relationships/slideLayout" Target="../slideLayouts/slideLayout9.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9.xml"/></Relationships>
</file>

<file path=ppt/slides/_rels/slide9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98.xml.rels><?xml version="1.0" encoding="UTF-8" standalone="yes"?>
<Relationships xmlns="http://schemas.openxmlformats.org/package/2006/relationships"><Relationship Id="rId3" Type="http://schemas.openxmlformats.org/officeDocument/2006/relationships/hyperlink" Target="https://192.168.20.10/" TargetMode="External"/><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99.xml.rels><?xml version="1.0" encoding="UTF-8" standalone="yes"?>
<Relationships xmlns="http://schemas.openxmlformats.org/package/2006/relationships"><Relationship Id="rId3" Type="http://schemas.openxmlformats.org/officeDocument/2006/relationships/hyperlink" Target="https://192.168.20.10/" TargetMode="External"/><Relationship Id="rId2" Type="http://schemas.openxmlformats.org/officeDocument/2006/relationships/notesSlide" Target="../notesSlides/notesSlide51.xml"/><Relationship Id="rId1" Type="http://schemas.openxmlformats.org/officeDocument/2006/relationships/slideLayout" Target="../slideLayouts/slideLayout9.xml"/><Relationship Id="rId4" Type="http://schemas.openxmlformats.org/officeDocument/2006/relationships/image" Target="../media/image23.PNG"/></Relationships>
</file>

<file path=ppt/slides/_rels/slide10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10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2"/>
            </a:gs>
            <a:gs pos="27000">
              <a:schemeClr val="dk2"/>
            </a:gs>
            <a:gs pos="100000">
              <a:schemeClr val="lt1"/>
            </a:gs>
          </a:gsLst>
          <a:lin ang="8100019" scaled="0"/>
        </a:gradFill>
        <a:effectLst/>
      </p:bgPr>
    </p:bg>
    <p:spTree>
      <p:nvGrpSpPr>
        <p:cNvPr id="1" name="Shape 170"/>
        <p:cNvGrpSpPr/>
        <p:nvPr/>
      </p:nvGrpSpPr>
      <p:grpSpPr>
        <a:xfrm>
          <a:off x="0" y="0"/>
          <a:ext cx="0" cy="0"/>
          <a:chOff x="0" y="0"/>
          <a:chExt cx="0" cy="0"/>
        </a:xfrm>
      </p:grpSpPr>
      <p:sp>
        <p:nvSpPr>
          <p:cNvPr id="171" name="Google Shape;171;p29"/>
          <p:cNvSpPr txBox="1">
            <a:spLocks noGrp="1"/>
          </p:cNvSpPr>
          <p:nvPr>
            <p:ph type="ctrTitle"/>
          </p:nvPr>
        </p:nvSpPr>
        <p:spPr>
          <a:xfrm>
            <a:off x="1473525" y="2562750"/>
            <a:ext cx="6196800" cy="151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t>Computer Networking</a:t>
            </a:r>
            <a:r>
              <a:rPr lang="en" dirty="0"/>
              <a:t> </a:t>
            </a:r>
            <a:r>
              <a:rPr lang="en" b="1" dirty="0">
                <a:solidFill>
                  <a:schemeClr val="accent2"/>
                </a:solidFill>
              </a:rPr>
              <a:t>CCNA 200-301</a:t>
            </a:r>
            <a:endParaRPr b="1" dirty="0"/>
          </a:p>
        </p:txBody>
      </p:sp>
      <p:pic>
        <p:nvPicPr>
          <p:cNvPr id="173" name="Google Shape;173;p29"/>
          <p:cNvPicPr preferRelativeResize="0">
            <a:picLocks noGrp="1"/>
          </p:cNvPicPr>
          <p:nvPr>
            <p:ph type="pic" idx="2"/>
          </p:nvPr>
        </p:nvPicPr>
        <p:blipFill rotWithShape="1">
          <a:blip r:embed="rId3">
            <a:alphaModFix/>
          </a:blip>
          <a:srcRect t="40896" b="23395"/>
          <a:stretch/>
        </p:blipFill>
        <p:spPr>
          <a:xfrm>
            <a:off x="0" y="0"/>
            <a:ext cx="9144003" cy="217619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23AD8B-9C89-45E6-9229-24F01EDE128D}"/>
              </a:ext>
            </a:extLst>
          </p:cNvPr>
          <p:cNvSpPr>
            <a:spLocks noGrp="1"/>
          </p:cNvSpPr>
          <p:nvPr>
            <p:ph type="title"/>
          </p:nvPr>
        </p:nvSpPr>
        <p:spPr>
          <a:xfrm>
            <a:off x="626866" y="398317"/>
            <a:ext cx="7704000" cy="572700"/>
          </a:xfrm>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2CF795C4-3D8C-584A-7E90-CFF5EA566A69}"/>
              </a:ext>
            </a:extLst>
          </p:cNvPr>
          <p:cNvSpPr>
            <a:spLocks noGrp="1"/>
          </p:cNvSpPr>
          <p:nvPr>
            <p:ph type="body" idx="1"/>
          </p:nvPr>
        </p:nvSpPr>
        <p:spPr>
          <a:xfrm>
            <a:off x="720000" y="1008750"/>
            <a:ext cx="3574800" cy="3126000"/>
          </a:xfrm>
        </p:spPr>
        <p:txBody>
          <a:bodyPr/>
          <a:lstStyle/>
          <a:p>
            <a:pPr marL="139700" indent="0">
              <a:buNone/>
            </a:pPr>
            <a:r>
              <a:rPr lang="en-US" b="1" dirty="0"/>
              <a:t>         </a:t>
            </a:r>
            <a:r>
              <a:rPr lang="en-US" b="1" u="sng" dirty="0"/>
              <a:t>Module 1 Network Fundamentals</a:t>
            </a:r>
          </a:p>
          <a:p>
            <a:pPr marL="139700" indent="0">
              <a:buNone/>
            </a:pPr>
            <a:endParaRPr lang="en-US" b="1" dirty="0"/>
          </a:p>
          <a:p>
            <a:pPr marL="139700" indent="0">
              <a:buNone/>
            </a:pPr>
            <a:endParaRPr lang="en-US" b="1" dirty="0"/>
          </a:p>
          <a:p>
            <a:pPr>
              <a:buFont typeface="+mj-lt"/>
              <a:buAutoNum type="arabicPeriod"/>
            </a:pPr>
            <a:r>
              <a:rPr lang="en-US" dirty="0"/>
              <a:t>Explain Role and Function of Network Components : Routers, Switches, Firewall, IPs, WLC, AP, Endpoints, Servers</a:t>
            </a:r>
          </a:p>
          <a:p>
            <a:pPr>
              <a:buFont typeface="+mj-lt"/>
              <a:buAutoNum type="arabicPeriod"/>
            </a:pPr>
            <a:endParaRPr lang="en-US" dirty="0"/>
          </a:p>
          <a:p>
            <a:pPr>
              <a:buFont typeface="+mj-lt"/>
              <a:buAutoNum type="arabicPeriod"/>
            </a:pPr>
            <a:r>
              <a:rPr lang="en-US" dirty="0"/>
              <a:t>OSI Reference Model and TCP/ IP Model</a:t>
            </a:r>
          </a:p>
          <a:p>
            <a:pPr>
              <a:buFont typeface="+mj-lt"/>
              <a:buAutoNum type="arabicPeriod"/>
            </a:pPr>
            <a:endParaRPr lang="en-US" dirty="0"/>
          </a:p>
          <a:p>
            <a:pPr>
              <a:buFont typeface="+mj-lt"/>
              <a:buAutoNum type="arabicPeriod"/>
            </a:pPr>
            <a:r>
              <a:rPr lang="en-US" dirty="0"/>
              <a:t>IPv4 Addressing and Subnetting</a:t>
            </a:r>
          </a:p>
          <a:p>
            <a:pPr>
              <a:buFont typeface="+mj-lt"/>
              <a:buAutoNum type="arabicPeriod"/>
            </a:pPr>
            <a:endParaRPr lang="en-US" dirty="0"/>
          </a:p>
          <a:p>
            <a:pPr>
              <a:buFont typeface="+mj-lt"/>
              <a:buAutoNum type="arabicPeriod"/>
            </a:pPr>
            <a:r>
              <a:rPr lang="en-US" dirty="0"/>
              <a:t>IPv6 Addressing and IPv6 address Types</a:t>
            </a:r>
          </a:p>
          <a:p>
            <a:endParaRPr lang="en-PK" dirty="0"/>
          </a:p>
        </p:txBody>
      </p:sp>
      <p:sp>
        <p:nvSpPr>
          <p:cNvPr id="4" name="Text Placeholder 3">
            <a:extLst>
              <a:ext uri="{FF2B5EF4-FFF2-40B4-BE49-F238E27FC236}">
                <a16:creationId xmlns:a16="http://schemas.microsoft.com/office/drawing/2014/main" id="{CC0B6BE5-6ECB-F1EB-08BA-92F5BF3F34E9}"/>
              </a:ext>
            </a:extLst>
          </p:cNvPr>
          <p:cNvSpPr>
            <a:spLocks noGrp="1"/>
          </p:cNvSpPr>
          <p:nvPr>
            <p:ph type="body" idx="2"/>
          </p:nvPr>
        </p:nvSpPr>
        <p:spPr>
          <a:xfrm>
            <a:off x="4849202" y="1008750"/>
            <a:ext cx="3574800" cy="3126000"/>
          </a:xfrm>
        </p:spPr>
        <p:txBody>
          <a:bodyPr/>
          <a:lstStyle/>
          <a:p>
            <a:pPr marL="139700" indent="0">
              <a:buNone/>
            </a:pPr>
            <a:r>
              <a:rPr lang="en-US" b="1" u="sng" dirty="0"/>
              <a:t>Module 2 Basic Configuration of Router and Lan Switching</a:t>
            </a:r>
          </a:p>
          <a:p>
            <a:endParaRPr lang="en-US" dirty="0"/>
          </a:p>
          <a:p>
            <a:pPr>
              <a:buFont typeface="+mj-lt"/>
              <a:buAutoNum type="arabicPeriod"/>
            </a:pPr>
            <a:r>
              <a:rPr lang="en-US" dirty="0"/>
              <a:t>Modes of Router</a:t>
            </a:r>
          </a:p>
          <a:p>
            <a:pPr>
              <a:buFont typeface="+mj-lt"/>
              <a:buAutoNum type="arabicPeriod"/>
            </a:pPr>
            <a:r>
              <a:rPr lang="en-US" dirty="0"/>
              <a:t>Basic Security of Router (Passwords) and Configuration of IP on Router</a:t>
            </a:r>
          </a:p>
          <a:p>
            <a:pPr>
              <a:buFont typeface="+mj-lt"/>
              <a:buAutoNum type="arabicPeriod"/>
            </a:pPr>
            <a:r>
              <a:rPr lang="en-US" dirty="0"/>
              <a:t>Point to Point connectivity of Routers</a:t>
            </a:r>
          </a:p>
          <a:p>
            <a:pPr>
              <a:buFont typeface="+mj-lt"/>
              <a:buAutoNum type="arabicPeriod"/>
            </a:pPr>
            <a:r>
              <a:rPr lang="en-US" dirty="0"/>
              <a:t>Configure and Verify Layer2 Discovery Protocols (CDP and LLDP)</a:t>
            </a:r>
          </a:p>
          <a:p>
            <a:pPr>
              <a:buFont typeface="+mj-lt"/>
              <a:buAutoNum type="arabicPeriod"/>
            </a:pPr>
            <a:r>
              <a:rPr lang="en-US" dirty="0"/>
              <a:t>Basic Operation of Switch (Collision Domain and Broadcast Domain)</a:t>
            </a:r>
          </a:p>
          <a:p>
            <a:pPr>
              <a:buFont typeface="+mj-lt"/>
              <a:buAutoNum type="arabicPeriod"/>
            </a:pPr>
            <a:r>
              <a:rPr lang="en-US" dirty="0"/>
              <a:t>Spanning-tree Protocol (PVST, RSTP), Port states and Port fast</a:t>
            </a:r>
          </a:p>
          <a:p>
            <a:pPr>
              <a:buFont typeface="+mj-lt"/>
              <a:buAutoNum type="arabicPeriod"/>
            </a:pPr>
            <a:r>
              <a:rPr lang="en-US" dirty="0"/>
              <a:t>Configure and Verify VLANS and Inter-switch Connectivity (Trunk ports, 802.Iq)</a:t>
            </a:r>
          </a:p>
          <a:p>
            <a:pPr>
              <a:buFont typeface="+mj-lt"/>
              <a:buAutoNum type="arabicPeriod"/>
            </a:pPr>
            <a:r>
              <a:rPr lang="en-US" dirty="0"/>
              <a:t>Ether-channel</a:t>
            </a:r>
          </a:p>
          <a:p>
            <a:pPr>
              <a:buFont typeface="+mj-lt"/>
              <a:buAutoNum type="arabicPeriod"/>
            </a:pPr>
            <a:r>
              <a:rPr lang="en-US" dirty="0"/>
              <a:t>Cisco Wireless Architecture and AP modes</a:t>
            </a:r>
          </a:p>
          <a:p>
            <a:pPr>
              <a:buFont typeface="+mj-lt"/>
              <a:buAutoNum type="arabicPeriod"/>
            </a:pPr>
            <a:r>
              <a:rPr lang="en-US" dirty="0"/>
              <a:t>Configuration of Wireless Lan Controller and AP Using GUI (WPA, WPA2, PSK)</a:t>
            </a:r>
          </a:p>
          <a:p>
            <a:endParaRPr lang="en-PK" dirty="0"/>
          </a:p>
        </p:txBody>
      </p:sp>
    </p:spTree>
    <p:extLst>
      <p:ext uri="{BB962C8B-B14F-4D97-AF65-F5344CB8AC3E}">
        <p14:creationId xmlns:p14="http://schemas.microsoft.com/office/powerpoint/2010/main" val="26204415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5623FD-A352-CF20-8EA0-DB2B003339A8}"/>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6CA907DA-D133-76D8-1CC0-D7C36E682D1F}"/>
              </a:ext>
            </a:extLst>
          </p:cNvPr>
          <p:cNvSpPr>
            <a:spLocks noGrp="1"/>
          </p:cNvSpPr>
          <p:nvPr>
            <p:ph type="body" idx="1"/>
          </p:nvPr>
        </p:nvSpPr>
        <p:spPr/>
        <p:txBody>
          <a:bodyPr/>
          <a:lstStyle/>
          <a:p>
            <a:pPr marL="139700" indent="0">
              <a:buNone/>
            </a:pPr>
            <a:r>
              <a:rPr lang="en-US" b="1" u="sng" dirty="0"/>
              <a:t>Module 3 IP Routing</a:t>
            </a:r>
          </a:p>
          <a:p>
            <a:pPr marL="139700" indent="0">
              <a:buNone/>
            </a:pPr>
            <a:endParaRPr lang="en-US" b="1" u="sng" dirty="0"/>
          </a:p>
          <a:p>
            <a:pPr marL="368300" indent="-228600">
              <a:buFont typeface="+mj-lt"/>
              <a:buAutoNum type="arabicPeriod"/>
            </a:pPr>
            <a:r>
              <a:rPr lang="en-US" dirty="0"/>
              <a:t>Static Routing with IPv4 and IPv6, floating static route and Default route</a:t>
            </a:r>
          </a:p>
          <a:p>
            <a:pPr marL="368300" indent="-228600">
              <a:buFont typeface="+mj-lt"/>
              <a:buAutoNum type="arabicPeriod"/>
            </a:pPr>
            <a:endParaRPr lang="en-US" dirty="0"/>
          </a:p>
          <a:p>
            <a:pPr marL="368300" indent="-228600">
              <a:buFont typeface="+mj-lt"/>
              <a:buAutoNum type="arabicPeriod"/>
            </a:pPr>
            <a:r>
              <a:rPr lang="en-US" dirty="0"/>
              <a:t>Configure and Verify Single area OSPF</a:t>
            </a:r>
          </a:p>
          <a:p>
            <a:pPr marL="368300" indent="-228600">
              <a:buFont typeface="+mj-lt"/>
              <a:buAutoNum type="arabicPeriod"/>
            </a:pPr>
            <a:endParaRPr lang="en-US" dirty="0"/>
          </a:p>
          <a:p>
            <a:pPr marL="368300" indent="-228600">
              <a:buFont typeface="+mj-lt"/>
              <a:buAutoNum type="arabicPeriod"/>
            </a:pPr>
            <a:r>
              <a:rPr lang="en-US" dirty="0"/>
              <a:t>DR and BDR election. Point to point, Concept of Router-ID</a:t>
            </a:r>
          </a:p>
          <a:p>
            <a:endParaRPr lang="en-PK" dirty="0"/>
          </a:p>
        </p:txBody>
      </p:sp>
      <p:sp>
        <p:nvSpPr>
          <p:cNvPr id="4" name="Text Placeholder 3">
            <a:extLst>
              <a:ext uri="{FF2B5EF4-FFF2-40B4-BE49-F238E27FC236}">
                <a16:creationId xmlns:a16="http://schemas.microsoft.com/office/drawing/2014/main" id="{CA9845EB-6CB3-C181-C3BC-1392C51E3DB3}"/>
              </a:ext>
            </a:extLst>
          </p:cNvPr>
          <p:cNvSpPr>
            <a:spLocks noGrp="1"/>
          </p:cNvSpPr>
          <p:nvPr>
            <p:ph type="body" idx="2"/>
          </p:nvPr>
        </p:nvSpPr>
        <p:spPr/>
        <p:txBody>
          <a:bodyPr/>
          <a:lstStyle/>
          <a:p>
            <a:pPr marL="139700" indent="0">
              <a:buNone/>
            </a:pPr>
            <a:r>
              <a:rPr lang="en-US" b="1" u="sng" dirty="0"/>
              <a:t>Module 4 IP Services</a:t>
            </a:r>
          </a:p>
          <a:p>
            <a:pPr marL="139700" indent="0">
              <a:buNone/>
            </a:pPr>
            <a:endParaRPr lang="en-US" dirty="0"/>
          </a:p>
          <a:p>
            <a:pPr marL="368300" indent="-228600">
              <a:buFont typeface="+mj-lt"/>
              <a:buAutoNum type="arabicPeriod"/>
            </a:pPr>
            <a:r>
              <a:rPr lang="en-US" dirty="0"/>
              <a:t>NAT</a:t>
            </a:r>
          </a:p>
          <a:p>
            <a:pPr marL="368300" indent="-228600">
              <a:buFont typeface="+mj-lt"/>
              <a:buAutoNum type="arabicPeriod"/>
            </a:pPr>
            <a:endParaRPr lang="en-US" dirty="0"/>
          </a:p>
          <a:p>
            <a:pPr marL="368300" indent="-228600">
              <a:buFont typeface="+mj-lt"/>
              <a:buAutoNum type="arabicPeriod"/>
            </a:pPr>
            <a:r>
              <a:rPr lang="en-US" dirty="0"/>
              <a:t>Configure and Verify NTP</a:t>
            </a:r>
          </a:p>
          <a:p>
            <a:pPr marL="368300" indent="-228600">
              <a:buFont typeface="+mj-lt"/>
              <a:buAutoNum type="arabicPeriod"/>
            </a:pPr>
            <a:endParaRPr lang="en-US" dirty="0"/>
          </a:p>
          <a:p>
            <a:pPr marL="368300" indent="-228600">
              <a:buFont typeface="+mj-lt"/>
              <a:buAutoNum type="arabicPeriod"/>
            </a:pPr>
            <a:r>
              <a:rPr lang="en-US" dirty="0"/>
              <a:t>Describe DNS, SNMP, Syslog, QOS, Function of FTP and TFPF in network</a:t>
            </a:r>
          </a:p>
          <a:p>
            <a:pPr marL="368300" indent="-228600">
              <a:buFont typeface="+mj-lt"/>
              <a:buAutoNum type="arabicPeriod"/>
            </a:pPr>
            <a:endParaRPr lang="en-US" dirty="0"/>
          </a:p>
          <a:p>
            <a:pPr marL="368300" indent="-228600">
              <a:buFont typeface="+mj-lt"/>
              <a:buAutoNum type="arabicPeriod"/>
            </a:pPr>
            <a:r>
              <a:rPr lang="en-US" dirty="0"/>
              <a:t>Configuration of DHCP, telnet and SSH</a:t>
            </a:r>
          </a:p>
          <a:p>
            <a:pPr marL="368300" indent="-228600">
              <a:buFont typeface="+mj-lt"/>
              <a:buAutoNum type="arabicPeriod"/>
            </a:pPr>
            <a:endParaRPr lang="en-US" dirty="0"/>
          </a:p>
          <a:p>
            <a:pPr marL="368300" indent="-228600">
              <a:buFont typeface="+mj-lt"/>
              <a:buAutoNum type="arabicPeriod"/>
            </a:pPr>
            <a:r>
              <a:rPr lang="en-US" dirty="0"/>
              <a:t>Describe the function of First hop redundancy protocol (HSRP, VRRP, GLBP)</a:t>
            </a:r>
          </a:p>
          <a:p>
            <a:endParaRPr lang="en-PK" dirty="0"/>
          </a:p>
        </p:txBody>
      </p:sp>
    </p:spTree>
    <p:extLst>
      <p:ext uri="{BB962C8B-B14F-4D97-AF65-F5344CB8AC3E}">
        <p14:creationId xmlns:p14="http://schemas.microsoft.com/office/powerpoint/2010/main" val="101280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EE969-00E8-7A11-69BD-BDDBC850DBFA}"/>
              </a:ext>
            </a:extLst>
          </p:cNvPr>
          <p:cNvSpPr>
            <a:spLocks noGrp="1"/>
          </p:cNvSpPr>
          <p:nvPr>
            <p:ph type="title"/>
          </p:nvPr>
        </p:nvSpPr>
        <p:spPr/>
        <p:txBody>
          <a:bodyPr/>
          <a:lstStyle/>
          <a:p>
            <a:r>
              <a:rPr lang="en-US" dirty="0"/>
              <a:t>Course Outline</a:t>
            </a:r>
            <a:endParaRPr lang="en-PK" dirty="0"/>
          </a:p>
        </p:txBody>
      </p:sp>
      <p:sp>
        <p:nvSpPr>
          <p:cNvPr id="3" name="Text Placeholder 2">
            <a:extLst>
              <a:ext uri="{FF2B5EF4-FFF2-40B4-BE49-F238E27FC236}">
                <a16:creationId xmlns:a16="http://schemas.microsoft.com/office/drawing/2014/main" id="{F43FA2C1-3BF8-0943-2EEC-DF30B67DE23F}"/>
              </a:ext>
            </a:extLst>
          </p:cNvPr>
          <p:cNvSpPr>
            <a:spLocks noGrp="1"/>
          </p:cNvSpPr>
          <p:nvPr>
            <p:ph type="body" idx="1"/>
          </p:nvPr>
        </p:nvSpPr>
        <p:spPr/>
        <p:txBody>
          <a:bodyPr/>
          <a:lstStyle/>
          <a:p>
            <a:pPr marL="139700" indent="0">
              <a:buNone/>
            </a:pPr>
            <a:r>
              <a:rPr lang="en-US" b="1" u="sng" dirty="0"/>
              <a:t>Module 5 Security Fundamentals</a:t>
            </a:r>
          </a:p>
          <a:p>
            <a:pPr marL="139700" indent="0">
              <a:buNone/>
            </a:pPr>
            <a:endParaRPr lang="en-US" b="1" u="sng" dirty="0"/>
          </a:p>
          <a:p>
            <a:pPr marL="368300" indent="-228600">
              <a:buFont typeface="+mj-lt"/>
              <a:buAutoNum type="arabicPeriod"/>
            </a:pPr>
            <a:r>
              <a:rPr lang="en-US" dirty="0"/>
              <a:t>Configure and Verify Access control List</a:t>
            </a:r>
          </a:p>
          <a:p>
            <a:pPr marL="368300" indent="-228600">
              <a:buFont typeface="+mj-lt"/>
              <a:buAutoNum type="arabicPeriod"/>
            </a:pPr>
            <a:endParaRPr lang="en-US" dirty="0"/>
          </a:p>
          <a:p>
            <a:pPr marL="368300" indent="-228600">
              <a:buFont typeface="+mj-lt"/>
              <a:buAutoNum type="arabicPeriod"/>
            </a:pPr>
            <a:r>
              <a:rPr lang="en-US" dirty="0"/>
              <a:t>Describe VPN Technologies (Site-to-site VPN and Remote access VPN)</a:t>
            </a:r>
          </a:p>
          <a:p>
            <a:pPr marL="368300" indent="-228600">
              <a:buFont typeface="+mj-lt"/>
              <a:buAutoNum type="arabicPeriod"/>
            </a:pPr>
            <a:endParaRPr lang="en-US" dirty="0"/>
          </a:p>
          <a:p>
            <a:pPr marL="368300" indent="-228600">
              <a:buFont typeface="+mj-lt"/>
              <a:buAutoNum type="arabicPeriod"/>
            </a:pPr>
            <a:r>
              <a:rPr lang="en-US" dirty="0"/>
              <a:t>Describe Authentication, Authorization and Accounting (AAA)</a:t>
            </a:r>
          </a:p>
          <a:p>
            <a:pPr marL="368300" indent="-228600">
              <a:buFont typeface="+mj-lt"/>
              <a:buAutoNum type="arabicPeriod"/>
            </a:pPr>
            <a:endParaRPr lang="en-US" dirty="0"/>
          </a:p>
          <a:p>
            <a:pPr marL="368300" indent="-228600">
              <a:buFont typeface="+mj-lt"/>
              <a:buAutoNum type="arabicPeriod"/>
            </a:pPr>
            <a:r>
              <a:rPr lang="en-US" dirty="0"/>
              <a:t>Configure Port Security, DHCP Snooping and Dynamic ARP Inspection</a:t>
            </a:r>
          </a:p>
          <a:p>
            <a:endParaRPr lang="en-PK" dirty="0"/>
          </a:p>
        </p:txBody>
      </p:sp>
      <p:sp>
        <p:nvSpPr>
          <p:cNvPr id="4" name="Text Placeholder 3">
            <a:extLst>
              <a:ext uri="{FF2B5EF4-FFF2-40B4-BE49-F238E27FC236}">
                <a16:creationId xmlns:a16="http://schemas.microsoft.com/office/drawing/2014/main" id="{97641281-3B19-5473-AF2C-C151D36D501E}"/>
              </a:ext>
            </a:extLst>
          </p:cNvPr>
          <p:cNvSpPr>
            <a:spLocks noGrp="1"/>
          </p:cNvSpPr>
          <p:nvPr>
            <p:ph type="body" idx="2"/>
          </p:nvPr>
        </p:nvSpPr>
        <p:spPr/>
        <p:txBody>
          <a:bodyPr/>
          <a:lstStyle/>
          <a:p>
            <a:pPr marL="139700" indent="0">
              <a:buNone/>
            </a:pPr>
            <a:r>
              <a:rPr lang="en-US" b="1" u="sng" dirty="0"/>
              <a:t>Module 6 Automation and Programmability</a:t>
            </a:r>
          </a:p>
          <a:p>
            <a:pPr marL="139700" indent="0">
              <a:buNone/>
            </a:pPr>
            <a:endParaRPr lang="en-US" b="1" u="sng" dirty="0"/>
          </a:p>
          <a:p>
            <a:pPr marL="368300" indent="-228600">
              <a:buFont typeface="+mj-lt"/>
              <a:buAutoNum type="arabicPeriod"/>
            </a:pPr>
            <a:r>
              <a:rPr lang="en-US" dirty="0"/>
              <a:t>Explain how automation impacts network management</a:t>
            </a:r>
          </a:p>
          <a:p>
            <a:pPr marL="368300" indent="-228600">
              <a:buFont typeface="+mj-lt"/>
              <a:buAutoNum type="arabicPeriod"/>
            </a:pPr>
            <a:endParaRPr lang="en-US" dirty="0"/>
          </a:p>
          <a:p>
            <a:pPr marL="368300" indent="-228600">
              <a:buFont typeface="+mj-lt"/>
              <a:buAutoNum type="arabicPeriod"/>
            </a:pPr>
            <a:r>
              <a:rPr lang="en-US" dirty="0"/>
              <a:t>Compare traditional network with controller-based networking</a:t>
            </a:r>
          </a:p>
          <a:p>
            <a:pPr marL="368300" indent="-228600">
              <a:buFont typeface="+mj-lt"/>
              <a:buAutoNum type="arabicPeriod"/>
            </a:pPr>
            <a:endParaRPr lang="en-US" dirty="0"/>
          </a:p>
          <a:p>
            <a:pPr marL="368300" indent="-228600">
              <a:buFont typeface="+mj-lt"/>
              <a:buAutoNum type="arabicPeriod"/>
            </a:pPr>
            <a:r>
              <a:rPr lang="en-US" dirty="0"/>
              <a:t>Compare traditional campus device management with Cisco DNA Center enabled device Management.</a:t>
            </a:r>
          </a:p>
          <a:p>
            <a:endParaRPr lang="en-PK" dirty="0"/>
          </a:p>
        </p:txBody>
      </p:sp>
    </p:spTree>
    <p:extLst>
      <p:ext uri="{BB962C8B-B14F-4D97-AF65-F5344CB8AC3E}">
        <p14:creationId xmlns:p14="http://schemas.microsoft.com/office/powerpoint/2010/main" val="268110595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083BC-3DF6-3F58-625C-8848C10A2FE6}"/>
              </a:ext>
            </a:extLst>
          </p:cNvPr>
          <p:cNvSpPr>
            <a:spLocks noGrp="1"/>
          </p:cNvSpPr>
          <p:nvPr>
            <p:ph type="title"/>
          </p:nvPr>
        </p:nvSpPr>
        <p:spPr/>
        <p:txBody>
          <a:bodyPr/>
          <a:lstStyle/>
          <a:p>
            <a:r>
              <a:rPr lang="en-US" dirty="0"/>
              <a:t>Module 2 Basic Configuration of Router and Lan Switching</a:t>
            </a:r>
          </a:p>
        </p:txBody>
      </p:sp>
      <p:sp>
        <p:nvSpPr>
          <p:cNvPr id="3" name="Text Placeholder 2">
            <a:extLst>
              <a:ext uri="{FF2B5EF4-FFF2-40B4-BE49-F238E27FC236}">
                <a16:creationId xmlns:a16="http://schemas.microsoft.com/office/drawing/2014/main" id="{5D55B719-97A5-6915-1D6C-F1BE14E70F60}"/>
              </a:ext>
            </a:extLst>
          </p:cNvPr>
          <p:cNvSpPr>
            <a:spLocks noGrp="1"/>
          </p:cNvSpPr>
          <p:nvPr>
            <p:ph type="body" idx="1"/>
          </p:nvPr>
        </p:nvSpPr>
        <p:spPr>
          <a:xfrm>
            <a:off x="896534" y="1578367"/>
            <a:ext cx="3574800" cy="3126000"/>
          </a:xfrm>
        </p:spPr>
        <p:txBody>
          <a:bodyPr/>
          <a:lstStyle/>
          <a:p>
            <a:r>
              <a:rPr lang="en-US" dirty="0"/>
              <a:t>Modes of Router</a:t>
            </a:r>
          </a:p>
          <a:p>
            <a:r>
              <a:rPr lang="en-US" dirty="0"/>
              <a:t>Basic Security of Router (Passwords) and Configuration of IP on Router</a:t>
            </a:r>
          </a:p>
          <a:p>
            <a:r>
              <a:rPr lang="en-US" dirty="0"/>
              <a:t>Point to Point connectivity of Routers</a:t>
            </a:r>
          </a:p>
          <a:p>
            <a:r>
              <a:rPr lang="en-US" dirty="0"/>
              <a:t>Configure and Verify Layer2 Discovery Protocols (CDP and LLDP)</a:t>
            </a:r>
          </a:p>
          <a:p>
            <a:r>
              <a:rPr lang="en-US" dirty="0"/>
              <a:t>Basic Operation of Switch (Collision Domain and Broadcast Domain)</a:t>
            </a:r>
          </a:p>
          <a:p>
            <a:r>
              <a:rPr lang="en-US" dirty="0"/>
              <a:t>Spanning-tree Protocol (PVST, RSTP), Port states and Port fast</a:t>
            </a:r>
          </a:p>
          <a:p>
            <a:r>
              <a:rPr lang="en-US" dirty="0"/>
              <a:t>Configure and Verify VLANS and Inter-switch Connectivity (Trunk ports, 802.Iq)</a:t>
            </a:r>
          </a:p>
          <a:p>
            <a:r>
              <a:rPr lang="en-US" dirty="0"/>
              <a:t>Ether-channel</a:t>
            </a:r>
          </a:p>
          <a:p>
            <a:r>
              <a:rPr lang="en-US" dirty="0"/>
              <a:t>Cisco Wireless Architecture and AP modes</a:t>
            </a:r>
          </a:p>
          <a:p>
            <a:r>
              <a:rPr lang="en-US" dirty="0"/>
              <a:t>Configuration of Wireless Lan Controller and AP Using GUI (WPA, WPA2, PSK)</a:t>
            </a:r>
          </a:p>
          <a:p>
            <a:endParaRPr lang="en-PK" dirty="0"/>
          </a:p>
        </p:txBody>
      </p:sp>
      <p:sp>
        <p:nvSpPr>
          <p:cNvPr id="4" name="Text Placeholder 2">
            <a:extLst>
              <a:ext uri="{FF2B5EF4-FFF2-40B4-BE49-F238E27FC236}">
                <a16:creationId xmlns:a16="http://schemas.microsoft.com/office/drawing/2014/main" id="{73C56747-F87C-A06C-4239-07ADA05652F8}"/>
              </a:ext>
            </a:extLst>
          </p:cNvPr>
          <p:cNvSpPr txBox="1">
            <a:spLocks/>
          </p:cNvSpPr>
          <p:nvPr/>
        </p:nvSpPr>
        <p:spPr>
          <a:xfrm>
            <a:off x="5239934" y="1662508"/>
            <a:ext cx="3574800" cy="2883567"/>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17500" algn="l" rtl="0">
              <a:lnSpc>
                <a:spcPct val="100000"/>
              </a:lnSpc>
              <a:spcBef>
                <a:spcPts val="0"/>
              </a:spcBef>
              <a:spcAft>
                <a:spcPts val="0"/>
              </a:spcAft>
              <a:buClr>
                <a:schemeClr val="accent2"/>
              </a:buClr>
              <a:buSzPts val="1400"/>
              <a:buFont typeface="Georama"/>
              <a:buChar char="●"/>
              <a:defRPr sz="1200" b="0" i="0" u="none" strike="noStrike" cap="none">
                <a:solidFill>
                  <a:schemeClr val="dk1"/>
                </a:solidFill>
                <a:latin typeface="Encode Sans"/>
                <a:ea typeface="Encode Sans"/>
                <a:cs typeface="Encode Sans"/>
                <a:sym typeface="Encode Sans"/>
              </a:defRPr>
            </a:lvl1pPr>
            <a:lvl2pPr marL="914400" marR="0" lvl="1"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2pPr>
            <a:lvl3pPr marL="1371600" marR="0" lvl="2"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3pPr>
            <a:lvl4pPr marL="1828800" marR="0" lvl="3"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4pPr>
            <a:lvl5pPr marL="2286000" marR="0" lvl="4"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5pPr>
            <a:lvl6pPr marL="2743200" marR="0" lvl="5"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6pPr>
            <a:lvl7pPr marL="3200400" marR="0" lvl="6"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7pPr>
            <a:lvl8pPr marL="3657600" marR="0" lvl="7"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8pPr>
            <a:lvl9pPr marL="4114800" marR="0" lvl="8" indent="-317500" algn="l" rtl="0">
              <a:lnSpc>
                <a:spcPct val="115000"/>
              </a:lnSpc>
              <a:spcBef>
                <a:spcPts val="0"/>
              </a:spcBef>
              <a:spcAft>
                <a:spcPts val="0"/>
              </a:spcAft>
              <a:buClr>
                <a:schemeClr val="dk1"/>
              </a:buClr>
              <a:buSzPts val="1400"/>
              <a:buFont typeface="Red Hat Display"/>
              <a:buChar char="■"/>
              <a:defRPr sz="1200" b="0" i="0" u="none" strike="noStrike" cap="none">
                <a:solidFill>
                  <a:schemeClr val="dk1"/>
                </a:solidFill>
                <a:latin typeface="Encode Sans"/>
                <a:ea typeface="Encode Sans"/>
                <a:cs typeface="Encode Sans"/>
                <a:sym typeface="Encode Sans"/>
              </a:defRPr>
            </a:lvl9pPr>
          </a:lstStyle>
          <a:p>
            <a:r>
              <a:rPr lang="en-US" dirty="0"/>
              <a:t>Telnet and SSH</a:t>
            </a:r>
          </a:p>
        </p:txBody>
      </p:sp>
    </p:spTree>
    <p:extLst>
      <p:ext uri="{BB962C8B-B14F-4D97-AF65-F5344CB8AC3E}">
        <p14:creationId xmlns:p14="http://schemas.microsoft.com/office/powerpoint/2010/main" val="40962573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8EE9F2-8951-DF7C-6089-230E188F1445}"/>
              </a:ext>
            </a:extLst>
          </p:cNvPr>
          <p:cNvSpPr>
            <a:spLocks noGrp="1"/>
          </p:cNvSpPr>
          <p:nvPr>
            <p:ph type="title"/>
          </p:nvPr>
        </p:nvSpPr>
        <p:spPr/>
        <p:txBody>
          <a:bodyPr/>
          <a:lstStyle/>
          <a:p>
            <a:r>
              <a:rPr lang="en-US" dirty="0"/>
              <a:t>How to Connect a Router/Switch with a PC/Laptop</a:t>
            </a:r>
            <a:endParaRPr lang="en-PK" dirty="0"/>
          </a:p>
        </p:txBody>
      </p:sp>
      <p:sp>
        <p:nvSpPr>
          <p:cNvPr id="3" name="Text Placeholder 2">
            <a:extLst>
              <a:ext uri="{FF2B5EF4-FFF2-40B4-BE49-F238E27FC236}">
                <a16:creationId xmlns:a16="http://schemas.microsoft.com/office/drawing/2014/main" id="{85BDE5AC-291E-D240-C339-B7FC74A290F4}"/>
              </a:ext>
            </a:extLst>
          </p:cNvPr>
          <p:cNvSpPr>
            <a:spLocks noGrp="1"/>
          </p:cNvSpPr>
          <p:nvPr>
            <p:ph type="body" idx="1"/>
          </p:nvPr>
        </p:nvSpPr>
        <p:spPr>
          <a:xfrm>
            <a:off x="720000" y="1768866"/>
            <a:ext cx="3768600" cy="1799833"/>
          </a:xfrm>
        </p:spPr>
        <p:txBody>
          <a:bodyPr/>
          <a:lstStyle/>
          <a:p>
            <a:pPr marL="139700" indent="0">
              <a:buNone/>
            </a:pPr>
            <a:r>
              <a:rPr lang="en-US" sz="1600" dirty="0">
                <a:solidFill>
                  <a:srgbClr val="00B0F0"/>
                </a:solidFill>
              </a:rPr>
              <a:t>1. Physical Connectivity</a:t>
            </a:r>
          </a:p>
          <a:p>
            <a:endParaRPr lang="en-US" b="1" dirty="0"/>
          </a:p>
          <a:p>
            <a:r>
              <a:rPr lang="en-US" dirty="0"/>
              <a:t>Connect the laptop and router using a </a:t>
            </a:r>
            <a:r>
              <a:rPr lang="en-US" b="1" dirty="0"/>
              <a:t>console cable</a:t>
            </a:r>
          </a:p>
          <a:p>
            <a:endParaRPr lang="en-US" b="1" dirty="0"/>
          </a:p>
          <a:p>
            <a:r>
              <a:rPr lang="en-US" dirty="0"/>
              <a:t>Laptop ----- console cable ----- Router/Switch</a:t>
            </a:r>
          </a:p>
          <a:p>
            <a:endParaRPr lang="en-PK" dirty="0"/>
          </a:p>
        </p:txBody>
      </p:sp>
      <p:sp>
        <p:nvSpPr>
          <p:cNvPr id="4" name="Text Placeholder 3">
            <a:extLst>
              <a:ext uri="{FF2B5EF4-FFF2-40B4-BE49-F238E27FC236}">
                <a16:creationId xmlns:a16="http://schemas.microsoft.com/office/drawing/2014/main" id="{C2984E91-8865-9E67-6921-0E1CFBFE758F}"/>
              </a:ext>
            </a:extLst>
          </p:cNvPr>
          <p:cNvSpPr>
            <a:spLocks noGrp="1"/>
          </p:cNvSpPr>
          <p:nvPr>
            <p:ph type="body" idx="2"/>
          </p:nvPr>
        </p:nvSpPr>
        <p:spPr>
          <a:xfrm>
            <a:off x="5070600" y="1768866"/>
            <a:ext cx="3574800" cy="2096167"/>
          </a:xfrm>
        </p:spPr>
        <p:txBody>
          <a:bodyPr/>
          <a:lstStyle/>
          <a:p>
            <a:pPr marL="139700" indent="0">
              <a:buNone/>
            </a:pPr>
            <a:r>
              <a:rPr lang="en-US" sz="1600" dirty="0">
                <a:solidFill>
                  <a:srgbClr val="00B0F0"/>
                </a:solidFill>
              </a:rPr>
              <a:t>2. Logical Connectivity</a:t>
            </a:r>
          </a:p>
          <a:p>
            <a:pPr marL="139700" indent="0">
              <a:buNone/>
            </a:pPr>
            <a:endParaRPr lang="en-US" dirty="0"/>
          </a:p>
          <a:p>
            <a:pPr marL="139700" indent="0">
              <a:buNone/>
            </a:pPr>
            <a:r>
              <a:rPr lang="en-US" dirty="0"/>
              <a:t>Use software or applications to establish a connection, such as:</a:t>
            </a:r>
          </a:p>
          <a:p>
            <a:pPr>
              <a:buFont typeface="Arial" panose="020B0604020202020204" pitchFamily="34" charset="0"/>
              <a:buChar char="•"/>
            </a:pPr>
            <a:r>
              <a:rPr lang="en-US" dirty="0"/>
              <a:t>Secure CRT</a:t>
            </a:r>
          </a:p>
          <a:p>
            <a:pPr>
              <a:buFont typeface="Arial" panose="020B0604020202020204" pitchFamily="34" charset="0"/>
              <a:buChar char="•"/>
            </a:pPr>
            <a:r>
              <a:rPr lang="en-US" dirty="0"/>
              <a:t>3COM</a:t>
            </a:r>
          </a:p>
          <a:p>
            <a:pPr>
              <a:buFont typeface="Arial" panose="020B0604020202020204" pitchFamily="34" charset="0"/>
              <a:buChar char="•"/>
            </a:pPr>
            <a:r>
              <a:rPr lang="en-US" dirty="0"/>
              <a:t>PuTTY</a:t>
            </a:r>
          </a:p>
          <a:p>
            <a:pPr>
              <a:buFont typeface="Arial" panose="020B0604020202020204" pitchFamily="34" charset="0"/>
              <a:buChar char="•"/>
            </a:pPr>
            <a:r>
              <a:rPr lang="en-US" dirty="0"/>
              <a:t>X-shell</a:t>
            </a:r>
          </a:p>
          <a:p>
            <a:pPr>
              <a:buFont typeface="Arial" panose="020B0604020202020204" pitchFamily="34" charset="0"/>
              <a:buChar char="•"/>
            </a:pPr>
            <a:r>
              <a:rPr lang="en-US" dirty="0"/>
              <a:t>HyperTerminal</a:t>
            </a:r>
          </a:p>
          <a:p>
            <a:endParaRPr lang="en-US" dirty="0"/>
          </a:p>
          <a:p>
            <a:endParaRPr lang="en-US" dirty="0"/>
          </a:p>
        </p:txBody>
      </p:sp>
      <p:sp>
        <p:nvSpPr>
          <p:cNvPr id="8" name="TextBox 7">
            <a:extLst>
              <a:ext uri="{FF2B5EF4-FFF2-40B4-BE49-F238E27FC236}">
                <a16:creationId xmlns:a16="http://schemas.microsoft.com/office/drawing/2014/main" id="{1D1C06F8-90B5-C2B5-4F5A-2A722BB27DD3}"/>
              </a:ext>
            </a:extLst>
          </p:cNvPr>
          <p:cNvSpPr txBox="1"/>
          <p:nvPr/>
        </p:nvSpPr>
        <p:spPr>
          <a:xfrm>
            <a:off x="1346201" y="3811842"/>
            <a:ext cx="6544732" cy="584775"/>
          </a:xfrm>
          <a:prstGeom prst="rect">
            <a:avLst/>
          </a:prstGeom>
          <a:noFill/>
        </p:spPr>
        <p:txBody>
          <a:bodyPr wrap="square">
            <a:spAutoFit/>
          </a:bodyPr>
          <a:lstStyle/>
          <a:p>
            <a:pPr marL="139700">
              <a:buClr>
                <a:schemeClr val="accent2"/>
              </a:buClr>
              <a:buSzPts val="1400"/>
            </a:pPr>
            <a:r>
              <a:rPr lang="en-US" sz="1600" dirty="0">
                <a:solidFill>
                  <a:srgbClr val="00B0F0"/>
                </a:solidFill>
                <a:latin typeface="Encode Sans"/>
                <a:sym typeface="Encode Sans"/>
              </a:rPr>
              <a:t>At the CCNA level, HyperTerminal is commonly used.</a:t>
            </a:r>
          </a:p>
          <a:p>
            <a:pPr marL="139700">
              <a:buClr>
                <a:schemeClr val="accent2"/>
              </a:buClr>
              <a:buSzPts val="1400"/>
            </a:pPr>
            <a:r>
              <a:rPr lang="en-US" sz="1600" dirty="0">
                <a:solidFill>
                  <a:srgbClr val="00B0F0"/>
                </a:solidFill>
                <a:latin typeface="Encode Sans"/>
                <a:sym typeface="Encode Sans"/>
              </a:rPr>
              <a:t>Download and install the HyperTerminal</a:t>
            </a:r>
          </a:p>
        </p:txBody>
      </p:sp>
    </p:spTree>
    <p:extLst>
      <p:ext uri="{BB962C8B-B14F-4D97-AF65-F5344CB8AC3E}">
        <p14:creationId xmlns:p14="http://schemas.microsoft.com/office/powerpoint/2010/main" val="385573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1FC23A-D355-85B1-A97F-A0ACECE067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9A9ED4-C374-60B7-08D1-DFF26D4C9BC2}"/>
              </a:ext>
            </a:extLst>
          </p:cNvPr>
          <p:cNvSpPr>
            <a:spLocks noGrp="1"/>
          </p:cNvSpPr>
          <p:nvPr>
            <p:ph type="title"/>
          </p:nvPr>
        </p:nvSpPr>
        <p:spPr/>
        <p:txBody>
          <a:bodyPr/>
          <a:lstStyle/>
          <a:p>
            <a:r>
              <a:rPr lang="en-US" dirty="0"/>
              <a:t>How to Connect a Router/Switch with a PC/Laptop</a:t>
            </a:r>
            <a:endParaRPr lang="en-PK" dirty="0"/>
          </a:p>
        </p:txBody>
      </p:sp>
      <p:sp>
        <p:nvSpPr>
          <p:cNvPr id="3" name="Text Placeholder 2">
            <a:extLst>
              <a:ext uri="{FF2B5EF4-FFF2-40B4-BE49-F238E27FC236}">
                <a16:creationId xmlns:a16="http://schemas.microsoft.com/office/drawing/2014/main" id="{0F24E8EC-D43A-24AB-72F2-DD1442FE5B4A}"/>
              </a:ext>
            </a:extLst>
          </p:cNvPr>
          <p:cNvSpPr>
            <a:spLocks noGrp="1"/>
          </p:cNvSpPr>
          <p:nvPr>
            <p:ph type="body" idx="1"/>
          </p:nvPr>
        </p:nvSpPr>
        <p:spPr>
          <a:xfrm>
            <a:off x="720000" y="1768866"/>
            <a:ext cx="7636600" cy="2396734"/>
          </a:xfrm>
        </p:spPr>
        <p:txBody>
          <a:bodyPr/>
          <a:lstStyle/>
          <a:p>
            <a:pPr marL="139700" indent="0">
              <a:buNone/>
            </a:pPr>
            <a:r>
              <a:rPr lang="en-US" sz="3200" dirty="0">
                <a:solidFill>
                  <a:srgbClr val="00B0F0"/>
                </a:solidFill>
              </a:rPr>
              <a:t>Note: </a:t>
            </a:r>
          </a:p>
          <a:p>
            <a:pPr marL="139700" indent="0">
              <a:buNone/>
            </a:pPr>
            <a:endParaRPr lang="en-US" dirty="0"/>
          </a:p>
          <a:p>
            <a:pPr>
              <a:buFont typeface="Wingdings" panose="05000000000000000000" pitchFamily="2" charset="2"/>
              <a:buChar char="ü"/>
            </a:pPr>
            <a:r>
              <a:rPr lang="en-US" dirty="0"/>
              <a:t>First, you need a physical connection to the router using a console cable. </a:t>
            </a:r>
          </a:p>
          <a:p>
            <a:pPr>
              <a:buFont typeface="Wingdings" panose="05000000000000000000" pitchFamily="2" charset="2"/>
              <a:buChar char="ü"/>
            </a:pPr>
            <a:endParaRPr lang="en-US" dirty="0"/>
          </a:p>
          <a:p>
            <a:pPr>
              <a:buFont typeface="Wingdings" panose="05000000000000000000" pitchFamily="2" charset="2"/>
              <a:buChar char="ü"/>
            </a:pPr>
            <a:r>
              <a:rPr lang="en-US" dirty="0"/>
              <a:t>Once connected physically, you can assign IP addresses to the router.</a:t>
            </a:r>
          </a:p>
          <a:p>
            <a:pPr>
              <a:buFont typeface="Wingdings" panose="05000000000000000000" pitchFamily="2" charset="2"/>
              <a:buChar char="ü"/>
            </a:pPr>
            <a:endParaRPr lang="en-US" dirty="0"/>
          </a:p>
          <a:p>
            <a:pPr>
              <a:buFont typeface="Wingdings" panose="05000000000000000000" pitchFamily="2" charset="2"/>
              <a:buChar char="ü"/>
            </a:pPr>
            <a:r>
              <a:rPr lang="en-US" dirty="0"/>
              <a:t>Without assigning IPs, you cannot configure the router logically. </a:t>
            </a:r>
          </a:p>
          <a:p>
            <a:pPr>
              <a:buFont typeface="Wingdings" panose="05000000000000000000" pitchFamily="2" charset="2"/>
              <a:buChar char="ü"/>
            </a:pPr>
            <a:endParaRPr lang="en-US" dirty="0"/>
          </a:p>
          <a:p>
            <a:pPr>
              <a:buFont typeface="Wingdings" panose="05000000000000000000" pitchFamily="2" charset="2"/>
              <a:buChar char="ü"/>
            </a:pPr>
            <a:r>
              <a:rPr lang="en-US" dirty="0"/>
              <a:t>After the IP addresses are configured, you can manage the router logically using software like PuTTY, HyperTerminal, or SSH.</a:t>
            </a:r>
          </a:p>
          <a:p>
            <a:pPr marL="139700" indent="0">
              <a:buNone/>
            </a:pPr>
            <a:endParaRPr lang="en-US" dirty="0"/>
          </a:p>
          <a:p>
            <a:pPr marL="139700" indent="0">
              <a:buNone/>
            </a:pPr>
            <a:endParaRPr lang="en-US" dirty="0"/>
          </a:p>
        </p:txBody>
      </p:sp>
    </p:spTree>
    <p:extLst>
      <p:ext uri="{BB962C8B-B14F-4D97-AF65-F5344CB8AC3E}">
        <p14:creationId xmlns:p14="http://schemas.microsoft.com/office/powerpoint/2010/main" val="25237427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2D20CF-DFD6-8F51-6A9F-A10DEF99F7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AA60EF-1BC6-F996-A67D-1B732AC42DD8}"/>
              </a:ext>
            </a:extLst>
          </p:cNvPr>
          <p:cNvSpPr>
            <a:spLocks noGrp="1"/>
          </p:cNvSpPr>
          <p:nvPr>
            <p:ph type="title"/>
          </p:nvPr>
        </p:nvSpPr>
        <p:spPr/>
        <p:txBody>
          <a:bodyPr/>
          <a:lstStyle/>
          <a:p>
            <a:r>
              <a:rPr lang="en-US" dirty="0"/>
              <a:t>How to Connect a Router/Switch with a PC/Laptop</a:t>
            </a:r>
            <a:endParaRPr lang="en-PK" dirty="0"/>
          </a:p>
        </p:txBody>
      </p:sp>
      <p:sp>
        <p:nvSpPr>
          <p:cNvPr id="3" name="Text Placeholder 2">
            <a:extLst>
              <a:ext uri="{FF2B5EF4-FFF2-40B4-BE49-F238E27FC236}">
                <a16:creationId xmlns:a16="http://schemas.microsoft.com/office/drawing/2014/main" id="{9F6DDFAB-5044-AA84-78A5-28749E91F9E2}"/>
              </a:ext>
            </a:extLst>
          </p:cNvPr>
          <p:cNvSpPr>
            <a:spLocks noGrp="1"/>
          </p:cNvSpPr>
          <p:nvPr>
            <p:ph type="body" idx="1"/>
          </p:nvPr>
        </p:nvSpPr>
        <p:spPr>
          <a:xfrm>
            <a:off x="720000" y="1700608"/>
            <a:ext cx="7636600" cy="2845467"/>
          </a:xfrm>
        </p:spPr>
        <p:txBody>
          <a:bodyPr/>
          <a:lstStyle/>
          <a:p>
            <a:pPr marL="139700" indent="0">
              <a:buNone/>
            </a:pPr>
            <a:r>
              <a:rPr lang="en-US" sz="1600" dirty="0">
                <a:solidFill>
                  <a:srgbClr val="00B0F0"/>
                </a:solidFill>
              </a:rPr>
              <a:t>Physical Connectivity:</a:t>
            </a:r>
          </a:p>
          <a:p>
            <a:pPr marL="139700" indent="0">
              <a:buNone/>
            </a:pPr>
            <a:endParaRPr lang="en-US" dirty="0"/>
          </a:p>
          <a:p>
            <a:pPr>
              <a:buFont typeface="Wingdings" panose="05000000000000000000" pitchFamily="2" charset="2"/>
              <a:buChar char="ü"/>
            </a:pPr>
            <a:r>
              <a:rPr lang="en-US" dirty="0"/>
              <a:t>Establish a connection using a console cable between the laptop and the router.</a:t>
            </a:r>
          </a:p>
          <a:p>
            <a:pPr>
              <a:buFont typeface="Wingdings" panose="05000000000000000000" pitchFamily="2" charset="2"/>
              <a:buChar char="ü"/>
            </a:pPr>
            <a:endParaRPr lang="en-US" dirty="0"/>
          </a:p>
          <a:p>
            <a:pPr>
              <a:buFont typeface="Wingdings" panose="05000000000000000000" pitchFamily="2" charset="2"/>
              <a:buChar char="ü"/>
            </a:pPr>
            <a:r>
              <a:rPr lang="en-US" dirty="0"/>
              <a:t>Use software like HyperTerminal or PuTTY to access the router's CLI.</a:t>
            </a:r>
          </a:p>
          <a:p>
            <a:pPr>
              <a:buFont typeface="Wingdings" panose="05000000000000000000" pitchFamily="2" charset="2"/>
              <a:buChar char="ü"/>
            </a:pPr>
            <a:endParaRPr lang="en-US" dirty="0"/>
          </a:p>
          <a:p>
            <a:pPr>
              <a:buFont typeface="Wingdings" panose="05000000000000000000" pitchFamily="2" charset="2"/>
              <a:buChar char="ü"/>
            </a:pPr>
            <a:r>
              <a:rPr lang="en-US" dirty="0"/>
              <a:t>Assign IP Addresses ,Configure an IP address on the router via the console connection.</a:t>
            </a:r>
          </a:p>
          <a:p>
            <a:pPr marL="139700" indent="0">
              <a:buNone/>
            </a:pPr>
            <a:endParaRPr lang="en-US" dirty="0"/>
          </a:p>
          <a:p>
            <a:pPr marL="139700" indent="0">
              <a:buNone/>
            </a:pPr>
            <a:endParaRPr lang="en-US" dirty="0"/>
          </a:p>
          <a:p>
            <a:pPr marL="139700" indent="0">
              <a:buNone/>
            </a:pPr>
            <a:r>
              <a:rPr lang="en-US" sz="1600" dirty="0">
                <a:solidFill>
                  <a:srgbClr val="00B0F0"/>
                </a:solidFill>
              </a:rPr>
              <a:t>Logical Connectivity:</a:t>
            </a:r>
          </a:p>
          <a:p>
            <a:pPr marL="139700" indent="0">
              <a:buNone/>
            </a:pPr>
            <a:endParaRPr lang="en-US" sz="1600" dirty="0">
              <a:solidFill>
                <a:srgbClr val="00B0F0"/>
              </a:solidFill>
            </a:endParaRPr>
          </a:p>
          <a:p>
            <a:pPr>
              <a:buFont typeface="Wingdings" panose="05000000000000000000" pitchFamily="2" charset="2"/>
              <a:buChar char="ü"/>
            </a:pPr>
            <a:r>
              <a:rPr lang="en-US" dirty="0"/>
              <a:t>Once IP addresses are configured, you can manage the router remotely.</a:t>
            </a:r>
          </a:p>
          <a:p>
            <a:pPr>
              <a:buFont typeface="Wingdings" panose="05000000000000000000" pitchFamily="2" charset="2"/>
              <a:buChar char="ü"/>
            </a:pPr>
            <a:endParaRPr lang="en-US" dirty="0"/>
          </a:p>
          <a:p>
            <a:pPr>
              <a:buFont typeface="Wingdings" panose="05000000000000000000" pitchFamily="2" charset="2"/>
              <a:buChar char="ü"/>
            </a:pPr>
            <a:r>
              <a:rPr lang="en-US" dirty="0"/>
              <a:t>Use software like PuTTY, SSH, or Telnet for remote access to the router's CLI.</a:t>
            </a:r>
          </a:p>
          <a:p>
            <a:pPr marL="139700" indent="0">
              <a:buNone/>
            </a:pPr>
            <a:endParaRPr lang="en-US" dirty="0"/>
          </a:p>
        </p:txBody>
      </p:sp>
    </p:spTree>
    <p:extLst>
      <p:ext uri="{BB962C8B-B14F-4D97-AF65-F5344CB8AC3E}">
        <p14:creationId xmlns:p14="http://schemas.microsoft.com/office/powerpoint/2010/main" val="5883552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BD082-CC15-B682-2B5E-9166C56B6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828E26F-48E5-1DBB-EDF2-6EBB48E17275}"/>
              </a:ext>
            </a:extLst>
          </p:cNvPr>
          <p:cNvSpPr>
            <a:spLocks noGrp="1"/>
          </p:cNvSpPr>
          <p:nvPr>
            <p:ph type="title"/>
          </p:nvPr>
        </p:nvSpPr>
        <p:spPr/>
        <p:txBody>
          <a:bodyPr/>
          <a:lstStyle/>
          <a:p>
            <a:r>
              <a:rPr lang="en-US" dirty="0"/>
              <a:t>How to Connect a Router/Switch with a PC/Laptop</a:t>
            </a:r>
            <a:endParaRPr lang="en-PK" dirty="0"/>
          </a:p>
        </p:txBody>
      </p:sp>
      <p:sp>
        <p:nvSpPr>
          <p:cNvPr id="3" name="Text Placeholder 2">
            <a:extLst>
              <a:ext uri="{FF2B5EF4-FFF2-40B4-BE49-F238E27FC236}">
                <a16:creationId xmlns:a16="http://schemas.microsoft.com/office/drawing/2014/main" id="{A239FAF9-27D4-A2FE-A380-B405069F2F10}"/>
              </a:ext>
            </a:extLst>
          </p:cNvPr>
          <p:cNvSpPr>
            <a:spLocks noGrp="1"/>
          </p:cNvSpPr>
          <p:nvPr>
            <p:ph type="body" idx="1"/>
          </p:nvPr>
        </p:nvSpPr>
        <p:spPr>
          <a:xfrm>
            <a:off x="406732" y="1768865"/>
            <a:ext cx="4409867" cy="2800034"/>
          </a:xfrm>
        </p:spPr>
        <p:txBody>
          <a:bodyPr/>
          <a:lstStyle/>
          <a:p>
            <a:pPr marL="139700" indent="0">
              <a:buNone/>
            </a:pPr>
            <a:r>
              <a:rPr lang="en-US" sz="1600" dirty="0">
                <a:solidFill>
                  <a:srgbClr val="00B0F0"/>
                </a:solidFill>
              </a:rPr>
              <a:t>1. Physical Connectivity</a:t>
            </a:r>
          </a:p>
          <a:p>
            <a:endParaRPr lang="en-US" b="1" dirty="0"/>
          </a:p>
          <a:p>
            <a:pPr>
              <a:buFont typeface="Wingdings" panose="05000000000000000000" pitchFamily="2" charset="2"/>
              <a:buChar char="q"/>
            </a:pPr>
            <a:r>
              <a:rPr lang="en-US" dirty="0"/>
              <a:t>Connect the laptop and router using a </a:t>
            </a:r>
            <a:r>
              <a:rPr lang="en-US" b="1" dirty="0"/>
              <a:t>console cable</a:t>
            </a:r>
          </a:p>
          <a:p>
            <a:endParaRPr lang="en-US" b="1" dirty="0"/>
          </a:p>
          <a:p>
            <a:pPr>
              <a:buFont typeface="Wingdings" panose="05000000000000000000" pitchFamily="2" charset="2"/>
              <a:buChar char="q"/>
            </a:pPr>
            <a:r>
              <a:rPr lang="en-US" dirty="0"/>
              <a:t>Laptop ----- console cable ----- Router/Switch</a:t>
            </a:r>
          </a:p>
          <a:p>
            <a:endParaRPr lang="en-US" dirty="0"/>
          </a:p>
          <a:p>
            <a:pPr>
              <a:buFont typeface="Wingdings" panose="05000000000000000000" pitchFamily="2" charset="2"/>
              <a:buChar char="q"/>
            </a:pPr>
            <a:r>
              <a:rPr lang="en-US" dirty="0"/>
              <a:t>Software for Connectivity:</a:t>
            </a:r>
          </a:p>
          <a:p>
            <a:pPr marL="139700" indent="0">
              <a:buNone/>
            </a:pPr>
            <a:r>
              <a:rPr lang="en-US" dirty="0"/>
              <a:t>	HyperTerminal </a:t>
            </a:r>
          </a:p>
          <a:p>
            <a:pPr marL="139700" indent="0">
              <a:buNone/>
            </a:pPr>
            <a:r>
              <a:rPr lang="en-US" dirty="0"/>
              <a:t>	(or other terminal software like PuTTY)</a:t>
            </a:r>
          </a:p>
          <a:p>
            <a:endParaRPr lang="en-PK" dirty="0"/>
          </a:p>
        </p:txBody>
      </p:sp>
      <p:sp>
        <p:nvSpPr>
          <p:cNvPr id="6" name="Text Placeholder 5">
            <a:extLst>
              <a:ext uri="{FF2B5EF4-FFF2-40B4-BE49-F238E27FC236}">
                <a16:creationId xmlns:a16="http://schemas.microsoft.com/office/drawing/2014/main" id="{D9ADDC28-40BC-578A-138C-D21C87561E53}"/>
              </a:ext>
            </a:extLst>
          </p:cNvPr>
          <p:cNvSpPr>
            <a:spLocks noGrp="1"/>
          </p:cNvSpPr>
          <p:nvPr>
            <p:ph type="body" idx="2"/>
          </p:nvPr>
        </p:nvSpPr>
        <p:spPr>
          <a:xfrm>
            <a:off x="5138334" y="1768197"/>
            <a:ext cx="3768600" cy="2921667"/>
          </a:xfrm>
        </p:spPr>
        <p:txBody>
          <a:bodyPr/>
          <a:lstStyle/>
          <a:p>
            <a:pPr marL="139700" indent="0">
              <a:buNone/>
            </a:pPr>
            <a:r>
              <a:rPr lang="en-US" sz="1600" dirty="0">
                <a:solidFill>
                  <a:srgbClr val="00B0F0"/>
                </a:solidFill>
              </a:rPr>
              <a:t>Steps of HyperTerminal</a:t>
            </a:r>
          </a:p>
          <a:p>
            <a:pPr marL="139700" indent="0">
              <a:buNone/>
            </a:pPr>
            <a:r>
              <a:rPr lang="en-US" sz="1600" dirty="0">
                <a:solidFill>
                  <a:srgbClr val="00B0F0"/>
                </a:solidFill>
              </a:rPr>
              <a:t> </a:t>
            </a:r>
          </a:p>
          <a:p>
            <a:pPr>
              <a:buFont typeface="Wingdings" panose="05000000000000000000" pitchFamily="2" charset="2"/>
              <a:buChar char="q"/>
            </a:pPr>
            <a:r>
              <a:rPr lang="en-US" dirty="0"/>
              <a:t>Install HyperTerminal</a:t>
            </a:r>
          </a:p>
          <a:p>
            <a:pPr>
              <a:buFont typeface="Wingdings" panose="05000000000000000000" pitchFamily="2" charset="2"/>
              <a:buChar char="q"/>
            </a:pPr>
            <a:r>
              <a:rPr lang="en-US" dirty="0"/>
              <a:t>Open HyperTerminal.</a:t>
            </a:r>
          </a:p>
          <a:p>
            <a:pPr>
              <a:buFont typeface="Wingdings" panose="05000000000000000000" pitchFamily="2" charset="2"/>
              <a:buChar char="q"/>
            </a:pPr>
            <a:r>
              <a:rPr lang="en-US" dirty="0"/>
              <a:t>Name the connection (e.g., Router Connection).</a:t>
            </a:r>
          </a:p>
          <a:p>
            <a:pPr>
              <a:buFont typeface="Wingdings" panose="05000000000000000000" pitchFamily="2" charset="2"/>
              <a:buChar char="q"/>
            </a:pPr>
            <a:r>
              <a:rPr lang="en-US" dirty="0"/>
              <a:t>Select the COM port (e.g., COM1, COM2) assigned to your console cable.</a:t>
            </a:r>
          </a:p>
          <a:p>
            <a:pPr>
              <a:buFont typeface="Wingdings" panose="05000000000000000000" pitchFamily="2" charset="2"/>
              <a:buChar char="q"/>
            </a:pPr>
            <a:r>
              <a:rPr lang="en-US" dirty="0"/>
              <a:t>Configure Serial Settings:</a:t>
            </a:r>
          </a:p>
          <a:p>
            <a:pPr marL="139700" indent="0">
              <a:buNone/>
            </a:pPr>
            <a:r>
              <a:rPr lang="en-US" sz="1000" dirty="0"/>
              <a:t>	Baud Rate: 9600</a:t>
            </a:r>
          </a:p>
          <a:p>
            <a:pPr marL="139700" indent="0">
              <a:buNone/>
            </a:pPr>
            <a:r>
              <a:rPr lang="en-US" sz="1000" dirty="0"/>
              <a:t>	Data Bits: 8</a:t>
            </a:r>
          </a:p>
          <a:p>
            <a:pPr marL="139700" indent="0">
              <a:buNone/>
            </a:pPr>
            <a:r>
              <a:rPr lang="en-US" sz="1000" dirty="0"/>
              <a:t>	Parity: None</a:t>
            </a:r>
          </a:p>
          <a:p>
            <a:pPr marL="139700" indent="0">
              <a:buNone/>
            </a:pPr>
            <a:r>
              <a:rPr lang="en-US" sz="1000" dirty="0"/>
              <a:t>	Stop Bits: 1Flow Control: None</a:t>
            </a:r>
          </a:p>
          <a:p>
            <a:pPr marL="139700" indent="0">
              <a:buNone/>
            </a:pPr>
            <a:endParaRPr lang="en-US" sz="1000" dirty="0"/>
          </a:p>
          <a:p>
            <a:pPr>
              <a:buFont typeface="Wingdings" panose="05000000000000000000" pitchFamily="2" charset="2"/>
              <a:buChar char="q"/>
            </a:pPr>
            <a:r>
              <a:rPr lang="en-US" dirty="0"/>
              <a:t>Click OK to establish the connection.</a:t>
            </a:r>
          </a:p>
        </p:txBody>
      </p:sp>
    </p:spTree>
    <p:extLst>
      <p:ext uri="{BB962C8B-B14F-4D97-AF65-F5344CB8AC3E}">
        <p14:creationId xmlns:p14="http://schemas.microsoft.com/office/powerpoint/2010/main" val="36154126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3580D-5004-28E9-27E1-2BAC56597179}"/>
              </a:ext>
            </a:extLst>
          </p:cNvPr>
          <p:cNvSpPr>
            <a:spLocks noGrp="1"/>
          </p:cNvSpPr>
          <p:nvPr>
            <p:ph type="title"/>
          </p:nvPr>
        </p:nvSpPr>
        <p:spPr>
          <a:xfrm>
            <a:off x="2397000" y="385757"/>
            <a:ext cx="3962400" cy="562509"/>
          </a:xfrm>
        </p:spPr>
        <p:txBody>
          <a:bodyPr/>
          <a:lstStyle/>
          <a:p>
            <a:r>
              <a:rPr lang="en-US" sz="2400" b="1" dirty="0"/>
              <a:t>Modes of Routers</a:t>
            </a:r>
            <a:br>
              <a:rPr lang="en-US" sz="2400" dirty="0"/>
            </a:br>
            <a:endParaRPr lang="en-PK" sz="2400" dirty="0"/>
          </a:p>
        </p:txBody>
      </p:sp>
      <p:sp>
        <p:nvSpPr>
          <p:cNvPr id="3" name="Text Placeholder 2">
            <a:extLst>
              <a:ext uri="{FF2B5EF4-FFF2-40B4-BE49-F238E27FC236}">
                <a16:creationId xmlns:a16="http://schemas.microsoft.com/office/drawing/2014/main" id="{8866CD14-D420-9AD6-E273-598141FF4AC7}"/>
              </a:ext>
            </a:extLst>
          </p:cNvPr>
          <p:cNvSpPr>
            <a:spLocks noGrp="1"/>
          </p:cNvSpPr>
          <p:nvPr>
            <p:ph type="body" idx="1"/>
          </p:nvPr>
        </p:nvSpPr>
        <p:spPr>
          <a:xfrm>
            <a:off x="533399" y="1008749"/>
            <a:ext cx="4147731" cy="3748994"/>
          </a:xfrm>
        </p:spPr>
        <p:txBody>
          <a:bodyPr/>
          <a:lstStyle/>
          <a:p>
            <a:pPr marL="139700" indent="0">
              <a:buNone/>
            </a:pPr>
            <a:r>
              <a:rPr lang="en-US" sz="1600" dirty="0">
                <a:solidFill>
                  <a:srgbClr val="00B0F0"/>
                </a:solidFill>
              </a:rPr>
              <a:t>1. User EXEC Mode</a:t>
            </a:r>
          </a:p>
          <a:p>
            <a:endParaRPr lang="en-US" sz="1100" dirty="0"/>
          </a:p>
          <a:p>
            <a:pPr>
              <a:buFont typeface="Wingdings" panose="05000000000000000000" pitchFamily="2" charset="2"/>
              <a:buChar char="ü"/>
            </a:pPr>
            <a:r>
              <a:rPr lang="en-US" sz="1100" dirty="0"/>
              <a:t>Prompt: Router&gt;</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Purpose: Basic diagnostics, limited commands available.</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 shows available commands in this mode.</a:t>
            </a:r>
          </a:p>
          <a:p>
            <a:endParaRPr lang="en-US" sz="1100" dirty="0"/>
          </a:p>
          <a:p>
            <a:pPr marL="139700" indent="0">
              <a:buNone/>
            </a:pPr>
            <a:r>
              <a:rPr lang="en-US" sz="1600" dirty="0">
                <a:solidFill>
                  <a:srgbClr val="00B0F0"/>
                </a:solidFill>
              </a:rPr>
              <a:t>2.Privileged EXEC Mode (Enable Mode</a:t>
            </a:r>
            <a:r>
              <a:rPr lang="en-US" sz="1600" dirty="0"/>
              <a:t>)</a:t>
            </a:r>
          </a:p>
          <a:p>
            <a:pPr>
              <a:buFont typeface="Wingdings" panose="05000000000000000000" pitchFamily="2" charset="2"/>
              <a:buChar char="ü"/>
            </a:pPr>
            <a:endParaRPr lang="en-US" sz="1100" dirty="0"/>
          </a:p>
          <a:p>
            <a:pPr>
              <a:buFont typeface="Wingdings" panose="05000000000000000000" pitchFamily="2" charset="2"/>
              <a:buChar char="ü"/>
            </a:pPr>
            <a:r>
              <a:rPr lang="en-US" sz="1100" dirty="0"/>
              <a:t>Prompt: Router#</a:t>
            </a:r>
          </a:p>
          <a:p>
            <a:pPr>
              <a:buFont typeface="Wingdings" panose="05000000000000000000" pitchFamily="2" charset="2"/>
              <a:buChar char="ü"/>
            </a:pPr>
            <a:r>
              <a:rPr lang="en-US" sz="1100" dirty="0"/>
              <a:t>Purpose: Access to advanced commands and router configurations.</a:t>
            </a:r>
          </a:p>
          <a:p>
            <a:pPr>
              <a:buNone/>
            </a:pPr>
            <a:endParaRPr lang="en-US" sz="1100" dirty="0"/>
          </a:p>
          <a:p>
            <a:pPr marL="139700" indent="0">
              <a:buNone/>
            </a:pPr>
            <a:r>
              <a:rPr lang="en-US" sz="1100" dirty="0"/>
              <a:t>To Enter:</a:t>
            </a:r>
          </a:p>
          <a:p>
            <a:pPr marL="139700" indent="0">
              <a:buNone/>
            </a:pPr>
            <a:endParaRPr lang="en-US" sz="1100" dirty="0"/>
          </a:p>
          <a:p>
            <a:pPr>
              <a:buFont typeface="Wingdings" panose="05000000000000000000" pitchFamily="2" charset="2"/>
              <a:buChar char="q"/>
            </a:pPr>
            <a:r>
              <a:rPr lang="en-US" sz="1100" dirty="0"/>
              <a:t>Router&gt; enable</a:t>
            </a:r>
          </a:p>
          <a:p>
            <a:pPr>
              <a:buFont typeface="Wingdings" panose="05000000000000000000" pitchFamily="2" charset="2"/>
              <a:buChar char="q"/>
            </a:pPr>
            <a:r>
              <a:rPr lang="en-US" sz="1100" dirty="0"/>
              <a:t>Router#</a:t>
            </a:r>
          </a:p>
          <a:p>
            <a:pPr marL="139700" indent="0">
              <a:buNone/>
            </a:pPr>
            <a:endParaRPr lang="en-US" sz="1100" dirty="0"/>
          </a:p>
          <a:p>
            <a:pPr>
              <a:buFont typeface="Wingdings" panose="05000000000000000000" pitchFamily="2" charset="2"/>
              <a:buChar char="q"/>
            </a:pPr>
            <a:r>
              <a:rPr lang="en-US" sz="1100" dirty="0"/>
              <a:t>? shows all available commands in this mode.</a:t>
            </a:r>
            <a:endParaRPr lang="en-PK" sz="1100" dirty="0"/>
          </a:p>
        </p:txBody>
      </p:sp>
      <p:sp>
        <p:nvSpPr>
          <p:cNvPr id="4" name="Text Placeholder 3">
            <a:extLst>
              <a:ext uri="{FF2B5EF4-FFF2-40B4-BE49-F238E27FC236}">
                <a16:creationId xmlns:a16="http://schemas.microsoft.com/office/drawing/2014/main" id="{4EA9E540-1F2B-A26B-0409-7380FAE80BD0}"/>
              </a:ext>
            </a:extLst>
          </p:cNvPr>
          <p:cNvSpPr>
            <a:spLocks noGrp="1"/>
          </p:cNvSpPr>
          <p:nvPr>
            <p:ph type="body" idx="2"/>
          </p:nvPr>
        </p:nvSpPr>
        <p:spPr>
          <a:xfrm>
            <a:off x="4572000" y="1070366"/>
            <a:ext cx="4147731" cy="3126000"/>
          </a:xfrm>
        </p:spPr>
        <p:txBody>
          <a:bodyPr/>
          <a:lstStyle/>
          <a:p>
            <a:pPr marL="139700" indent="0">
              <a:buNone/>
            </a:pPr>
            <a:r>
              <a:rPr lang="en-US" sz="1600" dirty="0">
                <a:solidFill>
                  <a:srgbClr val="00B0F0"/>
                </a:solidFill>
              </a:rPr>
              <a:t>3. Global Configuration Mode</a:t>
            </a:r>
          </a:p>
          <a:p>
            <a:pPr marL="139700" indent="0">
              <a:buNone/>
            </a:pPr>
            <a:endParaRPr lang="en-US" dirty="0"/>
          </a:p>
          <a:p>
            <a:pPr>
              <a:buFont typeface="Wingdings" panose="05000000000000000000" pitchFamily="2" charset="2"/>
              <a:buChar char="ü"/>
            </a:pPr>
            <a:r>
              <a:rPr lang="en-US" dirty="0"/>
              <a:t>Prompt: Router(config)#</a:t>
            </a:r>
          </a:p>
          <a:p>
            <a:pPr>
              <a:buFont typeface="Wingdings" panose="05000000000000000000" pitchFamily="2" charset="2"/>
              <a:buChar char="ü"/>
            </a:pPr>
            <a:endParaRPr lang="en-US" dirty="0"/>
          </a:p>
          <a:p>
            <a:pPr>
              <a:buFont typeface="Wingdings" panose="05000000000000000000" pitchFamily="2" charset="2"/>
              <a:buChar char="ü"/>
            </a:pPr>
            <a:r>
              <a:rPr lang="en-US" dirty="0"/>
              <a:t>Purpose: Configure global parameters, interfaces, and routing protocols.</a:t>
            </a:r>
          </a:p>
          <a:p>
            <a:endParaRPr lang="en-US" dirty="0"/>
          </a:p>
          <a:p>
            <a:pPr marL="139700" indent="0">
              <a:buNone/>
            </a:pPr>
            <a:r>
              <a:rPr lang="en-US" dirty="0"/>
              <a:t>To Enter:</a:t>
            </a:r>
          </a:p>
          <a:p>
            <a:pPr marL="139700" indent="0">
              <a:buNone/>
            </a:pPr>
            <a:endParaRPr lang="en-US" dirty="0"/>
          </a:p>
          <a:p>
            <a:pPr>
              <a:buFont typeface="Wingdings" panose="05000000000000000000" pitchFamily="2" charset="2"/>
              <a:buChar char="q"/>
            </a:pPr>
            <a:r>
              <a:rPr lang="en-US" dirty="0"/>
              <a:t>Router&gt; enable</a:t>
            </a:r>
          </a:p>
          <a:p>
            <a:pPr>
              <a:buFont typeface="Wingdings" panose="05000000000000000000" pitchFamily="2" charset="2"/>
              <a:buChar char="q"/>
            </a:pPr>
            <a:r>
              <a:rPr lang="en-US" dirty="0"/>
              <a:t>Router# configure terminal</a:t>
            </a:r>
          </a:p>
          <a:p>
            <a:pPr>
              <a:buFont typeface="Wingdings" panose="05000000000000000000" pitchFamily="2" charset="2"/>
              <a:buChar char="q"/>
            </a:pPr>
            <a:r>
              <a:rPr lang="en-US" dirty="0"/>
              <a:t>Router(config)#</a:t>
            </a:r>
          </a:p>
          <a:p>
            <a:endParaRPr lang="en-US" dirty="0"/>
          </a:p>
          <a:p>
            <a:endParaRPr lang="en-US" dirty="0"/>
          </a:p>
          <a:p>
            <a:pPr>
              <a:buFont typeface="Wingdings" panose="05000000000000000000" pitchFamily="2" charset="2"/>
              <a:buChar char="q"/>
            </a:pPr>
            <a:r>
              <a:rPr lang="en-US" dirty="0"/>
              <a:t>? shows available commands in this mode.</a:t>
            </a:r>
            <a:endParaRPr lang="en-PK" dirty="0"/>
          </a:p>
        </p:txBody>
      </p:sp>
    </p:spTree>
    <p:extLst>
      <p:ext uri="{BB962C8B-B14F-4D97-AF65-F5344CB8AC3E}">
        <p14:creationId xmlns:p14="http://schemas.microsoft.com/office/powerpoint/2010/main" val="33086822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E4BAF-AD27-361E-771D-C7B55159B9AF}"/>
              </a:ext>
            </a:extLst>
          </p:cNvPr>
          <p:cNvSpPr>
            <a:spLocks noGrp="1"/>
          </p:cNvSpPr>
          <p:nvPr>
            <p:ph type="title"/>
          </p:nvPr>
        </p:nvSpPr>
        <p:spPr/>
        <p:txBody>
          <a:bodyPr/>
          <a:lstStyle/>
          <a:p>
            <a:r>
              <a:rPr lang="en-US" dirty="0"/>
              <a:t>Some Basic Configuration </a:t>
            </a:r>
            <a:endParaRPr lang="en-PK" dirty="0"/>
          </a:p>
        </p:txBody>
      </p:sp>
      <p:sp>
        <p:nvSpPr>
          <p:cNvPr id="3" name="Text Placeholder 2">
            <a:extLst>
              <a:ext uri="{FF2B5EF4-FFF2-40B4-BE49-F238E27FC236}">
                <a16:creationId xmlns:a16="http://schemas.microsoft.com/office/drawing/2014/main" id="{E4A7FADD-6220-A734-AC74-91517AA57AA0}"/>
              </a:ext>
            </a:extLst>
          </p:cNvPr>
          <p:cNvSpPr>
            <a:spLocks noGrp="1"/>
          </p:cNvSpPr>
          <p:nvPr>
            <p:ph type="body" idx="1"/>
          </p:nvPr>
        </p:nvSpPr>
        <p:spPr>
          <a:xfrm>
            <a:off x="541867" y="1442900"/>
            <a:ext cx="3836333" cy="3126000"/>
          </a:xfrm>
        </p:spPr>
        <p:txBody>
          <a:bodyPr/>
          <a:lstStyle/>
          <a:p>
            <a:pPr marL="139700" indent="0">
              <a:buNone/>
            </a:pPr>
            <a:r>
              <a:rPr lang="en-US" sz="1600" dirty="0">
                <a:solidFill>
                  <a:srgbClr val="00B0F0"/>
                </a:solidFill>
              </a:rPr>
              <a:t>How to change CISCO Router name?</a:t>
            </a:r>
          </a:p>
          <a:p>
            <a:endParaRPr lang="en-US" dirty="0"/>
          </a:p>
          <a:p>
            <a:pPr marL="139700" indent="0">
              <a:buNone/>
            </a:pPr>
            <a:r>
              <a:rPr lang="en-US" dirty="0"/>
              <a:t>We can change CISCO router name in Global mode </a:t>
            </a:r>
          </a:p>
          <a:p>
            <a:endParaRPr lang="en-US" dirty="0"/>
          </a:p>
          <a:p>
            <a:pPr>
              <a:buFont typeface="Wingdings" panose="05000000000000000000" pitchFamily="2" charset="2"/>
              <a:buChar char="q"/>
            </a:pPr>
            <a:r>
              <a:rPr lang="en-US" dirty="0"/>
              <a:t>Router&gt; enable</a:t>
            </a:r>
          </a:p>
          <a:p>
            <a:pPr>
              <a:buFont typeface="Wingdings" panose="05000000000000000000" pitchFamily="2" charset="2"/>
              <a:buChar char="q"/>
            </a:pPr>
            <a:r>
              <a:rPr lang="en-US" dirty="0"/>
              <a:t>Router#</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fr-FR" dirty="0"/>
              <a:t>Router(config)#</a:t>
            </a:r>
          </a:p>
          <a:p>
            <a:pPr>
              <a:buFont typeface="Wingdings" panose="05000000000000000000" pitchFamily="2" charset="2"/>
              <a:buChar char="q"/>
            </a:pPr>
            <a:endParaRPr lang="fr-FR" dirty="0"/>
          </a:p>
          <a:p>
            <a:pPr>
              <a:buFont typeface="Wingdings" panose="05000000000000000000" pitchFamily="2" charset="2"/>
              <a:buChar char="q"/>
            </a:pPr>
            <a:r>
              <a:rPr lang="en-US" dirty="0"/>
              <a:t>Router(config)# hostname MyRouter</a:t>
            </a:r>
          </a:p>
          <a:p>
            <a:pPr>
              <a:buFont typeface="Wingdings" panose="05000000000000000000" pitchFamily="2" charset="2"/>
              <a:buChar char="q"/>
            </a:pPr>
            <a:endParaRPr lang="en-US" dirty="0"/>
          </a:p>
          <a:p>
            <a:pPr>
              <a:buFont typeface="Wingdings" panose="05000000000000000000" pitchFamily="2" charset="2"/>
              <a:buChar char="q"/>
            </a:pPr>
            <a:r>
              <a:rPr lang="en-US" dirty="0"/>
              <a:t>MyRouter(config)#</a:t>
            </a:r>
          </a:p>
          <a:p>
            <a:endParaRPr lang="en-PK" dirty="0"/>
          </a:p>
        </p:txBody>
      </p:sp>
      <p:sp>
        <p:nvSpPr>
          <p:cNvPr id="4" name="Text Placeholder 3">
            <a:extLst>
              <a:ext uri="{FF2B5EF4-FFF2-40B4-BE49-F238E27FC236}">
                <a16:creationId xmlns:a16="http://schemas.microsoft.com/office/drawing/2014/main" id="{116428BA-13A3-33F1-858F-F435B0601AFB}"/>
              </a:ext>
            </a:extLst>
          </p:cNvPr>
          <p:cNvSpPr>
            <a:spLocks noGrp="1"/>
          </p:cNvSpPr>
          <p:nvPr>
            <p:ph type="body" idx="2"/>
          </p:nvPr>
        </p:nvSpPr>
        <p:spPr>
          <a:xfrm>
            <a:off x="4317999" y="1442900"/>
            <a:ext cx="4436533" cy="3126000"/>
          </a:xfrm>
        </p:spPr>
        <p:txBody>
          <a:bodyPr/>
          <a:lstStyle/>
          <a:p>
            <a:pPr marL="139700" indent="0">
              <a:buNone/>
            </a:pPr>
            <a:r>
              <a:rPr lang="en-US" sz="1600" dirty="0">
                <a:solidFill>
                  <a:srgbClr val="00B0F0"/>
                </a:solidFill>
              </a:rPr>
              <a:t>How to Set Date &amp; Time on CISCO Router?</a:t>
            </a:r>
          </a:p>
          <a:p>
            <a:pPr marL="139700" indent="0">
              <a:buNone/>
            </a:pPr>
            <a:endParaRPr lang="en-US" b="1" dirty="0"/>
          </a:p>
          <a:p>
            <a:pPr marL="139700" indent="0">
              <a:buNone/>
            </a:pPr>
            <a:r>
              <a:rPr lang="en-US" dirty="0"/>
              <a:t>In Enable/Privilege mode we can set clock </a:t>
            </a:r>
          </a:p>
          <a:p>
            <a:pPr marL="139700" indent="0">
              <a:buNone/>
            </a:pPr>
            <a:endParaRPr lang="en-US" dirty="0"/>
          </a:p>
          <a:p>
            <a:pPr>
              <a:buFont typeface="Wingdings" panose="05000000000000000000" pitchFamily="2" charset="2"/>
              <a:buChar char="q"/>
            </a:pPr>
            <a:r>
              <a:rPr lang="en-US" dirty="0"/>
              <a:t>Router# show clock  </a:t>
            </a:r>
          </a:p>
          <a:p>
            <a:pPr marL="139700" indent="0">
              <a:buNone/>
            </a:pPr>
            <a:endParaRPr lang="en-US" dirty="0"/>
          </a:p>
          <a:p>
            <a:pPr marL="139700" indent="0">
              <a:buNone/>
            </a:pPr>
            <a:r>
              <a:rPr lang="en-US" dirty="0"/>
              <a:t> </a:t>
            </a:r>
            <a:r>
              <a:rPr lang="en-US" dirty="0">
                <a:sym typeface="Wingdings" panose="05000000000000000000" pitchFamily="2" charset="2"/>
              </a:rPr>
              <a:t> this will show default clock set by CISCO company </a:t>
            </a:r>
            <a:r>
              <a:rPr lang="en-US" dirty="0"/>
              <a:t> </a:t>
            </a:r>
          </a:p>
          <a:p>
            <a:pPr marL="139700" indent="0">
              <a:buNone/>
            </a:pPr>
            <a:endParaRPr lang="en-US" dirty="0"/>
          </a:p>
          <a:p>
            <a:pPr>
              <a:buFont typeface="Wingdings" panose="05000000000000000000" pitchFamily="2" charset="2"/>
              <a:buChar char="q"/>
            </a:pPr>
            <a:r>
              <a:rPr lang="en-US" dirty="0"/>
              <a:t>Router# clock set ?</a:t>
            </a:r>
          </a:p>
          <a:p>
            <a:pPr>
              <a:buFont typeface="Wingdings" panose="05000000000000000000" pitchFamily="2" charset="2"/>
              <a:buChar char="q"/>
            </a:pPr>
            <a:r>
              <a:rPr lang="en-US" dirty="0"/>
              <a:t>Router# clock set 01:18:30 ?</a:t>
            </a:r>
          </a:p>
          <a:p>
            <a:pPr>
              <a:buFont typeface="Wingdings" panose="05000000000000000000" pitchFamily="2" charset="2"/>
              <a:buChar char="q"/>
            </a:pPr>
            <a:r>
              <a:rPr lang="en-US" dirty="0"/>
              <a:t>Router# clock set 01:18:30 26 Dec ?</a:t>
            </a:r>
          </a:p>
          <a:p>
            <a:pPr>
              <a:buFont typeface="Wingdings" panose="05000000000000000000" pitchFamily="2" charset="2"/>
              <a:buChar char="q"/>
            </a:pPr>
            <a:r>
              <a:rPr lang="en-US" dirty="0"/>
              <a:t>Router# clock set 01:18:30 26 Dec  2024</a:t>
            </a:r>
          </a:p>
          <a:p>
            <a:pPr>
              <a:buFont typeface="Wingdings" panose="05000000000000000000" pitchFamily="2" charset="2"/>
              <a:buChar char="q"/>
            </a:pPr>
            <a:endParaRPr lang="en-US" dirty="0"/>
          </a:p>
          <a:p>
            <a:pPr marL="139700" indent="0">
              <a:buNone/>
            </a:pPr>
            <a:r>
              <a:rPr lang="en-US" dirty="0"/>
              <a:t>Now check it </a:t>
            </a:r>
          </a:p>
          <a:p>
            <a:pPr>
              <a:buFont typeface="Wingdings" panose="05000000000000000000" pitchFamily="2" charset="2"/>
              <a:buChar char="q"/>
            </a:pPr>
            <a:r>
              <a:rPr lang="en-US" dirty="0"/>
              <a:t>Router# show clock </a:t>
            </a:r>
            <a:endParaRPr lang="en-PK" dirty="0"/>
          </a:p>
        </p:txBody>
      </p:sp>
    </p:spTree>
    <p:extLst>
      <p:ext uri="{BB962C8B-B14F-4D97-AF65-F5344CB8AC3E}">
        <p14:creationId xmlns:p14="http://schemas.microsoft.com/office/powerpoint/2010/main" val="26180252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0EF37D-D818-C96C-99FB-8155C5D09C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A0E3E7-58B4-EFBB-2651-83A1049198CD}"/>
              </a:ext>
            </a:extLst>
          </p:cNvPr>
          <p:cNvSpPr>
            <a:spLocks noGrp="1"/>
          </p:cNvSpPr>
          <p:nvPr>
            <p:ph type="title"/>
          </p:nvPr>
        </p:nvSpPr>
        <p:spPr>
          <a:xfrm>
            <a:off x="720000" y="385759"/>
            <a:ext cx="7704000" cy="572700"/>
          </a:xfrm>
        </p:spPr>
        <p:txBody>
          <a:bodyPr/>
          <a:lstStyle/>
          <a:p>
            <a:r>
              <a:rPr lang="en-US" dirty="0"/>
              <a:t>Some Basic Configuration </a:t>
            </a:r>
            <a:endParaRPr lang="en-PK" dirty="0"/>
          </a:p>
        </p:txBody>
      </p:sp>
      <p:sp>
        <p:nvSpPr>
          <p:cNvPr id="3" name="Text Placeholder 2">
            <a:extLst>
              <a:ext uri="{FF2B5EF4-FFF2-40B4-BE49-F238E27FC236}">
                <a16:creationId xmlns:a16="http://schemas.microsoft.com/office/drawing/2014/main" id="{A5EAB879-F566-6246-1CB7-6584954DB371}"/>
              </a:ext>
            </a:extLst>
          </p:cNvPr>
          <p:cNvSpPr>
            <a:spLocks noGrp="1"/>
          </p:cNvSpPr>
          <p:nvPr>
            <p:ph type="body" idx="1"/>
          </p:nvPr>
        </p:nvSpPr>
        <p:spPr>
          <a:xfrm>
            <a:off x="296333" y="1070367"/>
            <a:ext cx="3547534" cy="3126000"/>
          </a:xfrm>
        </p:spPr>
        <p:txBody>
          <a:bodyPr/>
          <a:lstStyle/>
          <a:p>
            <a:pPr marL="139700" indent="0">
              <a:buNone/>
            </a:pPr>
            <a:r>
              <a:rPr lang="en-US" sz="1600" dirty="0">
                <a:solidFill>
                  <a:srgbClr val="00B0F0"/>
                </a:solidFill>
              </a:rPr>
              <a:t>How to set Banner on CISCO Router?</a:t>
            </a:r>
          </a:p>
          <a:p>
            <a:endParaRPr lang="en-US" dirty="0"/>
          </a:p>
          <a:p>
            <a:pPr marL="139700" indent="0">
              <a:buNone/>
            </a:pPr>
            <a:r>
              <a:rPr lang="en-US" dirty="0"/>
              <a:t>Message of the Day (MOTD) Banner</a:t>
            </a:r>
          </a:p>
          <a:p>
            <a:endParaRPr lang="en-US" dirty="0"/>
          </a:p>
          <a:p>
            <a:pPr marL="139700" indent="0">
              <a:buNone/>
            </a:pPr>
            <a:r>
              <a:rPr lang="en-US" dirty="0"/>
              <a:t>It’s displayed when a user connects to the router via SSH, Telnet, or console.</a:t>
            </a:r>
          </a:p>
          <a:p>
            <a:pPr marL="139700" indent="0">
              <a:buNone/>
            </a:pPr>
            <a:r>
              <a:rPr lang="en-US" dirty="0"/>
              <a:t>	</a:t>
            </a:r>
          </a:p>
          <a:p>
            <a:pPr marL="139700" indent="0">
              <a:buNone/>
            </a:pPr>
            <a:endParaRPr lang="en-US" dirty="0"/>
          </a:p>
          <a:p>
            <a:pPr>
              <a:buFont typeface="Wingdings" panose="05000000000000000000" pitchFamily="2" charset="2"/>
              <a:buChar char="q"/>
            </a:pPr>
            <a:r>
              <a:rPr lang="fr-FR" dirty="0"/>
              <a:t>Router(config)#</a:t>
            </a:r>
          </a:p>
          <a:p>
            <a:pPr>
              <a:buFont typeface="Wingdings" panose="05000000000000000000" pitchFamily="2" charset="2"/>
              <a:buChar char="q"/>
            </a:pPr>
            <a:endParaRPr lang="fr-FR" dirty="0"/>
          </a:p>
          <a:p>
            <a:pPr>
              <a:buFont typeface="Wingdings" panose="05000000000000000000" pitchFamily="2" charset="2"/>
              <a:buChar char="q"/>
            </a:pPr>
            <a:r>
              <a:rPr lang="en-US" dirty="0"/>
              <a:t>Router(config)#banner </a:t>
            </a:r>
            <a:r>
              <a:rPr lang="en-US" dirty="0" err="1"/>
              <a:t>motd</a:t>
            </a:r>
            <a:r>
              <a:rPr lang="en-US" dirty="0"/>
              <a:t> # Welcome #</a:t>
            </a:r>
          </a:p>
          <a:p>
            <a:endParaRPr lang="en-PK" dirty="0"/>
          </a:p>
        </p:txBody>
      </p:sp>
      <p:sp>
        <p:nvSpPr>
          <p:cNvPr id="4" name="Text Placeholder 3">
            <a:extLst>
              <a:ext uri="{FF2B5EF4-FFF2-40B4-BE49-F238E27FC236}">
                <a16:creationId xmlns:a16="http://schemas.microsoft.com/office/drawing/2014/main" id="{C99B9F93-D142-912A-8F29-8E8DFEFA423B}"/>
              </a:ext>
            </a:extLst>
          </p:cNvPr>
          <p:cNvSpPr>
            <a:spLocks noGrp="1"/>
          </p:cNvSpPr>
          <p:nvPr>
            <p:ph type="body" idx="2"/>
          </p:nvPr>
        </p:nvSpPr>
        <p:spPr>
          <a:xfrm>
            <a:off x="3666067" y="1070367"/>
            <a:ext cx="4860799" cy="3823366"/>
          </a:xfrm>
        </p:spPr>
        <p:txBody>
          <a:bodyPr/>
          <a:lstStyle/>
          <a:p>
            <a:pPr marL="139700" indent="0">
              <a:buNone/>
            </a:pPr>
            <a:r>
              <a:rPr lang="en-US" sz="1600" dirty="0">
                <a:solidFill>
                  <a:srgbClr val="00B0F0"/>
                </a:solidFill>
              </a:rPr>
              <a:t>How to Configure Password on Line Console?</a:t>
            </a:r>
          </a:p>
          <a:p>
            <a:pPr marL="139700" indent="0">
              <a:buNone/>
            </a:pPr>
            <a:endParaRPr lang="en-US" b="1" dirty="0"/>
          </a:p>
          <a:p>
            <a:pPr marL="139700" indent="0">
              <a:buNone/>
            </a:pPr>
            <a:r>
              <a:rPr lang="en-US" b="1" dirty="0"/>
              <a:t>Configuring a password on the console line restricts physical access to the router's command-line interface (CLI) via the console port.</a:t>
            </a:r>
          </a:p>
          <a:p>
            <a:pPr marL="139700" indent="0">
              <a:buNone/>
            </a:pPr>
            <a:endParaRPr lang="en-US" b="1"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fr-FR" dirty="0"/>
              <a:t>Router(config)#</a:t>
            </a:r>
          </a:p>
          <a:p>
            <a:pPr>
              <a:buFont typeface="Wingdings" panose="05000000000000000000" pitchFamily="2" charset="2"/>
              <a:buChar char="q"/>
            </a:pPr>
            <a:r>
              <a:rPr lang="en-US" dirty="0"/>
              <a:t>Router(config)# line console 0</a:t>
            </a:r>
          </a:p>
          <a:p>
            <a:pPr>
              <a:buFont typeface="Wingdings" panose="05000000000000000000" pitchFamily="2" charset="2"/>
              <a:buChar char="q"/>
            </a:pPr>
            <a:r>
              <a:rPr lang="en-US" dirty="0"/>
              <a:t>Router(config-line)# password cisco123</a:t>
            </a:r>
          </a:p>
          <a:p>
            <a:pPr>
              <a:buFont typeface="Wingdings" panose="05000000000000000000" pitchFamily="2" charset="2"/>
              <a:buChar char="q"/>
            </a:pPr>
            <a:r>
              <a:rPr lang="en-US" dirty="0"/>
              <a:t>Router(config-line)# login</a:t>
            </a:r>
          </a:p>
          <a:p>
            <a:pPr>
              <a:buFont typeface="Wingdings" panose="05000000000000000000" pitchFamily="2" charset="2"/>
              <a:buChar char="q"/>
            </a:pPr>
            <a:r>
              <a:rPr lang="en-US" dirty="0"/>
              <a:t>Router(config-line)# exit</a:t>
            </a:r>
          </a:p>
          <a:p>
            <a:pPr marL="139700" indent="0">
              <a:buNone/>
            </a:pPr>
            <a:endParaRPr lang="en-US" dirty="0"/>
          </a:p>
          <a:p>
            <a:pPr marL="139700" indent="0">
              <a:buNone/>
            </a:pPr>
            <a:r>
              <a:rPr lang="en-US" b="1" dirty="0">
                <a:solidFill>
                  <a:srgbClr val="00B0F0"/>
                </a:solidFill>
              </a:rPr>
              <a:t>To remove the password </a:t>
            </a:r>
          </a:p>
          <a:p>
            <a:pPr>
              <a:buFont typeface="Wingdings" panose="05000000000000000000" pitchFamily="2" charset="2"/>
              <a:buChar char="q"/>
            </a:pPr>
            <a:r>
              <a:rPr lang="en-US" dirty="0"/>
              <a:t>Router(config)# line console 0</a:t>
            </a:r>
          </a:p>
          <a:p>
            <a:pPr>
              <a:buFont typeface="Wingdings" panose="05000000000000000000" pitchFamily="2" charset="2"/>
              <a:buChar char="q"/>
            </a:pPr>
            <a:r>
              <a:rPr lang="en-US" dirty="0"/>
              <a:t>Router(config-line)# no password </a:t>
            </a:r>
          </a:p>
          <a:p>
            <a:pPr>
              <a:buFont typeface="Wingdings" panose="05000000000000000000" pitchFamily="2" charset="2"/>
              <a:buChar char="q"/>
            </a:pPr>
            <a:r>
              <a:rPr lang="en-US" dirty="0"/>
              <a:t>Router(config-line)# no login</a:t>
            </a:r>
          </a:p>
          <a:p>
            <a:pPr>
              <a:buFont typeface="Wingdings" panose="05000000000000000000" pitchFamily="2" charset="2"/>
              <a:buChar char="q"/>
            </a:pPr>
            <a:r>
              <a:rPr lang="en-US" dirty="0"/>
              <a:t>Router(config-line)# exit</a:t>
            </a:r>
          </a:p>
          <a:p>
            <a:pPr marL="139700" indent="0">
              <a:buNone/>
            </a:pPr>
            <a:endParaRPr lang="en-US" dirty="0"/>
          </a:p>
          <a:p>
            <a:pPr marL="139700" indent="0">
              <a:buNone/>
            </a:pPr>
            <a:endParaRPr lang="en-US" dirty="0"/>
          </a:p>
          <a:p>
            <a:pPr marL="139700" indent="0">
              <a:buNone/>
            </a:pPr>
            <a:endParaRPr lang="en-PK" dirty="0"/>
          </a:p>
        </p:txBody>
      </p:sp>
    </p:spTree>
    <p:extLst>
      <p:ext uri="{BB962C8B-B14F-4D97-AF65-F5344CB8AC3E}">
        <p14:creationId xmlns:p14="http://schemas.microsoft.com/office/powerpoint/2010/main" val="115953329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498EB2-3D3C-DA8A-1390-8967752429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D17E3C-3781-9218-4BB0-BBA9602BFA04}"/>
              </a:ext>
            </a:extLst>
          </p:cNvPr>
          <p:cNvSpPr>
            <a:spLocks noGrp="1"/>
          </p:cNvSpPr>
          <p:nvPr>
            <p:ph type="title"/>
          </p:nvPr>
        </p:nvSpPr>
        <p:spPr>
          <a:xfrm>
            <a:off x="720000" y="385759"/>
            <a:ext cx="7704000" cy="572700"/>
          </a:xfrm>
        </p:spPr>
        <p:txBody>
          <a:bodyPr/>
          <a:lstStyle/>
          <a:p>
            <a:r>
              <a:rPr lang="en-US" dirty="0"/>
              <a:t>Some Basic Configuration </a:t>
            </a:r>
            <a:endParaRPr lang="en-PK" dirty="0"/>
          </a:p>
        </p:txBody>
      </p:sp>
      <p:sp>
        <p:nvSpPr>
          <p:cNvPr id="3" name="Text Placeholder 2">
            <a:extLst>
              <a:ext uri="{FF2B5EF4-FFF2-40B4-BE49-F238E27FC236}">
                <a16:creationId xmlns:a16="http://schemas.microsoft.com/office/drawing/2014/main" id="{8D96E810-114E-FEA3-1A57-8FE6D3FF9D93}"/>
              </a:ext>
            </a:extLst>
          </p:cNvPr>
          <p:cNvSpPr>
            <a:spLocks noGrp="1"/>
          </p:cNvSpPr>
          <p:nvPr>
            <p:ph type="body" idx="1"/>
          </p:nvPr>
        </p:nvSpPr>
        <p:spPr>
          <a:xfrm>
            <a:off x="296333" y="1070367"/>
            <a:ext cx="4123267" cy="3126000"/>
          </a:xfrm>
        </p:spPr>
        <p:txBody>
          <a:bodyPr/>
          <a:lstStyle/>
          <a:p>
            <a:pPr marL="139700" indent="0">
              <a:buNone/>
            </a:pPr>
            <a:r>
              <a:rPr lang="en-US" sz="1600" dirty="0">
                <a:solidFill>
                  <a:srgbClr val="00B0F0"/>
                </a:solidFill>
              </a:rPr>
              <a:t>How to Configure password on line AUX?</a:t>
            </a:r>
          </a:p>
          <a:p>
            <a:endParaRPr lang="en-US" dirty="0"/>
          </a:p>
          <a:p>
            <a:pPr marL="139700" indent="0">
              <a:buNone/>
            </a:pPr>
            <a:r>
              <a:rPr lang="en-US" dirty="0"/>
              <a:t>Purpose of AUX Line:</a:t>
            </a:r>
          </a:p>
          <a:p>
            <a:endParaRPr lang="en-US" dirty="0"/>
          </a:p>
          <a:p>
            <a:pPr marL="139700" indent="0">
              <a:buNone/>
            </a:pPr>
            <a:r>
              <a:rPr lang="en-US" dirty="0"/>
              <a:t>The AUX line is used for remote access via a modem or other remote access methods.</a:t>
            </a:r>
          </a:p>
          <a:p>
            <a:pPr marL="139700" indent="0">
              <a:buNone/>
            </a:pPr>
            <a:endParaRPr lang="en-US" dirty="0"/>
          </a:p>
          <a:p>
            <a:pPr marL="139700" indent="0">
              <a:buNone/>
            </a:pPr>
            <a:r>
              <a:rPr lang="en-US" dirty="0"/>
              <a:t>It allows administrators to access the router remotely through a dial-up connection.</a:t>
            </a:r>
          </a:p>
          <a:p>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line aux 0</a:t>
            </a:r>
          </a:p>
          <a:p>
            <a:pPr>
              <a:buFont typeface="Wingdings" panose="05000000000000000000" pitchFamily="2" charset="2"/>
              <a:buChar char="q"/>
            </a:pPr>
            <a:r>
              <a:rPr lang="en-US" dirty="0"/>
              <a:t>Router(config-line)# password 12345</a:t>
            </a:r>
          </a:p>
          <a:p>
            <a:pPr>
              <a:buFont typeface="Wingdings" panose="05000000000000000000" pitchFamily="2" charset="2"/>
              <a:buChar char="q"/>
            </a:pPr>
            <a:r>
              <a:rPr lang="en-US" dirty="0"/>
              <a:t>Router(config-line)# login</a:t>
            </a:r>
          </a:p>
          <a:p>
            <a:pPr>
              <a:buFont typeface="Wingdings" panose="05000000000000000000" pitchFamily="2" charset="2"/>
              <a:buChar char="q"/>
            </a:pPr>
            <a:r>
              <a:rPr lang="en-US" dirty="0"/>
              <a:t>Router(config-line)# exit</a:t>
            </a:r>
          </a:p>
          <a:p>
            <a:endParaRPr lang="en-US" dirty="0"/>
          </a:p>
          <a:p>
            <a:endParaRPr lang="en-PK" dirty="0"/>
          </a:p>
        </p:txBody>
      </p:sp>
      <p:sp>
        <p:nvSpPr>
          <p:cNvPr id="4" name="Text Placeholder 3">
            <a:extLst>
              <a:ext uri="{FF2B5EF4-FFF2-40B4-BE49-F238E27FC236}">
                <a16:creationId xmlns:a16="http://schemas.microsoft.com/office/drawing/2014/main" id="{F52B608E-4BFD-C7D1-AF4A-D18EFD146971}"/>
              </a:ext>
            </a:extLst>
          </p:cNvPr>
          <p:cNvSpPr>
            <a:spLocks noGrp="1"/>
          </p:cNvSpPr>
          <p:nvPr>
            <p:ph type="body" idx="2"/>
          </p:nvPr>
        </p:nvSpPr>
        <p:spPr>
          <a:xfrm>
            <a:off x="4817533" y="1070367"/>
            <a:ext cx="3709333" cy="3823366"/>
          </a:xfrm>
        </p:spPr>
        <p:txBody>
          <a:bodyPr/>
          <a:lstStyle/>
          <a:p>
            <a:pPr marL="139700" indent="0">
              <a:buNone/>
            </a:pPr>
            <a:r>
              <a:rPr lang="en-US" sz="1600" dirty="0">
                <a:solidFill>
                  <a:srgbClr val="00B0F0"/>
                </a:solidFill>
              </a:rPr>
              <a:t>To remove it: </a:t>
            </a:r>
          </a:p>
          <a:p>
            <a:pPr marL="139700" indent="0">
              <a:buNone/>
            </a:pPr>
            <a:endParaRPr lang="en-US" sz="1600" dirty="0">
              <a:solidFill>
                <a:srgbClr val="00B0F0"/>
              </a:solidFill>
            </a:endParaRPr>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line aux 0</a:t>
            </a:r>
          </a:p>
          <a:p>
            <a:pPr>
              <a:buFont typeface="Wingdings" panose="05000000000000000000" pitchFamily="2" charset="2"/>
              <a:buChar char="q"/>
            </a:pPr>
            <a:r>
              <a:rPr lang="en-US" dirty="0"/>
              <a:t>Router(config-line)# no password</a:t>
            </a:r>
          </a:p>
          <a:p>
            <a:pPr>
              <a:buFont typeface="Wingdings" panose="05000000000000000000" pitchFamily="2" charset="2"/>
              <a:buChar char="q"/>
            </a:pPr>
            <a:r>
              <a:rPr lang="en-US" dirty="0"/>
              <a:t>Router(config-line)# no login</a:t>
            </a:r>
          </a:p>
          <a:p>
            <a:pPr>
              <a:buFont typeface="Wingdings" panose="05000000000000000000" pitchFamily="2" charset="2"/>
              <a:buChar char="q"/>
            </a:pPr>
            <a:r>
              <a:rPr lang="en-US" dirty="0"/>
              <a:t>Router(config-line)# exit</a:t>
            </a:r>
          </a:p>
          <a:p>
            <a:pPr marL="139700" indent="0">
              <a:buNone/>
            </a:pPr>
            <a:endParaRPr lang="en-US" sz="1600" dirty="0">
              <a:solidFill>
                <a:srgbClr val="00B0F0"/>
              </a:solidFill>
            </a:endParaRPr>
          </a:p>
          <a:p>
            <a:pPr marL="139700" indent="0">
              <a:buNone/>
            </a:pPr>
            <a:endParaRPr lang="en-US" b="1" dirty="0"/>
          </a:p>
          <a:p>
            <a:pPr marL="139700" indent="0">
              <a:buNone/>
            </a:pPr>
            <a:endParaRPr lang="en-US" dirty="0"/>
          </a:p>
          <a:p>
            <a:pPr marL="139700" indent="0">
              <a:buNone/>
            </a:pPr>
            <a:endParaRPr lang="en-US" dirty="0"/>
          </a:p>
          <a:p>
            <a:pPr marL="139700" indent="0">
              <a:buNone/>
            </a:pPr>
            <a:endParaRPr lang="en-PK" dirty="0"/>
          </a:p>
        </p:txBody>
      </p:sp>
    </p:spTree>
    <p:extLst>
      <p:ext uri="{BB962C8B-B14F-4D97-AF65-F5344CB8AC3E}">
        <p14:creationId xmlns:p14="http://schemas.microsoft.com/office/powerpoint/2010/main" val="360847837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C08D12-286A-F3FE-D6D5-2EFD0BD7970E}"/>
              </a:ext>
            </a:extLst>
          </p:cNvPr>
          <p:cNvSpPr>
            <a:spLocks noGrp="1"/>
          </p:cNvSpPr>
          <p:nvPr>
            <p:ph type="title"/>
          </p:nvPr>
        </p:nvSpPr>
        <p:spPr>
          <a:xfrm>
            <a:off x="720000" y="288250"/>
            <a:ext cx="7704000" cy="549950"/>
          </a:xfrm>
        </p:spPr>
        <p:txBody>
          <a:bodyPr/>
          <a:lstStyle/>
          <a:p>
            <a:r>
              <a:rPr lang="en-US" dirty="0"/>
              <a:t>Some Basic Configuration </a:t>
            </a:r>
            <a:endParaRPr lang="en-PK" dirty="0"/>
          </a:p>
        </p:txBody>
      </p:sp>
      <p:sp>
        <p:nvSpPr>
          <p:cNvPr id="3" name="Text Placeholder 2">
            <a:extLst>
              <a:ext uri="{FF2B5EF4-FFF2-40B4-BE49-F238E27FC236}">
                <a16:creationId xmlns:a16="http://schemas.microsoft.com/office/drawing/2014/main" id="{8ADD60C9-E6D0-3637-8F67-09E38E477592}"/>
              </a:ext>
            </a:extLst>
          </p:cNvPr>
          <p:cNvSpPr>
            <a:spLocks noGrp="1"/>
          </p:cNvSpPr>
          <p:nvPr>
            <p:ph type="body" idx="1"/>
          </p:nvPr>
        </p:nvSpPr>
        <p:spPr>
          <a:xfrm>
            <a:off x="447800" y="864816"/>
            <a:ext cx="3847001" cy="3732582"/>
          </a:xfrm>
        </p:spPr>
        <p:txBody>
          <a:bodyPr/>
          <a:lstStyle/>
          <a:p>
            <a:pPr marL="139700" indent="0">
              <a:buNone/>
            </a:pPr>
            <a:r>
              <a:rPr lang="en-US" sz="1600" dirty="0">
                <a:solidFill>
                  <a:srgbClr val="00B0F0"/>
                </a:solidFill>
              </a:rPr>
              <a:t>How to Configure password on line VTY?</a:t>
            </a:r>
          </a:p>
          <a:p>
            <a:pPr marL="139700" indent="0">
              <a:buNone/>
            </a:pPr>
            <a:r>
              <a:rPr lang="en-US" sz="1100" b="1" dirty="0"/>
              <a:t>VTY Stands for Virtual Teletype</a:t>
            </a:r>
          </a:p>
          <a:p>
            <a:pPr marL="139700" indent="0">
              <a:buNone/>
            </a:pPr>
            <a:endParaRPr lang="en-US" sz="1100" dirty="0"/>
          </a:p>
          <a:p>
            <a:pPr marL="139700" indent="0">
              <a:buNone/>
            </a:pPr>
            <a:r>
              <a:rPr lang="en-US" sz="1100" dirty="0"/>
              <a:t>These are virtual terminals lines used for remote access to the device (via Telnet or SSH</a:t>
            </a:r>
          </a:p>
          <a:p>
            <a:pPr marL="139700" indent="0">
              <a:buNone/>
            </a:pPr>
            <a:endParaRPr lang="en-US" sz="1100" dirty="0"/>
          </a:p>
          <a:p>
            <a:pPr marL="139700" indent="0">
              <a:buNone/>
            </a:pPr>
            <a:r>
              <a:rPr lang="en-US" sz="1100" dirty="0"/>
              <a:t>Purpose of VTY Line:</a:t>
            </a:r>
          </a:p>
          <a:p>
            <a:pPr marL="139700" indent="0">
              <a:buNone/>
            </a:pPr>
            <a:endParaRPr lang="en-US" sz="1100" dirty="0"/>
          </a:p>
          <a:p>
            <a:pPr marL="139700" indent="0">
              <a:buNone/>
            </a:pPr>
            <a:r>
              <a:rPr lang="en-US" sz="1100" dirty="0"/>
              <a:t>The VTY line is used for remote access to the router via protocols such as Telnet or SSH.</a:t>
            </a:r>
          </a:p>
          <a:p>
            <a:pPr marL="139700" indent="0">
              <a:buNone/>
            </a:pPr>
            <a:endParaRPr lang="en-US" sz="1100" dirty="0"/>
          </a:p>
          <a:p>
            <a:pPr marL="139700" indent="0">
              <a:buNone/>
            </a:pPr>
            <a:r>
              <a:rPr lang="en-US" sz="1100" dirty="0"/>
              <a:t>It allows administrators to connect remotely from a terminal or network device.</a:t>
            </a:r>
          </a:p>
          <a:p>
            <a:pPr marL="139700" indent="0">
              <a:buNone/>
            </a:pPr>
            <a:endParaRPr lang="en-US" sz="1100" dirty="0"/>
          </a:p>
          <a:p>
            <a:pPr>
              <a:buFont typeface="Wingdings" panose="05000000000000000000" pitchFamily="2" charset="2"/>
              <a:buChar char="q"/>
            </a:pPr>
            <a:r>
              <a:rPr lang="fr-FR" sz="1100" dirty="0"/>
              <a:t>Router&gt; enable</a:t>
            </a:r>
          </a:p>
          <a:p>
            <a:pPr>
              <a:buFont typeface="Wingdings" panose="05000000000000000000" pitchFamily="2" charset="2"/>
              <a:buChar char="q"/>
            </a:pPr>
            <a:r>
              <a:rPr lang="fr-FR" sz="1100" dirty="0"/>
              <a:t>Router# configure terminal</a:t>
            </a:r>
          </a:p>
          <a:p>
            <a:pPr>
              <a:buFont typeface="Wingdings" panose="05000000000000000000" pitchFamily="2" charset="2"/>
              <a:buChar char="q"/>
            </a:pPr>
            <a:r>
              <a:rPr lang="en-US" sz="1100" dirty="0"/>
              <a:t>Router(config)# line vty 0 4</a:t>
            </a:r>
          </a:p>
          <a:p>
            <a:pPr>
              <a:buFont typeface="Wingdings" panose="05000000000000000000" pitchFamily="2" charset="2"/>
              <a:buChar char="q"/>
            </a:pPr>
            <a:r>
              <a:rPr lang="en-US" sz="1100" dirty="0"/>
              <a:t>Router(config-line)# password 12345</a:t>
            </a:r>
          </a:p>
          <a:p>
            <a:pPr>
              <a:buFont typeface="Wingdings" panose="05000000000000000000" pitchFamily="2" charset="2"/>
              <a:buChar char="q"/>
            </a:pPr>
            <a:r>
              <a:rPr lang="en-US" sz="1100" dirty="0"/>
              <a:t>Router(config-line)# login</a:t>
            </a:r>
          </a:p>
          <a:p>
            <a:pPr>
              <a:buFont typeface="Wingdings" panose="05000000000000000000" pitchFamily="2" charset="2"/>
              <a:buChar char="q"/>
            </a:pPr>
            <a:r>
              <a:rPr lang="en-US" sz="1100" dirty="0"/>
              <a:t>Router(config-line)# exit</a:t>
            </a:r>
          </a:p>
          <a:p>
            <a:pPr marL="139700" indent="0">
              <a:buNone/>
            </a:pPr>
            <a:endParaRPr lang="en-PK" dirty="0"/>
          </a:p>
        </p:txBody>
      </p:sp>
      <p:sp>
        <p:nvSpPr>
          <p:cNvPr id="4" name="Text Placeholder 3">
            <a:extLst>
              <a:ext uri="{FF2B5EF4-FFF2-40B4-BE49-F238E27FC236}">
                <a16:creationId xmlns:a16="http://schemas.microsoft.com/office/drawing/2014/main" id="{D4F4A036-7754-45F0-36C7-D9E74DB65BD9}"/>
              </a:ext>
            </a:extLst>
          </p:cNvPr>
          <p:cNvSpPr>
            <a:spLocks noGrp="1"/>
          </p:cNvSpPr>
          <p:nvPr>
            <p:ph type="body" idx="2"/>
          </p:nvPr>
        </p:nvSpPr>
        <p:spPr>
          <a:xfrm>
            <a:off x="4849200" y="1008749"/>
            <a:ext cx="3574800" cy="3732583"/>
          </a:xfrm>
        </p:spPr>
        <p:txBody>
          <a:bodyPr/>
          <a:lstStyle/>
          <a:p>
            <a:pPr marL="139700" indent="0">
              <a:buNone/>
            </a:pPr>
            <a:r>
              <a:rPr lang="en-US" sz="1600" dirty="0">
                <a:solidFill>
                  <a:srgbClr val="00B0F0"/>
                </a:solidFill>
              </a:rPr>
              <a:t>To remove it :</a:t>
            </a:r>
          </a:p>
          <a:p>
            <a:pPr marL="139700" indent="0">
              <a:buNone/>
            </a:pPr>
            <a:endParaRPr lang="en-US" dirty="0"/>
          </a:p>
          <a:p>
            <a:pPr>
              <a:buFont typeface="Wingdings" panose="05000000000000000000" pitchFamily="2" charset="2"/>
              <a:buChar char="q"/>
            </a:pPr>
            <a:r>
              <a:rPr lang="fr-FR" sz="1100" dirty="0"/>
              <a:t>Router&gt; enable</a:t>
            </a:r>
          </a:p>
          <a:p>
            <a:pPr>
              <a:buFont typeface="Wingdings" panose="05000000000000000000" pitchFamily="2" charset="2"/>
              <a:buChar char="q"/>
            </a:pPr>
            <a:r>
              <a:rPr lang="fr-FR" sz="1100" dirty="0"/>
              <a:t>Router# configure terminal</a:t>
            </a:r>
          </a:p>
          <a:p>
            <a:pPr>
              <a:buFont typeface="Wingdings" panose="05000000000000000000" pitchFamily="2" charset="2"/>
              <a:buChar char="q"/>
            </a:pPr>
            <a:endParaRPr lang="en-US" sz="1100" dirty="0"/>
          </a:p>
          <a:p>
            <a:pPr>
              <a:buFont typeface="Wingdings" panose="05000000000000000000" pitchFamily="2" charset="2"/>
              <a:buChar char="q"/>
            </a:pPr>
            <a:r>
              <a:rPr lang="en-US" sz="1100" dirty="0"/>
              <a:t>Router(config)# line vty 0 4</a:t>
            </a:r>
          </a:p>
          <a:p>
            <a:pPr>
              <a:buFont typeface="Wingdings" panose="05000000000000000000" pitchFamily="2" charset="2"/>
              <a:buChar char="q"/>
            </a:pPr>
            <a:r>
              <a:rPr lang="en-US" sz="1100" dirty="0"/>
              <a:t>Router(config-line)# no password</a:t>
            </a:r>
          </a:p>
          <a:p>
            <a:pPr>
              <a:buFont typeface="Wingdings" panose="05000000000000000000" pitchFamily="2" charset="2"/>
              <a:buChar char="q"/>
            </a:pPr>
            <a:r>
              <a:rPr lang="en-US" sz="1100" dirty="0"/>
              <a:t>Router(config-line)# no login</a:t>
            </a:r>
          </a:p>
          <a:p>
            <a:pPr>
              <a:buFont typeface="Wingdings" panose="05000000000000000000" pitchFamily="2" charset="2"/>
              <a:buChar char="q"/>
            </a:pPr>
            <a:r>
              <a:rPr lang="en-US" sz="1100" dirty="0"/>
              <a:t>Router(config-line)# exit</a:t>
            </a:r>
          </a:p>
          <a:p>
            <a:endParaRPr lang="en-US" sz="1100" dirty="0"/>
          </a:p>
          <a:p>
            <a:pPr marL="139700" indent="0">
              <a:buNone/>
            </a:pPr>
            <a:endParaRPr lang="en-US" sz="1100" dirty="0"/>
          </a:p>
          <a:p>
            <a:pPr marL="139700" indent="0">
              <a:buNone/>
            </a:pPr>
            <a:endParaRPr lang="en-US" sz="1100" dirty="0"/>
          </a:p>
          <a:p>
            <a:pPr marL="139700" indent="0">
              <a:buNone/>
            </a:pPr>
            <a:r>
              <a:rPr lang="en-US" sz="1100" dirty="0"/>
              <a:t>These are the default 5 VTY lines on most Cisco devices. </a:t>
            </a:r>
          </a:p>
          <a:p>
            <a:pPr marL="139700" indent="0">
              <a:buNone/>
            </a:pPr>
            <a:endParaRPr lang="en-US" sz="1100" dirty="0"/>
          </a:p>
          <a:p>
            <a:pPr marL="139700" indent="0">
              <a:buNone/>
            </a:pPr>
            <a:r>
              <a:rPr lang="en-US" sz="1100" dirty="0"/>
              <a:t>0  4 means you're configuring 5 remote access lines (0 to 4) used for Telnet or SSH. It allows up to 5 people to connect to the device at the same time.</a:t>
            </a:r>
          </a:p>
          <a:p>
            <a:endParaRPr lang="en-US" dirty="0">
              <a:solidFill>
                <a:srgbClr val="00B0F0"/>
              </a:solidFill>
            </a:endParaRPr>
          </a:p>
          <a:p>
            <a:endParaRPr lang="en-US" sz="1200" dirty="0">
              <a:solidFill>
                <a:srgbClr val="00B0F0"/>
              </a:solidFill>
            </a:endParaRPr>
          </a:p>
          <a:p>
            <a:endParaRPr lang="en-PK" dirty="0"/>
          </a:p>
        </p:txBody>
      </p:sp>
    </p:spTree>
    <p:extLst>
      <p:ext uri="{BB962C8B-B14F-4D97-AF65-F5344CB8AC3E}">
        <p14:creationId xmlns:p14="http://schemas.microsoft.com/office/powerpoint/2010/main" val="35306114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059F3-3D01-C373-310B-368A1ED6EF83}"/>
              </a:ext>
            </a:extLst>
          </p:cNvPr>
          <p:cNvSpPr>
            <a:spLocks noGrp="1"/>
          </p:cNvSpPr>
          <p:nvPr>
            <p:ph type="title"/>
          </p:nvPr>
        </p:nvSpPr>
        <p:spPr/>
        <p:txBody>
          <a:bodyPr/>
          <a:lstStyle/>
          <a:p>
            <a:r>
              <a:rPr lang="en-US" dirty="0"/>
              <a:t>Some Basic Configuration </a:t>
            </a:r>
            <a:endParaRPr lang="en-PK" dirty="0"/>
          </a:p>
        </p:txBody>
      </p:sp>
      <p:sp>
        <p:nvSpPr>
          <p:cNvPr id="3" name="Text Placeholder 2">
            <a:extLst>
              <a:ext uri="{FF2B5EF4-FFF2-40B4-BE49-F238E27FC236}">
                <a16:creationId xmlns:a16="http://schemas.microsoft.com/office/drawing/2014/main" id="{96E7B8E6-663B-AF1E-34D6-FC2A38ABD56D}"/>
              </a:ext>
            </a:extLst>
          </p:cNvPr>
          <p:cNvSpPr>
            <a:spLocks noGrp="1"/>
          </p:cNvSpPr>
          <p:nvPr>
            <p:ph type="body" idx="1"/>
          </p:nvPr>
        </p:nvSpPr>
        <p:spPr>
          <a:xfrm>
            <a:off x="541867" y="1442900"/>
            <a:ext cx="4470400" cy="3126000"/>
          </a:xfrm>
        </p:spPr>
        <p:txBody>
          <a:bodyPr/>
          <a:lstStyle/>
          <a:p>
            <a:pPr marL="139700" indent="0">
              <a:buNone/>
            </a:pPr>
            <a:r>
              <a:rPr lang="en-US" sz="1600" dirty="0">
                <a:solidFill>
                  <a:srgbClr val="00B0F0"/>
                </a:solidFill>
              </a:rPr>
              <a:t>How to Configure password on enable mode?</a:t>
            </a:r>
          </a:p>
          <a:p>
            <a:pPr marL="139700" indent="0">
              <a:buNone/>
            </a:pPr>
            <a:endParaRPr lang="en-US" dirty="0"/>
          </a:p>
          <a:p>
            <a:pPr marL="139700" indent="0">
              <a:buNone/>
            </a:pPr>
            <a:r>
              <a:rPr lang="en-US" dirty="0"/>
              <a:t>Purpose of Enable Mode Password:</a:t>
            </a:r>
          </a:p>
          <a:p>
            <a:endParaRPr lang="en-US" dirty="0"/>
          </a:p>
          <a:p>
            <a:pPr marL="139700" indent="0">
              <a:buNone/>
            </a:pPr>
            <a:r>
              <a:rPr lang="en-US" dirty="0"/>
              <a:t>The enable mode password is used to 	secure access to privileged EXEC mode.</a:t>
            </a:r>
          </a:p>
          <a:p>
            <a:endParaRPr lang="en-US" dirty="0"/>
          </a:p>
          <a:p>
            <a:pPr marL="139700" indent="0">
              <a:buNone/>
            </a:pPr>
            <a:r>
              <a:rPr lang="en-US" dirty="0"/>
              <a:t>It ensures that only authorized users can access the more advanced configuration commands.</a:t>
            </a:r>
            <a:endParaRPr lang="fr-FR" dirty="0"/>
          </a:p>
          <a:p>
            <a:pPr marL="139700" indent="0">
              <a:buNone/>
            </a:pPr>
            <a:endParaRPr lang="fr-FR"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enable password 12345</a:t>
            </a:r>
            <a:endParaRPr lang="en-PK" dirty="0"/>
          </a:p>
        </p:txBody>
      </p:sp>
      <p:sp>
        <p:nvSpPr>
          <p:cNvPr id="4" name="Text Placeholder 3">
            <a:extLst>
              <a:ext uri="{FF2B5EF4-FFF2-40B4-BE49-F238E27FC236}">
                <a16:creationId xmlns:a16="http://schemas.microsoft.com/office/drawing/2014/main" id="{D5C509BA-CFD9-3BE7-B144-DE05CD536137}"/>
              </a:ext>
            </a:extLst>
          </p:cNvPr>
          <p:cNvSpPr>
            <a:spLocks noGrp="1"/>
          </p:cNvSpPr>
          <p:nvPr>
            <p:ph type="body" idx="2"/>
          </p:nvPr>
        </p:nvSpPr>
        <p:spPr>
          <a:xfrm>
            <a:off x="5104467" y="1449042"/>
            <a:ext cx="3574800" cy="3126000"/>
          </a:xfrm>
        </p:spPr>
        <p:txBody>
          <a:bodyPr/>
          <a:lstStyle/>
          <a:p>
            <a:pPr marL="139700" indent="0">
              <a:buNone/>
            </a:pPr>
            <a:r>
              <a:rPr lang="en-US" sz="1600" dirty="0">
                <a:solidFill>
                  <a:srgbClr val="00B0F0"/>
                </a:solidFill>
              </a:rPr>
              <a:t>To remove it :</a:t>
            </a:r>
          </a:p>
          <a:p>
            <a:pPr marL="139700" indent="0">
              <a:buNone/>
            </a:pPr>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no enable password</a:t>
            </a:r>
          </a:p>
          <a:p>
            <a:endParaRPr lang="en-PK" dirty="0"/>
          </a:p>
        </p:txBody>
      </p:sp>
    </p:spTree>
    <p:extLst>
      <p:ext uri="{BB962C8B-B14F-4D97-AF65-F5344CB8AC3E}">
        <p14:creationId xmlns:p14="http://schemas.microsoft.com/office/powerpoint/2010/main" val="37364483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B1790A-AD9A-1040-876B-39508C0817C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D5E4EAA-4882-00DE-E385-7D52AC8CDDC3}"/>
              </a:ext>
            </a:extLst>
          </p:cNvPr>
          <p:cNvSpPr>
            <a:spLocks noGrp="1"/>
          </p:cNvSpPr>
          <p:nvPr>
            <p:ph type="body" idx="1"/>
          </p:nvPr>
        </p:nvSpPr>
        <p:spPr>
          <a:xfrm>
            <a:off x="516467" y="1188984"/>
            <a:ext cx="3953933" cy="2858167"/>
          </a:xfrm>
        </p:spPr>
        <p:txBody>
          <a:bodyPr/>
          <a:lstStyle/>
          <a:p>
            <a:pPr marL="139700" indent="0">
              <a:buNone/>
            </a:pPr>
            <a:r>
              <a:rPr lang="en-US" dirty="0">
                <a:solidFill>
                  <a:srgbClr val="00B0F0"/>
                </a:solidFill>
              </a:rPr>
              <a:t>How to Configure enable secret password ?</a:t>
            </a:r>
          </a:p>
          <a:p>
            <a:pPr marL="139700" indent="0">
              <a:buNone/>
            </a:pPr>
            <a:endParaRPr lang="en-US" dirty="0"/>
          </a:p>
          <a:p>
            <a:pPr marL="139700" indent="0">
              <a:buNone/>
            </a:pPr>
            <a:r>
              <a:rPr lang="en-US" dirty="0"/>
              <a:t>Purpose of Enable Secret Password:</a:t>
            </a:r>
          </a:p>
          <a:p>
            <a:pPr marL="139700" indent="0">
              <a:buNone/>
            </a:pPr>
            <a:endParaRPr lang="en-US" dirty="0"/>
          </a:p>
          <a:p>
            <a:pPr marL="139700" indent="0">
              <a:buNone/>
            </a:pPr>
            <a:r>
              <a:rPr lang="en-US" dirty="0"/>
              <a:t>The enable secret password secures privileged EXEC mode access on a Cisco router.</a:t>
            </a:r>
          </a:p>
          <a:p>
            <a:pPr marL="139700" indent="0">
              <a:buNone/>
            </a:pPr>
            <a:endParaRPr lang="en-US" dirty="0"/>
          </a:p>
          <a:p>
            <a:pPr marL="139700" indent="0">
              <a:buNone/>
            </a:pPr>
            <a:r>
              <a:rPr lang="en-US" dirty="0"/>
              <a:t>It is encrypted in the configuration file, making it more secure than the plain-text enable password.</a:t>
            </a:r>
          </a:p>
          <a:p>
            <a:pPr marL="139700" indent="0">
              <a:buNone/>
            </a:pPr>
            <a:endParaRPr lang="en-US" dirty="0"/>
          </a:p>
          <a:p>
            <a:pPr marL="139700" indent="0">
              <a:buNone/>
            </a:pPr>
            <a:endParaRPr lang="fr-FR"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enable secret abc123</a:t>
            </a:r>
          </a:p>
          <a:p>
            <a:pPr marL="139700" indent="0">
              <a:buNone/>
            </a:pPr>
            <a:endParaRPr lang="en-US" dirty="0">
              <a:solidFill>
                <a:srgbClr val="00B0F0"/>
              </a:solidFill>
              <a:cs typeface="Arial"/>
              <a:sym typeface="Arial"/>
            </a:endParaRPr>
          </a:p>
        </p:txBody>
      </p:sp>
      <p:sp>
        <p:nvSpPr>
          <p:cNvPr id="4" name="Text Placeholder 3">
            <a:extLst>
              <a:ext uri="{FF2B5EF4-FFF2-40B4-BE49-F238E27FC236}">
                <a16:creationId xmlns:a16="http://schemas.microsoft.com/office/drawing/2014/main" id="{1A9A061A-CDBA-F69D-D23E-FCA5275955B1}"/>
              </a:ext>
            </a:extLst>
          </p:cNvPr>
          <p:cNvSpPr>
            <a:spLocks noGrp="1"/>
          </p:cNvSpPr>
          <p:nvPr>
            <p:ph type="body" idx="2"/>
          </p:nvPr>
        </p:nvSpPr>
        <p:spPr>
          <a:xfrm>
            <a:off x="4816600" y="1188984"/>
            <a:ext cx="3574800" cy="3126000"/>
          </a:xfrm>
        </p:spPr>
        <p:txBody>
          <a:bodyPr/>
          <a:lstStyle/>
          <a:p>
            <a:pPr marL="139700" indent="0">
              <a:buNone/>
            </a:pPr>
            <a:r>
              <a:rPr lang="en-US" sz="1200" dirty="0">
                <a:solidFill>
                  <a:srgbClr val="00B0F0"/>
                </a:solidFill>
              </a:rPr>
              <a:t>To remove it :</a:t>
            </a:r>
          </a:p>
          <a:p>
            <a:pPr marL="139700" indent="0">
              <a:buNone/>
            </a:pPr>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no enable secret</a:t>
            </a:r>
          </a:p>
          <a:p>
            <a:endParaRPr lang="en-PK" dirty="0"/>
          </a:p>
        </p:txBody>
      </p:sp>
      <p:sp>
        <p:nvSpPr>
          <p:cNvPr id="5" name="Rectangle 1">
            <a:extLst>
              <a:ext uri="{FF2B5EF4-FFF2-40B4-BE49-F238E27FC236}">
                <a16:creationId xmlns:a16="http://schemas.microsoft.com/office/drawing/2014/main" id="{5A48FBC1-F6C8-21D0-307C-CB952F83FB16}"/>
              </a:ext>
            </a:extLst>
          </p:cNvPr>
          <p:cNvSpPr>
            <a:spLocks noChangeArrowheads="1"/>
          </p:cNvSpPr>
          <p:nvPr/>
        </p:nvSpPr>
        <p:spPr bwMode="auto">
          <a:xfrm>
            <a:off x="626866" y="4121835"/>
            <a:ext cx="5435267"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lang="en-PK" altLang="en-PK" sz="1200" dirty="0">
                <a:solidFill>
                  <a:srgbClr val="00B0F0"/>
                </a:solidFill>
                <a:latin typeface="Encode Sans"/>
              </a:rPr>
              <a:t>The enable secret password takes precedence over the enable password.</a:t>
            </a:r>
            <a:endParaRPr lang="en-US" altLang="en-PK" sz="1200" dirty="0">
              <a:solidFill>
                <a:srgbClr val="00B0F0"/>
              </a:solidFill>
              <a:latin typeface="Encode Sans"/>
            </a:endParaRPr>
          </a:p>
          <a:p>
            <a:pPr marL="0" marR="0" lvl="0" indent="0" algn="l" defTabSz="914400" rtl="0" eaLnBrk="0" fontAlgn="base" latinLnBrk="0" hangingPunct="0">
              <a:lnSpc>
                <a:spcPct val="100000"/>
              </a:lnSpc>
              <a:spcBef>
                <a:spcPct val="0"/>
              </a:spcBef>
              <a:spcAft>
                <a:spcPct val="0"/>
              </a:spcAft>
              <a:buClrTx/>
              <a:buSzTx/>
              <a:tabLst/>
            </a:pPr>
            <a:r>
              <a:rPr lang="en-PK" altLang="en-PK" sz="1200" dirty="0">
                <a:solidFill>
                  <a:srgbClr val="00B0F0"/>
                </a:solidFill>
                <a:latin typeface="Encode Sans"/>
              </a:rPr>
              <a:t>It is </a:t>
            </a:r>
            <a:r>
              <a:rPr lang="en-PK" altLang="en-PK" sz="1200" dirty="0">
                <a:solidFill>
                  <a:srgbClr val="00B0F0"/>
                </a:solidFill>
                <a:latin typeface="Encode Sans"/>
                <a:sym typeface="Encode Sans"/>
              </a:rPr>
              <a:t>stored in an encrypted format, unlike the enable password. </a:t>
            </a: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23E7A1DC-1F0D-D581-EA35-6B6C7AC8684E}"/>
              </a:ext>
            </a:extLst>
          </p:cNvPr>
          <p:cNvSpPr txBox="1"/>
          <p:nvPr/>
        </p:nvSpPr>
        <p:spPr>
          <a:xfrm>
            <a:off x="1735666" y="491052"/>
            <a:ext cx="5672667" cy="553998"/>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Some Basic Configuration </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19745725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C58A70-D8A1-CD86-ACAA-2FBE531DA36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3F5E387-17EF-DD5E-7A42-B002A0CDE9A0}"/>
              </a:ext>
            </a:extLst>
          </p:cNvPr>
          <p:cNvSpPr>
            <a:spLocks noGrp="1"/>
          </p:cNvSpPr>
          <p:nvPr>
            <p:ph type="body" idx="1"/>
          </p:nvPr>
        </p:nvSpPr>
        <p:spPr>
          <a:xfrm>
            <a:off x="516467" y="1188984"/>
            <a:ext cx="3953933" cy="2858167"/>
          </a:xfrm>
        </p:spPr>
        <p:txBody>
          <a:bodyPr/>
          <a:lstStyle/>
          <a:p>
            <a:pPr marL="139700" indent="0">
              <a:buNone/>
            </a:pPr>
            <a:r>
              <a:rPr lang="en-US" dirty="0">
                <a:solidFill>
                  <a:srgbClr val="00B0F0"/>
                </a:solidFill>
              </a:rPr>
              <a:t>How to convert all the password to encrypted form?</a:t>
            </a:r>
          </a:p>
          <a:p>
            <a:pPr marL="139700" indent="0">
              <a:buNone/>
            </a:pPr>
            <a:endParaRPr lang="en-US" dirty="0"/>
          </a:p>
          <a:p>
            <a:pPr marL="139700" indent="0">
              <a:buNone/>
            </a:pPr>
            <a:r>
              <a:rPr lang="en-US" dirty="0"/>
              <a:t>Purpose :</a:t>
            </a:r>
          </a:p>
          <a:p>
            <a:pPr marL="139700" indent="0">
              <a:buNone/>
            </a:pPr>
            <a:endParaRPr lang="en-US" dirty="0"/>
          </a:p>
          <a:p>
            <a:pPr marL="139700" indent="0">
              <a:buNone/>
            </a:pPr>
            <a:r>
              <a:rPr lang="en-US" dirty="0"/>
              <a:t>To protect all plain-text passwords (e.g., line passwords, enable passwords) in the router's configuration file.</a:t>
            </a:r>
          </a:p>
          <a:p>
            <a:pPr marL="139700" indent="0">
              <a:buNone/>
            </a:pPr>
            <a:endParaRPr lang="en-US" dirty="0"/>
          </a:p>
          <a:p>
            <a:pPr marL="139700" indent="0">
              <a:buNone/>
            </a:pPr>
            <a:r>
              <a:rPr lang="en-US" dirty="0"/>
              <a:t>Prevent unauthorized users from viewing passwords in plain text when accessing the configuration file.</a:t>
            </a:r>
          </a:p>
          <a:p>
            <a:pPr marL="139700" indent="0">
              <a:buNone/>
            </a:pPr>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service password-encryption</a:t>
            </a:r>
          </a:p>
          <a:p>
            <a:pPr marL="139700" indent="0">
              <a:buNone/>
            </a:pPr>
            <a:endParaRPr lang="en-US" dirty="0"/>
          </a:p>
          <a:p>
            <a:pPr marL="139700" indent="0">
              <a:buNone/>
            </a:pPr>
            <a:endParaRPr lang="en-US" dirty="0"/>
          </a:p>
          <a:p>
            <a:pPr marL="139700" indent="0">
              <a:buNone/>
            </a:pPr>
            <a:r>
              <a:rPr lang="en-US" b="1" dirty="0">
                <a:solidFill>
                  <a:srgbClr val="00B0F0"/>
                </a:solidFill>
              </a:rPr>
              <a:t>Check the result : </a:t>
            </a:r>
          </a:p>
          <a:p>
            <a:pPr marL="139700" indent="0">
              <a:buNone/>
            </a:pPr>
            <a:r>
              <a:rPr lang="en-US" b="1" dirty="0">
                <a:solidFill>
                  <a:srgbClr val="00B0F0"/>
                </a:solidFill>
              </a:rPr>
              <a:t>Router# show running-config</a:t>
            </a:r>
          </a:p>
          <a:p>
            <a:pPr marL="139700" indent="0">
              <a:buNone/>
            </a:pPr>
            <a:endParaRPr lang="en-US" dirty="0"/>
          </a:p>
        </p:txBody>
      </p:sp>
      <p:sp>
        <p:nvSpPr>
          <p:cNvPr id="4" name="Text Placeholder 3">
            <a:extLst>
              <a:ext uri="{FF2B5EF4-FFF2-40B4-BE49-F238E27FC236}">
                <a16:creationId xmlns:a16="http://schemas.microsoft.com/office/drawing/2014/main" id="{AF1086F3-60A9-EACF-5554-79A202765892}"/>
              </a:ext>
            </a:extLst>
          </p:cNvPr>
          <p:cNvSpPr>
            <a:spLocks noGrp="1"/>
          </p:cNvSpPr>
          <p:nvPr>
            <p:ph type="body" idx="2"/>
          </p:nvPr>
        </p:nvSpPr>
        <p:spPr>
          <a:xfrm>
            <a:off x="4571998" y="1212067"/>
            <a:ext cx="3945135" cy="3126000"/>
          </a:xfrm>
        </p:spPr>
        <p:txBody>
          <a:bodyPr/>
          <a:lstStyle/>
          <a:p>
            <a:pPr marL="139700" indent="0">
              <a:buNone/>
            </a:pPr>
            <a:r>
              <a:rPr lang="en-US" sz="1200" dirty="0">
                <a:solidFill>
                  <a:srgbClr val="00B0F0"/>
                </a:solidFill>
              </a:rPr>
              <a:t>To remove it :</a:t>
            </a:r>
          </a:p>
          <a:p>
            <a:pPr marL="139700" indent="0">
              <a:buNone/>
            </a:pPr>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fr-FR" dirty="0"/>
              <a:t>Router(config)# no service </a:t>
            </a:r>
            <a:r>
              <a:rPr lang="fr-FR" dirty="0" err="1"/>
              <a:t>password-encryption</a:t>
            </a:r>
            <a:endParaRPr lang="fr-FR" dirty="0"/>
          </a:p>
          <a:p>
            <a:pPr>
              <a:buFont typeface="Wingdings" panose="05000000000000000000" pitchFamily="2" charset="2"/>
              <a:buChar char="q"/>
            </a:pPr>
            <a:endParaRPr lang="fr-FR" dirty="0"/>
          </a:p>
          <a:p>
            <a:pPr>
              <a:buFont typeface="Wingdings" panose="05000000000000000000" pitchFamily="2" charset="2"/>
              <a:buChar char="q"/>
            </a:pPr>
            <a:endParaRPr lang="fr-FR" dirty="0"/>
          </a:p>
          <a:p>
            <a:pPr marL="139700" indent="0">
              <a:buNone/>
            </a:pPr>
            <a:endParaRPr lang="fr-FR" dirty="0"/>
          </a:p>
          <a:p>
            <a:pPr>
              <a:buFont typeface="Wingdings" panose="05000000000000000000" pitchFamily="2" charset="2"/>
              <a:buChar char="q"/>
            </a:pPr>
            <a:endParaRPr lang="fr-FR" dirty="0"/>
          </a:p>
          <a:p>
            <a:pPr>
              <a:buFont typeface="Wingdings" panose="05000000000000000000" pitchFamily="2" charset="2"/>
              <a:buChar char="q"/>
            </a:pPr>
            <a:endParaRPr lang="fr-FR" dirty="0"/>
          </a:p>
          <a:p>
            <a:pPr marL="139700" indent="0">
              <a:buNone/>
            </a:pPr>
            <a:r>
              <a:rPr lang="en-US" dirty="0"/>
              <a:t>Command: service password-encryption</a:t>
            </a:r>
          </a:p>
          <a:p>
            <a:pPr marL="139700" indent="0">
              <a:buNone/>
            </a:pPr>
            <a:r>
              <a:rPr lang="en-US" dirty="0"/>
              <a:t>Encryption type: Type 7 (weak reversible XOR cipher)Purpose: Obfuscation only (not secure)</a:t>
            </a:r>
            <a:endParaRPr lang="fr-FR" dirty="0"/>
          </a:p>
          <a:p>
            <a:pPr marL="139700" indent="0">
              <a:buNone/>
            </a:pPr>
            <a:endParaRPr lang="fr-FR" dirty="0"/>
          </a:p>
          <a:p>
            <a:endParaRPr lang="en-PK" dirty="0"/>
          </a:p>
        </p:txBody>
      </p:sp>
      <p:sp>
        <p:nvSpPr>
          <p:cNvPr id="5" name="Rectangle 1">
            <a:extLst>
              <a:ext uri="{FF2B5EF4-FFF2-40B4-BE49-F238E27FC236}">
                <a16:creationId xmlns:a16="http://schemas.microsoft.com/office/drawing/2014/main" id="{731868C3-7308-9B47-2A95-534307A8F94E}"/>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673A591A-A5CD-73B4-1EA6-6FBE423FD8E6}"/>
              </a:ext>
            </a:extLst>
          </p:cNvPr>
          <p:cNvSpPr txBox="1"/>
          <p:nvPr/>
        </p:nvSpPr>
        <p:spPr>
          <a:xfrm>
            <a:off x="1735666" y="491052"/>
            <a:ext cx="5672667" cy="553998"/>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Some Basic Configuration </a:t>
            </a:r>
            <a:endParaRPr lang="en-PK" sz="3000" b="1" dirty="0">
              <a:solidFill>
                <a:schemeClr val="dk1"/>
              </a:solidFill>
              <a:latin typeface="Doppio One"/>
              <a:sym typeface="Doppio One"/>
            </a:endParaRPr>
          </a:p>
        </p:txBody>
      </p:sp>
      <p:sp>
        <p:nvSpPr>
          <p:cNvPr id="6" name="TextBox 5">
            <a:extLst>
              <a:ext uri="{FF2B5EF4-FFF2-40B4-BE49-F238E27FC236}">
                <a16:creationId xmlns:a16="http://schemas.microsoft.com/office/drawing/2014/main" id="{CF1ECE6B-DD1F-DA1D-0AE4-7117130285A9}"/>
              </a:ext>
            </a:extLst>
          </p:cNvPr>
          <p:cNvSpPr txBox="1"/>
          <p:nvPr/>
        </p:nvSpPr>
        <p:spPr>
          <a:xfrm>
            <a:off x="4842000" y="4214168"/>
            <a:ext cx="4572000" cy="461665"/>
          </a:xfrm>
          <a:prstGeom prst="rect">
            <a:avLst/>
          </a:prstGeom>
          <a:noFill/>
        </p:spPr>
        <p:txBody>
          <a:bodyPr wrap="square">
            <a:spAutoFit/>
          </a:bodyPr>
          <a:lstStyle/>
          <a:p>
            <a:r>
              <a:rPr lang="en-US" sz="1200" b="1" dirty="0">
                <a:solidFill>
                  <a:srgbClr val="00B0F0"/>
                </a:solidFill>
                <a:latin typeface="Encode Sans"/>
                <a:sym typeface="Encode Sans"/>
              </a:rPr>
              <a:t>To Save the configuration</a:t>
            </a:r>
          </a:p>
          <a:p>
            <a:r>
              <a:rPr lang="en-US" sz="1200" b="1" dirty="0">
                <a:solidFill>
                  <a:srgbClr val="00B0F0"/>
                </a:solidFill>
                <a:latin typeface="Encode Sans"/>
                <a:sym typeface="Encode Sans"/>
              </a:rPr>
              <a:t>Router# copy running-config startup-config</a:t>
            </a:r>
          </a:p>
        </p:txBody>
      </p:sp>
    </p:spTree>
    <p:extLst>
      <p:ext uri="{BB962C8B-B14F-4D97-AF65-F5344CB8AC3E}">
        <p14:creationId xmlns:p14="http://schemas.microsoft.com/office/powerpoint/2010/main" val="28759712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82D7D3-A31E-A2EB-7B3A-B7A2FF097AD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7430CAF-4856-D2FA-5069-C19A7843313B}"/>
              </a:ext>
            </a:extLst>
          </p:cNvPr>
          <p:cNvSpPr>
            <a:spLocks noGrp="1"/>
          </p:cNvSpPr>
          <p:nvPr>
            <p:ph type="body" idx="1"/>
          </p:nvPr>
        </p:nvSpPr>
        <p:spPr>
          <a:xfrm>
            <a:off x="510366" y="1586833"/>
            <a:ext cx="3574801" cy="2858167"/>
          </a:xfrm>
        </p:spPr>
        <p:txBody>
          <a:bodyPr/>
          <a:lstStyle/>
          <a:p>
            <a:pPr marL="139700" indent="0">
              <a:buNone/>
            </a:pPr>
            <a:r>
              <a:rPr lang="en-US" dirty="0">
                <a:solidFill>
                  <a:srgbClr val="00B0F0"/>
                </a:solidFill>
              </a:rPr>
              <a:t>To see the current (running) configuration:</a:t>
            </a:r>
            <a:endParaRPr lang="en-US" dirty="0"/>
          </a:p>
          <a:p>
            <a:pPr marL="139700" indent="0">
              <a:buNone/>
            </a:pPr>
            <a:endParaRPr lang="en-US" dirty="0"/>
          </a:p>
          <a:p>
            <a:pPr>
              <a:buFont typeface="Wingdings" panose="05000000000000000000" pitchFamily="2" charset="2"/>
              <a:buChar char="q"/>
            </a:pPr>
            <a:r>
              <a:rPr lang="en-US" dirty="0"/>
              <a:t>Router# show running-config</a:t>
            </a:r>
          </a:p>
          <a:p>
            <a:pPr marL="139700" indent="0">
              <a:buNone/>
            </a:pPr>
            <a:endParaRPr lang="en-US" dirty="0"/>
          </a:p>
          <a:p>
            <a:pPr marL="139700" indent="0">
              <a:buNone/>
            </a:pPr>
            <a:r>
              <a:rPr lang="en-US" dirty="0"/>
              <a:t>This displays the configuration currently in use by the router.</a:t>
            </a:r>
          </a:p>
          <a:p>
            <a:pPr marL="139700" indent="0">
              <a:buNone/>
            </a:pPr>
            <a:endParaRPr lang="en-US" dirty="0"/>
          </a:p>
          <a:p>
            <a:pPr marL="139700" indent="0">
              <a:buNone/>
            </a:pPr>
            <a:endParaRPr lang="en-US" dirty="0"/>
          </a:p>
          <a:p>
            <a:pPr marL="139700" indent="0">
              <a:buNone/>
            </a:pPr>
            <a:endParaRPr lang="en-US" dirty="0"/>
          </a:p>
          <a:p>
            <a:pPr marL="139700" indent="0">
              <a:buNone/>
            </a:pPr>
            <a:r>
              <a:rPr lang="en-US" dirty="0">
                <a:solidFill>
                  <a:srgbClr val="00B0F0"/>
                </a:solidFill>
              </a:rPr>
              <a:t>To see the saved (startup) configuration:</a:t>
            </a:r>
          </a:p>
          <a:p>
            <a:pPr marL="139700" indent="0">
              <a:buNone/>
            </a:pPr>
            <a:endParaRPr lang="en-US" dirty="0">
              <a:solidFill>
                <a:srgbClr val="00B0F0"/>
              </a:solidFill>
            </a:endParaRPr>
          </a:p>
          <a:p>
            <a:pPr>
              <a:buFont typeface="Wingdings" panose="05000000000000000000" pitchFamily="2" charset="2"/>
              <a:buChar char="q"/>
            </a:pPr>
            <a:r>
              <a:rPr lang="en-US" dirty="0"/>
              <a:t>Router# show startup-config</a:t>
            </a:r>
          </a:p>
          <a:p>
            <a:pPr marL="139700" indent="0">
              <a:buNone/>
            </a:pPr>
            <a:endParaRPr lang="en-US" dirty="0">
              <a:solidFill>
                <a:srgbClr val="00B0F0"/>
              </a:solidFill>
            </a:endParaRPr>
          </a:p>
          <a:p>
            <a:pPr marL="139700" indent="0">
              <a:buNone/>
            </a:pPr>
            <a:r>
              <a:rPr lang="en-US" dirty="0"/>
              <a:t>This displays the configuration stored in NVRAM, which is loaded when the router starts.</a:t>
            </a:r>
          </a:p>
        </p:txBody>
      </p:sp>
      <p:sp>
        <p:nvSpPr>
          <p:cNvPr id="4" name="Text Placeholder 3">
            <a:extLst>
              <a:ext uri="{FF2B5EF4-FFF2-40B4-BE49-F238E27FC236}">
                <a16:creationId xmlns:a16="http://schemas.microsoft.com/office/drawing/2014/main" id="{3BA68AFC-E4C6-2801-9C50-D90705825484}"/>
              </a:ext>
            </a:extLst>
          </p:cNvPr>
          <p:cNvSpPr>
            <a:spLocks noGrp="1"/>
          </p:cNvSpPr>
          <p:nvPr>
            <p:ph type="body" idx="2"/>
          </p:nvPr>
        </p:nvSpPr>
        <p:spPr>
          <a:xfrm>
            <a:off x="4672335" y="1586833"/>
            <a:ext cx="3844799" cy="3126000"/>
          </a:xfrm>
        </p:spPr>
        <p:txBody>
          <a:bodyPr/>
          <a:lstStyle/>
          <a:p>
            <a:pPr marL="139700" indent="0">
              <a:buNone/>
            </a:pPr>
            <a:r>
              <a:rPr lang="en-US" sz="1200" dirty="0">
                <a:solidFill>
                  <a:srgbClr val="00B0F0"/>
                </a:solidFill>
              </a:rPr>
              <a:t>Saving the Configuration</a:t>
            </a:r>
          </a:p>
          <a:p>
            <a:pPr marL="139700" indent="0">
              <a:buNone/>
            </a:pPr>
            <a:endParaRPr lang="en-US" dirty="0">
              <a:solidFill>
                <a:srgbClr val="00B0F0"/>
              </a:solidFill>
            </a:endParaRPr>
          </a:p>
          <a:p>
            <a:pPr>
              <a:buFont typeface="Wingdings" panose="05000000000000000000" pitchFamily="2" charset="2"/>
              <a:buChar char="q"/>
            </a:pPr>
            <a:r>
              <a:rPr lang="en-US" dirty="0"/>
              <a:t>Router# copy running-config startup-config</a:t>
            </a:r>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solidFill>
                <a:srgbClr val="00B0F0"/>
              </a:solidFill>
            </a:endParaRPr>
          </a:p>
          <a:p>
            <a:pPr marL="139700" indent="0">
              <a:buNone/>
            </a:pPr>
            <a:endParaRPr lang="en-US" dirty="0">
              <a:solidFill>
                <a:srgbClr val="00B0F0"/>
              </a:solidFill>
            </a:endParaRPr>
          </a:p>
          <a:p>
            <a:pPr marL="139700" indent="0">
              <a:buNone/>
            </a:pPr>
            <a:r>
              <a:rPr lang="en-US" dirty="0">
                <a:solidFill>
                  <a:srgbClr val="00B0F0"/>
                </a:solidFill>
              </a:rPr>
              <a:t>Shortcut Command:</a:t>
            </a:r>
          </a:p>
          <a:p>
            <a:pPr marL="139700" indent="0">
              <a:buNone/>
            </a:pPr>
            <a:endParaRPr lang="en-US" dirty="0"/>
          </a:p>
          <a:p>
            <a:pPr>
              <a:buFont typeface="Wingdings" panose="05000000000000000000" pitchFamily="2" charset="2"/>
              <a:buChar char="q"/>
            </a:pPr>
            <a:r>
              <a:rPr lang="en-US" dirty="0"/>
              <a:t>Router# write memory</a:t>
            </a:r>
          </a:p>
          <a:p>
            <a:pPr marL="139700" indent="0">
              <a:buNone/>
            </a:pPr>
            <a:r>
              <a:rPr lang="en-US" dirty="0"/>
              <a:t>It Saves whatever is currently in RAM(Running-Config) into NVRAM (Startup-Config)</a:t>
            </a:r>
            <a:endParaRPr lang="en-PK" dirty="0"/>
          </a:p>
        </p:txBody>
      </p:sp>
      <p:sp>
        <p:nvSpPr>
          <p:cNvPr id="5" name="Rectangle 1">
            <a:extLst>
              <a:ext uri="{FF2B5EF4-FFF2-40B4-BE49-F238E27FC236}">
                <a16:creationId xmlns:a16="http://schemas.microsoft.com/office/drawing/2014/main" id="{FEF4D34A-6DDC-B7FD-1649-F3E7A61E72BF}"/>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28A66915-0EC5-DA5E-A69A-5B4C7422D19A}"/>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Viewing and Saving Configuration on a Cisco Router</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20336484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603A06-1834-E721-8A8D-2BFD7E7A988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E8F5413-5749-71D8-B1B9-265E69E74EDD}"/>
              </a:ext>
            </a:extLst>
          </p:cNvPr>
          <p:cNvSpPr>
            <a:spLocks noGrp="1"/>
          </p:cNvSpPr>
          <p:nvPr>
            <p:ph type="body" idx="1"/>
          </p:nvPr>
        </p:nvSpPr>
        <p:spPr>
          <a:xfrm>
            <a:off x="510365" y="1586833"/>
            <a:ext cx="5323167" cy="2858167"/>
          </a:xfrm>
        </p:spPr>
        <p:txBody>
          <a:bodyPr/>
          <a:lstStyle/>
          <a:p>
            <a:pPr marL="139700" indent="0">
              <a:buNone/>
            </a:pPr>
            <a:r>
              <a:rPr lang="en-US" dirty="0">
                <a:solidFill>
                  <a:srgbClr val="00B0F0"/>
                </a:solidFill>
              </a:rPr>
              <a:t>To Reset a Cisco Router:</a:t>
            </a:r>
          </a:p>
          <a:p>
            <a:pPr marL="139700" indent="0">
              <a:buNone/>
            </a:pPr>
            <a:endParaRPr lang="en-US" dirty="0">
              <a:solidFill>
                <a:srgbClr val="00B0F0"/>
              </a:solidFill>
            </a:endParaRPr>
          </a:p>
          <a:p>
            <a:pPr>
              <a:buFont typeface="Wingdings" panose="05000000000000000000" pitchFamily="2" charset="2"/>
              <a:buChar char="q"/>
            </a:pPr>
            <a:r>
              <a:rPr lang="en-US" dirty="0"/>
              <a:t>Router&gt; enable</a:t>
            </a:r>
          </a:p>
          <a:p>
            <a:pPr marL="139700" indent="0">
              <a:buNone/>
            </a:pPr>
            <a:endParaRPr lang="en-US" dirty="0"/>
          </a:p>
          <a:p>
            <a:pPr marL="139700" indent="0">
              <a:buNone/>
            </a:pPr>
            <a:endParaRPr lang="en-US" dirty="0"/>
          </a:p>
          <a:p>
            <a:pPr marL="139700" indent="0">
              <a:buNone/>
            </a:pPr>
            <a:r>
              <a:rPr lang="en-US" dirty="0"/>
              <a:t>Erase the Startup Configuration:</a:t>
            </a:r>
          </a:p>
          <a:p>
            <a:pPr marL="139700" indent="0">
              <a:buNone/>
            </a:pPr>
            <a:endParaRPr lang="en-US" dirty="0"/>
          </a:p>
          <a:p>
            <a:pPr>
              <a:buFont typeface="Wingdings" panose="05000000000000000000" pitchFamily="2" charset="2"/>
              <a:buChar char="q"/>
            </a:pPr>
            <a:r>
              <a:rPr lang="en-US" dirty="0"/>
              <a:t>Router# write erase</a:t>
            </a:r>
          </a:p>
          <a:p>
            <a:pPr marL="139700" indent="0">
              <a:buNone/>
            </a:pPr>
            <a:endParaRPr lang="en-US" dirty="0"/>
          </a:p>
          <a:p>
            <a:pPr marL="139700" indent="0">
              <a:buNone/>
            </a:pPr>
            <a:r>
              <a:rPr lang="en-US" dirty="0"/>
              <a:t>                   Or</a:t>
            </a:r>
          </a:p>
          <a:p>
            <a:pPr marL="139700" indent="0">
              <a:buNone/>
            </a:pPr>
            <a:endParaRPr lang="en-US" dirty="0"/>
          </a:p>
          <a:p>
            <a:pPr>
              <a:buFont typeface="Wingdings" panose="05000000000000000000" pitchFamily="2" charset="2"/>
              <a:buChar char="q"/>
            </a:pPr>
            <a:r>
              <a:rPr lang="en-US" dirty="0"/>
              <a:t>Router# erase startup-config</a:t>
            </a:r>
          </a:p>
          <a:p>
            <a:pPr marL="139700" indent="0">
              <a:buNone/>
            </a:pPr>
            <a:endParaRPr lang="en-US" dirty="0"/>
          </a:p>
          <a:p>
            <a:pPr marL="139700" indent="0">
              <a:buNone/>
            </a:pPr>
            <a:endParaRPr lang="en-US" dirty="0"/>
          </a:p>
          <a:p>
            <a:pPr>
              <a:buFont typeface="Wingdings" panose="05000000000000000000" pitchFamily="2" charset="2"/>
              <a:buChar char="q"/>
            </a:pPr>
            <a:r>
              <a:rPr lang="en-US" dirty="0"/>
              <a:t>Router# reload</a:t>
            </a:r>
          </a:p>
          <a:p>
            <a:pPr marL="139700" indent="0">
              <a:buNone/>
            </a:pPr>
            <a:endParaRPr lang="en-US" dirty="0"/>
          </a:p>
        </p:txBody>
      </p:sp>
      <p:sp>
        <p:nvSpPr>
          <p:cNvPr id="4" name="Text Placeholder 3">
            <a:extLst>
              <a:ext uri="{FF2B5EF4-FFF2-40B4-BE49-F238E27FC236}">
                <a16:creationId xmlns:a16="http://schemas.microsoft.com/office/drawing/2014/main" id="{DF290704-DC3B-3C4D-2053-A6438F6C590C}"/>
              </a:ext>
            </a:extLst>
          </p:cNvPr>
          <p:cNvSpPr>
            <a:spLocks noGrp="1"/>
          </p:cNvSpPr>
          <p:nvPr>
            <p:ph type="body" idx="2"/>
          </p:nvPr>
        </p:nvSpPr>
        <p:spPr>
          <a:xfrm>
            <a:off x="4842000" y="1586833"/>
            <a:ext cx="3574800" cy="3126000"/>
          </a:xfrm>
        </p:spPr>
        <p:txBody>
          <a:bodyPr/>
          <a:lstStyle/>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solidFill>
                <a:srgbClr val="00B0F0"/>
              </a:solidFill>
            </a:endParaRPr>
          </a:p>
          <a:p>
            <a:pPr marL="139700" indent="0">
              <a:buNone/>
            </a:pPr>
            <a:endParaRPr lang="en-US" dirty="0">
              <a:solidFill>
                <a:srgbClr val="00B0F0"/>
              </a:solidFill>
            </a:endParaRPr>
          </a:p>
          <a:p>
            <a:pPr marL="139700" indent="0">
              <a:buNone/>
            </a:pPr>
            <a:endParaRPr lang="en-PK" dirty="0"/>
          </a:p>
        </p:txBody>
      </p:sp>
      <p:sp>
        <p:nvSpPr>
          <p:cNvPr id="5" name="Rectangle 1">
            <a:extLst>
              <a:ext uri="{FF2B5EF4-FFF2-40B4-BE49-F238E27FC236}">
                <a16:creationId xmlns:a16="http://schemas.microsoft.com/office/drawing/2014/main" id="{1EE4B7A1-2734-4C6A-0A21-02BDA03EFD2F}"/>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AB0A4BF1-AFA8-E992-FE08-C519470A5BF4}"/>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12519300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EAC258-F9EF-A382-47E0-D1E884138AC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0CC5072-E749-591C-0475-6AD3F592E684}"/>
              </a:ext>
            </a:extLst>
          </p:cNvPr>
          <p:cNvSpPr>
            <a:spLocks noGrp="1"/>
          </p:cNvSpPr>
          <p:nvPr>
            <p:ph type="body" idx="1"/>
          </p:nvPr>
        </p:nvSpPr>
        <p:spPr>
          <a:xfrm>
            <a:off x="510365" y="1586833"/>
            <a:ext cx="7016502" cy="2858167"/>
          </a:xfrm>
        </p:spPr>
        <p:txBody>
          <a:bodyPr/>
          <a:lstStyle/>
          <a:p>
            <a:pPr marL="139700" indent="0">
              <a:buNone/>
            </a:pPr>
            <a:r>
              <a:rPr lang="en-US" dirty="0">
                <a:solidFill>
                  <a:srgbClr val="00B0F0"/>
                </a:solidFill>
              </a:rPr>
              <a:t>To Reset a Cisco Router if you forgot the line console </a:t>
            </a:r>
            <a:r>
              <a:rPr lang="en-US" dirty="0" err="1">
                <a:solidFill>
                  <a:srgbClr val="00B0F0"/>
                </a:solidFill>
              </a:rPr>
              <a:t>passowrd</a:t>
            </a:r>
            <a:r>
              <a:rPr lang="en-US" dirty="0">
                <a:solidFill>
                  <a:srgbClr val="00B0F0"/>
                </a:solidFill>
              </a:rPr>
              <a:t>:</a:t>
            </a:r>
          </a:p>
          <a:p>
            <a:pPr marL="139700" indent="0">
              <a:buNone/>
            </a:pPr>
            <a:endParaRPr lang="en-US" dirty="0">
              <a:solidFill>
                <a:srgbClr val="00B0F0"/>
              </a:solidFill>
            </a:endParaRPr>
          </a:p>
          <a:p>
            <a:pPr marL="139700" indent="0">
              <a:buNone/>
            </a:pPr>
            <a:r>
              <a:rPr lang="en-US" dirty="0"/>
              <a:t>Turn off your router and turn it on again , and interrupt the boot process by Press:</a:t>
            </a:r>
          </a:p>
          <a:p>
            <a:pPr marL="139700" indent="0">
              <a:buNone/>
            </a:pPr>
            <a:r>
              <a:rPr lang="en-US" dirty="0"/>
              <a:t> </a:t>
            </a:r>
          </a:p>
          <a:p>
            <a:pPr>
              <a:buFont typeface="Wingdings" panose="05000000000000000000" pitchFamily="2" charset="2"/>
              <a:buChar char="ü"/>
            </a:pPr>
            <a:r>
              <a:rPr lang="en-US" dirty="0"/>
              <a:t>In Putty : </a:t>
            </a:r>
            <a:r>
              <a:rPr lang="en-US" dirty="0" err="1"/>
              <a:t>ctrl+Break</a:t>
            </a:r>
            <a:r>
              <a:rPr lang="en-US" dirty="0"/>
              <a:t>  or </a:t>
            </a:r>
            <a:r>
              <a:rPr lang="en-US" dirty="0" err="1"/>
              <a:t>ctrl+pause</a:t>
            </a:r>
            <a:endParaRPr lang="en-US" dirty="0"/>
          </a:p>
          <a:p>
            <a:pPr>
              <a:buFont typeface="Wingdings" panose="05000000000000000000" pitchFamily="2" charset="2"/>
              <a:buChar char="ü"/>
            </a:pPr>
            <a:r>
              <a:rPr lang="en-US" dirty="0"/>
              <a:t>In Tera term : </a:t>
            </a:r>
            <a:r>
              <a:rPr lang="en-US" dirty="0" err="1"/>
              <a:t>Alt+B</a:t>
            </a:r>
            <a:endParaRPr lang="en-US" dirty="0"/>
          </a:p>
          <a:p>
            <a:pPr>
              <a:buFont typeface="Wingdings" panose="05000000000000000000" pitchFamily="2" charset="2"/>
              <a:buChar char="ü"/>
            </a:pPr>
            <a:r>
              <a:rPr lang="en-US" dirty="0"/>
              <a:t>In Packet tracer : ctrl +Break or ctrl+ Pause </a:t>
            </a:r>
          </a:p>
          <a:p>
            <a:pPr>
              <a:buFont typeface="Wingdings" panose="05000000000000000000" pitchFamily="2" charset="2"/>
              <a:buChar char="ü"/>
            </a:pPr>
            <a:endParaRPr lang="en-US" dirty="0"/>
          </a:p>
          <a:p>
            <a:pPr marL="139700" indent="0">
              <a:buNone/>
            </a:pPr>
            <a:r>
              <a:rPr lang="en-US" dirty="0"/>
              <a:t>You will see </a:t>
            </a:r>
          </a:p>
          <a:p>
            <a:pPr marL="139700" indent="0">
              <a:buNone/>
            </a:pPr>
            <a:endParaRPr lang="en-US" dirty="0"/>
          </a:p>
          <a:p>
            <a:pPr marL="139700" indent="0">
              <a:buNone/>
            </a:pPr>
            <a:r>
              <a:rPr lang="en-US" dirty="0" err="1"/>
              <a:t>rommon</a:t>
            </a:r>
            <a:r>
              <a:rPr lang="en-US" dirty="0"/>
              <a:t>&gt; </a:t>
            </a:r>
          </a:p>
          <a:p>
            <a:pPr marL="139700" indent="0">
              <a:buNone/>
            </a:pPr>
            <a:endParaRPr lang="en-US" dirty="0"/>
          </a:p>
        </p:txBody>
      </p:sp>
      <p:sp>
        <p:nvSpPr>
          <p:cNvPr id="5" name="Rectangle 1">
            <a:extLst>
              <a:ext uri="{FF2B5EF4-FFF2-40B4-BE49-F238E27FC236}">
                <a16:creationId xmlns:a16="http://schemas.microsoft.com/office/drawing/2014/main" id="{FF1A8149-89CD-5F05-0C1E-07968DE8A92F}"/>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402D8C67-4272-9AA6-F06E-4500DD9BA073}"/>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390447201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24586-2535-2092-099E-26ACEEF6F27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E68AD06-3CCC-8C3A-FA59-A914DB371F55}"/>
              </a:ext>
            </a:extLst>
          </p:cNvPr>
          <p:cNvSpPr>
            <a:spLocks noGrp="1"/>
          </p:cNvSpPr>
          <p:nvPr>
            <p:ph type="body" idx="1"/>
          </p:nvPr>
        </p:nvSpPr>
        <p:spPr>
          <a:xfrm>
            <a:off x="510365" y="1586833"/>
            <a:ext cx="7016502" cy="2858167"/>
          </a:xfrm>
        </p:spPr>
        <p:txBody>
          <a:bodyPr/>
          <a:lstStyle/>
          <a:p>
            <a:pPr marL="139700" indent="0">
              <a:buNone/>
            </a:pPr>
            <a:r>
              <a:rPr lang="en-US" dirty="0">
                <a:solidFill>
                  <a:srgbClr val="00B0F0"/>
                </a:solidFill>
              </a:rPr>
              <a:t>To Reset a Cisco Router if you forgot the line console </a:t>
            </a:r>
            <a:r>
              <a:rPr lang="en-US" dirty="0" err="1">
                <a:solidFill>
                  <a:srgbClr val="00B0F0"/>
                </a:solidFill>
              </a:rPr>
              <a:t>passowrd</a:t>
            </a:r>
            <a:r>
              <a:rPr lang="en-US" dirty="0">
                <a:solidFill>
                  <a:srgbClr val="00B0F0"/>
                </a:solidFill>
              </a:rPr>
              <a:t>:</a:t>
            </a:r>
          </a:p>
          <a:p>
            <a:pPr marL="139700" indent="0">
              <a:buNone/>
            </a:pPr>
            <a:endParaRPr lang="en-US" dirty="0">
              <a:solidFill>
                <a:srgbClr val="00B0F0"/>
              </a:solidFill>
            </a:endParaRPr>
          </a:p>
          <a:p>
            <a:pPr marL="139700" indent="0">
              <a:buNone/>
            </a:pPr>
            <a:r>
              <a:rPr lang="en-US" dirty="0"/>
              <a:t>Wha is </a:t>
            </a:r>
            <a:r>
              <a:rPr lang="en-US" dirty="0" err="1"/>
              <a:t>ROMmon</a:t>
            </a:r>
            <a:r>
              <a:rPr lang="en-US" dirty="0"/>
              <a:t> ?</a:t>
            </a:r>
          </a:p>
          <a:p>
            <a:pPr marL="139700" indent="0">
              <a:buNone/>
            </a:pPr>
            <a:endParaRPr lang="en-US" dirty="0"/>
          </a:p>
          <a:p>
            <a:pPr marL="139700" indent="0">
              <a:buNone/>
            </a:pPr>
            <a:r>
              <a:rPr lang="en-US" dirty="0" err="1"/>
              <a:t>ROMMon</a:t>
            </a:r>
            <a:r>
              <a:rPr lang="en-US" dirty="0"/>
              <a:t> </a:t>
            </a:r>
            <a:r>
              <a:rPr lang="en-US" dirty="0">
                <a:sym typeface="Wingdings" panose="05000000000000000000" pitchFamily="2" charset="2"/>
              </a:rPr>
              <a:t> ROM Monitor , is a small program on cisco routers</a:t>
            </a:r>
          </a:p>
          <a:p>
            <a:pPr marL="139700" indent="0">
              <a:buNone/>
            </a:pPr>
            <a:endParaRPr lang="en-US" dirty="0">
              <a:sym typeface="Wingdings" panose="05000000000000000000" pitchFamily="2" charset="2"/>
            </a:endParaRPr>
          </a:p>
          <a:p>
            <a:pPr>
              <a:buFont typeface="Wingdings" panose="05000000000000000000" pitchFamily="2" charset="2"/>
              <a:buChar char="ü"/>
            </a:pPr>
            <a:r>
              <a:rPr lang="en-US" dirty="0">
                <a:sym typeface="Wingdings" panose="05000000000000000000" pitchFamily="2" charset="2"/>
              </a:rPr>
              <a:t>It runs before IOS (the Router’s Operating system)</a:t>
            </a:r>
          </a:p>
          <a:p>
            <a:pPr>
              <a:buFont typeface="Wingdings" panose="05000000000000000000" pitchFamily="2" charset="2"/>
              <a:buChar char="ü"/>
            </a:pPr>
            <a:endParaRPr lang="en-US" dirty="0">
              <a:sym typeface="Wingdings" panose="05000000000000000000" pitchFamily="2" charset="2"/>
            </a:endParaRPr>
          </a:p>
          <a:p>
            <a:pPr>
              <a:buFont typeface="Wingdings" panose="05000000000000000000" pitchFamily="2" charset="2"/>
              <a:buChar char="ü"/>
            </a:pPr>
            <a:r>
              <a:rPr lang="en-US" dirty="0">
                <a:sym typeface="Wingdings" panose="05000000000000000000" pitchFamily="2" charset="2"/>
              </a:rPr>
              <a:t>Think of it like the BIOS/Boot menu of a PC</a:t>
            </a:r>
          </a:p>
          <a:p>
            <a:pPr>
              <a:buFont typeface="Wingdings" panose="05000000000000000000" pitchFamily="2" charset="2"/>
              <a:buChar char="ü"/>
            </a:pPr>
            <a:endParaRPr lang="en-US" dirty="0">
              <a:sym typeface="Wingdings" panose="05000000000000000000" pitchFamily="2" charset="2"/>
            </a:endParaRPr>
          </a:p>
          <a:p>
            <a:pPr>
              <a:buFont typeface="Wingdings" panose="05000000000000000000" pitchFamily="2" charset="2"/>
              <a:buChar char="ü"/>
            </a:pPr>
            <a:r>
              <a:rPr lang="en-US" dirty="0">
                <a:sym typeface="Wingdings" panose="05000000000000000000" pitchFamily="2" charset="2"/>
              </a:rPr>
              <a:t>You enter </a:t>
            </a:r>
            <a:r>
              <a:rPr lang="en-US" dirty="0" err="1">
                <a:sym typeface="Wingdings" panose="05000000000000000000" pitchFamily="2" charset="2"/>
              </a:rPr>
              <a:t>ROMmon</a:t>
            </a:r>
            <a:r>
              <a:rPr lang="en-US" dirty="0">
                <a:sym typeface="Wingdings" panose="05000000000000000000" pitchFamily="2" charset="2"/>
              </a:rPr>
              <a:t> when you interrupt the normal boot (by pressing </a:t>
            </a:r>
            <a:r>
              <a:rPr lang="en-US" dirty="0" err="1">
                <a:sym typeface="Wingdings" panose="05000000000000000000" pitchFamily="2" charset="2"/>
              </a:rPr>
              <a:t>ctrl+break</a:t>
            </a:r>
            <a:r>
              <a:rPr lang="en-US" dirty="0">
                <a:sym typeface="Wingdings" panose="05000000000000000000" pitchFamily="2" charset="2"/>
              </a:rPr>
              <a:t>)</a:t>
            </a:r>
            <a:endParaRPr lang="en-US" dirty="0"/>
          </a:p>
          <a:p>
            <a:pPr marL="139700" indent="0">
              <a:buNone/>
            </a:pPr>
            <a:endParaRPr lang="en-US" dirty="0"/>
          </a:p>
        </p:txBody>
      </p:sp>
      <p:sp>
        <p:nvSpPr>
          <p:cNvPr id="5" name="Rectangle 1">
            <a:extLst>
              <a:ext uri="{FF2B5EF4-FFF2-40B4-BE49-F238E27FC236}">
                <a16:creationId xmlns:a16="http://schemas.microsoft.com/office/drawing/2014/main" id="{252F5C1F-D4A6-EF9D-B8CF-B7AFA89DFD77}"/>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9202BA5F-EC5E-23BA-2CC9-1439A200D154}"/>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9477020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F0034-8494-8AD4-CE38-5248259C9D2F}"/>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16C03B2-7788-3249-4DBB-6C99F82075D5}"/>
              </a:ext>
            </a:extLst>
          </p:cNvPr>
          <p:cNvSpPr>
            <a:spLocks noGrp="1"/>
          </p:cNvSpPr>
          <p:nvPr>
            <p:ph type="body" idx="1"/>
          </p:nvPr>
        </p:nvSpPr>
        <p:spPr>
          <a:xfrm>
            <a:off x="510365" y="1586833"/>
            <a:ext cx="7685368" cy="2858167"/>
          </a:xfrm>
        </p:spPr>
        <p:txBody>
          <a:bodyPr/>
          <a:lstStyle/>
          <a:p>
            <a:pPr marL="139700" indent="0">
              <a:buNone/>
            </a:pPr>
            <a:r>
              <a:rPr lang="en-US" dirty="0">
                <a:solidFill>
                  <a:srgbClr val="00B0F0"/>
                </a:solidFill>
              </a:rPr>
              <a:t>To Reset a Cisco Router if you forgot the line console </a:t>
            </a:r>
            <a:r>
              <a:rPr lang="en-US" dirty="0" err="1">
                <a:solidFill>
                  <a:srgbClr val="00B0F0"/>
                </a:solidFill>
              </a:rPr>
              <a:t>passowrd</a:t>
            </a:r>
            <a:r>
              <a:rPr lang="en-US" dirty="0">
                <a:solidFill>
                  <a:srgbClr val="00B0F0"/>
                </a:solidFill>
              </a:rPr>
              <a:t>:</a:t>
            </a:r>
          </a:p>
          <a:p>
            <a:pPr marL="139700" indent="0">
              <a:buNone/>
            </a:pPr>
            <a:endParaRPr lang="en-US" dirty="0">
              <a:solidFill>
                <a:srgbClr val="00B0F0"/>
              </a:solidFill>
            </a:endParaRPr>
          </a:p>
          <a:p>
            <a:pPr marL="139700" indent="0">
              <a:buNone/>
            </a:pPr>
            <a:r>
              <a:rPr lang="en-US" dirty="0" err="1"/>
              <a:t>rommon</a:t>
            </a:r>
            <a:r>
              <a:rPr lang="en-US" dirty="0"/>
              <a:t>&gt; </a:t>
            </a:r>
            <a:r>
              <a:rPr lang="en-US" dirty="0" err="1"/>
              <a:t>confreg</a:t>
            </a:r>
            <a:r>
              <a:rPr lang="en-US" dirty="0"/>
              <a:t>  0x2142</a:t>
            </a:r>
          </a:p>
          <a:p>
            <a:pPr marL="139700" indent="0">
              <a:buNone/>
            </a:pPr>
            <a:r>
              <a:rPr lang="en-US" dirty="0" err="1"/>
              <a:t>rommon</a:t>
            </a:r>
            <a:r>
              <a:rPr lang="en-US" dirty="0"/>
              <a:t>&gt; reset </a:t>
            </a:r>
          </a:p>
          <a:p>
            <a:pPr marL="139700" indent="0">
              <a:buNone/>
            </a:pPr>
            <a:endParaRPr lang="en-US" dirty="0"/>
          </a:p>
          <a:p>
            <a:pPr marL="139700" indent="0">
              <a:buNone/>
            </a:pPr>
            <a:endParaRPr lang="en-US" dirty="0"/>
          </a:p>
          <a:p>
            <a:pPr marL="139700" indent="0">
              <a:buNone/>
            </a:pPr>
            <a:r>
              <a:rPr lang="en-US" dirty="0" err="1"/>
              <a:t>confreg</a:t>
            </a:r>
            <a:r>
              <a:rPr lang="en-US" dirty="0"/>
              <a:t> 0x2142 </a:t>
            </a:r>
            <a:r>
              <a:rPr lang="en-US" dirty="0">
                <a:sym typeface="Wingdings" panose="05000000000000000000" pitchFamily="2" charset="2"/>
              </a:rPr>
              <a:t> tells the router , ignore the saved startup configuration when you boot </a:t>
            </a:r>
          </a:p>
          <a:p>
            <a:pPr marL="139700" indent="0">
              <a:buNone/>
            </a:pPr>
            <a:r>
              <a:rPr lang="en-US" dirty="0">
                <a:sym typeface="Wingdings" panose="05000000000000000000" pitchFamily="2" charset="2"/>
              </a:rPr>
              <a:t>This means ignore passwords, IPs, routing </a:t>
            </a:r>
            <a:r>
              <a:rPr lang="en-US" dirty="0" err="1">
                <a:sym typeface="Wingdings" panose="05000000000000000000" pitchFamily="2" charset="2"/>
              </a:rPr>
              <a:t>etc</a:t>
            </a:r>
            <a:r>
              <a:rPr lang="en-US" dirty="0">
                <a:sym typeface="Wingdings" panose="05000000000000000000" pitchFamily="2" charset="2"/>
              </a:rPr>
              <a:t> stored in NVRAM. </a:t>
            </a:r>
          </a:p>
          <a:p>
            <a:pPr marL="139700" indent="0">
              <a:buNone/>
            </a:pPr>
            <a:endParaRPr lang="en-US" dirty="0">
              <a:sym typeface="Wingdings" panose="05000000000000000000" pitchFamily="2" charset="2"/>
            </a:endParaRPr>
          </a:p>
          <a:p>
            <a:pPr marL="139700" indent="0">
              <a:buNone/>
            </a:pPr>
            <a:r>
              <a:rPr lang="en-US" dirty="0">
                <a:sym typeface="Wingdings" panose="05000000000000000000" pitchFamily="2" charset="2"/>
              </a:rPr>
              <a:t>reset </a:t>
            </a:r>
            <a:r>
              <a:rPr lang="en-US" dirty="0"/>
              <a:t>  Reboots the router with that setting </a:t>
            </a:r>
          </a:p>
          <a:p>
            <a:pPr marL="139700" indent="0">
              <a:buNone/>
            </a:pPr>
            <a:endParaRPr lang="en-US" dirty="0"/>
          </a:p>
          <a:p>
            <a:pPr marL="139700" indent="0">
              <a:buNone/>
            </a:pPr>
            <a:r>
              <a:rPr lang="en-US" dirty="0"/>
              <a:t>This does not wipe/erase NVRAM , it only tells the router ignore the startup-config in NVRAM while booting</a:t>
            </a:r>
          </a:p>
          <a:p>
            <a:pPr marL="139700" indent="0">
              <a:buNone/>
            </a:pPr>
            <a:r>
              <a:rPr lang="en-US" dirty="0"/>
              <a:t>After the boot if you run , copy startup-config running config </a:t>
            </a:r>
          </a:p>
          <a:p>
            <a:pPr marL="139700" indent="0">
              <a:buNone/>
            </a:pPr>
            <a:r>
              <a:rPr lang="en-US" dirty="0"/>
              <a:t>You will get all your old config back (including old passwords)</a:t>
            </a:r>
          </a:p>
        </p:txBody>
      </p:sp>
      <p:sp>
        <p:nvSpPr>
          <p:cNvPr id="5" name="Rectangle 1">
            <a:extLst>
              <a:ext uri="{FF2B5EF4-FFF2-40B4-BE49-F238E27FC236}">
                <a16:creationId xmlns:a16="http://schemas.microsoft.com/office/drawing/2014/main" id="{F90FEBF3-0620-CBC0-8FFA-F3F7F0CEC02A}"/>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FF7348BB-1273-5A51-088B-68D510F8253A}"/>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309375018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352DF9-7B4E-C9A2-7826-90FDA2C961B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95CD04B-B8CC-8E64-BB7F-FAA296834F0F}"/>
              </a:ext>
            </a:extLst>
          </p:cNvPr>
          <p:cNvSpPr>
            <a:spLocks noGrp="1"/>
          </p:cNvSpPr>
          <p:nvPr>
            <p:ph type="body" idx="1"/>
          </p:nvPr>
        </p:nvSpPr>
        <p:spPr>
          <a:xfrm>
            <a:off x="510365" y="1586833"/>
            <a:ext cx="7685368" cy="2858167"/>
          </a:xfrm>
        </p:spPr>
        <p:txBody>
          <a:bodyPr/>
          <a:lstStyle/>
          <a:p>
            <a:pPr marL="139700" indent="0">
              <a:buNone/>
            </a:pPr>
            <a:r>
              <a:rPr lang="en-US" dirty="0">
                <a:solidFill>
                  <a:srgbClr val="00B0F0"/>
                </a:solidFill>
              </a:rPr>
              <a:t>To factory reset completely wipe everything in NVRAM :</a:t>
            </a:r>
          </a:p>
          <a:p>
            <a:pPr marL="139700" indent="0">
              <a:buNone/>
            </a:pPr>
            <a:endParaRPr lang="en-US" dirty="0">
              <a:solidFill>
                <a:srgbClr val="00B0F0"/>
              </a:solidFill>
            </a:endParaRPr>
          </a:p>
          <a:p>
            <a:pPr marL="139700" indent="0">
              <a:buNone/>
            </a:pPr>
            <a:r>
              <a:rPr lang="en-US" dirty="0" err="1"/>
              <a:t>rommon</a:t>
            </a:r>
            <a:r>
              <a:rPr lang="en-US" dirty="0"/>
              <a:t>&gt; </a:t>
            </a:r>
            <a:r>
              <a:rPr lang="en-US" dirty="0" err="1"/>
              <a:t>confreg</a:t>
            </a:r>
            <a:r>
              <a:rPr lang="en-US" dirty="0"/>
              <a:t>  0x2142</a:t>
            </a:r>
          </a:p>
          <a:p>
            <a:pPr marL="139700" indent="0">
              <a:buNone/>
            </a:pPr>
            <a:r>
              <a:rPr lang="en-US" dirty="0" err="1"/>
              <a:t>rommon</a:t>
            </a:r>
            <a:r>
              <a:rPr lang="en-US" dirty="0"/>
              <a:t>&gt; reset </a:t>
            </a:r>
          </a:p>
          <a:p>
            <a:pPr marL="139700" indent="0">
              <a:buNone/>
            </a:pPr>
            <a:endParaRPr lang="en-US" dirty="0"/>
          </a:p>
          <a:p>
            <a:pPr marL="139700" indent="0">
              <a:buNone/>
            </a:pPr>
            <a:r>
              <a:rPr lang="en-US" dirty="0"/>
              <a:t>After booting </a:t>
            </a:r>
          </a:p>
          <a:p>
            <a:pPr marL="139700" indent="0">
              <a:buNone/>
            </a:pPr>
            <a:endParaRPr lang="en-US" dirty="0"/>
          </a:p>
          <a:p>
            <a:pPr>
              <a:buFont typeface="Wingdings" panose="05000000000000000000" pitchFamily="2" charset="2"/>
              <a:buChar char="q"/>
            </a:pPr>
            <a:r>
              <a:rPr lang="en-US" dirty="0"/>
              <a:t>Router &gt; enable </a:t>
            </a:r>
          </a:p>
          <a:p>
            <a:pPr>
              <a:buFont typeface="Wingdings" panose="05000000000000000000" pitchFamily="2" charset="2"/>
              <a:buChar char="q"/>
            </a:pPr>
            <a:r>
              <a:rPr lang="en-US" dirty="0"/>
              <a:t>Router &gt; write erase</a:t>
            </a:r>
          </a:p>
          <a:p>
            <a:pPr>
              <a:buFont typeface="Wingdings" panose="05000000000000000000" pitchFamily="2" charset="2"/>
              <a:buChar char="q"/>
            </a:pPr>
            <a:r>
              <a:rPr lang="en-US" dirty="0"/>
              <a:t>Router #erase startup-config</a:t>
            </a:r>
          </a:p>
          <a:p>
            <a:pPr>
              <a:buFont typeface="Wingdings" panose="05000000000000000000" pitchFamily="2" charset="2"/>
              <a:buChar char="q"/>
            </a:pPr>
            <a:r>
              <a:rPr lang="en-US" dirty="0"/>
              <a:t>Router Reload</a:t>
            </a:r>
          </a:p>
          <a:p>
            <a:pPr marL="139700" indent="0">
              <a:buNone/>
            </a:pPr>
            <a:endParaRPr lang="en-US" dirty="0"/>
          </a:p>
          <a:p>
            <a:pPr marL="139700" indent="0">
              <a:buNone/>
            </a:pPr>
            <a:endParaRPr lang="en-US" dirty="0"/>
          </a:p>
          <a:p>
            <a:pPr marL="139700" indent="0">
              <a:buNone/>
            </a:pPr>
            <a:r>
              <a:rPr lang="en-US" dirty="0"/>
              <a:t>NVRAM is cleared , no Password, No IP , No protocols</a:t>
            </a:r>
          </a:p>
          <a:p>
            <a:pPr marL="139700" indent="0">
              <a:buNone/>
            </a:pPr>
            <a:endParaRPr lang="en-US" dirty="0"/>
          </a:p>
          <a:p>
            <a:pPr marL="139700" indent="0">
              <a:buNone/>
            </a:pPr>
            <a:endParaRPr lang="en-US" dirty="0"/>
          </a:p>
        </p:txBody>
      </p:sp>
      <p:sp>
        <p:nvSpPr>
          <p:cNvPr id="5" name="Rectangle 1">
            <a:extLst>
              <a:ext uri="{FF2B5EF4-FFF2-40B4-BE49-F238E27FC236}">
                <a16:creationId xmlns:a16="http://schemas.microsoft.com/office/drawing/2014/main" id="{44EF0665-6F57-6BBC-D270-B9565D3967FD}"/>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77105733-23CC-88E6-2A38-C28E100C5CB2}"/>
              </a:ext>
            </a:extLst>
          </p:cNvPr>
          <p:cNvSpPr txBox="1"/>
          <p:nvPr/>
        </p:nvSpPr>
        <p:spPr>
          <a:xfrm>
            <a:off x="626866" y="491052"/>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Tree>
    <p:extLst>
      <p:ext uri="{BB962C8B-B14F-4D97-AF65-F5344CB8AC3E}">
        <p14:creationId xmlns:p14="http://schemas.microsoft.com/office/powerpoint/2010/main" val="315548320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E8BB0F-C3E7-4898-7671-9FC14ADC40D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ACCEC0B7-359D-409C-D0BD-0B444005822B}"/>
              </a:ext>
            </a:extLst>
          </p:cNvPr>
          <p:cNvSpPr>
            <a:spLocks noGrp="1"/>
          </p:cNvSpPr>
          <p:nvPr>
            <p:ph type="body" idx="1"/>
          </p:nvPr>
        </p:nvSpPr>
        <p:spPr>
          <a:xfrm>
            <a:off x="510365" y="1356000"/>
            <a:ext cx="5763435" cy="3319833"/>
          </a:xfrm>
        </p:spPr>
        <p:txBody>
          <a:bodyPr/>
          <a:lstStyle/>
          <a:p>
            <a:pPr marL="139700" indent="0">
              <a:buNone/>
            </a:pPr>
            <a:r>
              <a:rPr lang="en-US" dirty="0">
                <a:solidFill>
                  <a:srgbClr val="00B0F0"/>
                </a:solidFill>
              </a:rPr>
              <a:t>If you want to Clear the Passwords only , and keep other configurations there.</a:t>
            </a:r>
          </a:p>
          <a:p>
            <a:pPr marL="139700" indent="0">
              <a:buNone/>
            </a:pPr>
            <a:endParaRPr lang="en-US" dirty="0">
              <a:solidFill>
                <a:srgbClr val="00B0F0"/>
              </a:solidFill>
            </a:endParaRPr>
          </a:p>
          <a:p>
            <a:pPr marL="139700" indent="0">
              <a:buNone/>
            </a:pPr>
            <a:r>
              <a:rPr lang="en-US" dirty="0" err="1"/>
              <a:t>rommon</a:t>
            </a:r>
            <a:r>
              <a:rPr lang="en-US" dirty="0"/>
              <a:t>&gt; </a:t>
            </a:r>
            <a:r>
              <a:rPr lang="en-US" dirty="0" err="1"/>
              <a:t>confreg</a:t>
            </a:r>
            <a:r>
              <a:rPr lang="en-US" dirty="0"/>
              <a:t>  0x2142</a:t>
            </a:r>
          </a:p>
          <a:p>
            <a:pPr marL="139700" indent="0">
              <a:buNone/>
            </a:pPr>
            <a:r>
              <a:rPr lang="en-US" dirty="0" err="1"/>
              <a:t>rommon</a:t>
            </a:r>
            <a:r>
              <a:rPr lang="en-US" dirty="0"/>
              <a:t>&gt; reset </a:t>
            </a:r>
          </a:p>
          <a:p>
            <a:pPr marL="139700" indent="0">
              <a:buNone/>
            </a:pPr>
            <a:endParaRPr lang="en-US" dirty="0"/>
          </a:p>
          <a:p>
            <a:pPr marL="139700" indent="0">
              <a:buNone/>
            </a:pPr>
            <a:r>
              <a:rPr lang="en-US" dirty="0"/>
              <a:t>Router&gt; enable</a:t>
            </a:r>
          </a:p>
          <a:p>
            <a:pPr marL="139700" indent="0">
              <a:buNone/>
            </a:pPr>
            <a:r>
              <a:rPr lang="en-US" dirty="0"/>
              <a:t>Router# copy startup-config running-config</a:t>
            </a:r>
          </a:p>
          <a:p>
            <a:pPr marL="139700" indent="0">
              <a:buNone/>
            </a:pPr>
            <a:endParaRPr lang="en-US" dirty="0"/>
          </a:p>
          <a:p>
            <a:pPr marL="139700" indent="0">
              <a:buNone/>
            </a:pPr>
            <a:r>
              <a:rPr lang="en-US" dirty="0"/>
              <a:t>Router(config)# no enable password</a:t>
            </a:r>
          </a:p>
          <a:p>
            <a:pPr marL="139700" indent="0">
              <a:buNone/>
            </a:pPr>
            <a:r>
              <a:rPr lang="en-US" dirty="0"/>
              <a:t>Router(config)# no enable secret </a:t>
            </a:r>
          </a:p>
          <a:p>
            <a:pPr marL="139700" indent="0">
              <a:buNone/>
            </a:pPr>
            <a:r>
              <a:rPr lang="en-US" dirty="0"/>
              <a:t>Router(config)# line console 0</a:t>
            </a:r>
          </a:p>
          <a:p>
            <a:pPr marL="139700" indent="0">
              <a:buNone/>
            </a:pPr>
            <a:r>
              <a:rPr lang="en-US" dirty="0"/>
              <a:t>Router(config-line)# no password</a:t>
            </a:r>
          </a:p>
          <a:p>
            <a:pPr marL="139700" indent="0">
              <a:buNone/>
            </a:pPr>
            <a:r>
              <a:rPr lang="en-US" dirty="0"/>
              <a:t>Router(config-line)# </a:t>
            </a:r>
          </a:p>
          <a:p>
            <a:pPr marL="139700" indent="0">
              <a:buNone/>
            </a:pPr>
            <a:r>
              <a:rPr lang="en-US" dirty="0"/>
              <a:t>Router(config-line)# no login</a:t>
            </a:r>
          </a:p>
          <a:p>
            <a:pPr marL="139700" indent="0">
              <a:buNone/>
            </a:pPr>
            <a:r>
              <a:rPr lang="en-US" dirty="0"/>
              <a:t>Router(config-line)# exit</a:t>
            </a:r>
          </a:p>
          <a:p>
            <a:pPr marL="139700" indent="0">
              <a:buNone/>
            </a:pPr>
            <a:endParaRPr lang="en-US" dirty="0"/>
          </a:p>
          <a:p>
            <a:pPr marL="139700" indent="0">
              <a:buNone/>
            </a:pPr>
            <a:r>
              <a:rPr lang="en-US" dirty="0"/>
              <a:t>Router(config)# config-register 0x2102</a:t>
            </a:r>
          </a:p>
          <a:p>
            <a:pPr marL="139700" indent="0">
              <a:buNone/>
            </a:pPr>
            <a:r>
              <a:rPr lang="en-US" dirty="0"/>
              <a:t>Router# write memory</a:t>
            </a:r>
          </a:p>
          <a:p>
            <a:pPr marL="139700" indent="0">
              <a:buNone/>
            </a:pPr>
            <a:endParaRPr lang="en-US" dirty="0"/>
          </a:p>
          <a:p>
            <a:pPr marL="139700" indent="0">
              <a:buNone/>
            </a:pPr>
            <a:endParaRPr lang="en-US" dirty="0"/>
          </a:p>
          <a:p>
            <a:pPr marL="139700" indent="0">
              <a:buNone/>
            </a:pPr>
            <a:endParaRPr lang="en-US" dirty="0"/>
          </a:p>
        </p:txBody>
      </p:sp>
      <p:sp>
        <p:nvSpPr>
          <p:cNvPr id="5" name="Rectangle 1">
            <a:extLst>
              <a:ext uri="{FF2B5EF4-FFF2-40B4-BE49-F238E27FC236}">
                <a16:creationId xmlns:a16="http://schemas.microsoft.com/office/drawing/2014/main" id="{20873D89-8B85-2A59-35AA-E9059F7CF597}"/>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FEA3D216-4DAB-289A-9070-307E90A64487}"/>
              </a:ext>
            </a:extLst>
          </p:cNvPr>
          <p:cNvSpPr txBox="1"/>
          <p:nvPr/>
        </p:nvSpPr>
        <p:spPr>
          <a:xfrm>
            <a:off x="626866" y="340337"/>
            <a:ext cx="7899067" cy="1015663"/>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Resetting a Cisco Router to Factory Defaults</a:t>
            </a:r>
            <a:endParaRPr lang="en-PK" sz="3000" b="1" dirty="0">
              <a:solidFill>
                <a:schemeClr val="dk1"/>
              </a:solidFill>
              <a:latin typeface="Doppio One"/>
              <a:sym typeface="Doppio One"/>
            </a:endParaRPr>
          </a:p>
        </p:txBody>
      </p:sp>
      <p:sp>
        <p:nvSpPr>
          <p:cNvPr id="4" name="TextBox 3">
            <a:extLst>
              <a:ext uri="{FF2B5EF4-FFF2-40B4-BE49-F238E27FC236}">
                <a16:creationId xmlns:a16="http://schemas.microsoft.com/office/drawing/2014/main" id="{B595AE27-9BF8-2FA9-2D83-77F73538A72B}"/>
              </a:ext>
            </a:extLst>
          </p:cNvPr>
          <p:cNvSpPr txBox="1"/>
          <p:nvPr/>
        </p:nvSpPr>
        <p:spPr>
          <a:xfrm>
            <a:off x="6390301" y="4054100"/>
            <a:ext cx="2438400" cy="646331"/>
          </a:xfrm>
          <a:prstGeom prst="rect">
            <a:avLst/>
          </a:prstGeom>
          <a:noFill/>
        </p:spPr>
        <p:txBody>
          <a:bodyPr wrap="square">
            <a:spAutoFit/>
          </a:bodyPr>
          <a:lstStyle/>
          <a:p>
            <a:r>
              <a:rPr lang="en-US" sz="1200" dirty="0">
                <a:solidFill>
                  <a:schemeClr val="dk1"/>
                </a:solidFill>
                <a:latin typeface="Encode Sans"/>
                <a:sym typeface="Encode Sans"/>
              </a:rPr>
              <a:t>✅ End result:</a:t>
            </a:r>
          </a:p>
          <a:p>
            <a:pPr>
              <a:buFont typeface="Arial" panose="020B0604020202020204" pitchFamily="34" charset="0"/>
              <a:buChar char="•"/>
            </a:pPr>
            <a:r>
              <a:rPr lang="en-US" sz="1200" dirty="0">
                <a:solidFill>
                  <a:schemeClr val="dk1"/>
                </a:solidFill>
                <a:latin typeface="Encode Sans"/>
                <a:sym typeface="Encode Sans"/>
              </a:rPr>
              <a:t>All IPs, routing, protocols </a:t>
            </a:r>
            <a:r>
              <a:rPr lang="en-US" sz="1200" dirty="0">
                <a:solidFill>
                  <a:schemeClr val="dk1"/>
                </a:solidFill>
                <a:latin typeface="Encode Sans"/>
              </a:rPr>
              <a:t>remain.</a:t>
            </a:r>
          </a:p>
          <a:p>
            <a:pPr>
              <a:buFont typeface="Arial" panose="020B0604020202020204" pitchFamily="34" charset="0"/>
              <a:buChar char="•"/>
            </a:pPr>
            <a:r>
              <a:rPr lang="en-US" sz="1200" dirty="0">
                <a:solidFill>
                  <a:schemeClr val="dk1"/>
                </a:solidFill>
                <a:latin typeface="Encode Sans"/>
                <a:sym typeface="Encode Sans"/>
              </a:rPr>
              <a:t>Only passwords are reset.</a:t>
            </a:r>
          </a:p>
        </p:txBody>
      </p:sp>
      <p:sp>
        <p:nvSpPr>
          <p:cNvPr id="6" name="Arrow: Right 5">
            <a:extLst>
              <a:ext uri="{FF2B5EF4-FFF2-40B4-BE49-F238E27FC236}">
                <a16:creationId xmlns:a16="http://schemas.microsoft.com/office/drawing/2014/main" id="{928D357F-9A36-9EF2-98C4-53230E772BAE}"/>
              </a:ext>
            </a:extLst>
          </p:cNvPr>
          <p:cNvSpPr/>
          <p:nvPr/>
        </p:nvSpPr>
        <p:spPr>
          <a:xfrm>
            <a:off x="3606800" y="4377266"/>
            <a:ext cx="965200" cy="1704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8" name="Oval 7">
            <a:extLst>
              <a:ext uri="{FF2B5EF4-FFF2-40B4-BE49-F238E27FC236}">
                <a16:creationId xmlns:a16="http://schemas.microsoft.com/office/drawing/2014/main" id="{AA7CD5DA-8BA2-17C6-67A6-0032CD935CD2}"/>
              </a:ext>
            </a:extLst>
          </p:cNvPr>
          <p:cNvSpPr/>
          <p:nvPr/>
        </p:nvSpPr>
        <p:spPr>
          <a:xfrm>
            <a:off x="4796367" y="4214168"/>
            <a:ext cx="1382268" cy="486263"/>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Restore boot setting</a:t>
            </a:r>
            <a:endParaRPr lang="en-PK" sz="1000" dirty="0"/>
          </a:p>
        </p:txBody>
      </p:sp>
      <p:sp>
        <p:nvSpPr>
          <p:cNvPr id="9" name="Arrow: Right 8">
            <a:extLst>
              <a:ext uri="{FF2B5EF4-FFF2-40B4-BE49-F238E27FC236}">
                <a16:creationId xmlns:a16="http://schemas.microsoft.com/office/drawing/2014/main" id="{9CC7A138-EBAD-C449-14B7-198EF4CDD136}"/>
              </a:ext>
            </a:extLst>
          </p:cNvPr>
          <p:cNvSpPr/>
          <p:nvPr/>
        </p:nvSpPr>
        <p:spPr>
          <a:xfrm>
            <a:off x="4313767" y="2534600"/>
            <a:ext cx="965200" cy="1704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0" name="Oval 9">
            <a:extLst>
              <a:ext uri="{FF2B5EF4-FFF2-40B4-BE49-F238E27FC236}">
                <a16:creationId xmlns:a16="http://schemas.microsoft.com/office/drawing/2014/main" id="{553ACDD4-91F3-139A-4062-E51C1D82EA15}"/>
              </a:ext>
            </a:extLst>
          </p:cNvPr>
          <p:cNvSpPr/>
          <p:nvPr/>
        </p:nvSpPr>
        <p:spPr>
          <a:xfrm>
            <a:off x="5755217" y="2184737"/>
            <a:ext cx="1799166" cy="82873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t>Bring your full configuration (IPs , Routing Protocols </a:t>
            </a:r>
            <a:r>
              <a:rPr lang="en-US" sz="1000" dirty="0" err="1"/>
              <a:t>etc</a:t>
            </a:r>
            <a:r>
              <a:rPr lang="en-US" sz="1000" dirty="0"/>
              <a:t> into RAM</a:t>
            </a:r>
            <a:endParaRPr lang="en-PK" sz="1000" dirty="0"/>
          </a:p>
        </p:txBody>
      </p:sp>
    </p:spTree>
    <p:extLst>
      <p:ext uri="{BB962C8B-B14F-4D97-AF65-F5344CB8AC3E}">
        <p14:creationId xmlns:p14="http://schemas.microsoft.com/office/powerpoint/2010/main" val="22989652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03D97D-2DFD-AF36-194B-8DBCA76D91B2}"/>
              </a:ext>
            </a:extLst>
          </p:cNvPr>
          <p:cNvSpPr>
            <a:spLocks noGrp="1"/>
          </p:cNvSpPr>
          <p:nvPr>
            <p:ph type="title"/>
          </p:nvPr>
        </p:nvSpPr>
        <p:spPr/>
        <p:txBody>
          <a:bodyPr/>
          <a:lstStyle/>
          <a:p>
            <a:r>
              <a:rPr lang="en-US" dirty="0"/>
              <a:t>How to Assign IP to Router Interface </a:t>
            </a:r>
            <a:endParaRPr lang="en-PK" dirty="0"/>
          </a:p>
        </p:txBody>
      </p:sp>
      <p:sp>
        <p:nvSpPr>
          <p:cNvPr id="3" name="Text Placeholder 2">
            <a:extLst>
              <a:ext uri="{FF2B5EF4-FFF2-40B4-BE49-F238E27FC236}">
                <a16:creationId xmlns:a16="http://schemas.microsoft.com/office/drawing/2014/main" id="{B47BD937-EE15-2C8A-6D0A-479040A37067}"/>
              </a:ext>
            </a:extLst>
          </p:cNvPr>
          <p:cNvSpPr>
            <a:spLocks noGrp="1"/>
          </p:cNvSpPr>
          <p:nvPr>
            <p:ph type="body" idx="1"/>
          </p:nvPr>
        </p:nvSpPr>
        <p:spPr>
          <a:xfrm>
            <a:off x="276145" y="1420075"/>
            <a:ext cx="4541388" cy="3126000"/>
          </a:xfrm>
        </p:spPr>
        <p:txBody>
          <a:bodyPr/>
          <a:lstStyle/>
          <a:p>
            <a:pPr marL="139700" indent="0">
              <a:buNone/>
            </a:pPr>
            <a:r>
              <a:rPr lang="en-US" sz="1400" b="1" dirty="0">
                <a:solidFill>
                  <a:srgbClr val="00B0F0"/>
                </a:solidFill>
              </a:rPr>
              <a:t>LAN Interface</a:t>
            </a:r>
          </a:p>
          <a:p>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interface fa0/0</a:t>
            </a:r>
          </a:p>
          <a:p>
            <a:pPr>
              <a:buFont typeface="Wingdings" panose="05000000000000000000" pitchFamily="2" charset="2"/>
              <a:buChar char="q"/>
            </a:pPr>
            <a:r>
              <a:rPr lang="en-US" dirty="0"/>
              <a:t>Router(config-if)# ip address  192.168.1.1  255.255.255.0</a:t>
            </a:r>
          </a:p>
          <a:p>
            <a:pPr>
              <a:buFont typeface="Wingdings" panose="05000000000000000000" pitchFamily="2" charset="2"/>
              <a:buChar char="q"/>
            </a:pPr>
            <a:r>
              <a:rPr lang="en-US" dirty="0"/>
              <a:t>Router(config-if)# no shutdown</a:t>
            </a:r>
          </a:p>
          <a:p>
            <a:pPr>
              <a:buFont typeface="Wingdings" panose="05000000000000000000" pitchFamily="2" charset="2"/>
              <a:buChar char="q"/>
            </a:pPr>
            <a:r>
              <a:rPr lang="en-US" dirty="0"/>
              <a:t>Router(config-if)# exit</a:t>
            </a:r>
          </a:p>
          <a:p>
            <a:pPr marL="139700" indent="0">
              <a:buNone/>
            </a:pPr>
            <a:endParaRPr lang="en-US" dirty="0"/>
          </a:p>
          <a:p>
            <a:pPr marL="139700" indent="0">
              <a:buNone/>
            </a:pPr>
            <a:endParaRPr lang="en-US" dirty="0"/>
          </a:p>
          <a:p>
            <a:pPr marL="139700" indent="0">
              <a:buNone/>
            </a:pPr>
            <a:endParaRPr lang="en-US" dirty="0"/>
          </a:p>
          <a:p>
            <a:pPr marL="139700" indent="0">
              <a:buNone/>
            </a:pPr>
            <a:r>
              <a:rPr lang="en-US" dirty="0">
                <a:solidFill>
                  <a:srgbClr val="00B0F0"/>
                </a:solidFill>
              </a:rPr>
              <a:t>Verify the Configuration:</a:t>
            </a:r>
          </a:p>
          <a:p>
            <a:pPr marL="139700" indent="0">
              <a:buNone/>
            </a:pPr>
            <a:endParaRPr lang="en-US" dirty="0"/>
          </a:p>
          <a:p>
            <a:pPr>
              <a:buFont typeface="Wingdings" panose="05000000000000000000" pitchFamily="2" charset="2"/>
              <a:buChar char="q"/>
            </a:pPr>
            <a:r>
              <a:rPr lang="en-US" dirty="0"/>
              <a:t>Router# show ip interface brief</a:t>
            </a:r>
          </a:p>
          <a:p>
            <a:pPr marL="139700" indent="0">
              <a:buNone/>
            </a:pPr>
            <a:endParaRPr lang="en-US" dirty="0"/>
          </a:p>
          <a:p>
            <a:pPr marL="139700" indent="0">
              <a:buNone/>
            </a:pPr>
            <a:r>
              <a:rPr lang="en-US" dirty="0"/>
              <a:t>	</a:t>
            </a:r>
            <a:endParaRPr lang="en-PK" dirty="0"/>
          </a:p>
        </p:txBody>
      </p:sp>
      <p:sp>
        <p:nvSpPr>
          <p:cNvPr id="4" name="Text Placeholder 3">
            <a:extLst>
              <a:ext uri="{FF2B5EF4-FFF2-40B4-BE49-F238E27FC236}">
                <a16:creationId xmlns:a16="http://schemas.microsoft.com/office/drawing/2014/main" id="{8A598FC0-E008-2C5C-19FF-5F687A1A970C}"/>
              </a:ext>
            </a:extLst>
          </p:cNvPr>
          <p:cNvSpPr>
            <a:spLocks noGrp="1"/>
          </p:cNvSpPr>
          <p:nvPr>
            <p:ph type="body" idx="2"/>
          </p:nvPr>
        </p:nvSpPr>
        <p:spPr>
          <a:xfrm>
            <a:off x="4693791" y="1429234"/>
            <a:ext cx="4111352" cy="3250479"/>
          </a:xfrm>
        </p:spPr>
        <p:txBody>
          <a:bodyPr/>
          <a:lstStyle/>
          <a:p>
            <a:pPr marL="139700" indent="0">
              <a:buNone/>
            </a:pPr>
            <a:r>
              <a:rPr lang="en-US" sz="1400" b="1" dirty="0">
                <a:solidFill>
                  <a:srgbClr val="00B0F0"/>
                </a:solidFill>
              </a:rPr>
              <a:t>WAN Interface</a:t>
            </a:r>
          </a:p>
          <a:p>
            <a:endParaRPr lang="en-US" dirty="0"/>
          </a:p>
          <a:p>
            <a:pPr>
              <a:buFont typeface="Wingdings" panose="05000000000000000000" pitchFamily="2" charset="2"/>
              <a:buChar char="q"/>
            </a:pPr>
            <a:r>
              <a:rPr lang="fr-FR" dirty="0"/>
              <a:t>Router&gt; enable</a:t>
            </a:r>
          </a:p>
          <a:p>
            <a:pPr>
              <a:buFont typeface="Wingdings" panose="05000000000000000000" pitchFamily="2" charset="2"/>
              <a:buChar char="q"/>
            </a:pPr>
            <a:r>
              <a:rPr lang="fr-FR" dirty="0"/>
              <a:t>Router# configure terminal</a:t>
            </a:r>
          </a:p>
          <a:p>
            <a:pPr>
              <a:buFont typeface="Wingdings" panose="05000000000000000000" pitchFamily="2" charset="2"/>
              <a:buChar char="q"/>
            </a:pPr>
            <a:r>
              <a:rPr lang="en-US" dirty="0"/>
              <a:t>Router(config)# interface s0/0/0</a:t>
            </a:r>
          </a:p>
          <a:p>
            <a:pPr>
              <a:buFont typeface="Wingdings" panose="05000000000000000000" pitchFamily="2" charset="2"/>
              <a:buChar char="q"/>
            </a:pPr>
            <a:r>
              <a:rPr lang="en-US" dirty="0"/>
              <a:t>Router(config-if)# ip  address  1.1.1.1   255.0.0.0</a:t>
            </a:r>
          </a:p>
          <a:p>
            <a:pPr>
              <a:buFont typeface="Wingdings" panose="05000000000000000000" pitchFamily="2" charset="2"/>
              <a:buChar char="q"/>
            </a:pPr>
            <a:r>
              <a:rPr lang="en-US" dirty="0"/>
              <a:t>Router(config-if)# no shutdown</a:t>
            </a:r>
          </a:p>
          <a:p>
            <a:pPr>
              <a:buFont typeface="Wingdings" panose="05000000000000000000" pitchFamily="2" charset="2"/>
              <a:buChar char="q"/>
            </a:pPr>
            <a:r>
              <a:rPr lang="en-US" dirty="0"/>
              <a:t>Router(config-if)# exit</a:t>
            </a:r>
          </a:p>
          <a:p>
            <a:pPr marL="139700" indent="0">
              <a:buNone/>
            </a:pPr>
            <a:endParaRPr lang="en-US" dirty="0"/>
          </a:p>
          <a:p>
            <a:pPr marL="139700" indent="0">
              <a:buNone/>
            </a:pPr>
            <a:endParaRPr lang="en-US" dirty="0"/>
          </a:p>
          <a:p>
            <a:pPr marL="139700" indent="0">
              <a:buNone/>
            </a:pPr>
            <a:endParaRPr lang="en-US" dirty="0"/>
          </a:p>
          <a:p>
            <a:pPr marL="139700" indent="0">
              <a:buNone/>
            </a:pPr>
            <a:r>
              <a:rPr lang="en-US" dirty="0">
                <a:solidFill>
                  <a:srgbClr val="00B0F0"/>
                </a:solidFill>
              </a:rPr>
              <a:t>Verify the Configuration:</a:t>
            </a:r>
          </a:p>
          <a:p>
            <a:pPr marL="139700" indent="0">
              <a:buNone/>
            </a:pPr>
            <a:endParaRPr lang="en-US" dirty="0"/>
          </a:p>
          <a:p>
            <a:pPr>
              <a:buFont typeface="Wingdings" panose="05000000000000000000" pitchFamily="2" charset="2"/>
              <a:buChar char="q"/>
            </a:pPr>
            <a:r>
              <a:rPr lang="en-US" dirty="0"/>
              <a:t>Router# show ip interface brief</a:t>
            </a:r>
          </a:p>
          <a:p>
            <a:pPr marL="139700" indent="0">
              <a:buNone/>
            </a:pPr>
            <a:endParaRPr lang="en-US" dirty="0"/>
          </a:p>
          <a:p>
            <a:endParaRPr lang="en-PK" dirty="0"/>
          </a:p>
        </p:txBody>
      </p:sp>
    </p:spTree>
    <p:extLst>
      <p:ext uri="{BB962C8B-B14F-4D97-AF65-F5344CB8AC3E}">
        <p14:creationId xmlns:p14="http://schemas.microsoft.com/office/powerpoint/2010/main" val="7149366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17AFF2-14ED-D63B-2E54-BE9DE550709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0079FCC-9318-0814-890C-730863BCE420}"/>
              </a:ext>
            </a:extLst>
          </p:cNvPr>
          <p:cNvSpPr>
            <a:spLocks noGrp="1"/>
          </p:cNvSpPr>
          <p:nvPr>
            <p:ph type="body" idx="1"/>
          </p:nvPr>
        </p:nvSpPr>
        <p:spPr>
          <a:xfrm>
            <a:off x="294465" y="881965"/>
            <a:ext cx="4074335" cy="3666965"/>
          </a:xfrm>
        </p:spPr>
        <p:txBody>
          <a:bodyPr/>
          <a:lstStyle/>
          <a:p>
            <a:pPr marL="139700" indent="0">
              <a:buNone/>
            </a:pPr>
            <a:r>
              <a:rPr lang="en-US" sz="2000" dirty="0">
                <a:solidFill>
                  <a:srgbClr val="00B0F0"/>
                </a:solidFill>
              </a:rPr>
              <a:t>Backup to a TFTP Server:</a:t>
            </a:r>
          </a:p>
          <a:p>
            <a:pPr marL="139700" indent="0">
              <a:buNone/>
            </a:pPr>
            <a:endParaRPr lang="en-US" dirty="0">
              <a:solidFill>
                <a:srgbClr val="00B0F0"/>
              </a:solidFill>
            </a:endParaRPr>
          </a:p>
          <a:p>
            <a:pPr>
              <a:buFont typeface="Wingdings" panose="05000000000000000000" pitchFamily="2" charset="2"/>
              <a:buChar char="q"/>
            </a:pPr>
            <a:r>
              <a:rPr lang="en-US" dirty="0"/>
              <a:t>Router&gt; enable</a:t>
            </a:r>
          </a:p>
          <a:p>
            <a:pPr>
              <a:buFont typeface="Wingdings" panose="05000000000000000000" pitchFamily="2" charset="2"/>
              <a:buChar char="q"/>
            </a:pPr>
            <a:r>
              <a:rPr lang="en-US" dirty="0"/>
              <a:t>Router# copy running-config tftp</a:t>
            </a:r>
          </a:p>
          <a:p>
            <a:pPr>
              <a:buFont typeface="Wingdings" panose="05000000000000000000" pitchFamily="2" charset="2"/>
              <a:buChar char="q"/>
            </a:pPr>
            <a:r>
              <a:rPr lang="en-US" dirty="0"/>
              <a:t>Router# copy startup-config tftp</a:t>
            </a:r>
          </a:p>
          <a:p>
            <a:pPr marL="139700" indent="0">
              <a:buNone/>
            </a:pPr>
            <a:endParaRPr lang="en-US" dirty="0"/>
          </a:p>
          <a:p>
            <a:pPr marL="139700" indent="0">
              <a:buNone/>
            </a:pPr>
            <a:endParaRPr lang="en-US" dirty="0"/>
          </a:p>
          <a:p>
            <a:pPr marL="139700" indent="0">
              <a:buNone/>
            </a:pPr>
            <a:endParaRPr lang="en-US" dirty="0">
              <a:solidFill>
                <a:srgbClr val="00B0F0"/>
              </a:solidFill>
            </a:endParaRPr>
          </a:p>
          <a:p>
            <a:pPr marL="139700" indent="0">
              <a:buNone/>
            </a:pPr>
            <a:endParaRPr lang="en-US" dirty="0">
              <a:solidFill>
                <a:srgbClr val="00B0F0"/>
              </a:solidFill>
            </a:endParaRPr>
          </a:p>
          <a:p>
            <a:pPr marL="139700" indent="0">
              <a:buNone/>
            </a:pPr>
            <a:r>
              <a:rPr lang="en-US" dirty="0">
                <a:solidFill>
                  <a:srgbClr val="00B0F0"/>
                </a:solidFill>
              </a:rPr>
              <a:t>Restore Configuration</a:t>
            </a:r>
          </a:p>
          <a:p>
            <a:pPr marL="139700" indent="0">
              <a:buNone/>
            </a:pPr>
            <a:endParaRPr lang="en-US" dirty="0">
              <a:solidFill>
                <a:srgbClr val="00B0F0"/>
              </a:solidFill>
            </a:endParaRPr>
          </a:p>
          <a:p>
            <a:pPr>
              <a:buFont typeface="Wingdings" panose="05000000000000000000" pitchFamily="2" charset="2"/>
              <a:buChar char="q"/>
            </a:pPr>
            <a:r>
              <a:rPr lang="en-US" dirty="0"/>
              <a:t>Router# copy tftp running-config</a:t>
            </a:r>
          </a:p>
          <a:p>
            <a:pPr>
              <a:buFont typeface="Wingdings" panose="05000000000000000000" pitchFamily="2" charset="2"/>
              <a:buChar char="q"/>
            </a:pPr>
            <a:r>
              <a:rPr lang="en-US" dirty="0"/>
              <a:t>Router# copy running-config startup-config</a:t>
            </a:r>
          </a:p>
          <a:p>
            <a:pPr marL="139700" indent="0">
              <a:buNone/>
            </a:pPr>
            <a:endParaRPr lang="en-US" dirty="0">
              <a:solidFill>
                <a:srgbClr val="00B0F0"/>
              </a:solidFill>
            </a:endParaRPr>
          </a:p>
          <a:p>
            <a:pPr marL="139700" indent="0">
              <a:buNone/>
            </a:pPr>
            <a:r>
              <a:rPr lang="en-US" dirty="0"/>
              <a:t>Address or name of remote host [ ]? 192.168.1.5</a:t>
            </a:r>
          </a:p>
          <a:p>
            <a:pPr marL="139700" indent="0">
              <a:buNone/>
            </a:pPr>
            <a:r>
              <a:rPr lang="en-US" dirty="0"/>
              <a:t>Source filename [ ]? myconfiguration</a:t>
            </a:r>
          </a:p>
          <a:p>
            <a:pPr marL="139700" indent="0">
              <a:buNone/>
            </a:pPr>
            <a:endParaRPr lang="en-US" dirty="0"/>
          </a:p>
          <a:p>
            <a:pPr marL="139700" indent="0">
              <a:buNone/>
            </a:pPr>
            <a:r>
              <a:rPr lang="en-US" dirty="0"/>
              <a:t>Press Enter to accept the default (running-config) when prompted:</a:t>
            </a:r>
          </a:p>
          <a:p>
            <a:pPr marL="139700" indent="0">
              <a:buNone/>
            </a:pPr>
            <a:r>
              <a:rPr lang="en-US" dirty="0"/>
              <a:t>Destination filename [running-config]?</a:t>
            </a:r>
          </a:p>
          <a:p>
            <a:pPr marL="139700" indent="0">
              <a:buNone/>
            </a:pPr>
            <a:endParaRPr lang="en-US" dirty="0">
              <a:solidFill>
                <a:srgbClr val="00B0F0"/>
              </a:solidFill>
            </a:endParaRPr>
          </a:p>
          <a:p>
            <a:pPr marL="139700" indent="0">
              <a:buNone/>
            </a:pPr>
            <a:endParaRPr lang="en-US" dirty="0"/>
          </a:p>
        </p:txBody>
      </p:sp>
      <p:sp>
        <p:nvSpPr>
          <p:cNvPr id="4" name="Text Placeholder 3">
            <a:extLst>
              <a:ext uri="{FF2B5EF4-FFF2-40B4-BE49-F238E27FC236}">
                <a16:creationId xmlns:a16="http://schemas.microsoft.com/office/drawing/2014/main" id="{0DC69C22-259C-839C-580C-B6E0B71EEFB4}"/>
              </a:ext>
            </a:extLst>
          </p:cNvPr>
          <p:cNvSpPr>
            <a:spLocks noGrp="1"/>
          </p:cNvSpPr>
          <p:nvPr>
            <p:ph type="body" idx="2"/>
          </p:nvPr>
        </p:nvSpPr>
        <p:spPr>
          <a:xfrm>
            <a:off x="4842000" y="1586833"/>
            <a:ext cx="3574800" cy="3126000"/>
          </a:xfrm>
        </p:spPr>
        <p:txBody>
          <a:bodyPr/>
          <a:lstStyle/>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solidFill>
                <a:srgbClr val="00B0F0"/>
              </a:solidFill>
            </a:endParaRPr>
          </a:p>
          <a:p>
            <a:pPr marL="139700" indent="0">
              <a:buNone/>
            </a:pPr>
            <a:endParaRPr lang="en-US" dirty="0">
              <a:solidFill>
                <a:srgbClr val="00B0F0"/>
              </a:solidFill>
            </a:endParaRPr>
          </a:p>
          <a:p>
            <a:pPr marL="139700" indent="0">
              <a:buNone/>
            </a:pPr>
            <a:endParaRPr lang="en-PK" dirty="0"/>
          </a:p>
        </p:txBody>
      </p:sp>
      <p:sp>
        <p:nvSpPr>
          <p:cNvPr id="5" name="Rectangle 1">
            <a:extLst>
              <a:ext uri="{FF2B5EF4-FFF2-40B4-BE49-F238E27FC236}">
                <a16:creationId xmlns:a16="http://schemas.microsoft.com/office/drawing/2014/main" id="{6AD322E2-C0DA-A1C6-8E86-87B2ADCC3B48}"/>
              </a:ext>
            </a:extLst>
          </p:cNvPr>
          <p:cNvSpPr>
            <a:spLocks noChangeArrowheads="1"/>
          </p:cNvSpPr>
          <p:nvPr/>
        </p:nvSpPr>
        <p:spPr bwMode="auto">
          <a:xfrm>
            <a:off x="626866" y="4214168"/>
            <a:ext cx="5435267"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br>
              <a:rPr lang="en-PK" altLang="en-PK" sz="1200" dirty="0">
                <a:solidFill>
                  <a:srgbClr val="00B0F0"/>
                </a:solidFill>
                <a:latin typeface="Encode Sans"/>
                <a:sym typeface="Encode Sans"/>
              </a:rPr>
            </a:br>
            <a:endParaRPr lang="en-PK" altLang="en-PK" sz="1200" dirty="0">
              <a:solidFill>
                <a:srgbClr val="00B0F0"/>
              </a:solidFill>
              <a:latin typeface="Encode Sans"/>
              <a:sym typeface="Encode Sans"/>
            </a:endParaRPr>
          </a:p>
        </p:txBody>
      </p:sp>
      <p:sp>
        <p:nvSpPr>
          <p:cNvPr id="7" name="TextBox 6">
            <a:extLst>
              <a:ext uri="{FF2B5EF4-FFF2-40B4-BE49-F238E27FC236}">
                <a16:creationId xmlns:a16="http://schemas.microsoft.com/office/drawing/2014/main" id="{74F3C41F-75E2-C8C2-2D71-D27B88968586}"/>
              </a:ext>
            </a:extLst>
          </p:cNvPr>
          <p:cNvSpPr txBox="1"/>
          <p:nvPr/>
        </p:nvSpPr>
        <p:spPr>
          <a:xfrm>
            <a:off x="622466" y="327967"/>
            <a:ext cx="7899067" cy="553998"/>
          </a:xfrm>
          <a:prstGeom prst="rect">
            <a:avLst/>
          </a:prstGeom>
          <a:noFill/>
        </p:spPr>
        <p:txBody>
          <a:bodyPr wrap="square">
            <a:spAutoFit/>
          </a:bodyPr>
          <a:lstStyle/>
          <a:p>
            <a:pPr algn="ctr">
              <a:buClr>
                <a:schemeClr val="dk1"/>
              </a:buClr>
              <a:buSzPts val="2800"/>
            </a:pPr>
            <a:r>
              <a:rPr lang="en-US" sz="3000" b="1" dirty="0">
                <a:solidFill>
                  <a:schemeClr val="dk1"/>
                </a:solidFill>
                <a:latin typeface="Doppio One"/>
                <a:sym typeface="Doppio One"/>
              </a:rPr>
              <a:t>Backup of Cisco Router Configuration</a:t>
            </a:r>
            <a:endParaRPr lang="en-PK" sz="3000" b="1" dirty="0">
              <a:solidFill>
                <a:schemeClr val="dk1"/>
              </a:solidFill>
              <a:latin typeface="Doppio One"/>
              <a:sym typeface="Doppio One"/>
            </a:endParaRPr>
          </a:p>
        </p:txBody>
      </p:sp>
      <p:pic>
        <p:nvPicPr>
          <p:cNvPr id="6" name="Picture 5">
            <a:extLst>
              <a:ext uri="{FF2B5EF4-FFF2-40B4-BE49-F238E27FC236}">
                <a16:creationId xmlns:a16="http://schemas.microsoft.com/office/drawing/2014/main" id="{47C124C7-56A7-60D6-800A-A5160BCE004D}"/>
              </a:ext>
            </a:extLst>
          </p:cNvPr>
          <p:cNvPicPr>
            <a:picLocks noChangeAspect="1"/>
          </p:cNvPicPr>
          <p:nvPr/>
        </p:nvPicPr>
        <p:blipFill>
          <a:blip r:embed="rId2"/>
          <a:stretch>
            <a:fillRect/>
          </a:stretch>
        </p:blipFill>
        <p:spPr>
          <a:xfrm>
            <a:off x="4436533" y="1125168"/>
            <a:ext cx="4707466" cy="3666965"/>
          </a:xfrm>
          <a:prstGeom prst="rect">
            <a:avLst/>
          </a:prstGeom>
        </p:spPr>
      </p:pic>
    </p:spTree>
    <p:extLst>
      <p:ext uri="{BB962C8B-B14F-4D97-AF65-F5344CB8AC3E}">
        <p14:creationId xmlns:p14="http://schemas.microsoft.com/office/powerpoint/2010/main" val="32639534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5B57A7-67FE-E0EB-4139-D4508084FC9F}"/>
              </a:ext>
            </a:extLst>
          </p:cNvPr>
          <p:cNvSpPr>
            <a:spLocks noGrp="1"/>
          </p:cNvSpPr>
          <p:nvPr>
            <p:ph type="title"/>
          </p:nvPr>
        </p:nvSpPr>
        <p:spPr>
          <a:xfrm>
            <a:off x="450000" y="279263"/>
            <a:ext cx="7890600" cy="572700"/>
          </a:xfrm>
        </p:spPr>
        <p:txBody>
          <a:bodyPr/>
          <a:lstStyle/>
          <a:p>
            <a:r>
              <a:rPr lang="en-US" dirty="0"/>
              <a:t>Steps to View Files on the TFTP Server in Packet Tracer</a:t>
            </a:r>
            <a:endParaRPr lang="en-PK" dirty="0"/>
          </a:p>
        </p:txBody>
      </p:sp>
      <p:sp>
        <p:nvSpPr>
          <p:cNvPr id="3" name="Text Placeholder 2">
            <a:extLst>
              <a:ext uri="{FF2B5EF4-FFF2-40B4-BE49-F238E27FC236}">
                <a16:creationId xmlns:a16="http://schemas.microsoft.com/office/drawing/2014/main" id="{C2490170-91ED-3E62-D5EF-89D60639A4E7}"/>
              </a:ext>
            </a:extLst>
          </p:cNvPr>
          <p:cNvSpPr>
            <a:spLocks noGrp="1"/>
          </p:cNvSpPr>
          <p:nvPr>
            <p:ph type="body" idx="1"/>
          </p:nvPr>
        </p:nvSpPr>
        <p:spPr>
          <a:xfrm>
            <a:off x="367970" y="1442900"/>
            <a:ext cx="3574800" cy="3126000"/>
          </a:xfrm>
        </p:spPr>
        <p:txBody>
          <a:bodyPr/>
          <a:lstStyle/>
          <a:p>
            <a:r>
              <a:rPr lang="en-US" dirty="0"/>
              <a:t>Click on the </a:t>
            </a:r>
            <a:r>
              <a:rPr lang="en-US" b="1" dirty="0"/>
              <a:t>TFTP server </a:t>
            </a:r>
            <a:r>
              <a:rPr lang="en-US" dirty="0"/>
              <a:t>in your network diagram.</a:t>
            </a:r>
          </a:p>
          <a:p>
            <a:endParaRPr lang="en-US" dirty="0"/>
          </a:p>
          <a:p>
            <a:r>
              <a:rPr lang="en-US" dirty="0"/>
              <a:t>Once the TFTP server device window opens, go to the </a:t>
            </a:r>
            <a:r>
              <a:rPr lang="en-US" b="1" dirty="0"/>
              <a:t>Services</a:t>
            </a:r>
            <a:r>
              <a:rPr lang="en-US" dirty="0"/>
              <a:t> tab.</a:t>
            </a:r>
          </a:p>
          <a:p>
            <a:endParaRPr lang="en-US" dirty="0"/>
          </a:p>
          <a:p>
            <a:r>
              <a:rPr lang="en-US" dirty="0"/>
              <a:t>From the left menu, click on </a:t>
            </a:r>
            <a:r>
              <a:rPr lang="en-US" b="1" dirty="0"/>
              <a:t>TFTP</a:t>
            </a:r>
            <a:r>
              <a:rPr lang="en-US" dirty="0"/>
              <a:t> under Services.</a:t>
            </a:r>
          </a:p>
          <a:p>
            <a:r>
              <a:rPr lang="en-US" dirty="0"/>
              <a:t>A list of saved files will appear in the right panel</a:t>
            </a:r>
          </a:p>
          <a:p>
            <a:endParaRPr lang="en-US" dirty="0"/>
          </a:p>
          <a:p>
            <a:r>
              <a:rPr lang="en-US" dirty="0"/>
              <a:t>Find out the one which you have saved</a:t>
            </a:r>
            <a:endParaRPr lang="en-PK" dirty="0"/>
          </a:p>
        </p:txBody>
      </p:sp>
      <p:sp>
        <p:nvSpPr>
          <p:cNvPr id="4" name="Text Placeholder 3">
            <a:extLst>
              <a:ext uri="{FF2B5EF4-FFF2-40B4-BE49-F238E27FC236}">
                <a16:creationId xmlns:a16="http://schemas.microsoft.com/office/drawing/2014/main" id="{4761C73A-F7B1-FBEF-C672-8A21C713DC68}"/>
              </a:ext>
            </a:extLst>
          </p:cNvPr>
          <p:cNvSpPr>
            <a:spLocks noGrp="1"/>
          </p:cNvSpPr>
          <p:nvPr>
            <p:ph type="body" idx="2"/>
          </p:nvPr>
        </p:nvSpPr>
        <p:spPr/>
        <p:txBody>
          <a:bodyPr/>
          <a:lstStyle/>
          <a:p>
            <a:endParaRPr lang="en-PK"/>
          </a:p>
        </p:txBody>
      </p:sp>
      <p:pic>
        <p:nvPicPr>
          <p:cNvPr id="6" name="Picture 5">
            <a:extLst>
              <a:ext uri="{FF2B5EF4-FFF2-40B4-BE49-F238E27FC236}">
                <a16:creationId xmlns:a16="http://schemas.microsoft.com/office/drawing/2014/main" id="{CCF2F1C6-C299-947A-43C1-78185D60383D}"/>
              </a:ext>
            </a:extLst>
          </p:cNvPr>
          <p:cNvPicPr>
            <a:picLocks noChangeAspect="1"/>
          </p:cNvPicPr>
          <p:nvPr/>
        </p:nvPicPr>
        <p:blipFill>
          <a:blip r:embed="rId2"/>
          <a:stretch>
            <a:fillRect/>
          </a:stretch>
        </p:blipFill>
        <p:spPr>
          <a:xfrm>
            <a:off x="3869267" y="1312332"/>
            <a:ext cx="5274733" cy="3403601"/>
          </a:xfrm>
          <a:prstGeom prst="rect">
            <a:avLst/>
          </a:prstGeom>
        </p:spPr>
      </p:pic>
    </p:spTree>
    <p:extLst>
      <p:ext uri="{BB962C8B-B14F-4D97-AF65-F5344CB8AC3E}">
        <p14:creationId xmlns:p14="http://schemas.microsoft.com/office/powerpoint/2010/main" val="3435862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596A00-E251-8DAF-6275-DF8DDBBDD617}"/>
              </a:ext>
            </a:extLst>
          </p:cNvPr>
          <p:cNvSpPr>
            <a:spLocks noGrp="1"/>
          </p:cNvSpPr>
          <p:nvPr>
            <p:ph type="title"/>
          </p:nvPr>
        </p:nvSpPr>
        <p:spPr/>
        <p:txBody>
          <a:bodyPr/>
          <a:lstStyle/>
          <a:p>
            <a:r>
              <a:rPr lang="en-US" dirty="0"/>
              <a:t>Backup of Cisco Router Configuration</a:t>
            </a:r>
            <a:br>
              <a:rPr lang="en-US" dirty="0"/>
            </a:br>
            <a:endParaRPr lang="en-PK" dirty="0"/>
          </a:p>
        </p:txBody>
      </p:sp>
      <p:sp>
        <p:nvSpPr>
          <p:cNvPr id="3" name="Text Placeholder 2">
            <a:extLst>
              <a:ext uri="{FF2B5EF4-FFF2-40B4-BE49-F238E27FC236}">
                <a16:creationId xmlns:a16="http://schemas.microsoft.com/office/drawing/2014/main" id="{B62EC6CB-7E26-8DA9-9D99-3DB6DD99C094}"/>
              </a:ext>
            </a:extLst>
          </p:cNvPr>
          <p:cNvSpPr>
            <a:spLocks noGrp="1"/>
          </p:cNvSpPr>
          <p:nvPr>
            <p:ph type="body" idx="1"/>
          </p:nvPr>
        </p:nvSpPr>
        <p:spPr>
          <a:xfrm>
            <a:off x="336909" y="1170125"/>
            <a:ext cx="4162264" cy="3126000"/>
          </a:xfrm>
        </p:spPr>
        <p:txBody>
          <a:bodyPr/>
          <a:lstStyle/>
          <a:p>
            <a:pPr marL="139700" indent="0">
              <a:buNone/>
            </a:pPr>
            <a:r>
              <a:rPr lang="en-US" sz="2000" b="1" dirty="0">
                <a:solidFill>
                  <a:srgbClr val="00B0F0"/>
                </a:solidFill>
              </a:rPr>
              <a:t>Backup to a Flash Drive</a:t>
            </a:r>
          </a:p>
          <a:p>
            <a:pPr marL="139700" indent="0">
              <a:buNone/>
            </a:pPr>
            <a:endParaRPr lang="en-US" dirty="0"/>
          </a:p>
          <a:p>
            <a:pPr marL="139700" indent="0">
              <a:buNone/>
            </a:pPr>
            <a:r>
              <a:rPr lang="en-US" dirty="0">
                <a:solidFill>
                  <a:srgbClr val="00B0F0"/>
                </a:solidFill>
              </a:rPr>
              <a:t>Save Configuration to Router's Flash:</a:t>
            </a:r>
          </a:p>
          <a:p>
            <a:pPr marL="139700" indent="0">
              <a:buNone/>
            </a:pPr>
            <a:endParaRPr lang="en-US" dirty="0"/>
          </a:p>
          <a:p>
            <a:pPr>
              <a:buFont typeface="Wingdings" panose="05000000000000000000" pitchFamily="2" charset="2"/>
              <a:buChar char="q"/>
            </a:pPr>
            <a:r>
              <a:rPr lang="en-US" dirty="0"/>
              <a:t>Router# copy running-config flash:backup-config</a:t>
            </a:r>
          </a:p>
          <a:p>
            <a:endParaRPr lang="en-US" dirty="0"/>
          </a:p>
          <a:p>
            <a:pPr marL="139700" indent="0">
              <a:buNone/>
            </a:pPr>
            <a:endParaRPr lang="en-US" dirty="0"/>
          </a:p>
          <a:p>
            <a:endParaRPr lang="en-US" dirty="0"/>
          </a:p>
          <a:p>
            <a:pPr marL="139700" indent="0">
              <a:buNone/>
            </a:pPr>
            <a:r>
              <a:rPr lang="en-US" dirty="0"/>
              <a:t>Transfer the File via USB (If Supported):</a:t>
            </a:r>
          </a:p>
          <a:p>
            <a:pPr marL="139700" indent="0">
              <a:buNone/>
            </a:pPr>
            <a:r>
              <a:rPr lang="en-US" dirty="0"/>
              <a:t>If your router supports USB storage, connect the USB and copy the file:</a:t>
            </a:r>
          </a:p>
          <a:p>
            <a:pPr marL="139700" indent="0">
              <a:buNone/>
            </a:pPr>
            <a:endParaRPr lang="en-US" dirty="0"/>
          </a:p>
          <a:p>
            <a:pPr marL="139700" indent="0">
              <a:buNone/>
            </a:pPr>
            <a:r>
              <a:rPr lang="en-US" dirty="0"/>
              <a:t>Router# copy flash:backup-config usbflash0:</a:t>
            </a:r>
          </a:p>
          <a:p>
            <a:pPr marL="139700" indent="0">
              <a:buNone/>
            </a:pPr>
            <a:endParaRPr lang="en-US" dirty="0"/>
          </a:p>
          <a:p>
            <a:pPr marL="139700" indent="0">
              <a:buNone/>
            </a:pPr>
            <a:endParaRPr lang="en-US" dirty="0"/>
          </a:p>
          <a:p>
            <a:pPr marL="139700" indent="0">
              <a:buNone/>
            </a:pPr>
            <a:r>
              <a:rPr lang="en-US" dirty="0">
                <a:solidFill>
                  <a:srgbClr val="00B0F0"/>
                </a:solidFill>
              </a:rPr>
              <a:t>usbflash0: is the default storage location of the USB device.</a:t>
            </a:r>
          </a:p>
          <a:p>
            <a:endParaRPr lang="en-PK" dirty="0"/>
          </a:p>
        </p:txBody>
      </p:sp>
      <p:sp>
        <p:nvSpPr>
          <p:cNvPr id="4" name="Text Placeholder 3">
            <a:extLst>
              <a:ext uri="{FF2B5EF4-FFF2-40B4-BE49-F238E27FC236}">
                <a16:creationId xmlns:a16="http://schemas.microsoft.com/office/drawing/2014/main" id="{D99D0CA2-53E8-984B-5213-12D78E7492A2}"/>
              </a:ext>
            </a:extLst>
          </p:cNvPr>
          <p:cNvSpPr>
            <a:spLocks noGrp="1"/>
          </p:cNvSpPr>
          <p:nvPr>
            <p:ph type="body" idx="2"/>
          </p:nvPr>
        </p:nvSpPr>
        <p:spPr>
          <a:xfrm>
            <a:off x="4499173" y="1654566"/>
            <a:ext cx="4189384" cy="2426367"/>
          </a:xfrm>
        </p:spPr>
        <p:txBody>
          <a:bodyPr/>
          <a:lstStyle/>
          <a:p>
            <a:pPr marL="139700" indent="0">
              <a:buNone/>
            </a:pPr>
            <a:r>
              <a:rPr lang="en-US" dirty="0">
                <a:solidFill>
                  <a:srgbClr val="00B0F0"/>
                </a:solidFill>
              </a:rPr>
              <a:t>Restore backup from USB</a:t>
            </a:r>
          </a:p>
          <a:p>
            <a:pPr marL="139700" indent="0">
              <a:buNone/>
            </a:pPr>
            <a:endParaRPr lang="en-US" dirty="0">
              <a:solidFill>
                <a:srgbClr val="00B0F0"/>
              </a:solidFill>
            </a:endParaRPr>
          </a:p>
          <a:p>
            <a:pPr marL="139700" indent="0">
              <a:buNone/>
            </a:pPr>
            <a:r>
              <a:rPr lang="en-US" dirty="0"/>
              <a:t>Router&gt; enable</a:t>
            </a:r>
          </a:p>
          <a:p>
            <a:pPr marL="139700" indent="0">
              <a:buNone/>
            </a:pPr>
            <a:endParaRPr lang="en-US" dirty="0"/>
          </a:p>
          <a:p>
            <a:pPr marL="139700" indent="0">
              <a:buNone/>
            </a:pPr>
            <a:r>
              <a:rPr lang="en-US" dirty="0"/>
              <a:t>Router# copy usbflash0:backup-config running-config</a:t>
            </a:r>
          </a:p>
          <a:p>
            <a:pPr marL="139700" indent="0">
              <a:buNone/>
            </a:pPr>
            <a:endParaRPr lang="en-US" dirty="0"/>
          </a:p>
          <a:p>
            <a:pPr marL="139700" indent="0">
              <a:buNone/>
            </a:pPr>
            <a:r>
              <a:rPr lang="en-US" dirty="0"/>
              <a:t>Router# copy running-config startup-config</a:t>
            </a:r>
          </a:p>
          <a:p>
            <a:pPr marL="139700" indent="0">
              <a:buNone/>
            </a:pPr>
            <a:endParaRPr lang="en-PK" dirty="0">
              <a:solidFill>
                <a:srgbClr val="00B0F0"/>
              </a:solidFill>
            </a:endParaRPr>
          </a:p>
        </p:txBody>
      </p:sp>
    </p:spTree>
    <p:extLst>
      <p:ext uri="{BB962C8B-B14F-4D97-AF65-F5344CB8AC3E}">
        <p14:creationId xmlns:p14="http://schemas.microsoft.com/office/powerpoint/2010/main" val="4234614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49FC2-9779-CC0E-0AD5-BD51C89780DA}"/>
              </a:ext>
            </a:extLst>
          </p:cNvPr>
          <p:cNvSpPr>
            <a:spLocks noGrp="1"/>
          </p:cNvSpPr>
          <p:nvPr>
            <p:ph type="title"/>
          </p:nvPr>
        </p:nvSpPr>
        <p:spPr>
          <a:xfrm>
            <a:off x="636600" y="395124"/>
            <a:ext cx="7704000" cy="572700"/>
          </a:xfrm>
        </p:spPr>
        <p:txBody>
          <a:bodyPr/>
          <a:lstStyle/>
          <a:p>
            <a:r>
              <a:rPr lang="en-US" dirty="0"/>
              <a:t>Backing Up Configuration to a Local File via Terminal (Text File)</a:t>
            </a:r>
            <a:endParaRPr lang="en-PK" dirty="0"/>
          </a:p>
        </p:txBody>
      </p:sp>
      <p:sp>
        <p:nvSpPr>
          <p:cNvPr id="3" name="Text Placeholder 2">
            <a:extLst>
              <a:ext uri="{FF2B5EF4-FFF2-40B4-BE49-F238E27FC236}">
                <a16:creationId xmlns:a16="http://schemas.microsoft.com/office/drawing/2014/main" id="{E105F402-258E-40FB-34E9-6F63D627D688}"/>
              </a:ext>
            </a:extLst>
          </p:cNvPr>
          <p:cNvSpPr>
            <a:spLocks noGrp="1"/>
          </p:cNvSpPr>
          <p:nvPr>
            <p:ph type="body" idx="1"/>
          </p:nvPr>
        </p:nvSpPr>
        <p:spPr>
          <a:xfrm>
            <a:off x="574799" y="1442900"/>
            <a:ext cx="4191933" cy="3126000"/>
          </a:xfrm>
        </p:spPr>
        <p:txBody>
          <a:bodyPr/>
          <a:lstStyle/>
          <a:p>
            <a:pPr marL="139700" indent="0">
              <a:buNone/>
            </a:pPr>
            <a:r>
              <a:rPr lang="en-US" sz="2000" b="1" dirty="0">
                <a:solidFill>
                  <a:srgbClr val="00B0F0"/>
                </a:solidFill>
              </a:rPr>
              <a:t>Backup Saved a Text File</a:t>
            </a:r>
          </a:p>
          <a:p>
            <a:pPr marL="139700" indent="0">
              <a:buNone/>
            </a:pPr>
            <a:endParaRPr lang="en-US" dirty="0"/>
          </a:p>
          <a:p>
            <a:pPr>
              <a:buFont typeface="Wingdings" panose="05000000000000000000" pitchFamily="2" charset="2"/>
              <a:buChar char="q"/>
            </a:pPr>
            <a:r>
              <a:rPr lang="en-US" dirty="0"/>
              <a:t>Router&gt; enable</a:t>
            </a:r>
          </a:p>
          <a:p>
            <a:pPr>
              <a:buFont typeface="Wingdings" panose="05000000000000000000" pitchFamily="2" charset="2"/>
              <a:buChar char="q"/>
            </a:pPr>
            <a:r>
              <a:rPr lang="en-US" dirty="0"/>
              <a:t>Router# copy running-config flash:backup-config.txt</a:t>
            </a:r>
          </a:p>
          <a:p>
            <a:pPr marL="139700" indent="0">
              <a:buNone/>
            </a:pPr>
            <a:endParaRPr lang="en-US" dirty="0"/>
          </a:p>
          <a:p>
            <a:pPr marL="139700" indent="0">
              <a:buNone/>
            </a:pPr>
            <a:r>
              <a:rPr lang="en-US" dirty="0"/>
              <a:t>This saves the running-config to a text file (backup-config.txt) on the router's flash memory.</a:t>
            </a:r>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p>
          <a:p>
            <a:pPr marL="139700" indent="0">
              <a:buNone/>
            </a:pPr>
            <a:endParaRPr lang="en-US" dirty="0"/>
          </a:p>
          <a:p>
            <a:pPr marL="139700" indent="0">
              <a:buNone/>
            </a:pPr>
            <a:r>
              <a:rPr lang="en-US" dirty="0">
                <a:solidFill>
                  <a:srgbClr val="00B0F0"/>
                </a:solidFill>
              </a:rPr>
              <a:t>Verify the Backup File Exists:</a:t>
            </a:r>
          </a:p>
          <a:p>
            <a:pPr marL="139700" indent="0">
              <a:buNone/>
            </a:pPr>
            <a:endParaRPr lang="en-US" dirty="0">
              <a:solidFill>
                <a:srgbClr val="00B0F0"/>
              </a:solidFill>
            </a:endParaRPr>
          </a:p>
          <a:p>
            <a:pPr>
              <a:buFont typeface="Wingdings" panose="05000000000000000000" pitchFamily="2" charset="2"/>
              <a:buChar char="q"/>
            </a:pPr>
            <a:r>
              <a:rPr lang="en-US" dirty="0"/>
              <a:t>Router# dir flash:backup-config.txt</a:t>
            </a:r>
          </a:p>
          <a:p>
            <a:endParaRPr lang="en-PK" dirty="0"/>
          </a:p>
        </p:txBody>
      </p:sp>
      <p:sp>
        <p:nvSpPr>
          <p:cNvPr id="4" name="Text Placeholder 3">
            <a:extLst>
              <a:ext uri="{FF2B5EF4-FFF2-40B4-BE49-F238E27FC236}">
                <a16:creationId xmlns:a16="http://schemas.microsoft.com/office/drawing/2014/main" id="{15000750-2F6A-A1C0-B2F9-99F95E71CD4F}"/>
              </a:ext>
            </a:extLst>
          </p:cNvPr>
          <p:cNvSpPr>
            <a:spLocks noGrp="1"/>
          </p:cNvSpPr>
          <p:nvPr>
            <p:ph type="body" idx="2"/>
          </p:nvPr>
        </p:nvSpPr>
        <p:spPr>
          <a:xfrm>
            <a:off x="4572000" y="1442900"/>
            <a:ext cx="4191933" cy="3126000"/>
          </a:xfrm>
        </p:spPr>
        <p:txBody>
          <a:bodyPr/>
          <a:lstStyle/>
          <a:p>
            <a:pPr marL="139700" indent="0">
              <a:buNone/>
            </a:pPr>
            <a:r>
              <a:rPr lang="en-US" dirty="0">
                <a:solidFill>
                  <a:srgbClr val="00B0F0"/>
                </a:solidFill>
              </a:rPr>
              <a:t>To Restore:</a:t>
            </a:r>
          </a:p>
          <a:p>
            <a:endParaRPr lang="en-US" dirty="0"/>
          </a:p>
          <a:p>
            <a:pPr>
              <a:buFont typeface="Wingdings" panose="05000000000000000000" pitchFamily="2" charset="2"/>
              <a:buChar char="q"/>
            </a:pPr>
            <a:r>
              <a:rPr lang="en-US" dirty="0"/>
              <a:t>Router&gt; enable</a:t>
            </a:r>
          </a:p>
          <a:p>
            <a:pPr>
              <a:buFont typeface="Wingdings" panose="05000000000000000000" pitchFamily="2" charset="2"/>
              <a:buChar char="q"/>
            </a:pPr>
            <a:endParaRPr lang="en-US" dirty="0"/>
          </a:p>
          <a:p>
            <a:pPr>
              <a:buFont typeface="Wingdings" panose="05000000000000000000" pitchFamily="2" charset="2"/>
              <a:buChar char="q"/>
            </a:pPr>
            <a:r>
              <a:rPr lang="en-US" dirty="0"/>
              <a:t>Router# copy flash:backup-config.txt running-config</a:t>
            </a:r>
          </a:p>
          <a:p>
            <a:endParaRPr lang="en-US" dirty="0"/>
          </a:p>
          <a:p>
            <a:endParaRPr lang="en-PK" dirty="0"/>
          </a:p>
        </p:txBody>
      </p:sp>
    </p:spTree>
    <p:extLst>
      <p:ext uri="{BB962C8B-B14F-4D97-AF65-F5344CB8AC3E}">
        <p14:creationId xmlns:p14="http://schemas.microsoft.com/office/powerpoint/2010/main" val="37239777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F0C1CD-56DE-EEDF-3F27-13ACD0F5B90B}"/>
              </a:ext>
            </a:extLst>
          </p:cNvPr>
          <p:cNvSpPr>
            <a:spLocks noGrp="1"/>
          </p:cNvSpPr>
          <p:nvPr>
            <p:ph type="title"/>
          </p:nvPr>
        </p:nvSpPr>
        <p:spPr>
          <a:xfrm>
            <a:off x="226577" y="597425"/>
            <a:ext cx="8553281" cy="572700"/>
          </a:xfrm>
        </p:spPr>
        <p:txBody>
          <a:bodyPr/>
          <a:lstStyle/>
          <a:p>
            <a:r>
              <a:rPr lang="en-US" dirty="0"/>
              <a:t>Point-to-Point Connectivity (Router to Router)</a:t>
            </a:r>
            <a:endParaRPr lang="en-PK" dirty="0"/>
          </a:p>
        </p:txBody>
      </p:sp>
      <p:sp>
        <p:nvSpPr>
          <p:cNvPr id="3" name="Text Placeholder 2">
            <a:extLst>
              <a:ext uri="{FF2B5EF4-FFF2-40B4-BE49-F238E27FC236}">
                <a16:creationId xmlns:a16="http://schemas.microsoft.com/office/drawing/2014/main" id="{63C712E0-F669-3757-8B0C-FEFFA738C784}"/>
              </a:ext>
            </a:extLst>
          </p:cNvPr>
          <p:cNvSpPr>
            <a:spLocks noGrp="1"/>
          </p:cNvSpPr>
          <p:nvPr>
            <p:ph type="body" idx="1"/>
          </p:nvPr>
        </p:nvSpPr>
        <p:spPr>
          <a:xfrm>
            <a:off x="803400" y="1442900"/>
            <a:ext cx="7531396" cy="3126000"/>
          </a:xfrm>
        </p:spPr>
        <p:txBody>
          <a:bodyPr/>
          <a:lstStyle/>
          <a:p>
            <a:r>
              <a:rPr lang="en-US" dirty="0"/>
              <a:t>Refers to a direct, dedicated connection between two network devices (routers, switches, or PCs) using a single communication link. This link allows devices to communicate directly and efficiently.</a:t>
            </a:r>
          </a:p>
          <a:p>
            <a:endParaRPr lang="en-US" dirty="0"/>
          </a:p>
          <a:p>
            <a:r>
              <a:rPr lang="en-US" dirty="0"/>
              <a:t>A single, dedicated communication link connects two routers.</a:t>
            </a:r>
          </a:p>
          <a:p>
            <a:r>
              <a:rPr lang="en-US" dirty="0"/>
              <a:t>No other devices share this link.</a:t>
            </a:r>
          </a:p>
          <a:p>
            <a:endParaRPr lang="en-US" dirty="0"/>
          </a:p>
          <a:p>
            <a:endParaRPr lang="en-US" dirty="0"/>
          </a:p>
          <a:p>
            <a:endParaRPr lang="en-US" dirty="0"/>
          </a:p>
          <a:p>
            <a:pPr marL="139700" indent="0">
              <a:buNone/>
            </a:pPr>
            <a:r>
              <a:rPr lang="en-US" dirty="0"/>
              <a:t> </a:t>
            </a:r>
            <a:r>
              <a:rPr lang="en-US" dirty="0">
                <a:solidFill>
                  <a:srgbClr val="00B0F0"/>
                </a:solidFill>
              </a:rPr>
              <a:t>Advantages of Point-to-Point Connectivity:</a:t>
            </a:r>
          </a:p>
          <a:p>
            <a:endParaRPr lang="en-US" dirty="0"/>
          </a:p>
          <a:p>
            <a:r>
              <a:rPr lang="en-US" dirty="0"/>
              <a:t>High-speed, dedicated link.</a:t>
            </a:r>
          </a:p>
          <a:p>
            <a:r>
              <a:rPr lang="en-US" dirty="0"/>
              <a:t>Simplified routing configuration.</a:t>
            </a:r>
          </a:p>
          <a:p>
            <a:r>
              <a:rPr lang="en-US" dirty="0"/>
              <a:t>Reliable communication between two points.</a:t>
            </a:r>
            <a:endParaRPr lang="en-PK" dirty="0"/>
          </a:p>
        </p:txBody>
      </p:sp>
      <p:pic>
        <p:nvPicPr>
          <p:cNvPr id="6" name="Picture 5">
            <a:extLst>
              <a:ext uri="{FF2B5EF4-FFF2-40B4-BE49-F238E27FC236}">
                <a16:creationId xmlns:a16="http://schemas.microsoft.com/office/drawing/2014/main" id="{5C206BDA-D970-4F39-756B-4840ED8E88D9}"/>
              </a:ext>
            </a:extLst>
          </p:cNvPr>
          <p:cNvPicPr>
            <a:picLocks noChangeAspect="1"/>
          </p:cNvPicPr>
          <p:nvPr/>
        </p:nvPicPr>
        <p:blipFill>
          <a:blip r:embed="rId2"/>
          <a:stretch>
            <a:fillRect/>
          </a:stretch>
        </p:blipFill>
        <p:spPr>
          <a:xfrm>
            <a:off x="6230867" y="3577812"/>
            <a:ext cx="2451886" cy="1176600"/>
          </a:xfrm>
          <a:prstGeom prst="rect">
            <a:avLst/>
          </a:prstGeom>
        </p:spPr>
      </p:pic>
      <p:pic>
        <p:nvPicPr>
          <p:cNvPr id="8" name="Picture 7">
            <a:extLst>
              <a:ext uri="{FF2B5EF4-FFF2-40B4-BE49-F238E27FC236}">
                <a16:creationId xmlns:a16="http://schemas.microsoft.com/office/drawing/2014/main" id="{4E8A6AF0-F429-02F4-1D3F-A5941F825B2C}"/>
              </a:ext>
            </a:extLst>
          </p:cNvPr>
          <p:cNvPicPr>
            <a:picLocks noChangeAspect="1"/>
          </p:cNvPicPr>
          <p:nvPr/>
        </p:nvPicPr>
        <p:blipFill>
          <a:blip r:embed="rId3"/>
          <a:stretch>
            <a:fillRect/>
          </a:stretch>
        </p:blipFill>
        <p:spPr>
          <a:xfrm>
            <a:off x="6230867" y="2329329"/>
            <a:ext cx="2451886" cy="1248483"/>
          </a:xfrm>
          <a:prstGeom prst="rect">
            <a:avLst/>
          </a:prstGeom>
        </p:spPr>
      </p:pic>
    </p:spTree>
    <p:extLst>
      <p:ext uri="{BB962C8B-B14F-4D97-AF65-F5344CB8AC3E}">
        <p14:creationId xmlns:p14="http://schemas.microsoft.com/office/powerpoint/2010/main" val="25934281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8E08B-5E9C-D640-8C6D-4BE29BCA33AC}"/>
              </a:ext>
            </a:extLst>
          </p:cNvPr>
          <p:cNvSpPr>
            <a:spLocks noGrp="1"/>
          </p:cNvSpPr>
          <p:nvPr>
            <p:ph type="title"/>
          </p:nvPr>
        </p:nvSpPr>
        <p:spPr/>
        <p:txBody>
          <a:bodyPr/>
          <a:lstStyle/>
          <a:p>
            <a:r>
              <a:rPr lang="en-US" dirty="0"/>
              <a:t>Telnet</a:t>
            </a:r>
            <a:endParaRPr lang="en-PK" dirty="0"/>
          </a:p>
        </p:txBody>
      </p:sp>
      <p:sp>
        <p:nvSpPr>
          <p:cNvPr id="3" name="Text Placeholder 2">
            <a:extLst>
              <a:ext uri="{FF2B5EF4-FFF2-40B4-BE49-F238E27FC236}">
                <a16:creationId xmlns:a16="http://schemas.microsoft.com/office/drawing/2014/main" id="{C3EB9527-7381-1B43-2190-C0C1F0225B11}"/>
              </a:ext>
            </a:extLst>
          </p:cNvPr>
          <p:cNvSpPr>
            <a:spLocks noGrp="1"/>
          </p:cNvSpPr>
          <p:nvPr>
            <p:ph type="body" idx="1"/>
          </p:nvPr>
        </p:nvSpPr>
        <p:spPr/>
        <p:txBody>
          <a:bodyPr/>
          <a:lstStyle/>
          <a:p>
            <a:pPr marL="139700" indent="0">
              <a:buNone/>
            </a:pPr>
            <a:r>
              <a:rPr lang="en-US" dirty="0"/>
              <a:t>A protocol used for remote access to network devices (e.g., routers, switches).</a:t>
            </a:r>
          </a:p>
          <a:p>
            <a:endParaRPr lang="en-US" dirty="0"/>
          </a:p>
          <a:p>
            <a:pPr marL="139700" indent="0">
              <a:buNone/>
            </a:pPr>
            <a:r>
              <a:rPr lang="en-US" dirty="0"/>
              <a:t>Operates over TCP port 23.</a:t>
            </a:r>
          </a:p>
          <a:p>
            <a:pPr marL="139700" indent="0">
              <a:buNone/>
            </a:pPr>
            <a:endParaRPr lang="en-US" dirty="0"/>
          </a:p>
          <a:p>
            <a:pPr marL="139700" indent="0">
              <a:buNone/>
            </a:pPr>
            <a:endParaRPr lang="en-US" dirty="0"/>
          </a:p>
          <a:p>
            <a:pPr marL="139700" indent="0">
              <a:buNone/>
            </a:pPr>
            <a:r>
              <a:rPr lang="en-US" dirty="0">
                <a:solidFill>
                  <a:srgbClr val="00B0F0"/>
                </a:solidFill>
              </a:rPr>
              <a:t>Features:</a:t>
            </a:r>
          </a:p>
          <a:p>
            <a:pPr marL="139700" indent="0">
              <a:buNone/>
            </a:pPr>
            <a:endParaRPr lang="en-US" dirty="0"/>
          </a:p>
          <a:p>
            <a:pPr>
              <a:buFont typeface="Wingdings" panose="05000000000000000000" pitchFamily="2" charset="2"/>
              <a:buChar char="v"/>
            </a:pPr>
            <a:r>
              <a:rPr lang="en-US" dirty="0"/>
              <a:t>Provides command-line interface access.</a:t>
            </a:r>
          </a:p>
          <a:p>
            <a:pPr>
              <a:buFont typeface="Wingdings" panose="05000000000000000000" pitchFamily="2" charset="2"/>
              <a:buChar char="v"/>
            </a:pPr>
            <a:r>
              <a:rPr lang="en-US" dirty="0"/>
              <a:t>Allows configuration and troubleshooting remotely.</a:t>
            </a:r>
          </a:p>
          <a:p>
            <a:pPr>
              <a:buFont typeface="Wingdings" panose="05000000000000000000" pitchFamily="2" charset="2"/>
              <a:buChar char="v"/>
            </a:pPr>
            <a:r>
              <a:rPr lang="en-US" dirty="0"/>
              <a:t>Plaintext transmission (less secure).</a:t>
            </a:r>
            <a:endParaRPr lang="en-PK" dirty="0"/>
          </a:p>
        </p:txBody>
      </p:sp>
      <p:sp>
        <p:nvSpPr>
          <p:cNvPr id="4" name="Text Placeholder 3">
            <a:extLst>
              <a:ext uri="{FF2B5EF4-FFF2-40B4-BE49-F238E27FC236}">
                <a16:creationId xmlns:a16="http://schemas.microsoft.com/office/drawing/2014/main" id="{3C2FD266-F28A-4608-47CF-D8BD1D4BC30E}"/>
              </a:ext>
            </a:extLst>
          </p:cNvPr>
          <p:cNvSpPr>
            <a:spLocks noGrp="1"/>
          </p:cNvSpPr>
          <p:nvPr>
            <p:ph type="body" idx="2"/>
          </p:nvPr>
        </p:nvSpPr>
        <p:spPr/>
        <p:txBody>
          <a:bodyPr/>
          <a:lstStyle/>
          <a:p>
            <a:pPr marL="139700" indent="0">
              <a:buNone/>
            </a:pPr>
            <a:r>
              <a:rPr lang="en-US" dirty="0">
                <a:solidFill>
                  <a:srgbClr val="00B0F0"/>
                </a:solidFill>
              </a:rPr>
              <a:t>Steps to Enable Telnet on Cisco Routers</a:t>
            </a:r>
            <a:r>
              <a:rPr lang="en-US" dirty="0"/>
              <a:t>:</a:t>
            </a:r>
          </a:p>
          <a:p>
            <a:endParaRPr lang="en-US" dirty="0"/>
          </a:p>
          <a:p>
            <a:pPr>
              <a:buFont typeface="Wingdings" panose="05000000000000000000" pitchFamily="2" charset="2"/>
              <a:buChar char="q"/>
            </a:pPr>
            <a:r>
              <a:rPr lang="en-US" dirty="0"/>
              <a:t>Router(config)# line vty 0 4  </a:t>
            </a:r>
          </a:p>
          <a:p>
            <a:pPr>
              <a:buFont typeface="Wingdings" panose="05000000000000000000" pitchFamily="2" charset="2"/>
              <a:buChar char="q"/>
            </a:pPr>
            <a:r>
              <a:rPr lang="en-US" dirty="0"/>
              <a:t>Router(config-line)# password 123  </a:t>
            </a:r>
          </a:p>
          <a:p>
            <a:pPr>
              <a:buFont typeface="Wingdings" panose="05000000000000000000" pitchFamily="2" charset="2"/>
              <a:buChar char="q"/>
            </a:pPr>
            <a:r>
              <a:rPr lang="en-US" dirty="0"/>
              <a:t>Router(config-line)# login</a:t>
            </a:r>
          </a:p>
          <a:p>
            <a:pPr>
              <a:buFont typeface="Wingdings" panose="05000000000000000000" pitchFamily="2" charset="2"/>
              <a:buChar char="q"/>
            </a:pPr>
            <a:r>
              <a:rPr lang="en-US" dirty="0"/>
              <a:t>Router(config-line)#exit</a:t>
            </a:r>
          </a:p>
          <a:p>
            <a:pPr>
              <a:buFont typeface="Wingdings" panose="05000000000000000000" pitchFamily="2" charset="2"/>
              <a:buChar char="q"/>
            </a:pPr>
            <a:r>
              <a:rPr lang="en-US" dirty="0"/>
              <a:t>Router(config)# enable secret 1234</a:t>
            </a:r>
          </a:p>
          <a:p>
            <a:pPr marL="139700" indent="0">
              <a:buNone/>
            </a:pPr>
            <a:endParaRPr lang="en-US" dirty="0"/>
          </a:p>
          <a:p>
            <a:pPr marL="139700" indent="0">
              <a:buNone/>
            </a:pPr>
            <a:endParaRPr lang="en-US" dirty="0"/>
          </a:p>
          <a:p>
            <a:pPr marL="139700" indent="0">
              <a:buNone/>
            </a:pPr>
            <a:r>
              <a:rPr lang="en-US" dirty="0">
                <a:solidFill>
                  <a:srgbClr val="00B0F0"/>
                </a:solidFill>
              </a:rPr>
              <a:t>To Check the Result:</a:t>
            </a:r>
          </a:p>
          <a:p>
            <a:pPr marL="139700" indent="0">
              <a:buNone/>
            </a:pPr>
            <a:endParaRPr lang="en-US" dirty="0"/>
          </a:p>
          <a:p>
            <a:pPr marL="139700" indent="0">
              <a:buNone/>
            </a:pPr>
            <a:r>
              <a:rPr lang="en-US" dirty="0"/>
              <a:t>Go to a PC and open the Command Prompt.</a:t>
            </a:r>
          </a:p>
          <a:p>
            <a:pPr marL="139700" indent="0">
              <a:buNone/>
            </a:pPr>
            <a:r>
              <a:rPr lang="en-US" dirty="0"/>
              <a:t>C:\&gt; telnet 192.168.1.1</a:t>
            </a:r>
          </a:p>
          <a:p>
            <a:pPr marL="139700" indent="0">
              <a:buNone/>
            </a:pPr>
            <a:endParaRPr lang="en-US" dirty="0"/>
          </a:p>
          <a:p>
            <a:pPr marL="139700" indent="0">
              <a:buNone/>
            </a:pPr>
            <a:r>
              <a:rPr lang="en-US" dirty="0"/>
              <a:t>You will get access to the router's command-line interface. From there, you can perform all configurations directly from the computer.</a:t>
            </a:r>
          </a:p>
          <a:p>
            <a:pPr marL="139700" indent="0">
              <a:buNone/>
            </a:pPr>
            <a:endParaRPr lang="en-US" dirty="0"/>
          </a:p>
        </p:txBody>
      </p:sp>
    </p:spTree>
    <p:extLst>
      <p:ext uri="{BB962C8B-B14F-4D97-AF65-F5344CB8AC3E}">
        <p14:creationId xmlns:p14="http://schemas.microsoft.com/office/powerpoint/2010/main" val="383492554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14ABF750-ABEF-7A4F-058C-9EC69B711BCB}"/>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Telnet</a:t>
            </a:r>
            <a:endParaRPr lang="en-PK" sz="2781" dirty="0">
              <a:solidFill>
                <a:srgbClr val="403CCF"/>
              </a:solidFill>
              <a:latin typeface="Libre Baskerville" pitchFamily="34" charset="0"/>
            </a:endParaRPr>
          </a:p>
        </p:txBody>
      </p:sp>
      <p:pic>
        <p:nvPicPr>
          <p:cNvPr id="14" name="Picture 13">
            <a:extLst>
              <a:ext uri="{FF2B5EF4-FFF2-40B4-BE49-F238E27FC236}">
                <a16:creationId xmlns:a16="http://schemas.microsoft.com/office/drawing/2014/main" id="{386C548D-78BF-C0F5-74F6-55A9C3C9D762}"/>
              </a:ext>
            </a:extLst>
          </p:cNvPr>
          <p:cNvPicPr>
            <a:picLocks noChangeAspect="1"/>
          </p:cNvPicPr>
          <p:nvPr/>
        </p:nvPicPr>
        <p:blipFill>
          <a:blip r:embed="rId3"/>
          <a:stretch>
            <a:fillRect/>
          </a:stretch>
        </p:blipFill>
        <p:spPr>
          <a:xfrm>
            <a:off x="4399062" y="847724"/>
            <a:ext cx="4744938" cy="4295775"/>
          </a:xfrm>
          <a:prstGeom prst="rect">
            <a:avLst/>
          </a:prstGeom>
        </p:spPr>
      </p:pic>
      <p:sp>
        <p:nvSpPr>
          <p:cNvPr id="16" name="TextBox 15">
            <a:extLst>
              <a:ext uri="{FF2B5EF4-FFF2-40B4-BE49-F238E27FC236}">
                <a16:creationId xmlns:a16="http://schemas.microsoft.com/office/drawing/2014/main" id="{135B0528-F73F-D907-49F5-BC68892F4D2E}"/>
              </a:ext>
            </a:extLst>
          </p:cNvPr>
          <p:cNvSpPr txBox="1"/>
          <p:nvPr/>
        </p:nvSpPr>
        <p:spPr>
          <a:xfrm>
            <a:off x="161590" y="1354154"/>
            <a:ext cx="4115135" cy="1270989"/>
          </a:xfrm>
          <a:prstGeom prst="rect">
            <a:avLst/>
          </a:prstGeom>
          <a:noFill/>
        </p:spPr>
        <p:txBody>
          <a:bodyPr wrap="square">
            <a:spAutoFit/>
          </a:bodyPr>
          <a:lstStyle/>
          <a:p>
            <a:pPr marL="139700" indent="0">
              <a:buFont typeface="Arial"/>
              <a:buNone/>
            </a:pPr>
            <a:r>
              <a:rPr lang="en-US" sz="1050" dirty="0"/>
              <a:t>Go to a PC and open the Command Prompt.</a:t>
            </a:r>
          </a:p>
          <a:p>
            <a:pPr marL="139700" indent="0">
              <a:buFont typeface="Arial"/>
              <a:buNone/>
            </a:pPr>
            <a:endParaRPr lang="en-US" sz="1050" dirty="0"/>
          </a:p>
          <a:p>
            <a:pPr marL="139700" indent="0">
              <a:buFont typeface="Arial"/>
              <a:buNone/>
            </a:pPr>
            <a:r>
              <a:rPr lang="en-US" sz="1050" dirty="0"/>
              <a:t>C:\&gt; telnet 192.168.1.1</a:t>
            </a:r>
          </a:p>
          <a:p>
            <a:pPr marL="139700" indent="0">
              <a:buFont typeface="Arial"/>
              <a:buNone/>
            </a:pPr>
            <a:endParaRPr lang="en-US" sz="1050" dirty="0"/>
          </a:p>
          <a:p>
            <a:pPr marL="139700" indent="0">
              <a:buFont typeface="Arial"/>
              <a:buNone/>
            </a:pPr>
            <a:r>
              <a:rPr lang="en-US" sz="1050" dirty="0"/>
              <a:t>You will get access to the router's command-line interface. From there, you can perform all configurations directly from the computer.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659BBE-61FC-805A-7765-DEB33A27312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7A86E24-5A37-AC40-FFA8-00508C5D4E1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DE3A681-8FB3-5C34-9B93-E43AB3F7B5F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608E723-5865-3D77-3511-611C739B06FD}"/>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23CFFD8E-811C-5ECF-7808-8A1830E543E6}"/>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SSH</a:t>
            </a:r>
            <a:endParaRPr lang="en-PK" sz="278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8A5E72C1-19AB-471F-6369-A3B875FB1330}"/>
              </a:ext>
            </a:extLst>
          </p:cNvPr>
          <p:cNvSpPr txBox="1"/>
          <p:nvPr/>
        </p:nvSpPr>
        <p:spPr>
          <a:xfrm>
            <a:off x="186265" y="697755"/>
            <a:ext cx="6841068" cy="3108543"/>
          </a:xfrm>
          <a:prstGeom prst="rect">
            <a:avLst/>
          </a:prstGeom>
          <a:noFill/>
        </p:spPr>
        <p:txBody>
          <a:bodyPr wrap="square">
            <a:spAutoFit/>
          </a:bodyPr>
          <a:lstStyle/>
          <a:p>
            <a:pPr marL="285750" indent="-285750" algn="just">
              <a:buFont typeface="Wingdings" panose="05000000000000000000" pitchFamily="2" charset="2"/>
              <a:buChar char="Ø"/>
            </a:pPr>
            <a:r>
              <a:rPr lang="en-US" dirty="0"/>
              <a:t>SSH, or Secure Shell, is a protocol that allows secure remote access to devices over a network.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It encrypts communication to prevent eavesdropping and ensures data is protected and confidential.</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SSH is preferred because it provides encryption and authentication, making it much more secure than older protocols like Telnet. </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Telnet sends data in plain text, which can be intercepted, while SSH encrypts all data, protecting it from attackers.</a:t>
            </a:r>
          </a:p>
          <a:p>
            <a:pPr marL="285750" indent="-285750" algn="just">
              <a:buFont typeface="Wingdings" panose="05000000000000000000" pitchFamily="2" charset="2"/>
              <a:buChar char="Ø"/>
            </a:pPr>
            <a:endParaRPr lang="en-US" dirty="0"/>
          </a:p>
          <a:p>
            <a:pPr marL="285750" indent="-285750" algn="just">
              <a:buFont typeface="Wingdings" panose="05000000000000000000" pitchFamily="2" charset="2"/>
              <a:buChar char="Ø"/>
            </a:pPr>
            <a:r>
              <a:rPr lang="en-US" dirty="0"/>
              <a:t>It operates on port 22 by default.</a:t>
            </a:r>
          </a:p>
          <a:p>
            <a:pPr marL="285750" indent="-285750" algn="just">
              <a:buFont typeface="Wingdings" panose="05000000000000000000" pitchFamily="2" charset="2"/>
              <a:buChar char="Ø"/>
            </a:pPr>
            <a:endParaRPr lang="en-US" dirty="0"/>
          </a:p>
        </p:txBody>
      </p:sp>
    </p:spTree>
    <p:extLst>
      <p:ext uri="{BB962C8B-B14F-4D97-AF65-F5344CB8AC3E}">
        <p14:creationId xmlns:p14="http://schemas.microsoft.com/office/powerpoint/2010/main" val="207465231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70554-74CB-0919-DBD6-9F4D6FDEC28B}"/>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CC353815-78CE-D365-00A5-385B6373CE5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4F5DB3C-99C1-133F-6B31-CB998510823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8F9B20BD-C5F5-30BD-48D8-8E4AE0357069}"/>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SSH</a:t>
            </a:r>
            <a:endParaRPr lang="en-PK" sz="2781" dirty="0">
              <a:solidFill>
                <a:srgbClr val="403CCF"/>
              </a:solidFill>
              <a:latin typeface="Libre Baskerville" pitchFamily="34" charset="0"/>
            </a:endParaRPr>
          </a:p>
        </p:txBody>
      </p:sp>
      <p:sp>
        <p:nvSpPr>
          <p:cNvPr id="7" name="TextBox 6">
            <a:extLst>
              <a:ext uri="{FF2B5EF4-FFF2-40B4-BE49-F238E27FC236}">
                <a16:creationId xmlns:a16="http://schemas.microsoft.com/office/drawing/2014/main" id="{50E4D9F2-240F-BB7A-53D5-5F8C6DA317C5}"/>
              </a:ext>
            </a:extLst>
          </p:cNvPr>
          <p:cNvSpPr txBox="1"/>
          <p:nvPr/>
        </p:nvSpPr>
        <p:spPr>
          <a:xfrm>
            <a:off x="82517" y="525851"/>
            <a:ext cx="6620933" cy="3185487"/>
          </a:xfrm>
          <a:prstGeom prst="rect">
            <a:avLst/>
          </a:prstGeom>
          <a:noFill/>
        </p:spPr>
        <p:txBody>
          <a:bodyPr wrap="square">
            <a:spAutoFit/>
          </a:bodyPr>
          <a:lstStyle/>
          <a:p>
            <a:r>
              <a:rPr lang="en-US" sz="1800" b="1" dirty="0"/>
              <a:t>SSH Configuration Steps:</a:t>
            </a:r>
          </a:p>
          <a:p>
            <a:endParaRPr lang="en-US" sz="1800" dirty="0"/>
          </a:p>
          <a:p>
            <a:pPr marL="285750" indent="-285750">
              <a:buFont typeface="Wingdings" panose="05000000000000000000" pitchFamily="2" charset="2"/>
              <a:buChar char="Ø"/>
            </a:pPr>
            <a:r>
              <a:rPr lang="en-US" sz="1100" b="1" dirty="0"/>
              <a:t>Define Username and Password</a:t>
            </a:r>
            <a:r>
              <a:rPr lang="en-US" sz="1100" dirty="0"/>
              <a:t>:</a:t>
            </a:r>
            <a:br>
              <a:rPr lang="en-US" sz="1100" dirty="0"/>
            </a:br>
            <a:r>
              <a:rPr lang="en-US" sz="1100" dirty="0"/>
              <a:t>Configure a username and password for SSH access. Also, set an enable secret for privileged mode access.</a:t>
            </a:r>
          </a:p>
          <a:p>
            <a:endParaRPr lang="en-US" sz="1100" dirty="0"/>
          </a:p>
          <a:p>
            <a:pPr marL="285750" indent="-285750">
              <a:buFont typeface="Wingdings" panose="05000000000000000000" pitchFamily="2" charset="2"/>
              <a:buChar char="Ø"/>
            </a:pPr>
            <a:r>
              <a:rPr lang="en-US" sz="1100" b="1" dirty="0"/>
              <a:t>Define Domain Name</a:t>
            </a:r>
            <a:r>
              <a:rPr lang="en-US" sz="1100" dirty="0"/>
              <a:t>:</a:t>
            </a:r>
            <a:br>
              <a:rPr lang="en-US" sz="1100" dirty="0"/>
            </a:br>
            <a:r>
              <a:rPr lang="en-US" sz="1100" dirty="0"/>
              <a:t>Set the domain name (typically the organization’s name) for SSH configuration.</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b="1" dirty="0"/>
              <a:t>Define Crypto Key</a:t>
            </a:r>
            <a:r>
              <a:rPr lang="en-US" sz="1100" dirty="0"/>
              <a:t>:</a:t>
            </a:r>
            <a:br>
              <a:rPr lang="en-US" sz="1100" dirty="0"/>
            </a:br>
            <a:r>
              <a:rPr lang="en-US" sz="1100" dirty="0"/>
              <a:t>Generate a crypto key pair for encryption. This key is used for secure communication over SSH.</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b="1" dirty="0"/>
              <a:t>Apply SSH on VTY Lines</a:t>
            </a:r>
            <a:r>
              <a:rPr lang="en-US" sz="1100" dirty="0"/>
              <a:t>:</a:t>
            </a:r>
            <a:br>
              <a:rPr lang="en-US" sz="1100" dirty="0"/>
            </a:br>
            <a:r>
              <a:rPr lang="en-US" sz="1100" dirty="0"/>
              <a:t>Enable SSH access on the VTY (Virtual Terminal) lines for remote management.</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b="1" dirty="0"/>
              <a:t>Verify SSH Configuration</a:t>
            </a:r>
            <a:r>
              <a:rPr lang="en-US" sz="1100" dirty="0"/>
              <a:t>:</a:t>
            </a:r>
            <a:br>
              <a:rPr lang="en-US" sz="1100" dirty="0"/>
            </a:br>
            <a:r>
              <a:rPr lang="en-US" sz="1100" dirty="0"/>
              <a:t>Check the SSH configuration to ensure it is working correctly.</a:t>
            </a:r>
          </a:p>
        </p:txBody>
      </p:sp>
      <p:sp>
        <p:nvSpPr>
          <p:cNvPr id="11" name="TextBox 10">
            <a:extLst>
              <a:ext uri="{FF2B5EF4-FFF2-40B4-BE49-F238E27FC236}">
                <a16:creationId xmlns:a16="http://schemas.microsoft.com/office/drawing/2014/main" id="{3AE8ADB1-F458-29CB-9A03-D5FB00D7CB64}"/>
              </a:ext>
            </a:extLst>
          </p:cNvPr>
          <p:cNvSpPr txBox="1"/>
          <p:nvPr/>
        </p:nvSpPr>
        <p:spPr>
          <a:xfrm>
            <a:off x="6555350" y="1047982"/>
            <a:ext cx="2506133" cy="1446550"/>
          </a:xfrm>
          <a:prstGeom prst="rect">
            <a:avLst/>
          </a:prstGeom>
          <a:noFill/>
        </p:spPr>
        <p:txBody>
          <a:bodyPr wrap="square">
            <a:spAutoFit/>
          </a:bodyPr>
          <a:lstStyle/>
          <a:p>
            <a:r>
              <a:rPr lang="en-US" sz="800" b="1" dirty="0"/>
              <a:t>Summary </a:t>
            </a:r>
          </a:p>
          <a:p>
            <a:pPr marL="228600" indent="-228600">
              <a:buFont typeface="+mj-lt"/>
              <a:buAutoNum type="arabicPeriod"/>
            </a:pPr>
            <a:endParaRPr lang="en-US" sz="800" dirty="0"/>
          </a:p>
          <a:p>
            <a:pPr marL="228600" indent="-228600">
              <a:buFont typeface="+mj-lt"/>
              <a:buAutoNum type="arabicPeriod"/>
            </a:pPr>
            <a:r>
              <a:rPr lang="en-US" sz="800" dirty="0"/>
              <a:t>Set username and password + enable secret.</a:t>
            </a:r>
          </a:p>
          <a:p>
            <a:pPr marL="228600" indent="-228600">
              <a:buFont typeface="+mj-lt"/>
              <a:buAutoNum type="arabicPeriod"/>
            </a:pPr>
            <a:endParaRPr lang="en-US" sz="800" dirty="0"/>
          </a:p>
          <a:p>
            <a:pPr marL="228600" indent="-228600">
              <a:buFont typeface="+mj-lt"/>
              <a:buAutoNum type="arabicPeriod"/>
            </a:pPr>
            <a:r>
              <a:rPr lang="en-US" sz="800" dirty="0"/>
              <a:t>Define the domain name (organization name).</a:t>
            </a:r>
          </a:p>
          <a:p>
            <a:pPr marL="228600" indent="-228600">
              <a:buFont typeface="+mj-lt"/>
              <a:buAutoNum type="arabicPeriod"/>
            </a:pPr>
            <a:endParaRPr lang="en-US" sz="800" dirty="0"/>
          </a:p>
          <a:p>
            <a:pPr marL="228600" indent="-228600">
              <a:buFont typeface="+mj-lt"/>
              <a:buAutoNum type="arabicPeriod"/>
            </a:pPr>
            <a:r>
              <a:rPr lang="en-US" sz="800" dirty="0"/>
              <a:t>Generate crypto key for encryption.</a:t>
            </a:r>
          </a:p>
          <a:p>
            <a:pPr marL="228600" indent="-228600">
              <a:buFont typeface="+mj-lt"/>
              <a:buAutoNum type="arabicPeriod"/>
            </a:pPr>
            <a:endParaRPr lang="en-US" sz="800" dirty="0"/>
          </a:p>
          <a:p>
            <a:pPr marL="228600" indent="-228600">
              <a:buFont typeface="+mj-lt"/>
              <a:buAutoNum type="arabicPeriod"/>
            </a:pPr>
            <a:r>
              <a:rPr lang="en-US" sz="800" dirty="0"/>
              <a:t>Apply SSH on VTY lines.</a:t>
            </a:r>
          </a:p>
          <a:p>
            <a:pPr marL="228600" indent="-228600">
              <a:buFont typeface="+mj-lt"/>
              <a:buAutoNum type="arabicPeriod"/>
            </a:pPr>
            <a:endParaRPr lang="en-US" sz="800" dirty="0"/>
          </a:p>
          <a:p>
            <a:pPr marL="228600" indent="-228600">
              <a:buFont typeface="+mj-lt"/>
              <a:buAutoNum type="arabicPeriod"/>
            </a:pPr>
            <a:r>
              <a:rPr lang="en-US" sz="800" dirty="0"/>
              <a:t>Verify SSH configuration.</a:t>
            </a:r>
            <a:endParaRPr lang="en-PK" sz="800" dirty="0"/>
          </a:p>
        </p:txBody>
      </p:sp>
    </p:spTree>
    <p:extLst>
      <p:ext uri="{BB962C8B-B14F-4D97-AF65-F5344CB8AC3E}">
        <p14:creationId xmlns:p14="http://schemas.microsoft.com/office/powerpoint/2010/main" val="32859408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F1AED9-65AA-21D8-234C-47A134D14397}"/>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6B1BC4D9-F3F5-ADA3-ECCB-3749A800E82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0FC1C1DC-205F-76B5-8B10-BCBFF1F80C5E}"/>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SSH</a:t>
            </a:r>
            <a:endParaRPr lang="en-PK" sz="2781" dirty="0">
              <a:solidFill>
                <a:srgbClr val="403CCF"/>
              </a:solidFill>
              <a:latin typeface="Libre Baskerville" pitchFamily="34" charset="0"/>
            </a:endParaRPr>
          </a:p>
        </p:txBody>
      </p:sp>
      <p:sp>
        <p:nvSpPr>
          <p:cNvPr id="7" name="TextBox 6">
            <a:extLst>
              <a:ext uri="{FF2B5EF4-FFF2-40B4-BE49-F238E27FC236}">
                <a16:creationId xmlns:a16="http://schemas.microsoft.com/office/drawing/2014/main" id="{2E3AA68C-1734-BDBB-8A57-907718911237}"/>
              </a:ext>
            </a:extLst>
          </p:cNvPr>
          <p:cNvSpPr txBox="1"/>
          <p:nvPr/>
        </p:nvSpPr>
        <p:spPr>
          <a:xfrm>
            <a:off x="82517" y="525851"/>
            <a:ext cx="5751083" cy="3970318"/>
          </a:xfrm>
          <a:prstGeom prst="rect">
            <a:avLst/>
          </a:prstGeom>
          <a:noFill/>
        </p:spPr>
        <p:txBody>
          <a:bodyPr wrap="square">
            <a:spAutoFit/>
          </a:bodyPr>
          <a:lstStyle/>
          <a:p>
            <a:r>
              <a:rPr lang="en-US" dirty="0"/>
              <a:t>Practical:</a:t>
            </a:r>
          </a:p>
          <a:p>
            <a:endParaRPr lang="en-US" dirty="0"/>
          </a:p>
          <a:p>
            <a:pPr marL="285750" indent="-285750">
              <a:buFont typeface="Wingdings" panose="05000000000000000000" pitchFamily="2" charset="2"/>
              <a:buChar char="q"/>
            </a:pPr>
            <a:r>
              <a:rPr lang="en-US" dirty="0"/>
              <a:t>Router(config)# hostname Corvit</a:t>
            </a:r>
          </a:p>
          <a:p>
            <a:pPr marL="285750" indent="-285750">
              <a:buFont typeface="Wingdings" panose="05000000000000000000" pitchFamily="2" charset="2"/>
              <a:buChar char="q"/>
            </a:pPr>
            <a:r>
              <a:rPr lang="en-US" dirty="0"/>
              <a:t>Corvit(config)# username corvit password 123</a:t>
            </a:r>
          </a:p>
          <a:p>
            <a:pPr marL="285750" indent="-285750">
              <a:buFont typeface="Wingdings" panose="05000000000000000000" pitchFamily="2" charset="2"/>
              <a:buChar char="q"/>
            </a:pPr>
            <a:r>
              <a:rPr lang="en-US" dirty="0"/>
              <a:t>Corvit(config)# enable secret 123 </a:t>
            </a:r>
          </a:p>
          <a:p>
            <a:endParaRPr lang="en-US" dirty="0"/>
          </a:p>
          <a:p>
            <a:pPr marL="285750" indent="-285750">
              <a:buFont typeface="Wingdings" panose="05000000000000000000" pitchFamily="2" charset="2"/>
              <a:buChar char="q"/>
            </a:pPr>
            <a:r>
              <a:rPr lang="en-US" dirty="0"/>
              <a:t>Corvit(config)# ip domain-name covit.com</a:t>
            </a:r>
          </a:p>
          <a:p>
            <a:endParaRPr lang="en-US" dirty="0"/>
          </a:p>
          <a:p>
            <a:endParaRPr lang="en-US" dirty="0"/>
          </a:p>
          <a:p>
            <a:pPr marL="285750" indent="-285750">
              <a:buFont typeface="Wingdings" panose="05000000000000000000" pitchFamily="2" charset="2"/>
              <a:buChar char="q"/>
            </a:pPr>
            <a:r>
              <a:rPr lang="en-US" dirty="0"/>
              <a:t>Corvit(config)# crypto key generate rsa general-keys modulus 2048 </a:t>
            </a:r>
          </a:p>
          <a:p>
            <a:endParaRPr lang="en-US" dirty="0"/>
          </a:p>
          <a:p>
            <a:endParaRPr lang="en-US" dirty="0"/>
          </a:p>
          <a:p>
            <a:pPr marL="285750" indent="-285750">
              <a:buFont typeface="Wingdings" panose="05000000000000000000" pitchFamily="2" charset="2"/>
              <a:buChar char="q"/>
            </a:pPr>
            <a:r>
              <a:rPr lang="en-US" dirty="0"/>
              <a:t>Corvit(config)# line vty 0 4  </a:t>
            </a:r>
          </a:p>
          <a:p>
            <a:pPr marL="285750" indent="-285750">
              <a:buFont typeface="Wingdings" panose="05000000000000000000" pitchFamily="2" charset="2"/>
              <a:buChar char="q"/>
            </a:pPr>
            <a:r>
              <a:rPr lang="en-US" dirty="0"/>
              <a:t>Corvit r(config-line)# login local  </a:t>
            </a:r>
          </a:p>
          <a:p>
            <a:pPr marL="285750" indent="-285750">
              <a:buFont typeface="Wingdings" panose="05000000000000000000" pitchFamily="2" charset="2"/>
              <a:buChar char="q"/>
            </a:pPr>
            <a:r>
              <a:rPr lang="en-US" dirty="0"/>
              <a:t>Corvit(config-line)# transport input ssh </a:t>
            </a:r>
          </a:p>
          <a:p>
            <a:endParaRPr lang="en-US" dirty="0"/>
          </a:p>
          <a:p>
            <a:pPr marL="285750" indent="-285750">
              <a:buFont typeface="Wingdings" panose="05000000000000000000" pitchFamily="2" charset="2"/>
              <a:buChar char="q"/>
            </a:pPr>
            <a:r>
              <a:rPr lang="en-US" dirty="0"/>
              <a:t>Corvit # show ip ssh  </a:t>
            </a:r>
          </a:p>
          <a:p>
            <a:pPr marL="285750" indent="-285750">
              <a:buFont typeface="Wingdings" panose="05000000000000000000" pitchFamily="2" charset="2"/>
              <a:buChar char="q"/>
            </a:pPr>
            <a:r>
              <a:rPr lang="en-US" dirty="0"/>
              <a:t>Corvit # show running-config </a:t>
            </a:r>
          </a:p>
        </p:txBody>
      </p:sp>
      <p:sp>
        <p:nvSpPr>
          <p:cNvPr id="2" name="Oval 1">
            <a:extLst>
              <a:ext uri="{FF2B5EF4-FFF2-40B4-BE49-F238E27FC236}">
                <a16:creationId xmlns:a16="http://schemas.microsoft.com/office/drawing/2014/main" id="{E5CC0872-7E91-7914-73E3-68667A849186}"/>
              </a:ext>
            </a:extLst>
          </p:cNvPr>
          <p:cNvSpPr/>
          <p:nvPr/>
        </p:nvSpPr>
        <p:spPr>
          <a:xfrm>
            <a:off x="5138192" y="966571"/>
            <a:ext cx="1413933" cy="68974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Username and Password and enable secret</a:t>
            </a:r>
            <a:endParaRPr lang="en-PK" sz="900" dirty="0"/>
          </a:p>
        </p:txBody>
      </p:sp>
      <p:cxnSp>
        <p:nvCxnSpPr>
          <p:cNvPr id="6" name="Straight Arrow Connector 5">
            <a:extLst>
              <a:ext uri="{FF2B5EF4-FFF2-40B4-BE49-F238E27FC236}">
                <a16:creationId xmlns:a16="http://schemas.microsoft.com/office/drawing/2014/main" id="{5E0B651D-6DD5-17B7-BE13-B624FC10BD92}"/>
              </a:ext>
            </a:extLst>
          </p:cNvPr>
          <p:cNvCxnSpPr>
            <a:cxnSpLocks/>
            <a:stCxn id="2" idx="2"/>
          </p:cNvCxnSpPr>
          <p:nvPr/>
        </p:nvCxnSpPr>
        <p:spPr>
          <a:xfrm flipH="1">
            <a:off x="4316925" y="1311445"/>
            <a:ext cx="82126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14" name="Left Brace 13">
            <a:extLst>
              <a:ext uri="{FF2B5EF4-FFF2-40B4-BE49-F238E27FC236}">
                <a16:creationId xmlns:a16="http://schemas.microsoft.com/office/drawing/2014/main" id="{E307FAFE-10C0-7CF3-1550-7649EB1C9CA6}"/>
              </a:ext>
            </a:extLst>
          </p:cNvPr>
          <p:cNvSpPr/>
          <p:nvPr/>
        </p:nvSpPr>
        <p:spPr>
          <a:xfrm>
            <a:off x="0" y="990601"/>
            <a:ext cx="82517" cy="689748"/>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PK" b="1" dirty="0"/>
          </a:p>
        </p:txBody>
      </p:sp>
      <p:sp>
        <p:nvSpPr>
          <p:cNvPr id="15" name="Left Brace 14">
            <a:extLst>
              <a:ext uri="{FF2B5EF4-FFF2-40B4-BE49-F238E27FC236}">
                <a16:creationId xmlns:a16="http://schemas.microsoft.com/office/drawing/2014/main" id="{0BF4BD2B-44B0-107D-17C5-AF9FA9F7BB2A}"/>
              </a:ext>
            </a:extLst>
          </p:cNvPr>
          <p:cNvSpPr/>
          <p:nvPr/>
        </p:nvSpPr>
        <p:spPr>
          <a:xfrm>
            <a:off x="11559" y="1800225"/>
            <a:ext cx="82517" cy="344874"/>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PK"/>
          </a:p>
        </p:txBody>
      </p:sp>
      <p:sp>
        <p:nvSpPr>
          <p:cNvPr id="16" name="Left Brace 15">
            <a:extLst>
              <a:ext uri="{FF2B5EF4-FFF2-40B4-BE49-F238E27FC236}">
                <a16:creationId xmlns:a16="http://schemas.microsoft.com/office/drawing/2014/main" id="{21EEE53F-2A64-197F-3C1F-031757050E20}"/>
              </a:ext>
            </a:extLst>
          </p:cNvPr>
          <p:cNvSpPr/>
          <p:nvPr/>
        </p:nvSpPr>
        <p:spPr>
          <a:xfrm>
            <a:off x="21985" y="2463800"/>
            <a:ext cx="72091" cy="284237"/>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PK"/>
          </a:p>
        </p:txBody>
      </p:sp>
      <p:sp>
        <p:nvSpPr>
          <p:cNvPr id="17" name="Oval 16">
            <a:extLst>
              <a:ext uri="{FF2B5EF4-FFF2-40B4-BE49-F238E27FC236}">
                <a16:creationId xmlns:a16="http://schemas.microsoft.com/office/drawing/2014/main" id="{FC745B44-6587-A843-9640-CCAF980969BF}"/>
              </a:ext>
            </a:extLst>
          </p:cNvPr>
          <p:cNvSpPr/>
          <p:nvPr/>
        </p:nvSpPr>
        <p:spPr>
          <a:xfrm>
            <a:off x="5845159" y="1744643"/>
            <a:ext cx="1413932" cy="522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Define Domain Name</a:t>
            </a:r>
            <a:endParaRPr lang="en-PK" sz="900" dirty="0"/>
          </a:p>
        </p:txBody>
      </p:sp>
      <p:cxnSp>
        <p:nvCxnSpPr>
          <p:cNvPr id="21" name="Straight Arrow Connector 20">
            <a:extLst>
              <a:ext uri="{FF2B5EF4-FFF2-40B4-BE49-F238E27FC236}">
                <a16:creationId xmlns:a16="http://schemas.microsoft.com/office/drawing/2014/main" id="{CE69D1D5-65CC-3F25-D25A-91B839B501B8}"/>
              </a:ext>
            </a:extLst>
          </p:cNvPr>
          <p:cNvCxnSpPr>
            <a:cxnSpLocks/>
          </p:cNvCxnSpPr>
          <p:nvPr/>
        </p:nvCxnSpPr>
        <p:spPr>
          <a:xfrm flipH="1">
            <a:off x="3949699" y="2005708"/>
            <a:ext cx="1895459"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3" name="Oval 22">
            <a:extLst>
              <a:ext uri="{FF2B5EF4-FFF2-40B4-BE49-F238E27FC236}">
                <a16:creationId xmlns:a16="http://schemas.microsoft.com/office/drawing/2014/main" id="{A706E393-09B0-7930-F359-68D4FB471EF9}"/>
              </a:ext>
            </a:extLst>
          </p:cNvPr>
          <p:cNvSpPr/>
          <p:nvPr/>
        </p:nvSpPr>
        <p:spPr>
          <a:xfrm>
            <a:off x="6778573" y="2354596"/>
            <a:ext cx="1560017" cy="522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Generate Crypto Key</a:t>
            </a:r>
            <a:endParaRPr lang="en-PK" sz="900" dirty="0"/>
          </a:p>
        </p:txBody>
      </p:sp>
      <p:cxnSp>
        <p:nvCxnSpPr>
          <p:cNvPr id="24" name="Straight Arrow Connector 23">
            <a:extLst>
              <a:ext uri="{FF2B5EF4-FFF2-40B4-BE49-F238E27FC236}">
                <a16:creationId xmlns:a16="http://schemas.microsoft.com/office/drawing/2014/main" id="{4468879F-DF4C-3667-6966-BEBABA97DA4D}"/>
              </a:ext>
            </a:extLst>
          </p:cNvPr>
          <p:cNvCxnSpPr>
            <a:cxnSpLocks/>
          </p:cNvCxnSpPr>
          <p:nvPr/>
        </p:nvCxnSpPr>
        <p:spPr>
          <a:xfrm flipH="1">
            <a:off x="5957306" y="2605918"/>
            <a:ext cx="821267"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25" name="Oval 24">
            <a:extLst>
              <a:ext uri="{FF2B5EF4-FFF2-40B4-BE49-F238E27FC236}">
                <a16:creationId xmlns:a16="http://schemas.microsoft.com/office/drawing/2014/main" id="{A74AA5F5-ECE6-929C-E9FA-A0E73AC8BE78}"/>
              </a:ext>
            </a:extLst>
          </p:cNvPr>
          <p:cNvSpPr/>
          <p:nvPr/>
        </p:nvSpPr>
        <p:spPr>
          <a:xfrm>
            <a:off x="6462150" y="3161838"/>
            <a:ext cx="1456267" cy="522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Enable SSH on VTY Line</a:t>
            </a:r>
            <a:endParaRPr lang="en-PK" sz="900" dirty="0"/>
          </a:p>
        </p:txBody>
      </p:sp>
      <p:sp>
        <p:nvSpPr>
          <p:cNvPr id="27" name="Left Brace 26">
            <a:extLst>
              <a:ext uri="{FF2B5EF4-FFF2-40B4-BE49-F238E27FC236}">
                <a16:creationId xmlns:a16="http://schemas.microsoft.com/office/drawing/2014/main" id="{9F369134-A663-7FCC-D568-6BCDB4CC2918}"/>
              </a:ext>
            </a:extLst>
          </p:cNvPr>
          <p:cNvSpPr/>
          <p:nvPr/>
        </p:nvSpPr>
        <p:spPr>
          <a:xfrm>
            <a:off x="23118" y="3159440"/>
            <a:ext cx="82517" cy="689748"/>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PK"/>
          </a:p>
        </p:txBody>
      </p:sp>
      <p:cxnSp>
        <p:nvCxnSpPr>
          <p:cNvPr id="28" name="Straight Arrow Connector 27">
            <a:extLst>
              <a:ext uri="{FF2B5EF4-FFF2-40B4-BE49-F238E27FC236}">
                <a16:creationId xmlns:a16="http://schemas.microsoft.com/office/drawing/2014/main" id="{6AE8D747-1DBB-7D08-F5EC-C237F2EF03BD}"/>
              </a:ext>
            </a:extLst>
          </p:cNvPr>
          <p:cNvCxnSpPr>
            <a:cxnSpLocks/>
          </p:cNvCxnSpPr>
          <p:nvPr/>
        </p:nvCxnSpPr>
        <p:spPr>
          <a:xfrm flipH="1">
            <a:off x="3859725" y="3422903"/>
            <a:ext cx="260242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0" name="Oval 29">
            <a:extLst>
              <a:ext uri="{FF2B5EF4-FFF2-40B4-BE49-F238E27FC236}">
                <a16:creationId xmlns:a16="http://schemas.microsoft.com/office/drawing/2014/main" id="{5C62DBBE-E2C1-5F03-08D0-D770C5415890}"/>
              </a:ext>
            </a:extLst>
          </p:cNvPr>
          <p:cNvSpPr/>
          <p:nvPr/>
        </p:nvSpPr>
        <p:spPr>
          <a:xfrm>
            <a:off x="6462150" y="4033360"/>
            <a:ext cx="1383224" cy="522131"/>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b="1" dirty="0"/>
              <a:t>Verify SSH Configuration</a:t>
            </a:r>
            <a:endParaRPr lang="en-PK" sz="900" dirty="0"/>
          </a:p>
        </p:txBody>
      </p:sp>
      <p:cxnSp>
        <p:nvCxnSpPr>
          <p:cNvPr id="31" name="Straight Arrow Connector 30">
            <a:extLst>
              <a:ext uri="{FF2B5EF4-FFF2-40B4-BE49-F238E27FC236}">
                <a16:creationId xmlns:a16="http://schemas.microsoft.com/office/drawing/2014/main" id="{8928BD3B-3DE8-BAB0-D185-0959BC498314}"/>
              </a:ext>
            </a:extLst>
          </p:cNvPr>
          <p:cNvCxnSpPr>
            <a:cxnSpLocks/>
          </p:cNvCxnSpPr>
          <p:nvPr/>
        </p:nvCxnSpPr>
        <p:spPr>
          <a:xfrm flipH="1">
            <a:off x="3859725" y="4286503"/>
            <a:ext cx="2602425" cy="0"/>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2" name="Left Brace 31">
            <a:extLst>
              <a:ext uri="{FF2B5EF4-FFF2-40B4-BE49-F238E27FC236}">
                <a16:creationId xmlns:a16="http://schemas.microsoft.com/office/drawing/2014/main" id="{257DC07B-A8D1-281E-333E-AA13F0F4ADCF}"/>
              </a:ext>
            </a:extLst>
          </p:cNvPr>
          <p:cNvSpPr/>
          <p:nvPr/>
        </p:nvSpPr>
        <p:spPr>
          <a:xfrm>
            <a:off x="29435" y="3968717"/>
            <a:ext cx="64641" cy="442416"/>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PK"/>
          </a:p>
        </p:txBody>
      </p:sp>
    </p:spTree>
    <p:extLst>
      <p:ext uri="{BB962C8B-B14F-4D97-AF65-F5344CB8AC3E}">
        <p14:creationId xmlns:p14="http://schemas.microsoft.com/office/powerpoint/2010/main" val="117193501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29EB5A-160F-B90B-0AEF-F14CFC7DBD7E}"/>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1097DE8F-5CC5-2AF4-5DEE-DEE667E3195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D60F0A70-1E60-9B2E-5257-07FFD1789C27}"/>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SSH</a:t>
            </a:r>
            <a:endParaRPr lang="en-PK" sz="2781" dirty="0">
              <a:solidFill>
                <a:srgbClr val="403CCF"/>
              </a:solidFill>
              <a:latin typeface="Libre Baskerville" pitchFamily="34" charset="0"/>
            </a:endParaRPr>
          </a:p>
        </p:txBody>
      </p:sp>
      <p:sp>
        <p:nvSpPr>
          <p:cNvPr id="7" name="TextBox 6">
            <a:extLst>
              <a:ext uri="{FF2B5EF4-FFF2-40B4-BE49-F238E27FC236}">
                <a16:creationId xmlns:a16="http://schemas.microsoft.com/office/drawing/2014/main" id="{F94D8B16-438C-4606-A049-8C2E697C4FA1}"/>
              </a:ext>
            </a:extLst>
          </p:cNvPr>
          <p:cNvSpPr txBox="1"/>
          <p:nvPr/>
        </p:nvSpPr>
        <p:spPr>
          <a:xfrm>
            <a:off x="82517" y="525851"/>
            <a:ext cx="4235483" cy="4555093"/>
          </a:xfrm>
          <a:prstGeom prst="rect">
            <a:avLst/>
          </a:prstGeom>
          <a:noFill/>
        </p:spPr>
        <p:txBody>
          <a:bodyPr wrap="square">
            <a:spAutoFit/>
          </a:bodyPr>
          <a:lstStyle/>
          <a:p>
            <a:r>
              <a:rPr lang="en-US" dirty="0"/>
              <a:t>Practical:</a:t>
            </a:r>
          </a:p>
          <a:p>
            <a:endParaRPr lang="en-US" dirty="0"/>
          </a:p>
          <a:p>
            <a:pPr marL="171450" indent="-171450">
              <a:buFont typeface="Wingdings" panose="05000000000000000000" pitchFamily="2" charset="2"/>
              <a:buChar char="q"/>
            </a:pPr>
            <a:r>
              <a:rPr lang="en-US" sz="1000" dirty="0"/>
              <a:t>Router# configure terminal</a:t>
            </a:r>
          </a:p>
          <a:p>
            <a:pPr marL="171450" indent="-171450">
              <a:buFont typeface="Wingdings" panose="05000000000000000000" pitchFamily="2" charset="2"/>
              <a:buChar char="q"/>
            </a:pPr>
            <a:r>
              <a:rPr lang="en-US" sz="1000" dirty="0"/>
              <a:t>Router(config)# interface fa0/0</a:t>
            </a:r>
          </a:p>
          <a:p>
            <a:pPr marL="171450" indent="-171450">
              <a:buFont typeface="Wingdings" panose="05000000000000000000" pitchFamily="2" charset="2"/>
              <a:buChar char="q"/>
            </a:pPr>
            <a:r>
              <a:rPr lang="en-US" sz="1000" dirty="0"/>
              <a:t>Router(config-if)# ip address 192.168.1.1 255.255.255.0</a:t>
            </a:r>
          </a:p>
          <a:p>
            <a:pPr marL="171450" indent="-171450">
              <a:buFont typeface="Wingdings" panose="05000000000000000000" pitchFamily="2" charset="2"/>
              <a:buChar char="q"/>
            </a:pPr>
            <a:r>
              <a:rPr lang="en-US" sz="1000" dirty="0"/>
              <a:t>Router(config-if)# no shutdown</a:t>
            </a:r>
          </a:p>
          <a:p>
            <a:pPr marL="171450" indent="-171450">
              <a:buFont typeface="Wingdings" panose="05000000000000000000" pitchFamily="2" charset="2"/>
              <a:buChar char="q"/>
            </a:pPr>
            <a:r>
              <a:rPr lang="en-US" sz="1000" dirty="0"/>
              <a:t>Router(config-if)# exit</a:t>
            </a:r>
          </a:p>
          <a:p>
            <a:pPr marL="171450" indent="-171450">
              <a:buFont typeface="Wingdings" panose="05000000000000000000" pitchFamily="2" charset="2"/>
              <a:buChar char="q"/>
            </a:pPr>
            <a:r>
              <a:rPr lang="en-US" sz="1000" dirty="0"/>
              <a:t>Router(config)# hostname Corvit</a:t>
            </a:r>
          </a:p>
          <a:p>
            <a:pPr marL="171450" indent="-171450">
              <a:buFont typeface="Wingdings" panose="05000000000000000000" pitchFamily="2" charset="2"/>
              <a:buChar char="q"/>
            </a:pPr>
            <a:r>
              <a:rPr lang="en-US" sz="1000" dirty="0"/>
              <a:t>Corvit(config)# username corvit password 123</a:t>
            </a:r>
          </a:p>
          <a:p>
            <a:pPr marL="171450" indent="-171450">
              <a:buFont typeface="Wingdings" panose="05000000000000000000" pitchFamily="2" charset="2"/>
              <a:buChar char="q"/>
            </a:pPr>
            <a:r>
              <a:rPr lang="en-US" sz="1000" dirty="0"/>
              <a:t>Corvit(config)# enable secret 123 </a:t>
            </a:r>
          </a:p>
          <a:p>
            <a:pPr marL="171450" indent="-171450">
              <a:buFont typeface="Wingdings" panose="05000000000000000000" pitchFamily="2" charset="2"/>
              <a:buChar char="q"/>
            </a:pPr>
            <a:endParaRPr lang="en-US" sz="1000" dirty="0"/>
          </a:p>
          <a:p>
            <a:pPr marL="171450" indent="-171450">
              <a:buFont typeface="Wingdings" panose="05000000000000000000" pitchFamily="2" charset="2"/>
              <a:buChar char="q"/>
            </a:pPr>
            <a:r>
              <a:rPr lang="en-US" sz="1000" dirty="0"/>
              <a:t>Corvit(config)# ip domain-name covit.com</a:t>
            </a:r>
          </a:p>
          <a:p>
            <a:pPr marL="171450" indent="-171450">
              <a:buFont typeface="Wingdings" panose="05000000000000000000" pitchFamily="2" charset="2"/>
              <a:buChar char="q"/>
            </a:pPr>
            <a:endParaRPr lang="en-US" sz="1000" dirty="0"/>
          </a:p>
          <a:p>
            <a:pPr marL="171450" indent="-171450">
              <a:buFont typeface="Wingdings" panose="05000000000000000000" pitchFamily="2" charset="2"/>
              <a:buChar char="q"/>
            </a:pPr>
            <a:endParaRPr lang="en-US" sz="1000" dirty="0"/>
          </a:p>
          <a:p>
            <a:pPr marL="171450" indent="-171450">
              <a:buFont typeface="Wingdings" panose="05000000000000000000" pitchFamily="2" charset="2"/>
              <a:buChar char="q"/>
            </a:pPr>
            <a:r>
              <a:rPr lang="en-US" sz="1000" dirty="0"/>
              <a:t>Corvit(config)# crypto key generate rsa general-keys modulus 2048 </a:t>
            </a:r>
          </a:p>
          <a:p>
            <a:endParaRPr lang="en-US" sz="1000" dirty="0"/>
          </a:p>
          <a:p>
            <a:endParaRPr lang="en-US" sz="1000" dirty="0"/>
          </a:p>
          <a:p>
            <a:pPr marL="171450" indent="-171450">
              <a:buFont typeface="Wingdings" panose="05000000000000000000" pitchFamily="2" charset="2"/>
              <a:buChar char="q"/>
            </a:pPr>
            <a:r>
              <a:rPr lang="en-US" sz="1000" dirty="0"/>
              <a:t>Corvit(config)# line vty 0 4  </a:t>
            </a:r>
          </a:p>
          <a:p>
            <a:pPr marL="171450" indent="-171450">
              <a:buFont typeface="Wingdings" panose="05000000000000000000" pitchFamily="2" charset="2"/>
              <a:buChar char="q"/>
            </a:pPr>
            <a:r>
              <a:rPr lang="en-US" sz="1000" dirty="0"/>
              <a:t>Corvit r(config-line)# login local  </a:t>
            </a:r>
          </a:p>
          <a:p>
            <a:pPr marL="171450" indent="-171450">
              <a:buFont typeface="Wingdings" panose="05000000000000000000" pitchFamily="2" charset="2"/>
              <a:buChar char="q"/>
            </a:pPr>
            <a:r>
              <a:rPr lang="en-US" sz="1000" dirty="0"/>
              <a:t>Corvit(config-line)# transport input ssh </a:t>
            </a:r>
          </a:p>
          <a:p>
            <a:pPr marL="171450" indent="-171450">
              <a:buFont typeface="Wingdings" panose="05000000000000000000" pitchFamily="2" charset="2"/>
              <a:buChar char="q"/>
            </a:pPr>
            <a:endParaRPr lang="en-US" sz="1000" dirty="0"/>
          </a:p>
          <a:p>
            <a:pPr marL="171450" indent="-171450">
              <a:buFont typeface="Wingdings" panose="05000000000000000000" pitchFamily="2" charset="2"/>
              <a:buChar char="q"/>
            </a:pPr>
            <a:r>
              <a:rPr lang="en-US" sz="1000" dirty="0"/>
              <a:t>Corvit # show ip ssh  </a:t>
            </a:r>
          </a:p>
          <a:p>
            <a:pPr marL="171450" indent="-171450">
              <a:buFont typeface="Wingdings" panose="05000000000000000000" pitchFamily="2" charset="2"/>
              <a:buChar char="q"/>
            </a:pPr>
            <a:r>
              <a:rPr lang="en-US" sz="1000" dirty="0"/>
              <a:t>Corvit # show running-config </a:t>
            </a:r>
          </a:p>
          <a:p>
            <a:endParaRPr lang="en-US" sz="1000" dirty="0"/>
          </a:p>
          <a:p>
            <a:r>
              <a:rPr lang="en-US" dirty="0"/>
              <a:t>Go to PC</a:t>
            </a:r>
          </a:p>
          <a:p>
            <a:r>
              <a:rPr lang="en-US" b="1" dirty="0"/>
              <a:t>C:\&gt; ssh   -l   corvit 192.168.1.1</a:t>
            </a:r>
          </a:p>
          <a:p>
            <a:endParaRPr lang="en-US" dirty="0"/>
          </a:p>
        </p:txBody>
      </p:sp>
      <p:pic>
        <p:nvPicPr>
          <p:cNvPr id="5" name="Picture 4">
            <a:extLst>
              <a:ext uri="{FF2B5EF4-FFF2-40B4-BE49-F238E27FC236}">
                <a16:creationId xmlns:a16="http://schemas.microsoft.com/office/drawing/2014/main" id="{B1E0C57F-3282-C4A1-EB79-DDB08088CAEA}"/>
              </a:ext>
            </a:extLst>
          </p:cNvPr>
          <p:cNvPicPr>
            <a:picLocks noChangeAspect="1"/>
          </p:cNvPicPr>
          <p:nvPr/>
        </p:nvPicPr>
        <p:blipFill>
          <a:blip r:embed="rId3"/>
          <a:stretch>
            <a:fillRect/>
          </a:stretch>
        </p:blipFill>
        <p:spPr>
          <a:xfrm>
            <a:off x="4318000" y="636579"/>
            <a:ext cx="4836527" cy="4515480"/>
          </a:xfrm>
          <a:prstGeom prst="rect">
            <a:avLst/>
          </a:prstGeom>
        </p:spPr>
      </p:pic>
    </p:spTree>
    <p:extLst>
      <p:ext uri="{BB962C8B-B14F-4D97-AF65-F5344CB8AC3E}">
        <p14:creationId xmlns:p14="http://schemas.microsoft.com/office/powerpoint/2010/main" val="233986691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BE8A82-7852-0B32-B8EB-888C28C09EBD}"/>
            </a:ext>
          </a:extLst>
        </p:cNvPr>
        <p:cNvGrpSpPr/>
        <p:nvPr/>
      </p:nvGrpSpPr>
      <p:grpSpPr>
        <a:xfrm>
          <a:off x="0" y="0"/>
          <a:ext cx="0" cy="0"/>
          <a:chOff x="0" y="0"/>
          <a:chExt cx="0" cy="0"/>
        </a:xfrm>
      </p:grpSpPr>
      <p:sp>
        <p:nvSpPr>
          <p:cNvPr id="4" name="Text 2">
            <a:extLst>
              <a:ext uri="{FF2B5EF4-FFF2-40B4-BE49-F238E27FC236}">
                <a16:creationId xmlns:a16="http://schemas.microsoft.com/office/drawing/2014/main" id="{FF6BEADE-0FBF-6C74-6D21-800FFE424BB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84B0D1B5-3DD5-2E3D-35C5-18E391484847}"/>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SSH</a:t>
            </a:r>
            <a:endParaRPr lang="en-PK" sz="2781" dirty="0">
              <a:solidFill>
                <a:srgbClr val="403CCF"/>
              </a:solidFill>
              <a:latin typeface="Libre Baskerville" pitchFamily="34" charset="0"/>
            </a:endParaRPr>
          </a:p>
        </p:txBody>
      </p:sp>
      <p:sp>
        <p:nvSpPr>
          <p:cNvPr id="7" name="TextBox 6">
            <a:extLst>
              <a:ext uri="{FF2B5EF4-FFF2-40B4-BE49-F238E27FC236}">
                <a16:creationId xmlns:a16="http://schemas.microsoft.com/office/drawing/2014/main" id="{6AB57F4F-922E-1BD4-883D-52D5B9DE8E0E}"/>
              </a:ext>
            </a:extLst>
          </p:cNvPr>
          <p:cNvSpPr txBox="1"/>
          <p:nvPr/>
        </p:nvSpPr>
        <p:spPr>
          <a:xfrm>
            <a:off x="99450" y="1186755"/>
            <a:ext cx="4108483" cy="1384995"/>
          </a:xfrm>
          <a:prstGeom prst="rect">
            <a:avLst/>
          </a:prstGeom>
          <a:noFill/>
        </p:spPr>
        <p:txBody>
          <a:bodyPr wrap="square">
            <a:spAutoFit/>
          </a:bodyPr>
          <a:lstStyle/>
          <a:p>
            <a:r>
              <a:rPr lang="en-US" dirty="0"/>
              <a:t>Configure SSH on another router in the same way, follow the steps, and then you can access any router from the PC.</a:t>
            </a:r>
          </a:p>
          <a:p>
            <a:endParaRPr lang="en-US" dirty="0"/>
          </a:p>
          <a:p>
            <a:r>
              <a:rPr lang="en-US" b="1" dirty="0"/>
              <a:t>C:\&gt; ssh -l   username    router-</a:t>
            </a:r>
            <a:r>
              <a:rPr lang="en-US" b="1" dirty="0" err="1"/>
              <a:t>ip</a:t>
            </a:r>
            <a:endParaRPr lang="en-US" b="1" dirty="0"/>
          </a:p>
          <a:p>
            <a:endParaRPr lang="en-US" dirty="0"/>
          </a:p>
        </p:txBody>
      </p:sp>
      <p:pic>
        <p:nvPicPr>
          <p:cNvPr id="5" name="Picture 4">
            <a:extLst>
              <a:ext uri="{FF2B5EF4-FFF2-40B4-BE49-F238E27FC236}">
                <a16:creationId xmlns:a16="http://schemas.microsoft.com/office/drawing/2014/main" id="{E6D29AE4-68AA-6991-2FA2-8FB5A80392CD}"/>
              </a:ext>
            </a:extLst>
          </p:cNvPr>
          <p:cNvPicPr>
            <a:picLocks noChangeAspect="1"/>
          </p:cNvPicPr>
          <p:nvPr/>
        </p:nvPicPr>
        <p:blipFill>
          <a:blip r:embed="rId3"/>
          <a:stretch>
            <a:fillRect/>
          </a:stretch>
        </p:blipFill>
        <p:spPr>
          <a:xfrm>
            <a:off x="4318000" y="636579"/>
            <a:ext cx="4836527" cy="4515480"/>
          </a:xfrm>
          <a:prstGeom prst="rect">
            <a:avLst/>
          </a:prstGeom>
        </p:spPr>
      </p:pic>
    </p:spTree>
    <p:extLst>
      <p:ext uri="{BB962C8B-B14F-4D97-AF65-F5344CB8AC3E}">
        <p14:creationId xmlns:p14="http://schemas.microsoft.com/office/powerpoint/2010/main" val="243094206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6E2B1C-557E-9C5A-B2D9-1E98026A9A2D}"/>
              </a:ext>
            </a:extLst>
          </p:cNvPr>
          <p:cNvSpPr>
            <a:spLocks noGrp="1"/>
          </p:cNvSpPr>
          <p:nvPr>
            <p:ph type="title"/>
          </p:nvPr>
        </p:nvSpPr>
        <p:spPr>
          <a:xfrm>
            <a:off x="720000" y="368825"/>
            <a:ext cx="7704000" cy="572700"/>
          </a:xfrm>
        </p:spPr>
        <p:txBody>
          <a:bodyPr/>
          <a:lstStyle/>
          <a:p>
            <a:r>
              <a:rPr lang="en-US" dirty="0"/>
              <a:t>Configure and Verify Layer 2 Discovery Protocols (CDP and LLDP)</a:t>
            </a:r>
            <a:endParaRPr lang="en-PK" dirty="0"/>
          </a:p>
        </p:txBody>
      </p:sp>
      <p:graphicFrame>
        <p:nvGraphicFramePr>
          <p:cNvPr id="10" name="Table 9">
            <a:extLst>
              <a:ext uri="{FF2B5EF4-FFF2-40B4-BE49-F238E27FC236}">
                <a16:creationId xmlns:a16="http://schemas.microsoft.com/office/drawing/2014/main" id="{C95B57F6-2CFC-D4E5-5422-5CEA8681D316}"/>
              </a:ext>
            </a:extLst>
          </p:cNvPr>
          <p:cNvGraphicFramePr>
            <a:graphicFrameLocks noGrp="1"/>
          </p:cNvGraphicFramePr>
          <p:nvPr>
            <p:extLst>
              <p:ext uri="{D42A27DB-BD31-4B8C-83A1-F6EECF244321}">
                <p14:modId xmlns:p14="http://schemas.microsoft.com/office/powerpoint/2010/main" val="496393036"/>
              </p:ext>
            </p:extLst>
          </p:nvPr>
        </p:nvGraphicFramePr>
        <p:xfrm>
          <a:off x="1380066" y="1739233"/>
          <a:ext cx="6096000" cy="1854200"/>
        </p:xfrm>
        <a:graphic>
          <a:graphicData uri="http://schemas.openxmlformats.org/drawingml/2006/table">
            <a:tbl>
              <a:tblPr firstRow="1" bandRow="1">
                <a:tableStyleId>{17343FFC-C285-48B6-A5F1-531E15585DCF}</a:tableStyleId>
              </a:tblPr>
              <a:tblGrid>
                <a:gridCol w="3048000">
                  <a:extLst>
                    <a:ext uri="{9D8B030D-6E8A-4147-A177-3AD203B41FA5}">
                      <a16:colId xmlns:a16="http://schemas.microsoft.com/office/drawing/2014/main" val="2762840511"/>
                    </a:ext>
                  </a:extLst>
                </a:gridCol>
                <a:gridCol w="3048000">
                  <a:extLst>
                    <a:ext uri="{9D8B030D-6E8A-4147-A177-3AD203B41FA5}">
                      <a16:colId xmlns:a16="http://schemas.microsoft.com/office/drawing/2014/main" val="2575676883"/>
                    </a:ext>
                  </a:extLst>
                </a:gridCol>
              </a:tblGrid>
              <a:tr h="370840">
                <a:tc>
                  <a:txBody>
                    <a:bodyPr/>
                    <a:lstStyle/>
                    <a:p>
                      <a:r>
                        <a:rPr lang="en-US" sz="1200" b="0" i="0" u="none" strike="noStrike" cap="none" dirty="0">
                          <a:solidFill>
                            <a:srgbClr val="00B0F0"/>
                          </a:solidFill>
                          <a:latin typeface="Encode Sans"/>
                          <a:sym typeface="Encode Sans"/>
                        </a:rPr>
                        <a:t>CDP (Cisco Discovery Protocol)</a:t>
                      </a:r>
                      <a:endParaRPr lang="en-PK" sz="1200" b="0" i="0" u="none" strike="noStrike" cap="none" dirty="0">
                        <a:solidFill>
                          <a:srgbClr val="00B0F0"/>
                        </a:solidFill>
                        <a:latin typeface="Encode Sans"/>
                        <a:sym typeface="Encode Sans"/>
                      </a:endParaRPr>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rgbClr val="00B0F0"/>
                          </a:solidFill>
                          <a:latin typeface="Encode Sans"/>
                          <a:cs typeface="Arial"/>
                          <a:sym typeface="Arial"/>
                        </a:rPr>
                        <a:t>LLDP (Link Layer Discovery Protocol)</a:t>
                      </a:r>
                      <a:endParaRPr lang="en-PK" sz="1200" b="0" i="0" u="none" strike="noStrike" cap="none" dirty="0">
                        <a:solidFill>
                          <a:srgbClr val="00B0F0"/>
                        </a:solidFill>
                        <a:latin typeface="Encode Sans"/>
                        <a:cs typeface="Arial"/>
                        <a:sym typeface="Arial"/>
                      </a:endParaRPr>
                    </a:p>
                  </a:txBody>
                  <a:tcPr/>
                </a:tc>
                <a:extLst>
                  <a:ext uri="{0D108BD9-81ED-4DB2-BD59-A6C34878D82A}">
                    <a16:rowId xmlns:a16="http://schemas.microsoft.com/office/drawing/2014/main" val="3763985758"/>
                  </a:ext>
                </a:extLst>
              </a:tr>
              <a:tr h="370840">
                <a:tc>
                  <a:txBody>
                    <a:bodyPr/>
                    <a:lstStyle/>
                    <a:p>
                      <a:r>
                        <a:rPr lang="en-US" sz="1200" b="0" i="0" u="none" strike="noStrike" cap="none" dirty="0">
                          <a:solidFill>
                            <a:schemeClr val="dk1"/>
                          </a:solidFill>
                          <a:latin typeface="Encode Sans"/>
                          <a:sym typeface="Encode Sans"/>
                        </a:rPr>
                        <a:t>Cisco Proprietary</a:t>
                      </a:r>
                      <a:endParaRPr lang="en-PK" sz="1200" b="0" i="0" u="none" strike="noStrike" cap="none" dirty="0">
                        <a:solidFill>
                          <a:schemeClr val="dk1"/>
                        </a:solidFill>
                        <a:latin typeface="Encode Sans"/>
                        <a:sym typeface="Encode Sans"/>
                      </a:endParaRPr>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Open Standard</a:t>
                      </a:r>
                      <a:endParaRPr lang="en-PK" sz="1200" b="0" i="0" u="none" strike="noStrike" cap="none" dirty="0">
                        <a:solidFill>
                          <a:schemeClr val="dk1"/>
                        </a:solidFill>
                        <a:latin typeface="Encode Sans"/>
                        <a:cs typeface="Arial"/>
                        <a:sym typeface="Arial"/>
                      </a:endParaRPr>
                    </a:p>
                  </a:txBody>
                  <a:tcPr/>
                </a:tc>
                <a:extLst>
                  <a:ext uri="{0D108BD9-81ED-4DB2-BD59-A6C34878D82A}">
                    <a16:rowId xmlns:a16="http://schemas.microsoft.com/office/drawing/2014/main" val="1746220445"/>
                  </a:ext>
                </a:extLst>
              </a:tr>
              <a:tr h="370840">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Enabled by default</a:t>
                      </a:r>
                      <a:endParaRPr lang="en-PK" sz="1200" b="0" i="0" u="none" strike="noStrike" cap="none" dirty="0">
                        <a:solidFill>
                          <a:schemeClr val="dk1"/>
                        </a:solidFill>
                        <a:latin typeface="Encode Sans"/>
                        <a:cs typeface="Arial"/>
                        <a:sym typeface="Encode Sans"/>
                      </a:endParaRPr>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Disabled by default</a:t>
                      </a:r>
                      <a:endParaRPr lang="en-PK" sz="1200" b="0" i="0" u="none" strike="noStrike" cap="none" dirty="0">
                        <a:solidFill>
                          <a:schemeClr val="dk1"/>
                        </a:solidFill>
                        <a:latin typeface="Encode Sans"/>
                        <a:cs typeface="Arial"/>
                        <a:sym typeface="Arial"/>
                      </a:endParaRPr>
                    </a:p>
                  </a:txBody>
                  <a:tcPr/>
                </a:tc>
                <a:extLst>
                  <a:ext uri="{0D108BD9-81ED-4DB2-BD59-A6C34878D82A}">
                    <a16:rowId xmlns:a16="http://schemas.microsoft.com/office/drawing/2014/main" val="2715906382"/>
                  </a:ext>
                </a:extLst>
              </a:tr>
              <a:tr h="370840">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Update Time 60 seconds</a:t>
                      </a:r>
                      <a:endParaRPr lang="en-PK" sz="1200" b="0" i="0" u="none" strike="noStrike" cap="none" dirty="0">
                        <a:solidFill>
                          <a:schemeClr val="dk1"/>
                        </a:solidFill>
                        <a:latin typeface="Encode Sans"/>
                        <a:cs typeface="Arial"/>
                        <a:sym typeface="Encode Sans"/>
                      </a:endParaRPr>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Update Time 30 seconds</a:t>
                      </a:r>
                      <a:endParaRPr lang="en-PK" sz="1200" b="0" i="0" u="none" strike="noStrike" cap="none" dirty="0">
                        <a:solidFill>
                          <a:schemeClr val="dk1"/>
                        </a:solidFill>
                        <a:latin typeface="Encode Sans"/>
                        <a:cs typeface="Arial"/>
                        <a:sym typeface="Arial"/>
                      </a:endParaRPr>
                    </a:p>
                  </a:txBody>
                  <a:tcPr/>
                </a:tc>
                <a:extLst>
                  <a:ext uri="{0D108BD9-81ED-4DB2-BD59-A6C34878D82A}">
                    <a16:rowId xmlns:a16="http://schemas.microsoft.com/office/drawing/2014/main" val="3390516891"/>
                  </a:ext>
                </a:extLst>
              </a:tr>
              <a:tr h="370840">
                <a:tc>
                  <a:txBody>
                    <a:bodyPr/>
                    <a:lstStyle/>
                    <a:p>
                      <a:r>
                        <a:rPr lang="en-US" sz="1200" dirty="0"/>
                        <a:t> </a:t>
                      </a:r>
                      <a:r>
                        <a:rPr lang="en-US" sz="1200" b="0" i="0" u="none" strike="noStrike" cap="none" dirty="0">
                          <a:solidFill>
                            <a:schemeClr val="dk1"/>
                          </a:solidFill>
                          <a:latin typeface="Encode Sans"/>
                          <a:cs typeface="Arial"/>
                          <a:sym typeface="Arial"/>
                        </a:rPr>
                        <a:t>Hold Time 180 seconds</a:t>
                      </a:r>
                      <a:endParaRPr lang="en-PK" sz="1200" b="0" i="0" u="none" strike="noStrike" cap="none" dirty="0">
                        <a:solidFill>
                          <a:schemeClr val="dk1"/>
                        </a:solidFill>
                        <a:latin typeface="Encode Sans"/>
                        <a:cs typeface="Arial"/>
                        <a:sym typeface="Encode Sans"/>
                      </a:endParaRPr>
                    </a:p>
                  </a:txBody>
                  <a:tcPr/>
                </a:tc>
                <a:tc>
                  <a:txBody>
                    <a:bodyPr/>
                    <a:lstStyle/>
                    <a:p>
                      <a:pPr marR="0" algn="l" rtl="0">
                        <a:lnSpc>
                          <a:spcPct val="100000"/>
                        </a:lnSpc>
                        <a:spcBef>
                          <a:spcPts val="0"/>
                        </a:spcBef>
                        <a:spcAft>
                          <a:spcPts val="0"/>
                        </a:spcAft>
                        <a:buClr>
                          <a:srgbClr val="000000"/>
                        </a:buClr>
                        <a:buFont typeface="Arial"/>
                      </a:pPr>
                      <a:r>
                        <a:rPr lang="en-US" sz="1200" b="0" i="0" u="none" strike="noStrike" cap="none" dirty="0">
                          <a:solidFill>
                            <a:schemeClr val="dk1"/>
                          </a:solidFill>
                          <a:latin typeface="Encode Sans"/>
                          <a:cs typeface="Arial"/>
                          <a:sym typeface="Arial"/>
                        </a:rPr>
                        <a:t>Hold Time 120 seconds</a:t>
                      </a:r>
                      <a:endParaRPr lang="en-PK" sz="1200" b="0" i="0" u="none" strike="noStrike" cap="none" dirty="0">
                        <a:solidFill>
                          <a:schemeClr val="dk1"/>
                        </a:solidFill>
                        <a:latin typeface="Encode Sans"/>
                        <a:cs typeface="Arial"/>
                        <a:sym typeface="Arial"/>
                      </a:endParaRPr>
                    </a:p>
                  </a:txBody>
                  <a:tcPr/>
                </a:tc>
                <a:extLst>
                  <a:ext uri="{0D108BD9-81ED-4DB2-BD59-A6C34878D82A}">
                    <a16:rowId xmlns:a16="http://schemas.microsoft.com/office/drawing/2014/main" val="1700370050"/>
                  </a:ext>
                </a:extLst>
              </a:tr>
            </a:tbl>
          </a:graphicData>
        </a:graphic>
      </p:graphicFrame>
    </p:spTree>
    <p:extLst>
      <p:ext uri="{BB962C8B-B14F-4D97-AF65-F5344CB8AC3E}">
        <p14:creationId xmlns:p14="http://schemas.microsoft.com/office/powerpoint/2010/main" val="5700935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9567E-3452-2F51-4BB6-AF4FC9F064F1}"/>
              </a:ext>
            </a:extLst>
          </p:cNvPr>
          <p:cNvSpPr>
            <a:spLocks noGrp="1"/>
          </p:cNvSpPr>
          <p:nvPr>
            <p:ph type="title"/>
          </p:nvPr>
        </p:nvSpPr>
        <p:spPr/>
        <p:txBody>
          <a:bodyPr/>
          <a:lstStyle/>
          <a:p>
            <a:r>
              <a:rPr lang="en-US" dirty="0"/>
              <a:t>CDP</a:t>
            </a:r>
            <a:endParaRPr lang="en-PK" dirty="0"/>
          </a:p>
        </p:txBody>
      </p:sp>
      <p:sp>
        <p:nvSpPr>
          <p:cNvPr id="3" name="Text Placeholder 2">
            <a:extLst>
              <a:ext uri="{FF2B5EF4-FFF2-40B4-BE49-F238E27FC236}">
                <a16:creationId xmlns:a16="http://schemas.microsoft.com/office/drawing/2014/main" id="{610BA361-062C-4E14-F17C-B490B64DBC6E}"/>
              </a:ext>
            </a:extLst>
          </p:cNvPr>
          <p:cNvSpPr>
            <a:spLocks noGrp="1"/>
          </p:cNvSpPr>
          <p:nvPr>
            <p:ph type="body" idx="1"/>
          </p:nvPr>
        </p:nvSpPr>
        <p:spPr>
          <a:xfrm>
            <a:off x="720001" y="1170125"/>
            <a:ext cx="7703999" cy="3495008"/>
          </a:xfrm>
        </p:spPr>
        <p:txBody>
          <a:bodyPr/>
          <a:lstStyle/>
          <a:p>
            <a:pPr marL="139700" indent="0" algn="just">
              <a:buNone/>
            </a:pPr>
            <a:r>
              <a:rPr lang="en-US" dirty="0"/>
              <a:t>Cisco Discovery Protocol (CDP) is a proprietary Layer 2 protocol used by Cisco devices to discover and share information about directly connected devices. It operates over the data link layer (Layer 2 of the OSI model), meaning it doesn’t rely on IP addresses.</a:t>
            </a:r>
          </a:p>
          <a:p>
            <a:pPr marL="139700" indent="0" algn="just">
              <a:buNone/>
            </a:pPr>
            <a:endParaRPr lang="en-US" dirty="0"/>
          </a:p>
          <a:p>
            <a:pPr marL="139700" indent="0" algn="just">
              <a:buNone/>
            </a:pPr>
            <a:r>
              <a:rPr lang="en-US" dirty="0">
                <a:solidFill>
                  <a:srgbClr val="00B0F0"/>
                </a:solidFill>
              </a:rPr>
              <a:t>Run by default on CISCO  (Routers &amp; Switches)</a:t>
            </a:r>
          </a:p>
          <a:p>
            <a:pPr algn="just"/>
            <a:endParaRPr lang="en-US" dirty="0"/>
          </a:p>
          <a:p>
            <a:pPr algn="just"/>
            <a:endParaRPr lang="en-US" dirty="0"/>
          </a:p>
          <a:p>
            <a:pPr marL="139700" indent="0" algn="just">
              <a:buNone/>
            </a:pPr>
            <a:r>
              <a:rPr lang="en-US" b="1" dirty="0"/>
              <a:t>Neighbor Discovery</a:t>
            </a:r>
            <a:r>
              <a:rPr lang="en-US" dirty="0"/>
              <a:t>:</a:t>
            </a:r>
          </a:p>
          <a:p>
            <a:pPr marL="139700" indent="0" algn="just">
              <a:buNone/>
            </a:pPr>
            <a:endParaRPr lang="en-US" dirty="0"/>
          </a:p>
          <a:p>
            <a:pPr algn="just">
              <a:buFont typeface="Wingdings" panose="05000000000000000000" pitchFamily="2" charset="2"/>
              <a:buChar char="v"/>
            </a:pPr>
            <a:r>
              <a:rPr lang="en-US" dirty="0"/>
              <a:t>Automatically discovers directly connected Cisco devices, such as routers, switches, and phones.</a:t>
            </a:r>
          </a:p>
          <a:p>
            <a:pPr algn="just">
              <a:buFont typeface="Wingdings" panose="05000000000000000000" pitchFamily="2" charset="2"/>
              <a:buChar char="v"/>
            </a:pPr>
            <a:r>
              <a:rPr lang="en-US" dirty="0"/>
              <a:t>Provides details about neighboring devices without manual configuration.</a:t>
            </a:r>
          </a:p>
          <a:p>
            <a:pPr algn="just">
              <a:buFont typeface="Wingdings" panose="05000000000000000000" pitchFamily="2" charset="2"/>
              <a:buChar char="v"/>
            </a:pPr>
            <a:endParaRPr lang="en-US" dirty="0"/>
          </a:p>
          <a:p>
            <a:pPr marL="139700" indent="0" algn="just">
              <a:buNone/>
            </a:pPr>
            <a:r>
              <a:rPr lang="en-US" b="1" dirty="0"/>
              <a:t>Device Information Sharing</a:t>
            </a:r>
            <a:r>
              <a:rPr lang="en-US" dirty="0"/>
              <a:t>:</a:t>
            </a:r>
          </a:p>
          <a:p>
            <a:pPr marL="139700" indent="0" algn="just">
              <a:buNone/>
            </a:pPr>
            <a:endParaRPr lang="en-US" dirty="0"/>
          </a:p>
          <a:p>
            <a:pPr algn="just">
              <a:buFont typeface="Wingdings" panose="05000000000000000000" pitchFamily="2" charset="2"/>
              <a:buChar char="v"/>
            </a:pPr>
            <a:r>
              <a:rPr lang="en-US" dirty="0"/>
              <a:t>Device IDs (e.g., hostname).</a:t>
            </a:r>
          </a:p>
          <a:p>
            <a:pPr algn="just">
              <a:buFont typeface="Wingdings" panose="05000000000000000000" pitchFamily="2" charset="2"/>
              <a:buChar char="v"/>
            </a:pPr>
            <a:r>
              <a:rPr lang="en-US" dirty="0"/>
              <a:t>Interface details (e.g., port numbers).</a:t>
            </a:r>
          </a:p>
          <a:p>
            <a:pPr algn="just">
              <a:buFont typeface="Wingdings" panose="05000000000000000000" pitchFamily="2" charset="2"/>
              <a:buChar char="v"/>
            </a:pPr>
            <a:r>
              <a:rPr lang="en-US" dirty="0"/>
              <a:t>Platform (e.g., router or switch model).</a:t>
            </a:r>
          </a:p>
          <a:p>
            <a:pPr algn="just">
              <a:buFont typeface="Wingdings" panose="05000000000000000000" pitchFamily="2" charset="2"/>
              <a:buChar char="v"/>
            </a:pPr>
            <a:r>
              <a:rPr lang="en-US" dirty="0"/>
              <a:t>IP addresses (in detailed output).</a:t>
            </a:r>
            <a:endParaRPr lang="en-PK" dirty="0"/>
          </a:p>
        </p:txBody>
      </p:sp>
    </p:spTree>
    <p:extLst>
      <p:ext uri="{BB962C8B-B14F-4D97-AF65-F5344CB8AC3E}">
        <p14:creationId xmlns:p14="http://schemas.microsoft.com/office/powerpoint/2010/main" val="36752366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0FCB1-0364-69D9-9E48-83545A4033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3BE4C0-1F53-4587-E0DC-24DE3590B559}"/>
              </a:ext>
            </a:extLst>
          </p:cNvPr>
          <p:cNvSpPr>
            <a:spLocks noGrp="1"/>
          </p:cNvSpPr>
          <p:nvPr>
            <p:ph type="title"/>
          </p:nvPr>
        </p:nvSpPr>
        <p:spPr/>
        <p:txBody>
          <a:bodyPr/>
          <a:lstStyle/>
          <a:p>
            <a:r>
              <a:rPr lang="en-US" dirty="0"/>
              <a:t>CDP</a:t>
            </a:r>
            <a:endParaRPr lang="en-PK" dirty="0"/>
          </a:p>
        </p:txBody>
      </p:sp>
      <p:sp>
        <p:nvSpPr>
          <p:cNvPr id="3" name="Text Placeholder 2">
            <a:extLst>
              <a:ext uri="{FF2B5EF4-FFF2-40B4-BE49-F238E27FC236}">
                <a16:creationId xmlns:a16="http://schemas.microsoft.com/office/drawing/2014/main" id="{88C296D7-6982-DC48-71E2-F2A51D87D1ED}"/>
              </a:ext>
            </a:extLst>
          </p:cNvPr>
          <p:cNvSpPr>
            <a:spLocks noGrp="1"/>
          </p:cNvSpPr>
          <p:nvPr>
            <p:ph type="body" idx="1"/>
          </p:nvPr>
        </p:nvSpPr>
        <p:spPr>
          <a:xfrm>
            <a:off x="650999" y="1008750"/>
            <a:ext cx="3108201" cy="3126000"/>
          </a:xfrm>
        </p:spPr>
        <p:txBody>
          <a:bodyPr/>
          <a:lstStyle/>
          <a:p>
            <a:pPr marL="139700" indent="0" algn="just">
              <a:buNone/>
            </a:pPr>
            <a:endParaRPr lang="en-US" dirty="0"/>
          </a:p>
          <a:p>
            <a:pPr marL="139700" indent="0" algn="just">
              <a:buNone/>
            </a:pPr>
            <a:r>
              <a:rPr lang="en-US" sz="1400" b="1" dirty="0">
                <a:solidFill>
                  <a:srgbClr val="00B0F0"/>
                </a:solidFill>
                <a:cs typeface="Arial"/>
              </a:rPr>
              <a:t>Network Troubleshooting:</a:t>
            </a:r>
          </a:p>
          <a:p>
            <a:pPr marL="139700" indent="0" algn="just">
              <a:buNone/>
            </a:pPr>
            <a:endParaRPr lang="en-US" dirty="0"/>
          </a:p>
          <a:p>
            <a:pPr algn="just">
              <a:buFont typeface="Wingdings" panose="05000000000000000000" pitchFamily="2" charset="2"/>
              <a:buChar char="v"/>
            </a:pPr>
            <a:r>
              <a:rPr lang="en-US" dirty="0"/>
              <a:t>Helps identify misconfigurations or issues in physical connectivity.</a:t>
            </a:r>
          </a:p>
          <a:p>
            <a:pPr algn="just">
              <a:buFont typeface="Wingdings" panose="05000000000000000000" pitchFamily="2" charset="2"/>
              <a:buChar char="v"/>
            </a:pPr>
            <a:r>
              <a:rPr lang="en-US" dirty="0"/>
              <a:t>Verifies which devices are connected and how.</a:t>
            </a:r>
          </a:p>
          <a:p>
            <a:pPr marL="139700" indent="0" algn="just">
              <a:buNone/>
            </a:pPr>
            <a:endParaRPr lang="en-US" dirty="0"/>
          </a:p>
          <a:p>
            <a:pPr marL="139700" indent="0" algn="just">
              <a:buNone/>
            </a:pPr>
            <a:endParaRPr lang="en-US" dirty="0"/>
          </a:p>
          <a:p>
            <a:pPr marL="139700" indent="0">
              <a:buClr>
                <a:srgbClr val="000000"/>
              </a:buClr>
              <a:buFont typeface="Arial"/>
              <a:buNone/>
            </a:pPr>
            <a:r>
              <a:rPr lang="en-US" sz="1400" b="1" dirty="0">
                <a:solidFill>
                  <a:srgbClr val="00B0F0"/>
                </a:solidFill>
                <a:cs typeface="Arial"/>
                <a:sym typeface="Arial"/>
              </a:rPr>
              <a:t>Voice and Data Integration:</a:t>
            </a:r>
          </a:p>
          <a:p>
            <a:pPr marL="139700" indent="0" algn="just">
              <a:buNone/>
            </a:pPr>
            <a:endParaRPr lang="en-US" dirty="0"/>
          </a:p>
          <a:p>
            <a:pPr algn="just">
              <a:buFont typeface="Wingdings" panose="05000000000000000000" pitchFamily="2" charset="2"/>
              <a:buChar char="v"/>
            </a:pPr>
            <a:r>
              <a:rPr lang="en-US" dirty="0"/>
              <a:t>Useful in VoIP environments to identify IP phones connected to switches.</a:t>
            </a:r>
          </a:p>
          <a:p>
            <a:pPr marL="139700" indent="0" algn="just">
              <a:buNone/>
            </a:pPr>
            <a:endParaRPr lang="en-US" dirty="0"/>
          </a:p>
          <a:p>
            <a:pPr marL="139700" indent="0" algn="just">
              <a:buNone/>
            </a:pPr>
            <a:endParaRPr lang="en-US" dirty="0"/>
          </a:p>
          <a:p>
            <a:pPr marL="139700" indent="0">
              <a:buClr>
                <a:srgbClr val="000000"/>
              </a:buClr>
              <a:buNone/>
            </a:pPr>
            <a:r>
              <a:rPr lang="en-US" sz="1400" b="1" dirty="0">
                <a:solidFill>
                  <a:srgbClr val="00B0F0"/>
                </a:solidFill>
                <a:cs typeface="Arial"/>
              </a:rPr>
              <a:t>Building Network Diagrams:</a:t>
            </a:r>
          </a:p>
          <a:p>
            <a:pPr algn="just">
              <a:buFont typeface="Wingdings" panose="05000000000000000000" pitchFamily="2" charset="2"/>
              <a:buChar char="v"/>
            </a:pPr>
            <a:r>
              <a:rPr lang="en-US" dirty="0"/>
              <a:t>Gathers topology details for documentation or network planning.</a:t>
            </a:r>
          </a:p>
        </p:txBody>
      </p:sp>
      <p:sp>
        <p:nvSpPr>
          <p:cNvPr id="5" name="TextBox 4">
            <a:extLst>
              <a:ext uri="{FF2B5EF4-FFF2-40B4-BE49-F238E27FC236}">
                <a16:creationId xmlns:a16="http://schemas.microsoft.com/office/drawing/2014/main" id="{BBD94458-DCD3-183A-B5D5-B16B6E52015A}"/>
              </a:ext>
            </a:extLst>
          </p:cNvPr>
          <p:cNvSpPr txBox="1"/>
          <p:nvPr/>
        </p:nvSpPr>
        <p:spPr>
          <a:xfrm>
            <a:off x="4521200" y="1234644"/>
            <a:ext cx="4021667" cy="2339102"/>
          </a:xfrm>
          <a:prstGeom prst="rect">
            <a:avLst/>
          </a:prstGeom>
          <a:noFill/>
        </p:spPr>
        <p:txBody>
          <a:bodyPr wrap="square">
            <a:spAutoFit/>
          </a:bodyPr>
          <a:lstStyle/>
          <a:p>
            <a:r>
              <a:rPr lang="en-US" b="1" dirty="0">
                <a:solidFill>
                  <a:srgbClr val="00B0F0"/>
                </a:solidFill>
                <a:latin typeface="Encode Sans"/>
                <a:sym typeface="Encode Sans"/>
              </a:rPr>
              <a:t>How CDP Works:</a:t>
            </a:r>
          </a:p>
          <a:p>
            <a:pPr marL="457200" indent="-317500" algn="just">
              <a:buClr>
                <a:schemeClr val="accent2"/>
              </a:buClr>
              <a:buSzPts val="1400"/>
              <a:buFont typeface="Wingdings" panose="05000000000000000000" pitchFamily="2" charset="2"/>
              <a:buChar char="v"/>
            </a:pPr>
            <a:endParaRPr lang="en-US" sz="1200" dirty="0">
              <a:solidFill>
                <a:schemeClr val="dk1"/>
              </a:solidFill>
              <a:latin typeface="Encode Sans"/>
              <a:sym typeface="Encode Sans"/>
            </a:endParaRPr>
          </a:p>
          <a:p>
            <a:pPr marL="457200" indent="-317500" algn="just">
              <a:buClr>
                <a:schemeClr val="accent2"/>
              </a:buClr>
              <a:buSzPts val="1400"/>
              <a:buFont typeface="Wingdings" panose="05000000000000000000" pitchFamily="2" charset="2"/>
              <a:buChar char="v"/>
            </a:pPr>
            <a:r>
              <a:rPr lang="en-US" sz="1200" dirty="0">
                <a:solidFill>
                  <a:schemeClr val="dk1"/>
                </a:solidFill>
                <a:latin typeface="Encode Sans"/>
                <a:sym typeface="Encode Sans"/>
              </a:rPr>
              <a:t>CDP-enabled devices send advertisements to directly connected devices.</a:t>
            </a:r>
          </a:p>
          <a:p>
            <a:pPr marL="457200" indent="-317500" algn="just">
              <a:buClr>
                <a:schemeClr val="accent2"/>
              </a:buClr>
              <a:buSzPts val="1400"/>
              <a:buFont typeface="Wingdings" panose="05000000000000000000" pitchFamily="2" charset="2"/>
              <a:buChar char="v"/>
            </a:pPr>
            <a:endParaRPr lang="en-US" sz="1200" dirty="0">
              <a:solidFill>
                <a:schemeClr val="dk1"/>
              </a:solidFill>
              <a:latin typeface="Encode Sans"/>
              <a:sym typeface="Encode Sans"/>
            </a:endParaRPr>
          </a:p>
          <a:p>
            <a:pPr marL="457200" indent="-317500" algn="just">
              <a:buClr>
                <a:schemeClr val="accent2"/>
              </a:buClr>
              <a:buSzPts val="1400"/>
              <a:buFont typeface="Wingdings" panose="05000000000000000000" pitchFamily="2" charset="2"/>
              <a:buChar char="v"/>
            </a:pPr>
            <a:r>
              <a:rPr lang="en-US" sz="1200" dirty="0">
                <a:solidFill>
                  <a:schemeClr val="dk1"/>
                </a:solidFill>
                <a:latin typeface="Encode Sans"/>
                <a:sym typeface="Encode Sans"/>
              </a:rPr>
              <a:t>Advertisements contain the device's information.</a:t>
            </a:r>
          </a:p>
          <a:p>
            <a:pPr marL="457200" indent="-317500" algn="just">
              <a:buClr>
                <a:schemeClr val="accent2"/>
              </a:buClr>
              <a:buSzPts val="1400"/>
              <a:buFont typeface="Wingdings" panose="05000000000000000000" pitchFamily="2" charset="2"/>
              <a:buChar char="v"/>
            </a:pPr>
            <a:endParaRPr lang="en-US" sz="1200" dirty="0">
              <a:solidFill>
                <a:schemeClr val="dk1"/>
              </a:solidFill>
              <a:latin typeface="Encode Sans"/>
              <a:sym typeface="Encode Sans"/>
            </a:endParaRPr>
          </a:p>
          <a:p>
            <a:pPr marL="457200" indent="-317500" algn="just">
              <a:buClr>
                <a:schemeClr val="accent2"/>
              </a:buClr>
              <a:buSzPts val="1400"/>
              <a:buFont typeface="Wingdings" panose="05000000000000000000" pitchFamily="2" charset="2"/>
              <a:buChar char="v"/>
            </a:pPr>
            <a:r>
              <a:rPr lang="en-US" sz="1200" dirty="0">
                <a:solidFill>
                  <a:schemeClr val="dk1"/>
                </a:solidFill>
                <a:latin typeface="Encode Sans"/>
                <a:sym typeface="Encode Sans"/>
              </a:rPr>
              <a:t>The default advertisement interval is 60 seconds.</a:t>
            </a:r>
          </a:p>
          <a:p>
            <a:pPr marL="457200" indent="-317500" algn="just">
              <a:buClr>
                <a:schemeClr val="accent2"/>
              </a:buClr>
              <a:buSzPts val="1400"/>
              <a:buFont typeface="Wingdings" panose="05000000000000000000" pitchFamily="2" charset="2"/>
              <a:buChar char="v"/>
            </a:pPr>
            <a:endParaRPr lang="en-US" sz="1200" dirty="0">
              <a:solidFill>
                <a:schemeClr val="dk1"/>
              </a:solidFill>
              <a:latin typeface="Encode Sans"/>
              <a:sym typeface="Encode Sans"/>
            </a:endParaRPr>
          </a:p>
          <a:p>
            <a:pPr marL="457200" indent="-317500" algn="just">
              <a:buClr>
                <a:schemeClr val="accent2"/>
              </a:buClr>
              <a:buSzPts val="1400"/>
              <a:buFont typeface="Wingdings" panose="05000000000000000000" pitchFamily="2" charset="2"/>
              <a:buChar char="v"/>
            </a:pPr>
            <a:r>
              <a:rPr lang="en-US" sz="1200" dirty="0">
                <a:solidFill>
                  <a:schemeClr val="dk1"/>
                </a:solidFill>
                <a:latin typeface="Encode Sans"/>
                <a:sym typeface="Encode Sans"/>
              </a:rPr>
              <a:t>CDP information is stored in a CDP table, which can be viewed using :</a:t>
            </a:r>
          </a:p>
          <a:p>
            <a:pPr marL="139700" algn="just">
              <a:buClr>
                <a:schemeClr val="accent2"/>
              </a:buClr>
              <a:buSzPts val="1400"/>
            </a:pPr>
            <a:r>
              <a:rPr lang="en-US" sz="1200" dirty="0">
                <a:solidFill>
                  <a:schemeClr val="dk1"/>
                </a:solidFill>
                <a:latin typeface="Encode Sans"/>
                <a:sym typeface="Encode Sans"/>
              </a:rPr>
              <a:t>	</a:t>
            </a:r>
            <a:endParaRPr lang="en-PK" sz="1200" dirty="0">
              <a:solidFill>
                <a:srgbClr val="00B0F0"/>
              </a:solidFill>
              <a:latin typeface="Encode Sans"/>
              <a:sym typeface="Encode Sans"/>
            </a:endParaRPr>
          </a:p>
        </p:txBody>
      </p:sp>
      <p:sp>
        <p:nvSpPr>
          <p:cNvPr id="6" name="TextBox 5">
            <a:extLst>
              <a:ext uri="{FF2B5EF4-FFF2-40B4-BE49-F238E27FC236}">
                <a16:creationId xmlns:a16="http://schemas.microsoft.com/office/drawing/2014/main" id="{4D2E5FE8-CA18-0F48-E072-149230BA3925}"/>
              </a:ext>
            </a:extLst>
          </p:cNvPr>
          <p:cNvSpPr txBox="1"/>
          <p:nvPr/>
        </p:nvSpPr>
        <p:spPr>
          <a:xfrm>
            <a:off x="4766733" y="3334531"/>
            <a:ext cx="3776134" cy="677108"/>
          </a:xfrm>
          <a:prstGeom prst="rect">
            <a:avLst/>
          </a:prstGeom>
          <a:noFill/>
        </p:spPr>
        <p:txBody>
          <a:bodyPr wrap="square">
            <a:spAutoFit/>
          </a:bodyPr>
          <a:lstStyle/>
          <a:p>
            <a:endParaRPr lang="en-US" dirty="0"/>
          </a:p>
          <a:p>
            <a:pPr marL="285750" indent="-285750">
              <a:buClr>
                <a:srgbClr val="0070C0"/>
              </a:buClr>
              <a:buFont typeface="Wingdings" panose="05000000000000000000" pitchFamily="2" charset="2"/>
              <a:buChar char="q"/>
            </a:pPr>
            <a:r>
              <a:rPr lang="en-US" sz="1200" dirty="0">
                <a:solidFill>
                  <a:schemeClr val="dk1"/>
                </a:solidFill>
                <a:latin typeface="Encode Sans"/>
              </a:rPr>
              <a:t>#show cdp neighbors</a:t>
            </a:r>
          </a:p>
          <a:p>
            <a:pPr marL="285750" indent="-285750">
              <a:buClr>
                <a:srgbClr val="0070C0"/>
              </a:buClr>
              <a:buFont typeface="Wingdings" panose="05000000000000000000" pitchFamily="2" charset="2"/>
              <a:buChar char="q"/>
            </a:pPr>
            <a:r>
              <a:rPr lang="en-US" sz="1200" dirty="0">
                <a:solidFill>
                  <a:schemeClr val="dk1"/>
                </a:solidFill>
                <a:latin typeface="Encode Sans"/>
              </a:rPr>
              <a:t>#show cdp  neighbors  details</a:t>
            </a:r>
          </a:p>
        </p:txBody>
      </p:sp>
    </p:spTree>
    <p:extLst>
      <p:ext uri="{BB962C8B-B14F-4D97-AF65-F5344CB8AC3E}">
        <p14:creationId xmlns:p14="http://schemas.microsoft.com/office/powerpoint/2010/main" val="190423907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E8BD91-A7C7-275C-9CD1-634E007FF1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2953C5B-CAAA-AEF1-9795-B8C5465E7DC1}"/>
              </a:ext>
            </a:extLst>
          </p:cNvPr>
          <p:cNvSpPr>
            <a:spLocks noGrp="1"/>
          </p:cNvSpPr>
          <p:nvPr>
            <p:ph type="title"/>
          </p:nvPr>
        </p:nvSpPr>
        <p:spPr>
          <a:xfrm>
            <a:off x="571500" y="384548"/>
            <a:ext cx="7783499" cy="572700"/>
          </a:xfrm>
        </p:spPr>
        <p:txBody>
          <a:bodyPr/>
          <a:lstStyle/>
          <a:p>
            <a:r>
              <a:rPr lang="en-US" dirty="0"/>
              <a:t>CDP</a:t>
            </a:r>
            <a:endParaRPr lang="en-PK" dirty="0"/>
          </a:p>
        </p:txBody>
      </p:sp>
      <p:sp>
        <p:nvSpPr>
          <p:cNvPr id="3" name="Text Placeholder 2">
            <a:extLst>
              <a:ext uri="{FF2B5EF4-FFF2-40B4-BE49-F238E27FC236}">
                <a16:creationId xmlns:a16="http://schemas.microsoft.com/office/drawing/2014/main" id="{F0AEE302-C914-FF68-CC60-47D4D7D377FE}"/>
              </a:ext>
            </a:extLst>
          </p:cNvPr>
          <p:cNvSpPr>
            <a:spLocks noGrp="1"/>
          </p:cNvSpPr>
          <p:nvPr>
            <p:ph type="body" idx="1"/>
          </p:nvPr>
        </p:nvSpPr>
        <p:spPr>
          <a:xfrm>
            <a:off x="650999" y="1008750"/>
            <a:ext cx="3108201" cy="3126000"/>
          </a:xfrm>
        </p:spPr>
        <p:txBody>
          <a:bodyPr/>
          <a:lstStyle/>
          <a:p>
            <a:pPr marL="139700" indent="0" algn="just">
              <a:buNone/>
            </a:pPr>
            <a:endParaRPr lang="en-US" dirty="0"/>
          </a:p>
          <a:p>
            <a:pPr marL="139700" indent="0" algn="just">
              <a:buNone/>
            </a:pPr>
            <a:r>
              <a:rPr lang="en-US" sz="1400" b="1" dirty="0">
                <a:solidFill>
                  <a:srgbClr val="00B0F0"/>
                </a:solidFill>
                <a:cs typeface="Arial"/>
              </a:rPr>
              <a:t>Dis-Advantages of CDP:</a:t>
            </a:r>
          </a:p>
          <a:p>
            <a:pPr marL="139700" indent="0" algn="just">
              <a:buNone/>
            </a:pPr>
            <a:endParaRPr lang="en-US" dirty="0"/>
          </a:p>
          <a:p>
            <a:pPr algn="just">
              <a:buFont typeface="Wingdings" panose="05000000000000000000" pitchFamily="2" charset="2"/>
              <a:buChar char="v"/>
            </a:pPr>
            <a:r>
              <a:rPr lang="en-US" dirty="0"/>
              <a:t>Security Issues</a:t>
            </a:r>
          </a:p>
          <a:p>
            <a:pPr algn="just">
              <a:buFont typeface="Wingdings" panose="05000000000000000000" pitchFamily="2" charset="2"/>
              <a:buChar char="v"/>
            </a:pPr>
            <a:endParaRPr lang="en-US" dirty="0"/>
          </a:p>
          <a:p>
            <a:pPr algn="just">
              <a:buFont typeface="Wingdings" panose="05000000000000000000" pitchFamily="2" charset="2"/>
              <a:buChar char="v"/>
            </a:pPr>
            <a:endParaRPr lang="en-US" dirty="0"/>
          </a:p>
          <a:p>
            <a:pPr algn="just">
              <a:buFont typeface="Wingdings" panose="05000000000000000000" pitchFamily="2" charset="2"/>
              <a:buChar char="v"/>
            </a:pPr>
            <a:r>
              <a:rPr lang="en-US" dirty="0"/>
              <a:t>Bandwidth Consumptions (CDP Packets use bandwidth. Every 60 seconds it updates</a:t>
            </a:r>
          </a:p>
          <a:p>
            <a:pPr marL="139700" indent="0" algn="just">
              <a:buNone/>
            </a:pPr>
            <a:endParaRPr lang="en-US" dirty="0"/>
          </a:p>
          <a:p>
            <a:pPr marL="139700" indent="0" algn="just">
              <a:buNone/>
            </a:pPr>
            <a:endParaRPr lang="en-US" dirty="0"/>
          </a:p>
          <a:p>
            <a:pPr marL="139700" indent="0" algn="just">
              <a:buNone/>
            </a:pPr>
            <a:endParaRPr lang="en-US" dirty="0"/>
          </a:p>
          <a:p>
            <a:pPr marL="139700" indent="0" algn="just">
              <a:buNone/>
            </a:pPr>
            <a:endParaRPr lang="en-US" dirty="0"/>
          </a:p>
        </p:txBody>
      </p:sp>
      <p:sp>
        <p:nvSpPr>
          <p:cNvPr id="6" name="TextBox 5">
            <a:extLst>
              <a:ext uri="{FF2B5EF4-FFF2-40B4-BE49-F238E27FC236}">
                <a16:creationId xmlns:a16="http://schemas.microsoft.com/office/drawing/2014/main" id="{5FFC5440-E936-47A6-725C-257DB21DE857}"/>
              </a:ext>
            </a:extLst>
          </p:cNvPr>
          <p:cNvSpPr txBox="1"/>
          <p:nvPr/>
        </p:nvSpPr>
        <p:spPr>
          <a:xfrm>
            <a:off x="4943475" y="1359776"/>
            <a:ext cx="4572000" cy="861774"/>
          </a:xfrm>
          <a:prstGeom prst="rect">
            <a:avLst/>
          </a:prstGeom>
          <a:noFill/>
        </p:spPr>
        <p:txBody>
          <a:bodyPr wrap="square">
            <a:spAutoFit/>
          </a:bodyPr>
          <a:lstStyle/>
          <a:p>
            <a:pPr marL="139700" algn="just">
              <a:buClr>
                <a:schemeClr val="accent2"/>
              </a:buClr>
              <a:buSzPts val="1400"/>
            </a:pPr>
            <a:r>
              <a:rPr lang="en-US" b="1" dirty="0">
                <a:solidFill>
                  <a:srgbClr val="00B0F0"/>
                </a:solidFill>
                <a:latin typeface="Encode Sans"/>
                <a:sym typeface="Encode Sans"/>
              </a:rPr>
              <a:t>How to disable CDP:</a:t>
            </a:r>
          </a:p>
          <a:p>
            <a:pPr marL="311150" indent="-171450" algn="just">
              <a:buClr>
                <a:schemeClr val="accent2"/>
              </a:buClr>
              <a:buSzPts val="1400"/>
              <a:buFont typeface="Wingdings" panose="05000000000000000000" pitchFamily="2" charset="2"/>
              <a:buChar char="q"/>
            </a:pPr>
            <a:r>
              <a:rPr lang="en-US" sz="1200" dirty="0">
                <a:solidFill>
                  <a:schemeClr val="dk1"/>
                </a:solidFill>
                <a:latin typeface="Encode Sans"/>
                <a:sym typeface="Encode Sans"/>
              </a:rPr>
              <a:t>configure terminal</a:t>
            </a:r>
          </a:p>
          <a:p>
            <a:pPr marL="311150" indent="-171450" algn="just">
              <a:buClr>
                <a:schemeClr val="accent2"/>
              </a:buClr>
              <a:buSzPts val="1400"/>
              <a:buFont typeface="Wingdings" panose="05000000000000000000" pitchFamily="2" charset="2"/>
              <a:buChar char="q"/>
            </a:pPr>
            <a:r>
              <a:rPr lang="en-US" sz="1200" dirty="0">
                <a:solidFill>
                  <a:schemeClr val="dk1"/>
                </a:solidFill>
                <a:latin typeface="Encode Sans"/>
                <a:sym typeface="Encode Sans"/>
              </a:rPr>
              <a:t>no cdp run</a:t>
            </a:r>
          </a:p>
          <a:p>
            <a:pPr marL="139700" algn="just">
              <a:buClr>
                <a:schemeClr val="accent2"/>
              </a:buClr>
              <a:buSzPts val="1400"/>
            </a:pPr>
            <a:endParaRPr lang="en-US" sz="1200" b="1" dirty="0">
              <a:solidFill>
                <a:schemeClr val="dk1"/>
              </a:solidFill>
              <a:latin typeface="Encode Sans"/>
              <a:sym typeface="Encode Sans"/>
            </a:endParaRPr>
          </a:p>
        </p:txBody>
      </p:sp>
      <p:sp>
        <p:nvSpPr>
          <p:cNvPr id="8" name="TextBox 7">
            <a:extLst>
              <a:ext uri="{FF2B5EF4-FFF2-40B4-BE49-F238E27FC236}">
                <a16:creationId xmlns:a16="http://schemas.microsoft.com/office/drawing/2014/main" id="{1FB487CB-81E4-2835-3096-1C5B3A1C405F}"/>
              </a:ext>
            </a:extLst>
          </p:cNvPr>
          <p:cNvSpPr txBox="1"/>
          <p:nvPr/>
        </p:nvSpPr>
        <p:spPr>
          <a:xfrm>
            <a:off x="5080002" y="2285524"/>
            <a:ext cx="4572000" cy="677108"/>
          </a:xfrm>
          <a:prstGeom prst="rect">
            <a:avLst/>
          </a:prstGeom>
          <a:noFill/>
        </p:spPr>
        <p:txBody>
          <a:bodyPr wrap="square">
            <a:spAutoFit/>
          </a:bodyPr>
          <a:lstStyle/>
          <a:p>
            <a:pPr algn="just">
              <a:buClr>
                <a:schemeClr val="accent2"/>
              </a:buClr>
              <a:buSzPts val="1400"/>
            </a:pPr>
            <a:r>
              <a:rPr lang="en-US" b="1" dirty="0">
                <a:solidFill>
                  <a:srgbClr val="00B0F0"/>
                </a:solidFill>
                <a:latin typeface="Encode Sans"/>
              </a:rPr>
              <a:t>How to enable CDP</a:t>
            </a:r>
          </a:p>
          <a:p>
            <a:pPr marL="171450" indent="-171450" algn="just">
              <a:buClr>
                <a:schemeClr val="accent2"/>
              </a:buClr>
              <a:buSzPts val="1400"/>
              <a:buFont typeface="Wingdings" panose="05000000000000000000" pitchFamily="2" charset="2"/>
              <a:buChar char="q"/>
            </a:pPr>
            <a:r>
              <a:rPr lang="en-US" sz="1200" dirty="0">
                <a:solidFill>
                  <a:schemeClr val="dk1"/>
                </a:solidFill>
                <a:latin typeface="Encode Sans"/>
              </a:rPr>
              <a:t>configure terminal</a:t>
            </a:r>
          </a:p>
          <a:p>
            <a:pPr marL="171450" indent="-171450" algn="just">
              <a:buClr>
                <a:schemeClr val="accent2"/>
              </a:buClr>
              <a:buSzPts val="1400"/>
              <a:buFont typeface="Wingdings" panose="05000000000000000000" pitchFamily="2" charset="2"/>
              <a:buChar char="q"/>
            </a:pPr>
            <a:r>
              <a:rPr lang="en-US" sz="1200" dirty="0">
                <a:solidFill>
                  <a:schemeClr val="dk1"/>
                </a:solidFill>
                <a:latin typeface="Encode Sans"/>
              </a:rPr>
              <a:t>cdp run</a:t>
            </a:r>
          </a:p>
        </p:txBody>
      </p:sp>
    </p:spTree>
    <p:extLst>
      <p:ext uri="{BB962C8B-B14F-4D97-AF65-F5344CB8AC3E}">
        <p14:creationId xmlns:p14="http://schemas.microsoft.com/office/powerpoint/2010/main" val="95098617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F01D09-FD11-C945-1915-376511DFF814}"/>
              </a:ext>
            </a:extLst>
          </p:cNvPr>
          <p:cNvSpPr>
            <a:spLocks noGrp="1"/>
          </p:cNvSpPr>
          <p:nvPr>
            <p:ph type="title"/>
          </p:nvPr>
        </p:nvSpPr>
        <p:spPr/>
        <p:txBody>
          <a:bodyPr/>
          <a:lstStyle/>
          <a:p>
            <a:r>
              <a:rPr lang="en-US" dirty="0"/>
              <a:t>LLDP</a:t>
            </a:r>
            <a:endParaRPr lang="en-PK" dirty="0"/>
          </a:p>
        </p:txBody>
      </p:sp>
      <p:sp>
        <p:nvSpPr>
          <p:cNvPr id="3" name="Text Placeholder 2">
            <a:extLst>
              <a:ext uri="{FF2B5EF4-FFF2-40B4-BE49-F238E27FC236}">
                <a16:creationId xmlns:a16="http://schemas.microsoft.com/office/drawing/2014/main" id="{F67AD1DD-20A9-6406-B3CD-01FB885189EE}"/>
              </a:ext>
            </a:extLst>
          </p:cNvPr>
          <p:cNvSpPr>
            <a:spLocks noGrp="1"/>
          </p:cNvSpPr>
          <p:nvPr>
            <p:ph type="body" idx="1"/>
          </p:nvPr>
        </p:nvSpPr>
        <p:spPr/>
        <p:txBody>
          <a:bodyPr/>
          <a:lstStyle/>
          <a:p>
            <a:pPr marL="139700" indent="0">
              <a:buNone/>
            </a:pPr>
            <a:r>
              <a:rPr lang="en-US" sz="1400" b="1" dirty="0">
                <a:solidFill>
                  <a:srgbClr val="00B0F0"/>
                </a:solidFill>
                <a:cs typeface="Arial"/>
              </a:rPr>
              <a:t>LLDP (Link Layer Discovery Protocol):</a:t>
            </a:r>
          </a:p>
          <a:p>
            <a:pPr marL="139700" indent="0">
              <a:buNone/>
            </a:pPr>
            <a:endParaRPr lang="en-US" b="1" dirty="0"/>
          </a:p>
          <a:p>
            <a:pPr algn="just">
              <a:buFont typeface="Wingdings" panose="05000000000000000000" pitchFamily="2" charset="2"/>
              <a:buChar char="v"/>
            </a:pPr>
            <a:r>
              <a:rPr lang="en-US" dirty="0"/>
              <a:t>LLDP is an </a:t>
            </a:r>
            <a:r>
              <a:rPr lang="en-US" b="1" dirty="0"/>
              <a:t>open standard Layer 2 protocol</a:t>
            </a:r>
            <a:r>
              <a:rPr lang="en-US" dirty="0"/>
              <a:t> used for discovering and sharing information about directly connected devices, similar to Cisco's CDP but vendor-neutral.</a:t>
            </a:r>
          </a:p>
          <a:p>
            <a:pPr algn="just">
              <a:buFont typeface="Wingdings" panose="05000000000000000000" pitchFamily="2" charset="2"/>
              <a:buChar char="v"/>
            </a:pPr>
            <a:endParaRPr lang="en-US" dirty="0"/>
          </a:p>
          <a:p>
            <a:pPr algn="just">
              <a:buFont typeface="Wingdings" panose="05000000000000000000" pitchFamily="2" charset="2"/>
              <a:buChar char="v"/>
            </a:pPr>
            <a:r>
              <a:rPr lang="en-US" dirty="0"/>
              <a:t>By default, LLDP is disabled on Cisco devices. To enable it:</a:t>
            </a:r>
          </a:p>
          <a:p>
            <a:pPr algn="just">
              <a:buFont typeface="Wingdings" panose="05000000000000000000" pitchFamily="2" charset="2"/>
              <a:buChar char="v"/>
            </a:pPr>
            <a:endParaRPr lang="en-US" dirty="0"/>
          </a:p>
          <a:p>
            <a:pPr algn="just">
              <a:buFont typeface="Wingdings" panose="05000000000000000000" pitchFamily="2" charset="2"/>
              <a:buChar char="v"/>
            </a:pPr>
            <a:endParaRPr lang="en-US" dirty="0"/>
          </a:p>
          <a:p>
            <a:endParaRPr lang="en-PK" dirty="0"/>
          </a:p>
        </p:txBody>
      </p:sp>
      <p:sp>
        <p:nvSpPr>
          <p:cNvPr id="4" name="Text Placeholder 3">
            <a:extLst>
              <a:ext uri="{FF2B5EF4-FFF2-40B4-BE49-F238E27FC236}">
                <a16:creationId xmlns:a16="http://schemas.microsoft.com/office/drawing/2014/main" id="{5836FD0D-D990-D69F-60B9-9C17A4CB2486}"/>
              </a:ext>
            </a:extLst>
          </p:cNvPr>
          <p:cNvSpPr>
            <a:spLocks noGrp="1"/>
          </p:cNvSpPr>
          <p:nvPr>
            <p:ph type="body" idx="2"/>
          </p:nvPr>
        </p:nvSpPr>
        <p:spPr>
          <a:xfrm>
            <a:off x="5231467" y="1442900"/>
            <a:ext cx="3574800" cy="3126000"/>
          </a:xfrm>
        </p:spPr>
        <p:txBody>
          <a:bodyPr/>
          <a:lstStyle/>
          <a:p>
            <a:pPr marL="139700" indent="0">
              <a:buNone/>
            </a:pPr>
            <a:r>
              <a:rPr lang="en-US" sz="1400" b="1" dirty="0">
                <a:solidFill>
                  <a:srgbClr val="00B0F0"/>
                </a:solidFill>
                <a:cs typeface="Arial"/>
              </a:rPr>
              <a:t>To enable it :</a:t>
            </a:r>
            <a:endParaRPr lang="en-US" dirty="0"/>
          </a:p>
          <a:p>
            <a:pPr>
              <a:buFont typeface="Wingdings" panose="05000000000000000000" pitchFamily="2" charset="2"/>
              <a:buChar char="q"/>
            </a:pPr>
            <a:r>
              <a:rPr lang="en-US" dirty="0"/>
              <a:t>configure terminal</a:t>
            </a:r>
          </a:p>
          <a:p>
            <a:pPr>
              <a:buFont typeface="Wingdings" panose="05000000000000000000" pitchFamily="2" charset="2"/>
              <a:buChar char="q"/>
            </a:pPr>
            <a:r>
              <a:rPr lang="en-US" dirty="0"/>
              <a:t>lldp run</a:t>
            </a:r>
          </a:p>
          <a:p>
            <a:pPr marL="139700" indent="0">
              <a:buNone/>
            </a:pPr>
            <a:endParaRPr lang="en-US" dirty="0"/>
          </a:p>
          <a:p>
            <a:pPr marL="139700" indent="0">
              <a:buNone/>
            </a:pPr>
            <a:r>
              <a:rPr lang="en-US" dirty="0"/>
              <a:t>	</a:t>
            </a:r>
          </a:p>
          <a:p>
            <a:pPr marL="139700" indent="0">
              <a:buNone/>
            </a:pPr>
            <a:r>
              <a:rPr lang="en-US" sz="1400" b="1" dirty="0">
                <a:solidFill>
                  <a:srgbClr val="00B0F0"/>
                </a:solidFill>
                <a:cs typeface="Arial"/>
              </a:rPr>
              <a:t>To View the Details:</a:t>
            </a:r>
          </a:p>
          <a:p>
            <a:pPr>
              <a:buFont typeface="Wingdings" panose="05000000000000000000" pitchFamily="2" charset="2"/>
              <a:buChar char="q"/>
            </a:pPr>
            <a:r>
              <a:rPr lang="en-PK" dirty="0"/>
              <a:t>show </a:t>
            </a:r>
            <a:r>
              <a:rPr lang="en-PK" dirty="0" err="1"/>
              <a:t>lldp</a:t>
            </a:r>
            <a:r>
              <a:rPr lang="en-PK" dirty="0"/>
              <a:t> neighbors detail</a:t>
            </a:r>
            <a:endParaRPr lang="en-US" dirty="0"/>
          </a:p>
          <a:p>
            <a:pPr>
              <a:buFont typeface="Wingdings" panose="05000000000000000000" pitchFamily="2" charset="2"/>
              <a:buChar char="q"/>
            </a:pPr>
            <a:endParaRPr lang="en-US" dirty="0"/>
          </a:p>
          <a:p>
            <a:pPr>
              <a:buFont typeface="Wingdings" panose="05000000000000000000" pitchFamily="2" charset="2"/>
              <a:buChar char="q"/>
            </a:pPr>
            <a:endParaRPr lang="en-US" dirty="0"/>
          </a:p>
          <a:p>
            <a:pPr marL="139700" indent="0">
              <a:buNone/>
            </a:pPr>
            <a:endParaRPr lang="en-US" dirty="0"/>
          </a:p>
          <a:p>
            <a:pPr marL="139700" indent="0">
              <a:buNone/>
            </a:pPr>
            <a:r>
              <a:rPr lang="en-US" sz="1400" b="1" dirty="0">
                <a:solidFill>
                  <a:srgbClr val="00B0F0"/>
                </a:solidFill>
                <a:cs typeface="Arial"/>
              </a:rPr>
              <a:t>How to Disable it</a:t>
            </a:r>
          </a:p>
          <a:p>
            <a:pPr>
              <a:buFont typeface="Wingdings" panose="05000000000000000000" pitchFamily="2" charset="2"/>
              <a:buChar char="q"/>
            </a:pPr>
            <a:r>
              <a:rPr lang="en-US" dirty="0"/>
              <a:t>Router(config)# no lldp run</a:t>
            </a:r>
          </a:p>
          <a:p>
            <a:pPr marL="139700" indent="0">
              <a:buNone/>
            </a:pPr>
            <a:endParaRPr lang="en-PK" dirty="0"/>
          </a:p>
          <a:p>
            <a:pPr marL="139700" indent="0">
              <a:buNone/>
            </a:pPr>
            <a:endParaRPr lang="en-US" dirty="0"/>
          </a:p>
          <a:p>
            <a:endParaRPr lang="en-PK" dirty="0"/>
          </a:p>
        </p:txBody>
      </p:sp>
    </p:spTree>
    <p:extLst>
      <p:ext uri="{BB962C8B-B14F-4D97-AF65-F5344CB8AC3E}">
        <p14:creationId xmlns:p14="http://schemas.microsoft.com/office/powerpoint/2010/main" val="890573139"/>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801DB-2D0F-F0CD-2332-17D2922C7F14}"/>
              </a:ext>
            </a:extLst>
          </p:cNvPr>
          <p:cNvSpPr>
            <a:spLocks noGrp="1"/>
          </p:cNvSpPr>
          <p:nvPr>
            <p:ph type="title"/>
          </p:nvPr>
        </p:nvSpPr>
        <p:spPr>
          <a:xfrm>
            <a:off x="526200" y="445025"/>
            <a:ext cx="7958333" cy="572700"/>
          </a:xfrm>
        </p:spPr>
        <p:txBody>
          <a:bodyPr/>
          <a:lstStyle/>
          <a:p>
            <a:r>
              <a:rPr lang="en-US" dirty="0"/>
              <a:t>How to enable CDP and LLDP on Specific Interface</a:t>
            </a:r>
            <a:endParaRPr lang="en-PK" dirty="0"/>
          </a:p>
        </p:txBody>
      </p:sp>
      <p:sp>
        <p:nvSpPr>
          <p:cNvPr id="3" name="Text Placeholder 2">
            <a:extLst>
              <a:ext uri="{FF2B5EF4-FFF2-40B4-BE49-F238E27FC236}">
                <a16:creationId xmlns:a16="http://schemas.microsoft.com/office/drawing/2014/main" id="{C9C0351F-D728-702D-4524-D2CC6F00C3AF}"/>
              </a:ext>
            </a:extLst>
          </p:cNvPr>
          <p:cNvSpPr>
            <a:spLocks noGrp="1"/>
          </p:cNvSpPr>
          <p:nvPr>
            <p:ph type="body" idx="1"/>
          </p:nvPr>
        </p:nvSpPr>
        <p:spPr>
          <a:xfrm>
            <a:off x="659467" y="1601442"/>
            <a:ext cx="3574800" cy="3126000"/>
          </a:xfrm>
        </p:spPr>
        <p:txBody>
          <a:bodyPr/>
          <a:lstStyle/>
          <a:p>
            <a:pPr marL="139700" indent="0">
              <a:buNone/>
            </a:pPr>
            <a:r>
              <a:rPr lang="en-US" sz="1400" b="1" dirty="0">
                <a:solidFill>
                  <a:srgbClr val="00B0F0"/>
                </a:solidFill>
                <a:cs typeface="Arial"/>
              </a:rPr>
              <a:t>CDP</a:t>
            </a:r>
          </a:p>
          <a:p>
            <a:endParaRPr lang="en-US" b="1" dirty="0"/>
          </a:p>
          <a:p>
            <a:pPr>
              <a:buFont typeface="Wingdings" panose="05000000000000000000" pitchFamily="2" charset="2"/>
              <a:buChar char="q"/>
            </a:pPr>
            <a:r>
              <a:rPr lang="en-US" dirty="0"/>
              <a:t>Router(config)# interface fa0/1</a:t>
            </a:r>
          </a:p>
          <a:p>
            <a:pPr>
              <a:buFont typeface="Wingdings" panose="05000000000000000000" pitchFamily="2" charset="2"/>
              <a:buChar char="q"/>
            </a:pPr>
            <a:r>
              <a:rPr lang="en-US" dirty="0"/>
              <a:t>Router(config-if)# cdp enable</a:t>
            </a:r>
          </a:p>
          <a:p>
            <a:pPr>
              <a:buFont typeface="Wingdings" panose="05000000000000000000" pitchFamily="2" charset="2"/>
              <a:buChar char="q"/>
            </a:pPr>
            <a:r>
              <a:rPr lang="en-US" dirty="0"/>
              <a:t>Router(config-if)# exit</a:t>
            </a:r>
          </a:p>
          <a:p>
            <a:pPr>
              <a:buFont typeface="Wingdings" panose="05000000000000000000" pitchFamily="2" charset="2"/>
              <a:buChar char="q"/>
            </a:pPr>
            <a:endParaRPr lang="en-US" dirty="0"/>
          </a:p>
          <a:p>
            <a:pPr>
              <a:buFont typeface="Wingdings" panose="05000000000000000000" pitchFamily="2" charset="2"/>
              <a:buChar char="q"/>
            </a:pPr>
            <a:r>
              <a:rPr lang="en-US" dirty="0"/>
              <a:t>Router# show cdp interface fa0/1</a:t>
            </a:r>
          </a:p>
          <a:p>
            <a:pPr marL="139700" indent="0">
              <a:buNone/>
            </a:pPr>
            <a:endParaRPr lang="en-US" dirty="0"/>
          </a:p>
          <a:p>
            <a:endParaRPr lang="en-PK" dirty="0"/>
          </a:p>
        </p:txBody>
      </p:sp>
      <p:sp>
        <p:nvSpPr>
          <p:cNvPr id="4" name="Text Placeholder 3">
            <a:extLst>
              <a:ext uri="{FF2B5EF4-FFF2-40B4-BE49-F238E27FC236}">
                <a16:creationId xmlns:a16="http://schemas.microsoft.com/office/drawing/2014/main" id="{8BBE6B7C-8E06-6840-54A5-E3DA11774194}"/>
              </a:ext>
            </a:extLst>
          </p:cNvPr>
          <p:cNvSpPr>
            <a:spLocks noGrp="1"/>
          </p:cNvSpPr>
          <p:nvPr>
            <p:ph type="body" idx="2"/>
          </p:nvPr>
        </p:nvSpPr>
        <p:spPr>
          <a:xfrm>
            <a:off x="4909735" y="1601442"/>
            <a:ext cx="3574800" cy="3126000"/>
          </a:xfrm>
        </p:spPr>
        <p:txBody>
          <a:bodyPr/>
          <a:lstStyle/>
          <a:p>
            <a:pPr marL="139700" indent="0">
              <a:buNone/>
            </a:pPr>
            <a:r>
              <a:rPr lang="en-US" sz="1400" b="1" dirty="0">
                <a:solidFill>
                  <a:srgbClr val="00B0F0"/>
                </a:solidFill>
                <a:cs typeface="Arial"/>
              </a:rPr>
              <a:t>LLDP</a:t>
            </a:r>
          </a:p>
          <a:p>
            <a:endParaRPr lang="en-US" dirty="0"/>
          </a:p>
          <a:p>
            <a:pPr>
              <a:buFont typeface="Wingdings" panose="05000000000000000000" pitchFamily="2" charset="2"/>
              <a:buChar char="q"/>
            </a:pPr>
            <a:r>
              <a:rPr lang="en-US" dirty="0"/>
              <a:t>Router(config)# interface fa0/1</a:t>
            </a:r>
          </a:p>
          <a:p>
            <a:pPr>
              <a:buFont typeface="Wingdings" panose="05000000000000000000" pitchFamily="2" charset="2"/>
              <a:buChar char="q"/>
            </a:pPr>
            <a:r>
              <a:rPr lang="en-US" dirty="0"/>
              <a:t>Router(config-if)# lldp transmit</a:t>
            </a:r>
          </a:p>
          <a:p>
            <a:pPr>
              <a:buFont typeface="Wingdings" panose="05000000000000000000" pitchFamily="2" charset="2"/>
              <a:buChar char="q"/>
            </a:pPr>
            <a:r>
              <a:rPr lang="en-US" dirty="0"/>
              <a:t>Router(config-if)# lldp receive</a:t>
            </a:r>
          </a:p>
          <a:p>
            <a:pPr>
              <a:buFont typeface="Wingdings" panose="05000000000000000000" pitchFamily="2" charset="2"/>
              <a:buChar char="q"/>
            </a:pPr>
            <a:r>
              <a:rPr lang="en-US" dirty="0"/>
              <a:t>Router(config-if)# exit</a:t>
            </a:r>
          </a:p>
          <a:p>
            <a:pPr>
              <a:buFont typeface="Wingdings" panose="05000000000000000000" pitchFamily="2" charset="2"/>
              <a:buChar char="q"/>
            </a:pPr>
            <a:endParaRPr lang="en-US" dirty="0"/>
          </a:p>
          <a:p>
            <a:pPr>
              <a:buFont typeface="Wingdings" panose="05000000000000000000" pitchFamily="2" charset="2"/>
              <a:buChar char="q"/>
            </a:pPr>
            <a:r>
              <a:rPr lang="en-US" dirty="0"/>
              <a:t>Router# show lldp neighbors</a:t>
            </a:r>
          </a:p>
          <a:p>
            <a:pPr marL="139700" indent="0">
              <a:buNone/>
            </a:pPr>
            <a:endParaRPr lang="en-US" dirty="0"/>
          </a:p>
          <a:p>
            <a:endParaRPr lang="en-PK" dirty="0"/>
          </a:p>
        </p:txBody>
      </p:sp>
    </p:spTree>
    <p:extLst>
      <p:ext uri="{BB962C8B-B14F-4D97-AF65-F5344CB8AC3E}">
        <p14:creationId xmlns:p14="http://schemas.microsoft.com/office/powerpoint/2010/main" val="359863114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789045-316D-7094-B3E5-7587E3E310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FDBA71B-BA73-E5CB-41C8-9437DB12481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DE7E463-6922-E67A-7A06-8FD141AF599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5C5458A-7C74-AD00-7F80-091E86BAF25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14ADD95F-343D-729D-32E7-56B3C7246821}"/>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Switch</a:t>
            </a:r>
            <a:endParaRPr lang="en-PK" sz="278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9A2A128E-A834-2EDE-7A84-3A49F5F44582}"/>
              </a:ext>
            </a:extLst>
          </p:cNvPr>
          <p:cNvSpPr txBox="1"/>
          <p:nvPr/>
        </p:nvSpPr>
        <p:spPr>
          <a:xfrm>
            <a:off x="270765" y="636579"/>
            <a:ext cx="8602470" cy="3077766"/>
          </a:xfrm>
          <a:prstGeom prst="rect">
            <a:avLst/>
          </a:prstGeom>
          <a:noFill/>
        </p:spPr>
        <p:txBody>
          <a:bodyPr wrap="square">
            <a:spAutoFit/>
          </a:bodyPr>
          <a:lstStyle/>
          <a:p>
            <a:pPr marL="171450" indent="-171450" algn="just">
              <a:buFont typeface="Wingdings" panose="05000000000000000000" pitchFamily="2" charset="2"/>
              <a:buChar char="q"/>
            </a:pPr>
            <a:r>
              <a:rPr lang="en-US" sz="1100" dirty="0"/>
              <a:t>A network switch is a device that connects multiple devices within a LAN for efficient communication.</a:t>
            </a:r>
          </a:p>
          <a:p>
            <a:pPr marL="285750" indent="-285750" algn="just">
              <a:buFont typeface="Wingdings" panose="05000000000000000000" pitchFamily="2" charset="2"/>
              <a:buChar char="q"/>
            </a:pPr>
            <a:endParaRPr lang="en-US" dirty="0"/>
          </a:p>
          <a:p>
            <a:pPr marL="171450" indent="-171450" algn="just">
              <a:buFont typeface="Wingdings" panose="05000000000000000000" pitchFamily="2" charset="2"/>
              <a:buChar char="q"/>
            </a:pPr>
            <a:r>
              <a:rPr lang="en-US" sz="1100" dirty="0"/>
              <a:t>Core Function: Forwards data to the correct device using MAC addresses.</a:t>
            </a:r>
            <a:endParaRPr lang="en-US" dirty="0"/>
          </a:p>
          <a:p>
            <a:pPr marL="285750" indent="-285750" algn="just">
              <a:buFont typeface="Wingdings" panose="05000000000000000000" pitchFamily="2" charset="2"/>
              <a:buChar char="q"/>
            </a:pPr>
            <a:endParaRPr lang="en-US" dirty="0"/>
          </a:p>
          <a:p>
            <a:pPr marL="171450" indent="-171450" algn="just">
              <a:buFont typeface="Wingdings" panose="05000000000000000000" pitchFamily="2" charset="2"/>
              <a:buChar char="q"/>
            </a:pPr>
            <a:r>
              <a:rPr lang="en-US" sz="1100" dirty="0"/>
              <a:t>Switch creates and maintains a MAC address table (also called a forwarding table or CAM table)  .CAM stands for Content Addressable Memory table.</a:t>
            </a:r>
          </a:p>
          <a:p>
            <a:pPr marL="285750" indent="-285750" algn="just">
              <a:buFont typeface="Wingdings" panose="05000000000000000000" pitchFamily="2" charset="2"/>
              <a:buChar char="q"/>
            </a:pPr>
            <a:endParaRPr lang="en-US" dirty="0"/>
          </a:p>
          <a:p>
            <a:pPr marL="171450" indent="-171450" algn="just">
              <a:buFont typeface="Wingdings" panose="05000000000000000000" pitchFamily="2" charset="2"/>
              <a:buChar char="q"/>
            </a:pPr>
            <a:r>
              <a:rPr lang="en-US" sz="1100" dirty="0"/>
              <a:t>MAC Address Table (Switch) Enables the switch to forward frames to the correct destination.</a:t>
            </a:r>
            <a:endParaRPr lang="en-PK" sz="1100" dirty="0"/>
          </a:p>
          <a:p>
            <a:pPr marL="285750" indent="-285750">
              <a:buFont typeface="Wingdings" panose="05000000000000000000" pitchFamily="2" charset="2"/>
              <a:buChar char="q"/>
            </a:pPr>
            <a:endParaRPr lang="en-PK" dirty="0"/>
          </a:p>
          <a:p>
            <a:pPr marL="171450" indent="-171450">
              <a:buFont typeface="Wingdings" panose="05000000000000000000" pitchFamily="2" charset="2"/>
              <a:buChar char="q"/>
            </a:pPr>
            <a:r>
              <a:rPr lang="en-US" sz="1100" dirty="0"/>
              <a:t>All ports on a switch that connect to end devices (e.g., computers, printers) are referred to as </a:t>
            </a:r>
            <a:r>
              <a:rPr lang="en-US" sz="1100" b="1" dirty="0"/>
              <a:t>access ports</a:t>
            </a:r>
            <a:r>
              <a:rPr lang="en-US" sz="1100" dirty="0"/>
              <a:t>, and their associated connection is called an </a:t>
            </a:r>
            <a:r>
              <a:rPr lang="en-US" sz="1100" b="1" dirty="0"/>
              <a:t>access link.</a:t>
            </a:r>
          </a:p>
          <a:p>
            <a:pPr marL="171450" indent="-171450">
              <a:buFont typeface="Wingdings" panose="05000000000000000000" pitchFamily="2" charset="2"/>
              <a:buChar char="q"/>
            </a:pPr>
            <a:endParaRPr lang="en-US" sz="1100" dirty="0"/>
          </a:p>
          <a:p>
            <a:pPr marL="171450" indent="-171450">
              <a:buFont typeface="Wingdings" panose="05000000000000000000" pitchFamily="2" charset="2"/>
              <a:buChar char="q"/>
            </a:pPr>
            <a:endParaRPr lang="en-US" sz="1100" dirty="0"/>
          </a:p>
          <a:p>
            <a:pPr marL="171450" indent="-171450">
              <a:buFont typeface="Wingdings" panose="05000000000000000000" pitchFamily="2" charset="2"/>
              <a:buChar char="q"/>
            </a:pPr>
            <a:r>
              <a:rPr lang="en-US" sz="1100" dirty="0"/>
              <a:t>Ports that connect two switches are known as </a:t>
            </a:r>
            <a:r>
              <a:rPr lang="en-US" sz="1100" b="1" dirty="0"/>
              <a:t>trunk ports</a:t>
            </a:r>
            <a:r>
              <a:rPr lang="en-US" sz="1100" dirty="0"/>
              <a:t>, and their connection is referred to as a </a:t>
            </a:r>
            <a:r>
              <a:rPr lang="en-US" sz="1100" b="1" dirty="0"/>
              <a:t>trunk link</a:t>
            </a:r>
            <a:r>
              <a:rPr lang="en-US" sz="1100" dirty="0"/>
              <a:t>.</a:t>
            </a:r>
          </a:p>
          <a:p>
            <a:endParaRPr lang="en-PK" dirty="0"/>
          </a:p>
          <a:p>
            <a:endParaRPr lang="en-PK" dirty="0"/>
          </a:p>
        </p:txBody>
      </p:sp>
      <p:sp>
        <p:nvSpPr>
          <p:cNvPr id="7" name="TextBox 6">
            <a:extLst>
              <a:ext uri="{FF2B5EF4-FFF2-40B4-BE49-F238E27FC236}">
                <a16:creationId xmlns:a16="http://schemas.microsoft.com/office/drawing/2014/main" id="{06A9FDD6-0F14-0D59-E126-2BA68829A4E1}"/>
              </a:ext>
            </a:extLst>
          </p:cNvPr>
          <p:cNvSpPr txBox="1"/>
          <p:nvPr/>
        </p:nvSpPr>
        <p:spPr>
          <a:xfrm>
            <a:off x="3242732" y="4665241"/>
            <a:ext cx="4572000" cy="307777"/>
          </a:xfrm>
          <a:prstGeom prst="rect">
            <a:avLst/>
          </a:prstGeom>
          <a:noFill/>
        </p:spPr>
        <p:txBody>
          <a:bodyPr wrap="square">
            <a:spAutoFit/>
          </a:bodyPr>
          <a:lstStyle/>
          <a:p>
            <a:r>
              <a:rPr lang="en-US" dirty="0">
                <a:highlight>
                  <a:srgbClr val="00FF00"/>
                </a:highlight>
              </a:rPr>
              <a:t>#Show mac address table</a:t>
            </a:r>
            <a:endParaRPr lang="en-PK" dirty="0">
              <a:highlight>
                <a:srgbClr val="00FF00"/>
              </a:highlight>
            </a:endParaRPr>
          </a:p>
        </p:txBody>
      </p:sp>
    </p:spTree>
    <p:extLst>
      <p:ext uri="{BB962C8B-B14F-4D97-AF65-F5344CB8AC3E}">
        <p14:creationId xmlns:p14="http://schemas.microsoft.com/office/powerpoint/2010/main" val="303771673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C303A825-1676-DE61-496C-DFE41E478622}"/>
              </a:ext>
            </a:extLst>
          </p:cNvPr>
          <p:cNvSpPr txBox="1"/>
          <p:nvPr/>
        </p:nvSpPr>
        <p:spPr>
          <a:xfrm>
            <a:off x="381001" y="702007"/>
            <a:ext cx="4690532" cy="3739485"/>
          </a:xfrm>
          <a:prstGeom prst="rect">
            <a:avLst/>
          </a:prstGeom>
          <a:noFill/>
        </p:spPr>
        <p:txBody>
          <a:bodyPr wrap="square">
            <a:spAutoFit/>
          </a:bodyPr>
          <a:lstStyle/>
          <a:p>
            <a:r>
              <a:rPr lang="en-US" sz="1200" b="1" u="sng" dirty="0">
                <a:solidFill>
                  <a:srgbClr val="403CCF"/>
                </a:solidFill>
                <a:latin typeface="Libre Baskerville" pitchFamily="34" charset="0"/>
              </a:rPr>
              <a:t>Change Hostname</a:t>
            </a:r>
            <a:endParaRPr lang="en-US" dirty="0"/>
          </a:p>
          <a:p>
            <a:pPr marL="171450" indent="-171450">
              <a:buFont typeface="Wingdings" panose="05000000000000000000" pitchFamily="2" charset="2"/>
              <a:buChar char="q"/>
            </a:pPr>
            <a:r>
              <a:rPr lang="en-US" sz="1100" dirty="0"/>
              <a:t>switch(config)# hostname myswitch</a:t>
            </a:r>
          </a:p>
          <a:p>
            <a:endParaRPr lang="en-US" sz="1100" dirty="0"/>
          </a:p>
          <a:p>
            <a:pPr marL="285750" indent="-285750">
              <a:buFont typeface="Wingdings" panose="05000000000000000000" pitchFamily="2" charset="2"/>
              <a:buChar char="q"/>
            </a:pPr>
            <a:endParaRPr lang="en-US" sz="1100" dirty="0"/>
          </a:p>
          <a:p>
            <a:r>
              <a:rPr lang="en-US" sz="1200" b="1" u="sng" dirty="0">
                <a:solidFill>
                  <a:srgbClr val="403CCF"/>
                </a:solidFill>
                <a:latin typeface="Libre Baskerville" pitchFamily="34" charset="0"/>
              </a:rPr>
              <a:t>Set Console Line Password</a:t>
            </a:r>
            <a:endParaRPr lang="en-US" sz="1100" dirty="0"/>
          </a:p>
          <a:p>
            <a:pPr marL="171450" indent="-171450">
              <a:buFont typeface="Wingdings" panose="05000000000000000000" pitchFamily="2" charset="2"/>
              <a:buChar char="q"/>
            </a:pPr>
            <a:r>
              <a:rPr lang="en-US" sz="1100" dirty="0"/>
              <a:t>switch(config)# line console 0  </a:t>
            </a:r>
          </a:p>
          <a:p>
            <a:pPr marL="171450" indent="-171450">
              <a:buFont typeface="Wingdings" panose="05000000000000000000" pitchFamily="2" charset="2"/>
              <a:buChar char="q"/>
            </a:pPr>
            <a:r>
              <a:rPr lang="en-US" sz="1100" dirty="0"/>
              <a:t>switch(config-line)# password 123</a:t>
            </a:r>
          </a:p>
          <a:p>
            <a:pPr marL="171450" indent="-171450">
              <a:buFont typeface="Wingdings" panose="05000000000000000000" pitchFamily="2" charset="2"/>
              <a:buChar char="q"/>
            </a:pPr>
            <a:r>
              <a:rPr lang="en-US" sz="1100" dirty="0"/>
              <a:t>switch(config-line)# login  </a:t>
            </a:r>
          </a:p>
          <a:p>
            <a:pPr marL="171450" indent="-171450">
              <a:buFont typeface="Wingdings" panose="05000000000000000000" pitchFamily="2" charset="2"/>
              <a:buChar char="q"/>
            </a:pPr>
            <a:r>
              <a:rPr lang="en-US" sz="1100" dirty="0"/>
              <a:t>switch(config-line)# exit </a:t>
            </a:r>
          </a:p>
          <a:p>
            <a:endParaRPr lang="en-US" sz="1100" dirty="0"/>
          </a:p>
          <a:p>
            <a:endParaRPr lang="en-US" sz="1100" dirty="0"/>
          </a:p>
          <a:p>
            <a:r>
              <a:rPr lang="en-US" sz="1200" b="1" u="sng" dirty="0">
                <a:solidFill>
                  <a:srgbClr val="403CCF"/>
                </a:solidFill>
                <a:latin typeface="Libre Baskerville" pitchFamily="34" charset="0"/>
              </a:rPr>
              <a:t>Set Enable Secret Password</a:t>
            </a:r>
            <a:endParaRPr lang="en-US" sz="1100" dirty="0"/>
          </a:p>
          <a:p>
            <a:pPr marL="171450" indent="-171450">
              <a:buFont typeface="Wingdings" panose="05000000000000000000" pitchFamily="2" charset="2"/>
              <a:buChar char="q"/>
            </a:pPr>
            <a:r>
              <a:rPr lang="en-US" sz="1100" dirty="0"/>
              <a:t>switch(config)# enable secret 123</a:t>
            </a:r>
          </a:p>
          <a:p>
            <a:endParaRPr lang="en-US" sz="1200" b="1" u="sng" dirty="0">
              <a:solidFill>
                <a:srgbClr val="403CCF"/>
              </a:solidFill>
              <a:latin typeface="Libre Baskerville" pitchFamily="34" charset="0"/>
            </a:endParaRPr>
          </a:p>
          <a:p>
            <a:endParaRPr lang="en-US" sz="1200" b="1" u="sng" dirty="0">
              <a:solidFill>
                <a:srgbClr val="403CCF"/>
              </a:solidFill>
              <a:latin typeface="Libre Baskerville" pitchFamily="34" charset="0"/>
            </a:endParaRPr>
          </a:p>
          <a:p>
            <a:r>
              <a:rPr lang="en-US" sz="1200" b="1" u="sng" dirty="0">
                <a:solidFill>
                  <a:srgbClr val="403CCF"/>
                </a:solidFill>
                <a:latin typeface="Libre Baskerville" pitchFamily="34" charset="0"/>
              </a:rPr>
              <a:t>Set VTY (Telnet/SSH) Line Password</a:t>
            </a:r>
            <a:endParaRPr lang="en-US" sz="1100" dirty="0"/>
          </a:p>
          <a:p>
            <a:pPr marL="171450" indent="-171450">
              <a:buFont typeface="Wingdings" panose="05000000000000000000" pitchFamily="2" charset="2"/>
              <a:buChar char="q"/>
            </a:pPr>
            <a:r>
              <a:rPr lang="en-US" sz="1100" dirty="0"/>
              <a:t>switch(config)# line vty 0 4  </a:t>
            </a:r>
          </a:p>
          <a:p>
            <a:pPr marL="171450" indent="-171450">
              <a:buFont typeface="Wingdings" panose="05000000000000000000" pitchFamily="2" charset="2"/>
              <a:buChar char="q"/>
            </a:pPr>
            <a:r>
              <a:rPr lang="en-US" sz="1100" dirty="0"/>
              <a:t>switch(config-line)# password 123  </a:t>
            </a:r>
          </a:p>
          <a:p>
            <a:pPr marL="171450" indent="-171450">
              <a:buFont typeface="Wingdings" panose="05000000000000000000" pitchFamily="2" charset="2"/>
              <a:buChar char="q"/>
            </a:pPr>
            <a:r>
              <a:rPr lang="en-US" sz="1100" dirty="0"/>
              <a:t>switch(config-line)# login  </a:t>
            </a:r>
          </a:p>
          <a:p>
            <a:pPr marL="171450" indent="-171450">
              <a:buFont typeface="Wingdings" panose="05000000000000000000" pitchFamily="2" charset="2"/>
              <a:buChar char="q"/>
            </a:pPr>
            <a:r>
              <a:rPr lang="en-US" sz="1100" dirty="0"/>
              <a:t>switch(config-line)# exit </a:t>
            </a:r>
          </a:p>
          <a:p>
            <a:pPr marL="171450" indent="-171450">
              <a:buFont typeface="Wingdings" panose="05000000000000000000" pitchFamily="2" charset="2"/>
              <a:buChar char="q"/>
            </a:pPr>
            <a:r>
              <a:rPr lang="en-US" sz="1100" dirty="0"/>
              <a:t>switch(config)# enable secret 123</a:t>
            </a:r>
          </a:p>
        </p:txBody>
      </p:sp>
      <p:sp>
        <p:nvSpPr>
          <p:cNvPr id="15" name="TextBox 14">
            <a:extLst>
              <a:ext uri="{FF2B5EF4-FFF2-40B4-BE49-F238E27FC236}">
                <a16:creationId xmlns:a16="http://schemas.microsoft.com/office/drawing/2014/main" id="{F677B962-F5A8-2E1B-A88D-C69379711DC0}"/>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Some Basic Configurations</a:t>
            </a:r>
            <a:endParaRPr lang="en-PK" sz="2781" b="1" dirty="0">
              <a:solidFill>
                <a:srgbClr val="403CCF"/>
              </a:solidFill>
              <a:latin typeface="Libre Baskerville" pitchFamily="34" charset="0"/>
            </a:endParaRPr>
          </a:p>
        </p:txBody>
      </p:sp>
    </p:spTree>
    <p:extLst>
      <p:ext uri="{BB962C8B-B14F-4D97-AF65-F5344CB8AC3E}">
        <p14:creationId xmlns:p14="http://schemas.microsoft.com/office/powerpoint/2010/main" val="39934745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A3494B-446F-7B39-DBBF-4438BCAA96D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BDFE4690-CF74-79DF-4562-73852BFA20E0}"/>
              </a:ext>
            </a:extLst>
          </p:cNvPr>
          <p:cNvSpPr txBox="1"/>
          <p:nvPr/>
        </p:nvSpPr>
        <p:spPr>
          <a:xfrm>
            <a:off x="4902200" y="2464030"/>
            <a:ext cx="4572000" cy="523220"/>
          </a:xfrm>
          <a:prstGeom prst="rect">
            <a:avLst/>
          </a:prstGeom>
          <a:noFill/>
        </p:spPr>
        <p:txBody>
          <a:bodyPr wrap="square">
            <a:spAutoFit/>
          </a:bodyPr>
          <a:lstStyle/>
          <a:p>
            <a:endParaRPr lang="en-US" dirty="0"/>
          </a:p>
          <a:p>
            <a:endParaRPr lang="en-PK" dirty="0"/>
          </a:p>
        </p:txBody>
      </p:sp>
      <p:sp>
        <p:nvSpPr>
          <p:cNvPr id="13" name="TextBox 12">
            <a:extLst>
              <a:ext uri="{FF2B5EF4-FFF2-40B4-BE49-F238E27FC236}">
                <a16:creationId xmlns:a16="http://schemas.microsoft.com/office/drawing/2014/main" id="{4D4C357A-114F-3F10-FD45-F40B655244FA}"/>
              </a:ext>
            </a:extLst>
          </p:cNvPr>
          <p:cNvSpPr txBox="1"/>
          <p:nvPr/>
        </p:nvSpPr>
        <p:spPr>
          <a:xfrm>
            <a:off x="-1" y="709824"/>
            <a:ext cx="5012267" cy="2246769"/>
          </a:xfrm>
          <a:prstGeom prst="rect">
            <a:avLst/>
          </a:prstGeom>
          <a:noFill/>
        </p:spPr>
        <p:txBody>
          <a:bodyPr wrap="square">
            <a:spAutoFit/>
          </a:bodyPr>
          <a:lstStyle/>
          <a:p>
            <a:r>
              <a:rPr lang="en-US" sz="1200" b="1" u="sng" dirty="0">
                <a:solidFill>
                  <a:srgbClr val="403CCF"/>
                </a:solidFill>
                <a:latin typeface="Libre Baskerville" pitchFamily="34" charset="0"/>
              </a:rPr>
              <a:t>To Remotely Access a Switch using Telnet</a:t>
            </a:r>
          </a:p>
          <a:p>
            <a:endParaRPr lang="en-US" dirty="0"/>
          </a:p>
          <a:p>
            <a:pPr marL="285750" indent="-285750">
              <a:buFont typeface="Wingdings" panose="05000000000000000000" pitchFamily="2" charset="2"/>
              <a:buChar char="q"/>
            </a:pPr>
            <a:r>
              <a:rPr lang="en-US" sz="1100" dirty="0"/>
              <a:t>switch(config)# interface vlan 1 </a:t>
            </a:r>
          </a:p>
          <a:p>
            <a:pPr marL="285750" indent="-285750">
              <a:buFont typeface="Wingdings" panose="05000000000000000000" pitchFamily="2" charset="2"/>
              <a:buChar char="q"/>
            </a:pPr>
            <a:r>
              <a:rPr lang="en-US" sz="1100" dirty="0"/>
              <a:t>switch(config-if)# ip address 192.168.1.1 255.255.255.0 </a:t>
            </a:r>
          </a:p>
          <a:p>
            <a:pPr marL="285750" indent="-285750">
              <a:buFont typeface="Wingdings" panose="05000000000000000000" pitchFamily="2" charset="2"/>
              <a:buChar char="q"/>
            </a:pPr>
            <a:r>
              <a:rPr lang="en-US" sz="1100" dirty="0"/>
              <a:t>switch(config-if)# no shutdown </a:t>
            </a:r>
          </a:p>
          <a:p>
            <a:pPr marL="285750" indent="-285750">
              <a:buFont typeface="Wingdings" panose="05000000000000000000" pitchFamily="2" charset="2"/>
              <a:buChar char="q"/>
            </a:pPr>
            <a:r>
              <a:rPr lang="en-US" sz="1100" dirty="0"/>
              <a:t>switch(config-if)# exit </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r>
              <a:rPr lang="en-US" sz="1100" dirty="0"/>
              <a:t>switch(config)# line vty 0 4 </a:t>
            </a:r>
          </a:p>
          <a:p>
            <a:pPr marL="285750" indent="-285750">
              <a:buFont typeface="Wingdings" panose="05000000000000000000" pitchFamily="2" charset="2"/>
              <a:buChar char="q"/>
            </a:pPr>
            <a:r>
              <a:rPr lang="en-US" sz="1100" dirty="0"/>
              <a:t>switch(config-line)# password 123</a:t>
            </a:r>
          </a:p>
          <a:p>
            <a:pPr marL="285750" indent="-285750">
              <a:buFont typeface="Wingdings" panose="05000000000000000000" pitchFamily="2" charset="2"/>
              <a:buChar char="q"/>
            </a:pPr>
            <a:r>
              <a:rPr lang="en-US" sz="1100" dirty="0"/>
              <a:t>switch(config-line)# login </a:t>
            </a:r>
          </a:p>
          <a:p>
            <a:pPr marL="285750" indent="-285750">
              <a:buFont typeface="Wingdings" panose="05000000000000000000" pitchFamily="2" charset="2"/>
              <a:buChar char="q"/>
            </a:pPr>
            <a:r>
              <a:rPr lang="en-US" sz="1100" dirty="0"/>
              <a:t>switch(config-line)# exit </a:t>
            </a:r>
          </a:p>
          <a:p>
            <a:pPr marL="285750" indent="-285750">
              <a:buFont typeface="Wingdings" panose="05000000000000000000" pitchFamily="2" charset="2"/>
              <a:buChar char="q"/>
            </a:pPr>
            <a:r>
              <a:rPr lang="en-US" sz="1100" dirty="0"/>
              <a:t>switch(config)# enable secret 123</a:t>
            </a:r>
          </a:p>
        </p:txBody>
      </p:sp>
      <p:sp>
        <p:nvSpPr>
          <p:cNvPr id="15" name="TextBox 14">
            <a:extLst>
              <a:ext uri="{FF2B5EF4-FFF2-40B4-BE49-F238E27FC236}">
                <a16:creationId xmlns:a16="http://schemas.microsoft.com/office/drawing/2014/main" id="{06896B9E-5FD3-289A-FEEC-F06F97A9AE4E}"/>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Some Basic Configurations</a:t>
            </a:r>
            <a:endParaRPr lang="en-PK" sz="2781" b="1" dirty="0">
              <a:solidFill>
                <a:srgbClr val="403CCF"/>
              </a:solidFill>
              <a:latin typeface="Libre Baskerville" pitchFamily="34" charset="0"/>
            </a:endParaRPr>
          </a:p>
        </p:txBody>
      </p:sp>
      <p:pic>
        <p:nvPicPr>
          <p:cNvPr id="4" name="Picture 3">
            <a:extLst>
              <a:ext uri="{FF2B5EF4-FFF2-40B4-BE49-F238E27FC236}">
                <a16:creationId xmlns:a16="http://schemas.microsoft.com/office/drawing/2014/main" id="{20A826C1-0482-E50C-A0F8-2F759956BA43}"/>
              </a:ext>
            </a:extLst>
          </p:cNvPr>
          <p:cNvPicPr>
            <a:picLocks noChangeAspect="1"/>
          </p:cNvPicPr>
          <p:nvPr/>
        </p:nvPicPr>
        <p:blipFill>
          <a:blip r:embed="rId2"/>
          <a:stretch>
            <a:fillRect/>
          </a:stretch>
        </p:blipFill>
        <p:spPr>
          <a:xfrm>
            <a:off x="5173133" y="770467"/>
            <a:ext cx="3970867" cy="4293733"/>
          </a:xfrm>
          <a:prstGeom prst="rect">
            <a:avLst/>
          </a:prstGeom>
        </p:spPr>
      </p:pic>
      <p:sp>
        <p:nvSpPr>
          <p:cNvPr id="6" name="TextBox 5">
            <a:extLst>
              <a:ext uri="{FF2B5EF4-FFF2-40B4-BE49-F238E27FC236}">
                <a16:creationId xmlns:a16="http://schemas.microsoft.com/office/drawing/2014/main" id="{4A2D6828-1868-B805-C9C1-3F9D16904748}"/>
              </a:ext>
            </a:extLst>
          </p:cNvPr>
          <p:cNvSpPr txBox="1"/>
          <p:nvPr/>
        </p:nvSpPr>
        <p:spPr>
          <a:xfrm>
            <a:off x="32808" y="3479568"/>
            <a:ext cx="4737100" cy="1123384"/>
          </a:xfrm>
          <a:prstGeom prst="rect">
            <a:avLst/>
          </a:prstGeom>
          <a:noFill/>
        </p:spPr>
        <p:txBody>
          <a:bodyPr wrap="square">
            <a:spAutoFit/>
          </a:bodyPr>
          <a:lstStyle/>
          <a:p>
            <a:r>
              <a:rPr lang="en-US" sz="1200" b="1" u="sng" dirty="0">
                <a:solidFill>
                  <a:srgbClr val="403CCF"/>
                </a:solidFill>
                <a:latin typeface="Libre Baskerville" pitchFamily="34" charset="0"/>
              </a:rPr>
              <a:t>Test Remote Access</a:t>
            </a:r>
          </a:p>
          <a:p>
            <a:pPr marL="285750" indent="-285750">
              <a:buFont typeface="Wingdings" panose="05000000000000000000" pitchFamily="2" charset="2"/>
              <a:buChar char="q"/>
            </a:pPr>
            <a:r>
              <a:rPr lang="en-US" sz="1100" dirty="0"/>
              <a:t>Go to a PC and open the Command Prompt.</a:t>
            </a:r>
          </a:p>
          <a:p>
            <a:pPr marL="285750" indent="-285750">
              <a:buFont typeface="Wingdings" panose="05000000000000000000" pitchFamily="2" charset="2"/>
              <a:buChar char="q"/>
            </a:pPr>
            <a:r>
              <a:rPr lang="en-US" sz="1100" dirty="0"/>
              <a:t>C:\&gt; telnet 192.168.1.1</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r>
              <a:rPr lang="en-US" sz="1100" dirty="0"/>
              <a:t>You will get access to the Switch's command-line interface. From there, you can perform all configurations directly from the computer.</a:t>
            </a:r>
          </a:p>
        </p:txBody>
      </p:sp>
    </p:spTree>
    <p:extLst>
      <p:ext uri="{BB962C8B-B14F-4D97-AF65-F5344CB8AC3E}">
        <p14:creationId xmlns:p14="http://schemas.microsoft.com/office/powerpoint/2010/main" val="277783794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011D7-EC80-8440-EA0D-4F5A2B9F054A}"/>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817A36E-EA51-1E93-FFF0-05152F6C14B3}"/>
              </a:ext>
            </a:extLst>
          </p:cNvPr>
          <p:cNvSpPr txBox="1"/>
          <p:nvPr/>
        </p:nvSpPr>
        <p:spPr>
          <a:xfrm>
            <a:off x="4902200" y="2464030"/>
            <a:ext cx="4572000" cy="523220"/>
          </a:xfrm>
          <a:prstGeom prst="rect">
            <a:avLst/>
          </a:prstGeom>
          <a:noFill/>
        </p:spPr>
        <p:txBody>
          <a:bodyPr wrap="square">
            <a:spAutoFit/>
          </a:bodyPr>
          <a:lstStyle/>
          <a:p>
            <a:endParaRPr lang="en-US" dirty="0"/>
          </a:p>
          <a:p>
            <a:endParaRPr lang="en-PK" dirty="0"/>
          </a:p>
        </p:txBody>
      </p:sp>
      <p:sp>
        <p:nvSpPr>
          <p:cNvPr id="13" name="TextBox 12">
            <a:extLst>
              <a:ext uri="{FF2B5EF4-FFF2-40B4-BE49-F238E27FC236}">
                <a16:creationId xmlns:a16="http://schemas.microsoft.com/office/drawing/2014/main" id="{1C5BE471-A632-2146-F826-78E808FA375F}"/>
              </a:ext>
            </a:extLst>
          </p:cNvPr>
          <p:cNvSpPr txBox="1"/>
          <p:nvPr/>
        </p:nvSpPr>
        <p:spPr>
          <a:xfrm>
            <a:off x="-2" y="709824"/>
            <a:ext cx="5765801" cy="2539157"/>
          </a:xfrm>
          <a:prstGeom prst="rect">
            <a:avLst/>
          </a:prstGeom>
          <a:noFill/>
        </p:spPr>
        <p:txBody>
          <a:bodyPr wrap="square">
            <a:spAutoFit/>
          </a:bodyPr>
          <a:lstStyle/>
          <a:p>
            <a:r>
              <a:rPr lang="en-US" sz="1200" b="1" u="sng" dirty="0">
                <a:solidFill>
                  <a:srgbClr val="403CCF"/>
                </a:solidFill>
                <a:latin typeface="Libre Baskerville" pitchFamily="34" charset="0"/>
              </a:rPr>
              <a:t>To Remotely Access a Switch using SSH</a:t>
            </a:r>
          </a:p>
          <a:p>
            <a:pPr marL="285750" indent="-285750">
              <a:buFont typeface="Wingdings" panose="05000000000000000000" pitchFamily="2" charset="2"/>
              <a:buChar char="q"/>
            </a:pPr>
            <a:r>
              <a:rPr lang="en-US" sz="1100" dirty="0"/>
              <a:t>switch(config)# interface   vlan   1  </a:t>
            </a:r>
          </a:p>
          <a:p>
            <a:pPr marL="285750" indent="-285750">
              <a:buFont typeface="Wingdings" panose="05000000000000000000" pitchFamily="2" charset="2"/>
              <a:buChar char="q"/>
            </a:pPr>
            <a:r>
              <a:rPr lang="en-US" sz="1100" dirty="0"/>
              <a:t>switch(config-if)# ip   address   192.168.1.1   255.255.255.0  </a:t>
            </a:r>
          </a:p>
          <a:p>
            <a:pPr marL="285750" indent="-285750">
              <a:buFont typeface="Wingdings" panose="05000000000000000000" pitchFamily="2" charset="2"/>
              <a:buChar char="q"/>
            </a:pPr>
            <a:r>
              <a:rPr lang="en-US" sz="1100" dirty="0"/>
              <a:t>switch(config-if)# no   shutdown  </a:t>
            </a:r>
          </a:p>
          <a:p>
            <a:pPr marL="285750" indent="-285750">
              <a:buFont typeface="Wingdings" panose="05000000000000000000" pitchFamily="2" charset="2"/>
              <a:buChar char="q"/>
            </a:pPr>
            <a:r>
              <a:rPr lang="en-US" sz="1100" dirty="0"/>
              <a:t>switch(config-if)# exit  </a:t>
            </a:r>
          </a:p>
          <a:p>
            <a:pPr marL="285750" indent="-285750">
              <a:buFont typeface="Wingdings" panose="05000000000000000000" pitchFamily="2" charset="2"/>
              <a:buChar char="q"/>
            </a:pPr>
            <a:r>
              <a:rPr lang="en-US" sz="1100" dirty="0"/>
              <a:t>switch(config)# hostname   Corvit  </a:t>
            </a:r>
          </a:p>
          <a:p>
            <a:pPr marL="285750" indent="-285750">
              <a:buFont typeface="Wingdings" panose="05000000000000000000" pitchFamily="2" charset="2"/>
              <a:buChar char="q"/>
            </a:pPr>
            <a:r>
              <a:rPr lang="en-US" sz="1100" dirty="0"/>
              <a:t>Corvit(config)# username   corvit   password   123</a:t>
            </a:r>
          </a:p>
          <a:p>
            <a:pPr marL="285750" indent="-285750">
              <a:buFont typeface="Wingdings" panose="05000000000000000000" pitchFamily="2" charset="2"/>
              <a:buChar char="q"/>
            </a:pPr>
            <a:r>
              <a:rPr lang="en-US" sz="1100" dirty="0"/>
              <a:t>Corvit(config)# enable   secret   123  </a:t>
            </a:r>
          </a:p>
          <a:p>
            <a:pPr marL="285750" indent="-285750">
              <a:buFont typeface="Wingdings" panose="05000000000000000000" pitchFamily="2" charset="2"/>
              <a:buChar char="q"/>
            </a:pPr>
            <a:r>
              <a:rPr lang="en-US" sz="1100" dirty="0"/>
              <a:t>Corvit(config)# ip   domain-name   corvit.com  </a:t>
            </a:r>
          </a:p>
          <a:p>
            <a:pPr marL="285750" indent="-285750">
              <a:buFont typeface="Wingdings" panose="05000000000000000000" pitchFamily="2" charset="2"/>
              <a:buChar char="q"/>
            </a:pPr>
            <a:r>
              <a:rPr lang="en-US" sz="1100" dirty="0"/>
              <a:t>Corvit(config)# crypto   key   generate   rsa   general-keys   modulus   2048</a:t>
            </a:r>
          </a:p>
          <a:p>
            <a:pPr marL="285750" indent="-285750">
              <a:buFont typeface="Wingdings" panose="05000000000000000000" pitchFamily="2" charset="2"/>
              <a:buChar char="q"/>
            </a:pPr>
            <a:r>
              <a:rPr lang="en-US" sz="1100" dirty="0"/>
              <a:t>Corvit(config)# line   vty   0   4  </a:t>
            </a:r>
          </a:p>
          <a:p>
            <a:pPr marL="285750" indent="-285750">
              <a:buFont typeface="Wingdings" panose="05000000000000000000" pitchFamily="2" charset="2"/>
              <a:buChar char="q"/>
            </a:pPr>
            <a:r>
              <a:rPr lang="en-US" sz="1100" dirty="0"/>
              <a:t>Corvit(config-line)# login   local  </a:t>
            </a:r>
          </a:p>
          <a:p>
            <a:pPr marL="285750" indent="-285750">
              <a:buFont typeface="Wingdings" panose="05000000000000000000" pitchFamily="2" charset="2"/>
              <a:buChar char="q"/>
            </a:pPr>
            <a:r>
              <a:rPr lang="en-US" sz="1100" dirty="0"/>
              <a:t>Corvit(config-line)# transport   input   ssh  </a:t>
            </a:r>
          </a:p>
          <a:p>
            <a:pPr marL="285750" indent="-285750">
              <a:buFont typeface="Wingdings" panose="05000000000000000000" pitchFamily="2" charset="2"/>
              <a:buChar char="q"/>
            </a:pPr>
            <a:r>
              <a:rPr lang="en-US" sz="1100" dirty="0"/>
              <a:t>Corvit(config-line)# exit </a:t>
            </a:r>
          </a:p>
        </p:txBody>
      </p:sp>
      <p:sp>
        <p:nvSpPr>
          <p:cNvPr id="15" name="TextBox 14">
            <a:extLst>
              <a:ext uri="{FF2B5EF4-FFF2-40B4-BE49-F238E27FC236}">
                <a16:creationId xmlns:a16="http://schemas.microsoft.com/office/drawing/2014/main" id="{D8075C64-28DE-50AD-DAF1-FC1D9C140325}"/>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Some Basic Configurations</a:t>
            </a:r>
            <a:endParaRPr lang="en-PK" sz="2781" b="1" dirty="0">
              <a:solidFill>
                <a:srgbClr val="403CCF"/>
              </a:solidFill>
              <a:latin typeface="Libre Baskerville" pitchFamily="34" charset="0"/>
            </a:endParaRPr>
          </a:p>
        </p:txBody>
      </p:sp>
      <p:pic>
        <p:nvPicPr>
          <p:cNvPr id="4" name="Picture 3">
            <a:extLst>
              <a:ext uri="{FF2B5EF4-FFF2-40B4-BE49-F238E27FC236}">
                <a16:creationId xmlns:a16="http://schemas.microsoft.com/office/drawing/2014/main" id="{E6787E07-AAF4-271C-9E3F-80B27F0672A6}"/>
              </a:ext>
            </a:extLst>
          </p:cNvPr>
          <p:cNvPicPr>
            <a:picLocks noChangeAspect="1"/>
          </p:cNvPicPr>
          <p:nvPr/>
        </p:nvPicPr>
        <p:blipFill>
          <a:blip r:embed="rId2"/>
          <a:stretch>
            <a:fillRect/>
          </a:stretch>
        </p:blipFill>
        <p:spPr>
          <a:xfrm>
            <a:off x="5765799" y="812801"/>
            <a:ext cx="3378201" cy="4251400"/>
          </a:xfrm>
          <a:prstGeom prst="rect">
            <a:avLst/>
          </a:prstGeom>
        </p:spPr>
      </p:pic>
      <p:sp>
        <p:nvSpPr>
          <p:cNvPr id="6" name="TextBox 5">
            <a:extLst>
              <a:ext uri="{FF2B5EF4-FFF2-40B4-BE49-F238E27FC236}">
                <a16:creationId xmlns:a16="http://schemas.microsoft.com/office/drawing/2014/main" id="{B04A7D34-9B36-4FE8-5746-EC0F9F7996F9}"/>
              </a:ext>
            </a:extLst>
          </p:cNvPr>
          <p:cNvSpPr txBox="1"/>
          <p:nvPr/>
        </p:nvSpPr>
        <p:spPr>
          <a:xfrm>
            <a:off x="54502" y="3541037"/>
            <a:ext cx="5656792" cy="615553"/>
          </a:xfrm>
          <a:prstGeom prst="rect">
            <a:avLst/>
          </a:prstGeom>
          <a:noFill/>
        </p:spPr>
        <p:txBody>
          <a:bodyPr wrap="square">
            <a:spAutoFit/>
          </a:bodyPr>
          <a:lstStyle/>
          <a:p>
            <a:r>
              <a:rPr lang="en-US" sz="1200" b="1" u="sng" dirty="0">
                <a:solidFill>
                  <a:srgbClr val="403CCF"/>
                </a:solidFill>
                <a:latin typeface="Libre Baskerville" pitchFamily="34" charset="0"/>
              </a:rPr>
              <a:t>Test Remote Access</a:t>
            </a:r>
          </a:p>
          <a:p>
            <a:r>
              <a:rPr lang="en-US" sz="1100" dirty="0"/>
              <a:t>Go to PC</a:t>
            </a:r>
          </a:p>
          <a:p>
            <a:r>
              <a:rPr lang="en-US" sz="1100" dirty="0"/>
              <a:t>C:\&gt; ssh -l corvit 192.168.1.1</a:t>
            </a:r>
          </a:p>
        </p:txBody>
      </p:sp>
    </p:spTree>
    <p:extLst>
      <p:ext uri="{BB962C8B-B14F-4D97-AF65-F5344CB8AC3E}">
        <p14:creationId xmlns:p14="http://schemas.microsoft.com/office/powerpoint/2010/main" val="85682143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B7D99E-96C7-FF3C-CEF9-68B6D8F2FB9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7F66A8E-E658-3936-B5A1-F5D848AA9C5C}"/>
              </a:ext>
            </a:extLst>
          </p:cNvPr>
          <p:cNvSpPr txBox="1"/>
          <p:nvPr/>
        </p:nvSpPr>
        <p:spPr>
          <a:xfrm>
            <a:off x="4902200" y="2464030"/>
            <a:ext cx="4572000" cy="523220"/>
          </a:xfrm>
          <a:prstGeom prst="rect">
            <a:avLst/>
          </a:prstGeom>
          <a:noFill/>
        </p:spPr>
        <p:txBody>
          <a:bodyPr wrap="square">
            <a:spAutoFit/>
          </a:bodyPr>
          <a:lstStyle/>
          <a:p>
            <a:endParaRPr lang="en-US" dirty="0"/>
          </a:p>
          <a:p>
            <a:endParaRPr lang="en-PK" dirty="0"/>
          </a:p>
        </p:txBody>
      </p:sp>
      <p:sp>
        <p:nvSpPr>
          <p:cNvPr id="13" name="TextBox 12">
            <a:extLst>
              <a:ext uri="{FF2B5EF4-FFF2-40B4-BE49-F238E27FC236}">
                <a16:creationId xmlns:a16="http://schemas.microsoft.com/office/drawing/2014/main" id="{0CB518C0-07D9-02C6-7CF4-78097DEA3E65}"/>
              </a:ext>
            </a:extLst>
          </p:cNvPr>
          <p:cNvSpPr txBox="1"/>
          <p:nvPr/>
        </p:nvSpPr>
        <p:spPr>
          <a:xfrm>
            <a:off x="127000" y="719965"/>
            <a:ext cx="8178799" cy="1492716"/>
          </a:xfrm>
          <a:prstGeom prst="rect">
            <a:avLst/>
          </a:prstGeom>
          <a:noFill/>
        </p:spPr>
        <p:txBody>
          <a:bodyPr wrap="square">
            <a:spAutoFit/>
          </a:bodyPr>
          <a:lstStyle/>
          <a:p>
            <a:endParaRPr lang="en-US" dirty="0"/>
          </a:p>
          <a:p>
            <a:pPr marL="285750" indent="-285750" algn="just">
              <a:buFont typeface="Wingdings" panose="05000000000000000000" pitchFamily="2" charset="2"/>
              <a:buChar char="v"/>
            </a:pPr>
            <a:r>
              <a:rPr lang="en-US" sz="1100" dirty="0"/>
              <a:t>You cannot directly assign an IP address to physical switch ports like you would on a router. </a:t>
            </a:r>
          </a:p>
          <a:p>
            <a:pPr marL="285750" indent="-285750" algn="just">
              <a:buFont typeface="Wingdings" panose="05000000000000000000" pitchFamily="2" charset="2"/>
              <a:buChar char="v"/>
            </a:pPr>
            <a:endParaRPr lang="en-US" sz="1100" dirty="0"/>
          </a:p>
          <a:p>
            <a:pPr marL="285750" indent="-285750" algn="just">
              <a:buFont typeface="Wingdings" panose="05000000000000000000" pitchFamily="2" charset="2"/>
              <a:buChar char="v"/>
            </a:pPr>
            <a:r>
              <a:rPr lang="en-US" sz="1100" dirty="0"/>
              <a:t>The IP configuration is applied to the VLAN interfaces (like VLAN 1) to manage the switch itself</a:t>
            </a:r>
          </a:p>
          <a:p>
            <a:pPr marL="285750" indent="-285750" algn="just">
              <a:buFont typeface="Wingdings" panose="05000000000000000000" pitchFamily="2" charset="2"/>
              <a:buChar char="v"/>
            </a:pPr>
            <a:endParaRPr lang="en-US" sz="1100" dirty="0"/>
          </a:p>
          <a:p>
            <a:pPr marL="285750" indent="-285750" algn="just">
              <a:buFont typeface="Wingdings" panose="05000000000000000000" pitchFamily="2" charset="2"/>
              <a:buChar char="v"/>
            </a:pPr>
            <a:r>
              <a:rPr lang="en-US" sz="1100" dirty="0"/>
              <a:t>Even a Layer 3 switch can route between VLANs using interfaces configured with IP addresses.</a:t>
            </a:r>
          </a:p>
          <a:p>
            <a:pPr marL="285750" indent="-285750" algn="just">
              <a:buFont typeface="Wingdings" panose="05000000000000000000" pitchFamily="2" charset="2"/>
              <a:buChar char="v"/>
            </a:pPr>
            <a:endParaRPr lang="en-US" sz="1100" dirty="0"/>
          </a:p>
          <a:p>
            <a:pPr marL="285750" indent="-285750" algn="just">
              <a:buFont typeface="Wingdings" panose="05000000000000000000" pitchFamily="2" charset="2"/>
              <a:buChar char="v"/>
            </a:pPr>
            <a:r>
              <a:rPr lang="en-US" sz="1100" dirty="0"/>
              <a:t>Ports are assigned to VLANs, and IP addresses are applied to VLAN interfaces, not individual physical switch ports.</a:t>
            </a:r>
          </a:p>
        </p:txBody>
      </p:sp>
      <p:sp>
        <p:nvSpPr>
          <p:cNvPr id="15" name="TextBox 14">
            <a:extLst>
              <a:ext uri="{FF2B5EF4-FFF2-40B4-BE49-F238E27FC236}">
                <a16:creationId xmlns:a16="http://schemas.microsoft.com/office/drawing/2014/main" id="{2B35DFB3-B33C-FB40-FA6C-4D2AC236A611}"/>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IP assigning to Switch</a:t>
            </a:r>
            <a:endParaRPr lang="en-PK" sz="2781" b="1" dirty="0">
              <a:solidFill>
                <a:srgbClr val="403CCF"/>
              </a:solidFill>
              <a:latin typeface="Libre Baskerville" pitchFamily="34" charset="0"/>
            </a:endParaRPr>
          </a:p>
        </p:txBody>
      </p:sp>
      <p:sp>
        <p:nvSpPr>
          <p:cNvPr id="5" name="TextBox 4">
            <a:extLst>
              <a:ext uri="{FF2B5EF4-FFF2-40B4-BE49-F238E27FC236}">
                <a16:creationId xmlns:a16="http://schemas.microsoft.com/office/drawing/2014/main" id="{ACA3E41B-E0E2-0EA2-624D-E5FB2948E617}"/>
              </a:ext>
            </a:extLst>
          </p:cNvPr>
          <p:cNvSpPr txBox="1"/>
          <p:nvPr/>
        </p:nvSpPr>
        <p:spPr>
          <a:xfrm>
            <a:off x="173567" y="2346665"/>
            <a:ext cx="7141633" cy="2339102"/>
          </a:xfrm>
          <a:prstGeom prst="rect">
            <a:avLst/>
          </a:prstGeom>
          <a:noFill/>
        </p:spPr>
        <p:txBody>
          <a:bodyPr wrap="square">
            <a:spAutoFit/>
          </a:bodyPr>
          <a:lstStyle/>
          <a:p>
            <a:r>
              <a:rPr lang="en-US" sz="1200" b="1" u="sng" dirty="0">
                <a:solidFill>
                  <a:srgbClr val="403CCF"/>
                </a:solidFill>
                <a:latin typeface="Libre Baskerville" pitchFamily="34" charset="0"/>
              </a:rPr>
              <a:t>IP Addressing in a Layer 3 Switch:</a:t>
            </a:r>
          </a:p>
          <a:p>
            <a:pPr algn="just"/>
            <a:endParaRPr lang="en-US" dirty="0"/>
          </a:p>
          <a:p>
            <a:pPr marL="285750" indent="-285750" algn="just">
              <a:buFont typeface="Wingdings" panose="05000000000000000000" pitchFamily="2" charset="2"/>
              <a:buChar char="ü"/>
            </a:pPr>
            <a:r>
              <a:rPr lang="en-US" sz="1100" dirty="0"/>
              <a:t>You configure IP addresses on VLAN interfaces.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These VLAN interfaces act like router interfaces and handle routing between VLANs.</a:t>
            </a:r>
          </a:p>
          <a:p>
            <a:pPr algn="just"/>
            <a:endParaRPr lang="en-US" dirty="0"/>
          </a:p>
          <a:p>
            <a:pPr algn="just"/>
            <a:endParaRPr lang="en-US" dirty="0"/>
          </a:p>
          <a:p>
            <a:r>
              <a:rPr lang="en-US" sz="1200" b="1" u="sng" dirty="0">
                <a:solidFill>
                  <a:srgbClr val="403CCF"/>
                </a:solidFill>
                <a:latin typeface="Libre Baskerville" pitchFamily="34" charset="0"/>
              </a:rPr>
              <a:t>Port Configuration:</a:t>
            </a:r>
          </a:p>
          <a:p>
            <a:pPr algn="just"/>
            <a:endParaRPr lang="en-US" dirty="0"/>
          </a:p>
          <a:p>
            <a:pPr marL="285750" indent="-285750" algn="just">
              <a:buFont typeface="Wingdings" panose="05000000000000000000" pitchFamily="2" charset="2"/>
              <a:buChar char="ü"/>
            </a:pPr>
            <a:r>
              <a:rPr lang="en-US" sz="1100" dirty="0"/>
              <a:t>Switch ports are typically assigned to VLANs, and VLAN interfaces have IP addresses.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Traffic between VLANs is routed through these VLAN interfaces</a:t>
            </a:r>
            <a:endParaRPr lang="en-PK" sz="1100" dirty="0"/>
          </a:p>
        </p:txBody>
      </p:sp>
    </p:spTree>
    <p:extLst>
      <p:ext uri="{BB962C8B-B14F-4D97-AF65-F5344CB8AC3E}">
        <p14:creationId xmlns:p14="http://schemas.microsoft.com/office/powerpoint/2010/main" val="407574900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1650D1-DB7F-8C90-BE41-AEDF8C51FE0E}"/>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A5B8A1B6-F2AF-9893-BF99-4594BC9E4DCD}"/>
              </a:ext>
            </a:extLst>
          </p:cNvPr>
          <p:cNvSpPr txBox="1"/>
          <p:nvPr/>
        </p:nvSpPr>
        <p:spPr>
          <a:xfrm>
            <a:off x="4902200" y="2464030"/>
            <a:ext cx="4572000" cy="523220"/>
          </a:xfrm>
          <a:prstGeom prst="rect">
            <a:avLst/>
          </a:prstGeom>
          <a:noFill/>
        </p:spPr>
        <p:txBody>
          <a:bodyPr wrap="square">
            <a:spAutoFit/>
          </a:bodyPr>
          <a:lstStyle/>
          <a:p>
            <a:endParaRPr lang="en-US" dirty="0"/>
          </a:p>
          <a:p>
            <a:endParaRPr lang="en-PK" dirty="0"/>
          </a:p>
        </p:txBody>
      </p:sp>
      <p:sp>
        <p:nvSpPr>
          <p:cNvPr id="15" name="TextBox 14">
            <a:extLst>
              <a:ext uri="{FF2B5EF4-FFF2-40B4-BE49-F238E27FC236}">
                <a16:creationId xmlns:a16="http://schemas.microsoft.com/office/drawing/2014/main" id="{21C1ABF9-881E-5914-D5D1-5FFE04F55070}"/>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IP assigning to Switch</a:t>
            </a:r>
            <a:endParaRPr lang="en-PK" sz="2781" b="1" dirty="0">
              <a:solidFill>
                <a:srgbClr val="403CCF"/>
              </a:solidFill>
              <a:latin typeface="Libre Baskerville" pitchFamily="34" charset="0"/>
            </a:endParaRPr>
          </a:p>
        </p:txBody>
      </p:sp>
      <p:sp>
        <p:nvSpPr>
          <p:cNvPr id="3" name="TextBox 2">
            <a:extLst>
              <a:ext uri="{FF2B5EF4-FFF2-40B4-BE49-F238E27FC236}">
                <a16:creationId xmlns:a16="http://schemas.microsoft.com/office/drawing/2014/main" id="{99B41599-28AA-E07F-4A94-3DD33DABCB0F}"/>
              </a:ext>
            </a:extLst>
          </p:cNvPr>
          <p:cNvSpPr txBox="1"/>
          <p:nvPr/>
        </p:nvSpPr>
        <p:spPr>
          <a:xfrm>
            <a:off x="277282" y="601431"/>
            <a:ext cx="6936317" cy="307777"/>
          </a:xfrm>
          <a:prstGeom prst="rect">
            <a:avLst/>
          </a:prstGeom>
          <a:noFill/>
        </p:spPr>
        <p:txBody>
          <a:bodyPr wrap="square">
            <a:spAutoFit/>
          </a:bodyPr>
          <a:lstStyle/>
          <a:p>
            <a:r>
              <a:rPr lang="en-US" dirty="0"/>
              <a:t>On a Layer 3 switch, you can assign IP addresses in two ways:</a:t>
            </a:r>
            <a:endParaRPr lang="en-PK" dirty="0"/>
          </a:p>
        </p:txBody>
      </p:sp>
      <p:sp>
        <p:nvSpPr>
          <p:cNvPr id="6" name="TextBox 5">
            <a:extLst>
              <a:ext uri="{FF2B5EF4-FFF2-40B4-BE49-F238E27FC236}">
                <a16:creationId xmlns:a16="http://schemas.microsoft.com/office/drawing/2014/main" id="{FE06E8B4-294E-55A2-AB3B-F37003B6A1EE}"/>
              </a:ext>
            </a:extLst>
          </p:cNvPr>
          <p:cNvSpPr txBox="1"/>
          <p:nvPr/>
        </p:nvSpPr>
        <p:spPr>
          <a:xfrm>
            <a:off x="277281" y="960480"/>
            <a:ext cx="6851651" cy="2923877"/>
          </a:xfrm>
          <a:prstGeom prst="rect">
            <a:avLst/>
          </a:prstGeom>
          <a:noFill/>
        </p:spPr>
        <p:txBody>
          <a:bodyPr wrap="square">
            <a:spAutoFit/>
          </a:bodyPr>
          <a:lstStyle/>
          <a:p>
            <a:r>
              <a:rPr lang="en-PK" b="1" dirty="0"/>
              <a:t>🔹 1. </a:t>
            </a:r>
            <a:r>
              <a:rPr lang="en-US" b="1" dirty="0"/>
              <a:t>To VLAN Interfaces (SVIs):SVI stands for Switched Virtual Interface</a:t>
            </a:r>
          </a:p>
          <a:p>
            <a:endParaRPr lang="en-US" sz="1000" dirty="0"/>
          </a:p>
          <a:p>
            <a:pPr marL="171450" indent="-171450">
              <a:buFont typeface="Wingdings" panose="05000000000000000000" pitchFamily="2" charset="2"/>
              <a:buChar char="ü"/>
            </a:pPr>
            <a:r>
              <a:rPr lang="en-US" sz="1000" dirty="0"/>
              <a:t>This is the standard method.</a:t>
            </a:r>
          </a:p>
          <a:p>
            <a:pPr marL="171450" indent="-171450">
              <a:buFont typeface="Wingdings" panose="05000000000000000000" pitchFamily="2" charset="2"/>
              <a:buChar char="ü"/>
            </a:pPr>
            <a:r>
              <a:rPr lang="en-US" sz="1000" dirty="0"/>
              <a:t>You assign an IP to a VLAN, then put ports into that VLAN.</a:t>
            </a:r>
          </a:p>
          <a:p>
            <a:endParaRPr lang="en-US" sz="1000" dirty="0"/>
          </a:p>
          <a:p>
            <a:pPr marL="171450" indent="-171450">
              <a:buFont typeface="Wingdings" panose="05000000000000000000" pitchFamily="2" charset="2"/>
              <a:buChar char="q"/>
            </a:pPr>
            <a:r>
              <a:rPr lang="en-US" sz="1000" dirty="0"/>
              <a:t>Router&gt; enable</a:t>
            </a:r>
          </a:p>
          <a:p>
            <a:pPr marL="171450" indent="-171450">
              <a:buFont typeface="Wingdings" panose="05000000000000000000" pitchFamily="2" charset="2"/>
              <a:buChar char="q"/>
            </a:pPr>
            <a:r>
              <a:rPr lang="en-US" sz="1000" dirty="0"/>
              <a:t>Router# configure terminal</a:t>
            </a:r>
          </a:p>
          <a:p>
            <a:pPr marL="171450" indent="-171450">
              <a:buFont typeface="Wingdings" panose="05000000000000000000" pitchFamily="2" charset="2"/>
              <a:buChar char="q"/>
            </a:pPr>
            <a:r>
              <a:rPr lang="en-US" sz="1000" dirty="0"/>
              <a:t>Router(config)# interface vlan 10</a:t>
            </a:r>
          </a:p>
          <a:p>
            <a:pPr marL="171450" indent="-171450">
              <a:buFont typeface="Wingdings" panose="05000000000000000000" pitchFamily="2" charset="2"/>
              <a:buChar char="q"/>
            </a:pPr>
            <a:r>
              <a:rPr lang="en-US" sz="1000" dirty="0"/>
              <a:t>Router(config-if)# ip  address  192.168.10.1   255.255.255.0</a:t>
            </a:r>
          </a:p>
          <a:p>
            <a:pPr marL="171450" indent="-171450">
              <a:buFont typeface="Wingdings" panose="05000000000000000000" pitchFamily="2" charset="2"/>
              <a:buChar char="q"/>
            </a:pPr>
            <a:r>
              <a:rPr lang="en-US" sz="1000" dirty="0"/>
              <a:t>Router(config-if)# no shutdown</a:t>
            </a:r>
          </a:p>
          <a:p>
            <a:pPr marL="171450" indent="-171450">
              <a:buFont typeface="Wingdings" panose="05000000000000000000" pitchFamily="2" charset="2"/>
              <a:buChar char="q"/>
            </a:pPr>
            <a:r>
              <a:rPr lang="en-US" sz="1000" dirty="0"/>
              <a:t>Router(config-if)# exit</a:t>
            </a:r>
          </a:p>
          <a:p>
            <a:pPr marL="171450" indent="-171450">
              <a:buFont typeface="Wingdings" panose="05000000000000000000" pitchFamily="2" charset="2"/>
              <a:buChar char="q"/>
            </a:pPr>
            <a:r>
              <a:rPr lang="en-US" sz="1000" dirty="0"/>
              <a:t>Router(config)# interface   GigabitEthernet0/1</a:t>
            </a:r>
          </a:p>
          <a:p>
            <a:pPr marL="171450" indent="-171450">
              <a:buFont typeface="Wingdings" panose="05000000000000000000" pitchFamily="2" charset="2"/>
              <a:buChar char="q"/>
            </a:pPr>
            <a:r>
              <a:rPr lang="en-US" sz="1000" dirty="0"/>
              <a:t>Router(config-if)# switchport  mode  access</a:t>
            </a:r>
          </a:p>
          <a:p>
            <a:pPr marL="171450" indent="-171450">
              <a:buFont typeface="Wingdings" panose="05000000000000000000" pitchFamily="2" charset="2"/>
              <a:buChar char="q"/>
            </a:pPr>
            <a:r>
              <a:rPr lang="en-US" sz="1000" dirty="0"/>
              <a:t>Router(config-if)# switchport access  vlan 10</a:t>
            </a:r>
          </a:p>
          <a:p>
            <a:pPr marL="171450" indent="-171450">
              <a:buFont typeface="Wingdings" panose="05000000000000000000" pitchFamily="2" charset="2"/>
              <a:buChar char="q"/>
            </a:pPr>
            <a:r>
              <a:rPr lang="en-US" sz="1000" dirty="0"/>
              <a:t>Router(config-if)# exit</a:t>
            </a:r>
          </a:p>
          <a:p>
            <a:pPr marL="171450" indent="-171450">
              <a:buFont typeface="Wingdings" panose="05000000000000000000" pitchFamily="2" charset="2"/>
              <a:buChar char="q"/>
            </a:pPr>
            <a:r>
              <a:rPr lang="en-US" sz="1000" dirty="0"/>
              <a:t>Router#</a:t>
            </a:r>
          </a:p>
          <a:p>
            <a:endParaRPr lang="en-US" sz="1000" dirty="0"/>
          </a:p>
          <a:p>
            <a:endParaRPr lang="en-PK" sz="1000" dirty="0"/>
          </a:p>
        </p:txBody>
      </p:sp>
      <p:sp>
        <p:nvSpPr>
          <p:cNvPr id="9" name="TextBox 8">
            <a:extLst>
              <a:ext uri="{FF2B5EF4-FFF2-40B4-BE49-F238E27FC236}">
                <a16:creationId xmlns:a16="http://schemas.microsoft.com/office/drawing/2014/main" id="{48AA1EBD-E5C5-3228-A33B-D88ABB0C3AA0}"/>
              </a:ext>
            </a:extLst>
          </p:cNvPr>
          <p:cNvSpPr txBox="1"/>
          <p:nvPr/>
        </p:nvSpPr>
        <p:spPr>
          <a:xfrm>
            <a:off x="595841" y="4326629"/>
            <a:ext cx="8348133" cy="261610"/>
          </a:xfrm>
          <a:prstGeom prst="rect">
            <a:avLst/>
          </a:prstGeom>
          <a:noFill/>
        </p:spPr>
        <p:txBody>
          <a:bodyPr wrap="square">
            <a:spAutoFit/>
          </a:bodyPr>
          <a:lstStyle/>
          <a:p>
            <a:r>
              <a:rPr lang="en-US" sz="1100" dirty="0">
                <a:highlight>
                  <a:srgbClr val="00FFFF"/>
                </a:highlight>
              </a:rPr>
              <a:t>You can assign an IP to a physical port on a Layer 3 switch if you use no switchport. Or, use VLANs and assign IPs to SVIs</a:t>
            </a:r>
            <a:endParaRPr lang="en-PK" sz="1100" dirty="0">
              <a:highlight>
                <a:srgbClr val="00FFFF"/>
              </a:highlight>
            </a:endParaRPr>
          </a:p>
        </p:txBody>
      </p:sp>
    </p:spTree>
    <p:extLst>
      <p:ext uri="{BB962C8B-B14F-4D97-AF65-F5344CB8AC3E}">
        <p14:creationId xmlns:p14="http://schemas.microsoft.com/office/powerpoint/2010/main" val="96086468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A0C17B-49C4-AA1C-082C-4E7ACCC57DC2}"/>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F08B3688-02F3-6795-8CAA-9D257DC90DBD}"/>
              </a:ext>
            </a:extLst>
          </p:cNvPr>
          <p:cNvSpPr txBox="1"/>
          <p:nvPr/>
        </p:nvSpPr>
        <p:spPr>
          <a:xfrm>
            <a:off x="4902200" y="2464030"/>
            <a:ext cx="4572000" cy="523220"/>
          </a:xfrm>
          <a:prstGeom prst="rect">
            <a:avLst/>
          </a:prstGeom>
          <a:noFill/>
        </p:spPr>
        <p:txBody>
          <a:bodyPr wrap="square">
            <a:spAutoFit/>
          </a:bodyPr>
          <a:lstStyle/>
          <a:p>
            <a:endParaRPr lang="en-US" dirty="0"/>
          </a:p>
          <a:p>
            <a:endParaRPr lang="en-PK" dirty="0"/>
          </a:p>
        </p:txBody>
      </p:sp>
      <p:sp>
        <p:nvSpPr>
          <p:cNvPr id="15" name="TextBox 14">
            <a:extLst>
              <a:ext uri="{FF2B5EF4-FFF2-40B4-BE49-F238E27FC236}">
                <a16:creationId xmlns:a16="http://schemas.microsoft.com/office/drawing/2014/main" id="{57CE54C9-99CA-9EB5-E40A-92D4A00A4D8B}"/>
              </a:ext>
            </a:extLst>
          </p:cNvPr>
          <p:cNvSpPr txBox="1"/>
          <p:nvPr/>
        </p:nvSpPr>
        <p:spPr>
          <a:xfrm>
            <a:off x="2004483" y="79300"/>
            <a:ext cx="5530850"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IP assigning to Switch</a:t>
            </a:r>
            <a:endParaRPr lang="en-PK" sz="2781" b="1" dirty="0">
              <a:solidFill>
                <a:srgbClr val="403CCF"/>
              </a:solidFill>
              <a:latin typeface="Libre Baskerville" pitchFamily="34" charset="0"/>
            </a:endParaRPr>
          </a:p>
        </p:txBody>
      </p:sp>
      <p:sp>
        <p:nvSpPr>
          <p:cNvPr id="3" name="TextBox 2">
            <a:extLst>
              <a:ext uri="{FF2B5EF4-FFF2-40B4-BE49-F238E27FC236}">
                <a16:creationId xmlns:a16="http://schemas.microsoft.com/office/drawing/2014/main" id="{946738EF-F3C9-2C8A-FB1F-94B1684F7D09}"/>
              </a:ext>
            </a:extLst>
          </p:cNvPr>
          <p:cNvSpPr txBox="1"/>
          <p:nvPr/>
        </p:nvSpPr>
        <p:spPr>
          <a:xfrm>
            <a:off x="277282" y="601431"/>
            <a:ext cx="6936317" cy="307777"/>
          </a:xfrm>
          <a:prstGeom prst="rect">
            <a:avLst/>
          </a:prstGeom>
          <a:noFill/>
        </p:spPr>
        <p:txBody>
          <a:bodyPr wrap="square">
            <a:spAutoFit/>
          </a:bodyPr>
          <a:lstStyle/>
          <a:p>
            <a:r>
              <a:rPr lang="en-US" dirty="0"/>
              <a:t>On a Layer 3 switch, you can assign IP addresses in two ways:</a:t>
            </a:r>
            <a:endParaRPr lang="en-PK" dirty="0"/>
          </a:p>
        </p:txBody>
      </p:sp>
      <p:sp>
        <p:nvSpPr>
          <p:cNvPr id="6" name="TextBox 5">
            <a:extLst>
              <a:ext uri="{FF2B5EF4-FFF2-40B4-BE49-F238E27FC236}">
                <a16:creationId xmlns:a16="http://schemas.microsoft.com/office/drawing/2014/main" id="{35435C88-96E8-E912-5E60-9F6D6BCE157F}"/>
              </a:ext>
            </a:extLst>
          </p:cNvPr>
          <p:cNvSpPr txBox="1"/>
          <p:nvPr/>
        </p:nvSpPr>
        <p:spPr>
          <a:xfrm>
            <a:off x="319614" y="1123562"/>
            <a:ext cx="6851651" cy="2462213"/>
          </a:xfrm>
          <a:prstGeom prst="rect">
            <a:avLst/>
          </a:prstGeom>
          <a:noFill/>
        </p:spPr>
        <p:txBody>
          <a:bodyPr wrap="square">
            <a:spAutoFit/>
          </a:bodyPr>
          <a:lstStyle/>
          <a:p>
            <a:r>
              <a:rPr lang="en-US" b="1" dirty="0"/>
              <a:t>🔹 2. To Physical Ports (Like a Router):</a:t>
            </a:r>
          </a:p>
          <a:p>
            <a:endParaRPr lang="en-US" sz="1000" dirty="0"/>
          </a:p>
          <a:p>
            <a:r>
              <a:rPr lang="en-US" sz="1000" dirty="0"/>
              <a:t>You can convert a switch port into a routed port and assign it an IP directly.</a:t>
            </a:r>
          </a:p>
          <a:p>
            <a:r>
              <a:rPr lang="en-US" sz="1000" dirty="0"/>
              <a:t>This works because Layer 3 switches support routing.</a:t>
            </a:r>
          </a:p>
          <a:p>
            <a:r>
              <a:rPr lang="en-US" sz="1000" dirty="0"/>
              <a:t>But only after you enable:</a:t>
            </a:r>
          </a:p>
          <a:p>
            <a:endParaRPr lang="en-US" sz="1000" dirty="0"/>
          </a:p>
          <a:p>
            <a:pPr marL="171450" indent="-171450">
              <a:buFont typeface="Wingdings" panose="05000000000000000000" pitchFamily="2" charset="2"/>
              <a:buChar char="q"/>
            </a:pPr>
            <a:r>
              <a:rPr lang="en-US" sz="1000" dirty="0"/>
              <a:t>Router&gt; enable</a:t>
            </a:r>
          </a:p>
          <a:p>
            <a:pPr marL="171450" indent="-171450">
              <a:buFont typeface="Wingdings" panose="05000000000000000000" pitchFamily="2" charset="2"/>
              <a:buChar char="q"/>
            </a:pPr>
            <a:r>
              <a:rPr lang="en-US" sz="1000" dirty="0"/>
              <a:t>Router# configure  terminal</a:t>
            </a:r>
          </a:p>
          <a:p>
            <a:pPr marL="171450" indent="-171450">
              <a:buFont typeface="Wingdings" panose="05000000000000000000" pitchFamily="2" charset="2"/>
              <a:buChar char="q"/>
            </a:pPr>
            <a:r>
              <a:rPr lang="en-US" sz="1000" dirty="0"/>
              <a:t>Router(config)# interface   GigabitEthernet0/2</a:t>
            </a:r>
          </a:p>
          <a:p>
            <a:pPr marL="171450" indent="-171450">
              <a:buFont typeface="Wingdings" panose="05000000000000000000" pitchFamily="2" charset="2"/>
              <a:buChar char="q"/>
            </a:pPr>
            <a:r>
              <a:rPr lang="en-US" sz="1000" dirty="0"/>
              <a:t>Router(config-if)# no   switchport</a:t>
            </a:r>
          </a:p>
          <a:p>
            <a:pPr marL="171450" indent="-171450">
              <a:buFont typeface="Wingdings" panose="05000000000000000000" pitchFamily="2" charset="2"/>
              <a:buChar char="q"/>
            </a:pPr>
            <a:r>
              <a:rPr lang="en-US" sz="1000" dirty="0"/>
              <a:t>Router(config-if)# ip   address 192.168.20.1   255.255.255.0</a:t>
            </a:r>
          </a:p>
          <a:p>
            <a:pPr marL="171450" indent="-171450">
              <a:buFont typeface="Wingdings" panose="05000000000000000000" pitchFamily="2" charset="2"/>
              <a:buChar char="q"/>
            </a:pPr>
            <a:r>
              <a:rPr lang="en-US" sz="1000" dirty="0"/>
              <a:t>Router(config-if)# no   shutdown</a:t>
            </a:r>
          </a:p>
          <a:p>
            <a:pPr marL="171450" indent="-171450">
              <a:buFont typeface="Wingdings" panose="05000000000000000000" pitchFamily="2" charset="2"/>
              <a:buChar char="q"/>
            </a:pPr>
            <a:r>
              <a:rPr lang="en-US" sz="1000" dirty="0"/>
              <a:t>Router(config-if)# exit</a:t>
            </a:r>
          </a:p>
          <a:p>
            <a:pPr marL="171450" indent="-171450">
              <a:buFont typeface="Wingdings" panose="05000000000000000000" pitchFamily="2" charset="2"/>
              <a:buChar char="q"/>
            </a:pPr>
            <a:r>
              <a:rPr lang="en-US" sz="1000" dirty="0"/>
              <a:t>Router(config)# exit</a:t>
            </a:r>
          </a:p>
          <a:p>
            <a:pPr marL="171450" indent="-171450">
              <a:buFont typeface="Wingdings" panose="05000000000000000000" pitchFamily="2" charset="2"/>
              <a:buChar char="q"/>
            </a:pPr>
            <a:r>
              <a:rPr lang="en-US" sz="1000" dirty="0"/>
              <a:t>Router#</a:t>
            </a:r>
          </a:p>
        </p:txBody>
      </p:sp>
      <p:sp>
        <p:nvSpPr>
          <p:cNvPr id="9" name="TextBox 8">
            <a:extLst>
              <a:ext uri="{FF2B5EF4-FFF2-40B4-BE49-F238E27FC236}">
                <a16:creationId xmlns:a16="http://schemas.microsoft.com/office/drawing/2014/main" id="{C2C24143-8C9D-4A1F-9875-C16E9369A1AC}"/>
              </a:ext>
            </a:extLst>
          </p:cNvPr>
          <p:cNvSpPr txBox="1"/>
          <p:nvPr/>
        </p:nvSpPr>
        <p:spPr>
          <a:xfrm>
            <a:off x="787400" y="4470553"/>
            <a:ext cx="8356600" cy="261610"/>
          </a:xfrm>
          <a:prstGeom prst="rect">
            <a:avLst/>
          </a:prstGeom>
          <a:noFill/>
        </p:spPr>
        <p:txBody>
          <a:bodyPr wrap="square">
            <a:spAutoFit/>
          </a:bodyPr>
          <a:lstStyle/>
          <a:p>
            <a:r>
              <a:rPr lang="en-US" sz="1100" dirty="0">
                <a:highlight>
                  <a:srgbClr val="00FFFF"/>
                </a:highlight>
              </a:rPr>
              <a:t>You can assign an IP to a physical port on a Layer 3 switch if you use no switchport. Or, use VLANs and assign IPs to SVIs</a:t>
            </a:r>
            <a:endParaRPr lang="en-PK" sz="1100" dirty="0">
              <a:highlight>
                <a:srgbClr val="00FFFF"/>
              </a:highlight>
            </a:endParaRPr>
          </a:p>
        </p:txBody>
      </p:sp>
    </p:spTree>
    <p:extLst>
      <p:ext uri="{BB962C8B-B14F-4D97-AF65-F5344CB8AC3E}">
        <p14:creationId xmlns:p14="http://schemas.microsoft.com/office/powerpoint/2010/main" val="184963734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F8079-FF1F-3FE8-4889-50411DDC37F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3FEE4B5-CF15-41FB-D343-2928C0400E0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335A99B-57A5-14FF-E107-0823F3B29F2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80A49B2A-D1F6-8A7E-559C-85CAD83E809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1326E9CA-B38B-43A3-6C86-762429BE0462}"/>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What is VLAN</a:t>
            </a:r>
            <a:endParaRPr lang="en-PK" sz="278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D72BC4E1-2319-5CD6-2850-4313A32B30F5}"/>
              </a:ext>
            </a:extLst>
          </p:cNvPr>
          <p:cNvSpPr txBox="1"/>
          <p:nvPr/>
        </p:nvSpPr>
        <p:spPr>
          <a:xfrm>
            <a:off x="152232" y="772236"/>
            <a:ext cx="6908968" cy="1631216"/>
          </a:xfrm>
          <a:prstGeom prst="rect">
            <a:avLst/>
          </a:prstGeom>
          <a:noFill/>
        </p:spPr>
        <p:txBody>
          <a:bodyPr wrap="square">
            <a:spAutoFit/>
          </a:bodyPr>
          <a:lstStyle/>
          <a:p>
            <a:r>
              <a:rPr lang="en-US" sz="1200" b="1" u="sng" dirty="0">
                <a:solidFill>
                  <a:srgbClr val="403CCF"/>
                </a:solidFill>
                <a:latin typeface="Libre Baskerville" pitchFamily="34" charset="0"/>
              </a:rPr>
              <a:t>VLAN: Virtual Local Area Network</a:t>
            </a:r>
          </a:p>
          <a:p>
            <a:pPr marL="285750" indent="-285750">
              <a:buFont typeface="Wingdings" panose="05000000000000000000" pitchFamily="2" charset="2"/>
              <a:buChar char="q"/>
            </a:pPr>
            <a:endParaRPr lang="en-US" sz="1100" dirty="0"/>
          </a:p>
          <a:p>
            <a:pPr marL="285750" indent="-285750" algn="just">
              <a:buFont typeface="Wingdings" panose="05000000000000000000" pitchFamily="2" charset="2"/>
              <a:buChar char="ü"/>
            </a:pPr>
            <a:r>
              <a:rPr lang="en-US" sz="1100" dirty="0"/>
              <a:t>Logical segmentation of a network into smaller, isolated parts.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Operates at Layer 2 (Data Link) of the OSI model.</a:t>
            </a:r>
          </a:p>
          <a:p>
            <a:pPr marL="171450" indent="-1714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Devices in the same VLAN act as if they are on the same physical network.</a:t>
            </a:r>
          </a:p>
          <a:p>
            <a:pPr marL="171450" indent="-1714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MAC Address Table (Switch) Enables the switch to forward frames to the correct destination.</a:t>
            </a:r>
            <a:endParaRPr lang="en-PK" sz="1100" dirty="0"/>
          </a:p>
        </p:txBody>
      </p:sp>
      <p:sp>
        <p:nvSpPr>
          <p:cNvPr id="7" name="TextBox 6">
            <a:extLst>
              <a:ext uri="{FF2B5EF4-FFF2-40B4-BE49-F238E27FC236}">
                <a16:creationId xmlns:a16="http://schemas.microsoft.com/office/drawing/2014/main" id="{898E9818-01D3-AB8F-0F9F-EA47485E6E1C}"/>
              </a:ext>
            </a:extLst>
          </p:cNvPr>
          <p:cNvSpPr txBox="1"/>
          <p:nvPr/>
        </p:nvSpPr>
        <p:spPr>
          <a:xfrm>
            <a:off x="152232" y="2845701"/>
            <a:ext cx="5451464" cy="1338828"/>
          </a:xfrm>
          <a:prstGeom prst="rect">
            <a:avLst/>
          </a:prstGeom>
          <a:noFill/>
        </p:spPr>
        <p:txBody>
          <a:bodyPr wrap="square">
            <a:spAutoFit/>
          </a:bodyPr>
          <a:lstStyle/>
          <a:p>
            <a:r>
              <a:rPr lang="en-US" sz="1200" b="1" u="sng" dirty="0">
                <a:solidFill>
                  <a:srgbClr val="403CCF"/>
                </a:solidFill>
                <a:latin typeface="Libre Baskerville" pitchFamily="34" charset="0"/>
              </a:rPr>
              <a:t>Key Benefits</a:t>
            </a:r>
          </a:p>
          <a:p>
            <a:pPr algn="just"/>
            <a:endParaRPr lang="en-US" dirty="0"/>
          </a:p>
          <a:p>
            <a:pPr marL="171450" indent="-171450" algn="just">
              <a:buFont typeface="Wingdings" panose="05000000000000000000" pitchFamily="2" charset="2"/>
              <a:buChar char="ü"/>
            </a:pPr>
            <a:r>
              <a:rPr lang="en-US" sz="1100" dirty="0"/>
              <a:t>Improves Security: Isolates sensitive data.</a:t>
            </a:r>
          </a:p>
          <a:p>
            <a:pPr algn="just"/>
            <a:endParaRPr lang="en-US" sz="1100" dirty="0"/>
          </a:p>
          <a:p>
            <a:pPr marL="171450" indent="-171450" algn="just">
              <a:buFont typeface="Wingdings" panose="05000000000000000000" pitchFamily="2" charset="2"/>
              <a:buChar char="ü"/>
            </a:pPr>
            <a:r>
              <a:rPr lang="en-US" sz="1100" dirty="0"/>
              <a:t>Boosts Performance: Reduces unnecessary ,broadcast traffic.</a:t>
            </a:r>
          </a:p>
          <a:p>
            <a:pPr algn="just"/>
            <a:endParaRPr lang="en-US" sz="1100" dirty="0"/>
          </a:p>
          <a:p>
            <a:pPr marL="171450" indent="-171450" algn="just">
              <a:buFont typeface="Wingdings" panose="05000000000000000000" pitchFamily="2" charset="2"/>
              <a:buChar char="ü"/>
            </a:pPr>
            <a:r>
              <a:rPr lang="en-US" sz="1100" dirty="0"/>
              <a:t>Simplifies Management: Logical grouping instead of physical dependence.</a:t>
            </a:r>
          </a:p>
        </p:txBody>
      </p:sp>
    </p:spTree>
    <p:extLst>
      <p:ext uri="{BB962C8B-B14F-4D97-AF65-F5344CB8AC3E}">
        <p14:creationId xmlns:p14="http://schemas.microsoft.com/office/powerpoint/2010/main" val="40664923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40041E-4665-B5A3-055A-49F3CFE35FF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4078583-0651-8189-02BD-16D7339C4D0F}"/>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1D19380-DDF3-254D-225E-35994DE2D7A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56B0F0E-8BDC-BBF2-DA59-54837718C29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7A4B809C-8E82-7D4B-B691-8AB374BBC365}"/>
              </a:ext>
            </a:extLst>
          </p:cNvPr>
          <p:cNvSpPr txBox="1"/>
          <p:nvPr/>
        </p:nvSpPr>
        <p:spPr>
          <a:xfrm>
            <a:off x="3469184" y="114448"/>
            <a:ext cx="4572000" cy="522131"/>
          </a:xfrm>
          <a:prstGeom prst="rect">
            <a:avLst/>
          </a:prstGeom>
          <a:noFill/>
        </p:spPr>
        <p:txBody>
          <a:bodyPr wrap="square">
            <a:spAutoFit/>
          </a:bodyPr>
          <a:lstStyle/>
          <a:p>
            <a:pPr>
              <a:lnSpc>
                <a:spcPts val="3469"/>
              </a:lnSpc>
            </a:pPr>
            <a:r>
              <a:rPr lang="en-US" sz="2781" dirty="0">
                <a:solidFill>
                  <a:srgbClr val="403CCF"/>
                </a:solidFill>
                <a:latin typeface="Libre Baskerville" pitchFamily="34" charset="0"/>
              </a:rPr>
              <a:t>What is VLAN</a:t>
            </a:r>
            <a:endParaRPr lang="en-PK" sz="2781" dirty="0">
              <a:solidFill>
                <a:srgbClr val="403CCF"/>
              </a:solidFill>
              <a:latin typeface="Libre Baskerville" pitchFamily="34" charset="0"/>
            </a:endParaRPr>
          </a:p>
        </p:txBody>
      </p:sp>
      <p:sp>
        <p:nvSpPr>
          <p:cNvPr id="6" name="TextBox 5">
            <a:extLst>
              <a:ext uri="{FF2B5EF4-FFF2-40B4-BE49-F238E27FC236}">
                <a16:creationId xmlns:a16="http://schemas.microsoft.com/office/drawing/2014/main" id="{ECA822BF-EF7C-18D6-CAB7-0B46870E2408}"/>
              </a:ext>
            </a:extLst>
          </p:cNvPr>
          <p:cNvSpPr txBox="1"/>
          <p:nvPr/>
        </p:nvSpPr>
        <p:spPr>
          <a:xfrm>
            <a:off x="139616" y="636579"/>
            <a:ext cx="8864768" cy="1569660"/>
          </a:xfrm>
          <a:prstGeom prst="rect">
            <a:avLst/>
          </a:prstGeom>
          <a:noFill/>
        </p:spPr>
        <p:txBody>
          <a:bodyPr wrap="square">
            <a:spAutoFit/>
          </a:bodyPr>
          <a:lstStyle/>
          <a:p>
            <a:r>
              <a:rPr lang="en-US" sz="1200" b="1" u="sng" dirty="0">
                <a:solidFill>
                  <a:srgbClr val="403CCF"/>
                </a:solidFill>
                <a:latin typeface="Libre Baskerville" pitchFamily="34" charset="0"/>
              </a:rPr>
              <a:t>VLAN: Virtual Local Area Network</a:t>
            </a:r>
          </a:p>
          <a:p>
            <a:endParaRPr lang="en-US" sz="1800" b="1" u="sng" dirty="0">
              <a:solidFill>
                <a:srgbClr val="403CCF"/>
              </a:solidFill>
              <a:latin typeface="Libre Baskerville" pitchFamily="34" charset="0"/>
            </a:endParaRPr>
          </a:p>
          <a:p>
            <a:pPr marL="285750" indent="-285750" algn="just">
              <a:buFont typeface="Wingdings" panose="05000000000000000000" pitchFamily="2" charset="2"/>
              <a:buChar char="ü"/>
            </a:pPr>
            <a:r>
              <a:rPr lang="en-US" sz="1100" dirty="0"/>
              <a:t>By default, all switch ports belong to VLAN 1.</a:t>
            </a:r>
          </a:p>
          <a:p>
            <a:pPr marL="285750" indent="-285750" algn="just">
              <a:buFont typeface="Wingdings" panose="05000000000000000000" pitchFamily="2" charset="2"/>
              <a:buChar char="ü"/>
            </a:pPr>
            <a:r>
              <a:rPr lang="en-US" sz="1100" dirty="0"/>
              <a:t>VLAN 1 is also known as the native VLAN.</a:t>
            </a:r>
          </a:p>
          <a:p>
            <a:pPr marL="285750" indent="-285750" algn="just">
              <a:buFont typeface="Wingdings" panose="05000000000000000000" pitchFamily="2" charset="2"/>
              <a:buChar char="ü"/>
            </a:pPr>
            <a:r>
              <a:rPr lang="en-US" sz="1100" dirty="0"/>
              <a:t>Devices in VLAN 1 can communicate with each other.</a:t>
            </a:r>
          </a:p>
          <a:p>
            <a:pPr marL="285750" indent="-285750" algn="just">
              <a:buFont typeface="Wingdings" panose="05000000000000000000" pitchFamily="2" charset="2"/>
              <a:buChar char="ü"/>
            </a:pPr>
            <a:r>
              <a:rPr lang="en-US" sz="1100" dirty="0"/>
              <a:t>Devices within the same VLAN can communicate with each other.</a:t>
            </a:r>
          </a:p>
          <a:p>
            <a:pPr marL="285750" indent="-285750" algn="just">
              <a:buFont typeface="Wingdings" panose="05000000000000000000" pitchFamily="2" charset="2"/>
              <a:buChar char="ü"/>
            </a:pPr>
            <a:r>
              <a:rPr lang="en-US" sz="1100" dirty="0"/>
              <a:t>Devices in different VLANs cannot communicate directly. To enable communication between different VLANs, inter-VLAN routing is required.</a:t>
            </a:r>
          </a:p>
        </p:txBody>
      </p:sp>
      <p:sp>
        <p:nvSpPr>
          <p:cNvPr id="9" name="TextBox 8">
            <a:extLst>
              <a:ext uri="{FF2B5EF4-FFF2-40B4-BE49-F238E27FC236}">
                <a16:creationId xmlns:a16="http://schemas.microsoft.com/office/drawing/2014/main" id="{8277CEEB-CDC0-377B-D2BC-192C004D195C}"/>
              </a:ext>
            </a:extLst>
          </p:cNvPr>
          <p:cNvSpPr txBox="1"/>
          <p:nvPr/>
        </p:nvSpPr>
        <p:spPr>
          <a:xfrm>
            <a:off x="211666" y="2329710"/>
            <a:ext cx="2954867" cy="954107"/>
          </a:xfrm>
          <a:prstGeom prst="rect">
            <a:avLst/>
          </a:prstGeom>
          <a:noFill/>
        </p:spPr>
        <p:txBody>
          <a:bodyPr wrap="square">
            <a:spAutoFit/>
          </a:bodyPr>
          <a:lstStyle/>
          <a:p>
            <a:r>
              <a:rPr lang="en-US" sz="1200" b="1" u="sng" dirty="0">
                <a:solidFill>
                  <a:srgbClr val="403CCF"/>
                </a:solidFill>
                <a:latin typeface="Libre Baskerville" pitchFamily="34" charset="0"/>
              </a:rPr>
              <a:t>How to create</a:t>
            </a:r>
            <a:endParaRPr lang="en-US" sz="1100" dirty="0"/>
          </a:p>
          <a:p>
            <a:r>
              <a:rPr lang="en-US" sz="1100" dirty="0"/>
              <a:t>How to create VLAN?</a:t>
            </a:r>
          </a:p>
          <a:p>
            <a:r>
              <a:rPr lang="en-US" sz="1100" dirty="0"/>
              <a:t>How to assign ports to a VLAN?</a:t>
            </a:r>
          </a:p>
          <a:p>
            <a:r>
              <a:rPr lang="en-US" sz="1100" dirty="0"/>
              <a:t>How to assign multiple ports to a VLAN?</a:t>
            </a:r>
          </a:p>
          <a:p>
            <a:r>
              <a:rPr lang="en-US" sz="1100" dirty="0"/>
              <a:t>How to assign a specific port to a VLAN?</a:t>
            </a:r>
            <a:endParaRPr lang="en-PK" sz="1100" dirty="0"/>
          </a:p>
        </p:txBody>
      </p:sp>
      <p:sp>
        <p:nvSpPr>
          <p:cNvPr id="7" name="TextBox 6">
            <a:extLst>
              <a:ext uri="{FF2B5EF4-FFF2-40B4-BE49-F238E27FC236}">
                <a16:creationId xmlns:a16="http://schemas.microsoft.com/office/drawing/2014/main" id="{3AA0CEED-C1D7-C095-84A6-362A177FAD2B}"/>
              </a:ext>
            </a:extLst>
          </p:cNvPr>
          <p:cNvSpPr txBox="1"/>
          <p:nvPr/>
        </p:nvSpPr>
        <p:spPr>
          <a:xfrm>
            <a:off x="2180986" y="4543336"/>
            <a:ext cx="5058013" cy="600164"/>
          </a:xfrm>
          <a:prstGeom prst="rect">
            <a:avLst/>
          </a:prstGeom>
          <a:noFill/>
        </p:spPr>
        <p:txBody>
          <a:bodyPr wrap="square">
            <a:spAutoFit/>
          </a:bodyPr>
          <a:lstStyle/>
          <a:p>
            <a:r>
              <a:rPr lang="en-US" sz="1100" dirty="0">
                <a:highlight>
                  <a:srgbClr val="00FFFF"/>
                </a:highlight>
              </a:rPr>
              <a:t>Even if a switch has 48 ports, you can still create up to 4094 VLANs because:</a:t>
            </a:r>
          </a:p>
          <a:p>
            <a:pPr marL="171450" indent="-171450">
              <a:buFont typeface="Wingdings" panose="05000000000000000000" pitchFamily="2" charset="2"/>
              <a:buChar char="ü"/>
            </a:pPr>
            <a:r>
              <a:rPr lang="en-US" sz="1100" dirty="0">
                <a:highlight>
                  <a:srgbClr val="00FFFF"/>
                </a:highlight>
              </a:rPr>
              <a:t>VLANs are logical, not limited by the number of physical ports.</a:t>
            </a:r>
          </a:p>
          <a:p>
            <a:pPr marL="171450" indent="-171450">
              <a:buFont typeface="Wingdings" panose="05000000000000000000" pitchFamily="2" charset="2"/>
              <a:buChar char="ü"/>
            </a:pPr>
            <a:r>
              <a:rPr lang="en-US" sz="1100" dirty="0">
                <a:highlight>
                  <a:srgbClr val="00FFFF"/>
                </a:highlight>
              </a:rPr>
              <a:t>Maximum VLANs: Up to 4094 VLANs on supported switch</a:t>
            </a:r>
          </a:p>
        </p:txBody>
      </p:sp>
      <p:sp>
        <p:nvSpPr>
          <p:cNvPr id="10" name="TextBox 9">
            <a:extLst>
              <a:ext uri="{FF2B5EF4-FFF2-40B4-BE49-F238E27FC236}">
                <a16:creationId xmlns:a16="http://schemas.microsoft.com/office/drawing/2014/main" id="{784DF8A0-DB94-C116-21DB-602EE2AAB781}"/>
              </a:ext>
            </a:extLst>
          </p:cNvPr>
          <p:cNvSpPr txBox="1"/>
          <p:nvPr/>
        </p:nvSpPr>
        <p:spPr>
          <a:xfrm>
            <a:off x="4360334" y="2372305"/>
            <a:ext cx="4572000" cy="954107"/>
          </a:xfrm>
          <a:prstGeom prst="rect">
            <a:avLst/>
          </a:prstGeom>
          <a:noFill/>
        </p:spPr>
        <p:txBody>
          <a:bodyPr wrap="square">
            <a:spAutoFit/>
          </a:bodyPr>
          <a:lstStyle/>
          <a:p>
            <a:r>
              <a:rPr lang="en-US" sz="1200" b="1" u="sng" dirty="0">
                <a:solidFill>
                  <a:srgbClr val="403CCF"/>
                </a:solidFill>
                <a:latin typeface="Libre Baskerville" pitchFamily="34" charset="0"/>
              </a:rPr>
              <a:t>Conditions are VLANs</a:t>
            </a:r>
            <a:endParaRPr lang="en-US" sz="2400" b="1" u="sng" dirty="0">
              <a:solidFill>
                <a:srgbClr val="403CCF"/>
              </a:solidFill>
              <a:latin typeface="Libre Baskerville" pitchFamily="34" charset="0"/>
            </a:endParaRPr>
          </a:p>
          <a:p>
            <a:pPr marL="171450" indent="-171450">
              <a:buFont typeface="Wingdings" panose="05000000000000000000" pitchFamily="2" charset="2"/>
              <a:buChar char="ü"/>
            </a:pPr>
            <a:r>
              <a:rPr lang="en-US" sz="1100" dirty="0"/>
              <a:t>Both interfaces must be in trunk mode.</a:t>
            </a:r>
          </a:p>
          <a:p>
            <a:pPr marL="171450" indent="-171450">
              <a:buFont typeface="Wingdings" panose="05000000000000000000" pitchFamily="2" charset="2"/>
              <a:buChar char="ü"/>
            </a:pPr>
            <a:r>
              <a:rPr lang="en-US" sz="1100" dirty="0"/>
              <a:t>Encapsulation must match.</a:t>
            </a:r>
          </a:p>
          <a:p>
            <a:pPr marL="171450" indent="-171450">
              <a:buFont typeface="Wingdings" panose="05000000000000000000" pitchFamily="2" charset="2"/>
              <a:buChar char="ü"/>
            </a:pPr>
            <a:r>
              <a:rPr lang="en-US" sz="1100" dirty="0"/>
              <a:t>Allowed VLANs must match.</a:t>
            </a:r>
          </a:p>
          <a:p>
            <a:pPr marL="171450" indent="-171450">
              <a:buFont typeface="Wingdings" panose="05000000000000000000" pitchFamily="2" charset="2"/>
              <a:buChar char="ü"/>
            </a:pPr>
            <a:r>
              <a:rPr lang="en-US" sz="1100" dirty="0"/>
              <a:t>Native VLAN must match.</a:t>
            </a:r>
          </a:p>
        </p:txBody>
      </p:sp>
    </p:spTree>
    <p:extLst>
      <p:ext uri="{BB962C8B-B14F-4D97-AF65-F5344CB8AC3E}">
        <p14:creationId xmlns:p14="http://schemas.microsoft.com/office/powerpoint/2010/main" val="332869758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FE735E-D3BF-9F61-C5E7-848793C4A664}"/>
              </a:ext>
            </a:extLst>
          </p:cNvPr>
          <p:cNvSpPr txBox="1"/>
          <p:nvPr/>
        </p:nvSpPr>
        <p:spPr>
          <a:xfrm>
            <a:off x="253999" y="302858"/>
            <a:ext cx="4047066" cy="3508653"/>
          </a:xfrm>
          <a:prstGeom prst="rect">
            <a:avLst/>
          </a:prstGeom>
          <a:noFill/>
        </p:spPr>
        <p:txBody>
          <a:bodyPr wrap="square">
            <a:spAutoFit/>
          </a:bodyPr>
          <a:lstStyle/>
          <a:p>
            <a:r>
              <a:rPr lang="en-US" sz="1200" b="1" u="sng" dirty="0">
                <a:solidFill>
                  <a:srgbClr val="403CCF"/>
                </a:solidFill>
                <a:latin typeface="Libre Baskerville" pitchFamily="34" charset="0"/>
              </a:rPr>
              <a:t>How to create VLAN</a:t>
            </a:r>
            <a:endParaRPr lang="en-US" dirty="0"/>
          </a:p>
          <a:p>
            <a:pPr marL="285750" indent="-285750">
              <a:buFont typeface="Wingdings" panose="05000000000000000000" pitchFamily="2" charset="2"/>
              <a:buChar char="q"/>
            </a:pPr>
            <a:r>
              <a:rPr lang="en-US" sz="1100" dirty="0"/>
              <a:t>switch(config)# vlan 10  </a:t>
            </a:r>
          </a:p>
          <a:p>
            <a:pPr marL="285750" indent="-285750">
              <a:buFont typeface="Wingdings" panose="05000000000000000000" pitchFamily="2" charset="2"/>
              <a:buChar char="q"/>
            </a:pPr>
            <a:r>
              <a:rPr lang="en-US" sz="1100" dirty="0"/>
              <a:t>switch(config-</a:t>
            </a:r>
            <a:r>
              <a:rPr lang="en-US" sz="1100" dirty="0" err="1"/>
              <a:t>vlan</a:t>
            </a:r>
            <a:r>
              <a:rPr lang="en-US" sz="1100" dirty="0"/>
              <a:t>)# name Sales  </a:t>
            </a:r>
          </a:p>
          <a:p>
            <a:pPr marL="285750" indent="-285750">
              <a:buFont typeface="Wingdings" panose="05000000000000000000" pitchFamily="2" charset="2"/>
              <a:buChar char="q"/>
            </a:pPr>
            <a:r>
              <a:rPr lang="en-US" sz="1100" dirty="0"/>
              <a:t>switch(config-vlan)# exit </a:t>
            </a:r>
          </a:p>
          <a:p>
            <a:pPr marL="285750" indent="-285750">
              <a:buFont typeface="Wingdings" panose="05000000000000000000" pitchFamily="2" charset="2"/>
              <a:buChar char="q"/>
            </a:pPr>
            <a:endParaRPr lang="en-US" sz="1100" dirty="0"/>
          </a:p>
          <a:p>
            <a:endParaRPr lang="en-US" sz="1100" dirty="0"/>
          </a:p>
          <a:p>
            <a:r>
              <a:rPr lang="en-US" sz="1200" b="1" u="sng" dirty="0">
                <a:solidFill>
                  <a:srgbClr val="403CCF"/>
                </a:solidFill>
                <a:latin typeface="Libre Baskerville" pitchFamily="34" charset="0"/>
              </a:rPr>
              <a:t>How to assign port to VLAN</a:t>
            </a:r>
          </a:p>
          <a:p>
            <a:pPr marL="285750" indent="-285750">
              <a:buFont typeface="Wingdings" panose="05000000000000000000" pitchFamily="2" charset="2"/>
              <a:buChar char="q"/>
            </a:pPr>
            <a:r>
              <a:rPr lang="en-US" sz="1100" dirty="0"/>
              <a:t>switch(config)# interface fa 0/1  </a:t>
            </a:r>
          </a:p>
          <a:p>
            <a:pPr marL="285750" indent="-285750">
              <a:buFont typeface="Wingdings" panose="05000000000000000000" pitchFamily="2" charset="2"/>
              <a:buChar char="q"/>
            </a:pPr>
            <a:r>
              <a:rPr lang="en-US" sz="1100" dirty="0"/>
              <a:t>switch(config-if)# switchport mode access  </a:t>
            </a:r>
          </a:p>
          <a:p>
            <a:pPr marL="285750" indent="-285750">
              <a:buFont typeface="Wingdings" panose="05000000000000000000" pitchFamily="2" charset="2"/>
              <a:buChar char="q"/>
            </a:pPr>
            <a:r>
              <a:rPr lang="en-US" sz="1100" dirty="0"/>
              <a:t>switch(config-if)# switchport access vlan 10  </a:t>
            </a:r>
          </a:p>
          <a:p>
            <a:pPr marL="285750" indent="-285750">
              <a:buFont typeface="Wingdings" panose="05000000000000000000" pitchFamily="2" charset="2"/>
              <a:buChar char="q"/>
            </a:pPr>
            <a:r>
              <a:rPr lang="en-US" sz="1100" dirty="0"/>
              <a:t>switch(config-if)# exit </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endParaRPr lang="en-US" sz="1100" dirty="0"/>
          </a:p>
          <a:p>
            <a:r>
              <a:rPr lang="en-US" sz="1200" b="1" u="sng" dirty="0">
                <a:solidFill>
                  <a:srgbClr val="403CCF"/>
                </a:solidFill>
                <a:latin typeface="Libre Baskerville" pitchFamily="34" charset="0"/>
              </a:rPr>
              <a:t>How to assign Multiple ports to VLAN</a:t>
            </a:r>
          </a:p>
          <a:p>
            <a:pPr marL="285750" indent="-285750">
              <a:buFont typeface="Wingdings" panose="05000000000000000000" pitchFamily="2" charset="2"/>
              <a:buChar char="q"/>
            </a:pPr>
            <a:r>
              <a:rPr lang="en-US" sz="1100" dirty="0"/>
              <a:t>switch(config)# interface range fa 0/1 - 24  </a:t>
            </a:r>
          </a:p>
          <a:p>
            <a:pPr marL="285750" indent="-285750">
              <a:buFont typeface="Wingdings" panose="05000000000000000000" pitchFamily="2" charset="2"/>
              <a:buChar char="q"/>
            </a:pPr>
            <a:r>
              <a:rPr lang="en-US" sz="1100" dirty="0"/>
              <a:t>switch(config-if-range)# switchport mode access  </a:t>
            </a:r>
          </a:p>
          <a:p>
            <a:pPr marL="285750" indent="-285750">
              <a:buFont typeface="Wingdings" panose="05000000000000000000" pitchFamily="2" charset="2"/>
              <a:buChar char="q"/>
            </a:pPr>
            <a:r>
              <a:rPr lang="en-US" sz="1100" dirty="0"/>
              <a:t>switch(config-if-range)# switchport access vlan 10  </a:t>
            </a:r>
          </a:p>
          <a:p>
            <a:pPr marL="285750" indent="-285750">
              <a:buFont typeface="Wingdings" panose="05000000000000000000" pitchFamily="2" charset="2"/>
              <a:buChar char="q"/>
            </a:pPr>
            <a:r>
              <a:rPr lang="en-US" sz="1100" dirty="0"/>
              <a:t>switch(config-if-range)# exit </a:t>
            </a:r>
          </a:p>
          <a:p>
            <a:pPr marL="285750" indent="-285750">
              <a:buFont typeface="Wingdings" panose="05000000000000000000" pitchFamily="2" charset="2"/>
              <a:buChar char="q"/>
            </a:pPr>
            <a:endParaRPr lang="en-US" sz="1100" dirty="0"/>
          </a:p>
          <a:p>
            <a:pPr marL="285750" indent="-285750">
              <a:buFont typeface="Wingdings" panose="05000000000000000000" pitchFamily="2" charset="2"/>
              <a:buChar char="q"/>
            </a:pPr>
            <a:endParaRPr lang="en-US" sz="1100" dirty="0"/>
          </a:p>
        </p:txBody>
      </p:sp>
      <p:sp>
        <p:nvSpPr>
          <p:cNvPr id="9" name="TextBox 8">
            <a:extLst>
              <a:ext uri="{FF2B5EF4-FFF2-40B4-BE49-F238E27FC236}">
                <a16:creationId xmlns:a16="http://schemas.microsoft.com/office/drawing/2014/main" id="{F673191D-A43E-DD63-902B-C7C8D2F765AC}"/>
              </a:ext>
            </a:extLst>
          </p:cNvPr>
          <p:cNvSpPr txBox="1"/>
          <p:nvPr/>
        </p:nvSpPr>
        <p:spPr>
          <a:xfrm>
            <a:off x="4669366" y="236771"/>
            <a:ext cx="4292601" cy="3000821"/>
          </a:xfrm>
          <a:prstGeom prst="rect">
            <a:avLst/>
          </a:prstGeom>
          <a:noFill/>
        </p:spPr>
        <p:txBody>
          <a:bodyPr wrap="square">
            <a:spAutoFit/>
          </a:bodyPr>
          <a:lstStyle/>
          <a:p>
            <a:r>
              <a:rPr lang="en-US" sz="1200" b="1" u="sng" dirty="0">
                <a:solidFill>
                  <a:srgbClr val="403CCF"/>
                </a:solidFill>
                <a:latin typeface="Libre Baskerville" pitchFamily="34" charset="0"/>
              </a:rPr>
              <a:t>How to assign multiple Specific ports to VLAN</a:t>
            </a:r>
            <a:endParaRPr lang="en-US" dirty="0"/>
          </a:p>
          <a:p>
            <a:pPr marL="285750" indent="-285750">
              <a:buFont typeface="Wingdings" panose="05000000000000000000" pitchFamily="2" charset="2"/>
              <a:buChar char="q"/>
            </a:pPr>
            <a:r>
              <a:rPr lang="en-US" sz="1100" dirty="0"/>
              <a:t>switch(config)# interface range fa 0/1, 0/12, 0/18  </a:t>
            </a:r>
          </a:p>
          <a:p>
            <a:pPr marL="285750" indent="-285750">
              <a:buFont typeface="Wingdings" panose="05000000000000000000" pitchFamily="2" charset="2"/>
              <a:buChar char="q"/>
            </a:pPr>
            <a:r>
              <a:rPr lang="en-US" sz="1100" dirty="0"/>
              <a:t>switch(config-if-range)# switchport mode access  </a:t>
            </a:r>
          </a:p>
          <a:p>
            <a:pPr marL="285750" indent="-285750">
              <a:buFont typeface="Wingdings" panose="05000000000000000000" pitchFamily="2" charset="2"/>
              <a:buChar char="q"/>
            </a:pPr>
            <a:r>
              <a:rPr lang="en-US" sz="1100" dirty="0"/>
              <a:t>switch(config-if-range)# switchport access vlan 10  </a:t>
            </a:r>
          </a:p>
          <a:p>
            <a:pPr marL="285750" indent="-285750">
              <a:buFont typeface="Wingdings" panose="05000000000000000000" pitchFamily="2" charset="2"/>
              <a:buChar char="q"/>
            </a:pPr>
            <a:r>
              <a:rPr lang="en-US" sz="1100" dirty="0"/>
              <a:t>switch(config-if-range)# exit </a:t>
            </a:r>
          </a:p>
          <a:p>
            <a:endParaRPr lang="en-US" sz="1100" dirty="0"/>
          </a:p>
          <a:p>
            <a:endParaRPr lang="en-US" sz="1100" dirty="0"/>
          </a:p>
          <a:p>
            <a:r>
              <a:rPr lang="en-US" sz="1200" b="1" u="sng" dirty="0">
                <a:solidFill>
                  <a:srgbClr val="403CCF"/>
                </a:solidFill>
                <a:latin typeface="Libre Baskerville" pitchFamily="34" charset="0"/>
              </a:rPr>
              <a:t>How to Configure a Trunk Port </a:t>
            </a:r>
          </a:p>
          <a:p>
            <a:pPr marL="285750" indent="-285750">
              <a:buFont typeface="Wingdings" panose="05000000000000000000" pitchFamily="2" charset="2"/>
              <a:buChar char="q"/>
            </a:pPr>
            <a:r>
              <a:rPr lang="en-US" sz="1100" dirty="0"/>
              <a:t>switch(config)# interface range fa 0/1, fa 0/2  </a:t>
            </a:r>
          </a:p>
          <a:p>
            <a:pPr marL="285750" indent="-285750">
              <a:buFont typeface="Wingdings" panose="05000000000000000000" pitchFamily="2" charset="2"/>
              <a:buChar char="q"/>
            </a:pPr>
            <a:r>
              <a:rPr lang="en-US" sz="1100" dirty="0"/>
              <a:t>switch(config-if-range)# switchport mode trunk  </a:t>
            </a:r>
          </a:p>
          <a:p>
            <a:pPr marL="285750" indent="-285750">
              <a:buFont typeface="Wingdings" panose="05000000000000000000" pitchFamily="2" charset="2"/>
              <a:buChar char="q"/>
            </a:pPr>
            <a:r>
              <a:rPr lang="en-US" sz="1100" dirty="0"/>
              <a:t>switch(config-if-range)# exit </a:t>
            </a:r>
          </a:p>
          <a:p>
            <a:pPr marL="285750" indent="-285750">
              <a:buFont typeface="Wingdings" panose="05000000000000000000" pitchFamily="2" charset="2"/>
              <a:buChar char="q"/>
            </a:pPr>
            <a:endParaRPr lang="en-US" sz="1100" dirty="0"/>
          </a:p>
          <a:p>
            <a:endParaRPr lang="en-US" sz="1100" dirty="0">
              <a:highlight>
                <a:srgbClr val="00FF00"/>
              </a:highlight>
            </a:endParaRPr>
          </a:p>
          <a:p>
            <a:r>
              <a:rPr lang="en-US" sz="1100" dirty="0">
                <a:highlight>
                  <a:srgbClr val="00FF00"/>
                </a:highlight>
              </a:rPr>
              <a:t>Result: </a:t>
            </a:r>
          </a:p>
          <a:p>
            <a:r>
              <a:rPr lang="en-US" sz="1100" dirty="0">
                <a:highlight>
                  <a:srgbClr val="00FF00"/>
                </a:highlight>
              </a:rPr>
              <a:t>Switch# show vlan</a:t>
            </a:r>
          </a:p>
          <a:p>
            <a:endParaRPr lang="en-US" sz="1100" dirty="0"/>
          </a:p>
          <a:p>
            <a:pPr marL="285750" indent="-285750">
              <a:buFont typeface="Wingdings" panose="05000000000000000000" pitchFamily="2" charset="2"/>
              <a:buChar char="q"/>
            </a:pPr>
            <a:endParaRPr lang="en-US" sz="1100" dirty="0"/>
          </a:p>
        </p:txBody>
      </p:sp>
      <p:sp>
        <p:nvSpPr>
          <p:cNvPr id="4" name="TextBox 3">
            <a:extLst>
              <a:ext uri="{FF2B5EF4-FFF2-40B4-BE49-F238E27FC236}">
                <a16:creationId xmlns:a16="http://schemas.microsoft.com/office/drawing/2014/main" id="{9E370835-6780-40F7-41C4-4501F3A98F12}"/>
              </a:ext>
            </a:extLst>
          </p:cNvPr>
          <p:cNvSpPr txBox="1"/>
          <p:nvPr/>
        </p:nvSpPr>
        <p:spPr>
          <a:xfrm>
            <a:off x="4669366" y="3311374"/>
            <a:ext cx="3428999" cy="1000274"/>
          </a:xfrm>
          <a:prstGeom prst="rect">
            <a:avLst/>
          </a:prstGeom>
          <a:noFill/>
        </p:spPr>
        <p:txBody>
          <a:bodyPr wrap="square">
            <a:spAutoFit/>
          </a:bodyPr>
          <a:lstStyle/>
          <a:p>
            <a:r>
              <a:rPr lang="en-US" sz="1200" b="1" u="sng" dirty="0">
                <a:solidFill>
                  <a:srgbClr val="403CCF"/>
                </a:solidFill>
                <a:latin typeface="Libre Baskerville" pitchFamily="34" charset="0"/>
              </a:rPr>
              <a:t>How to delete VLAN?</a:t>
            </a:r>
          </a:p>
          <a:p>
            <a:pPr marL="285750" indent="-285750">
              <a:buFont typeface="Wingdings" panose="05000000000000000000" pitchFamily="2" charset="2"/>
              <a:buChar char="q"/>
            </a:pPr>
            <a:r>
              <a:rPr lang="en-US" sz="1100" dirty="0"/>
              <a:t>Switch# configure terminal</a:t>
            </a:r>
          </a:p>
          <a:p>
            <a:pPr marL="285750" indent="-285750">
              <a:buFont typeface="Wingdings" panose="05000000000000000000" pitchFamily="2" charset="2"/>
              <a:buChar char="q"/>
            </a:pPr>
            <a:r>
              <a:rPr lang="en-US" sz="1100" dirty="0"/>
              <a:t>Switch(config)# no vlan 10</a:t>
            </a:r>
          </a:p>
          <a:p>
            <a:pPr marL="285750" indent="-285750">
              <a:buFont typeface="Wingdings" panose="05000000000000000000" pitchFamily="2" charset="2"/>
              <a:buChar char="q"/>
            </a:pPr>
            <a:r>
              <a:rPr lang="en-US" sz="1100" dirty="0"/>
              <a:t>Switch(config)# end</a:t>
            </a:r>
          </a:p>
          <a:p>
            <a:endParaRPr lang="en-PK" dirty="0"/>
          </a:p>
        </p:txBody>
      </p:sp>
    </p:spTree>
    <p:extLst>
      <p:ext uri="{BB962C8B-B14F-4D97-AF65-F5344CB8AC3E}">
        <p14:creationId xmlns:p14="http://schemas.microsoft.com/office/powerpoint/2010/main" val="181421319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2B5AE-0795-04D8-A3EC-B4969D1B77E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6772B2A6-4677-ADBB-48DA-C4FBF68FEED8}"/>
              </a:ext>
            </a:extLst>
          </p:cNvPr>
          <p:cNvSpPr txBox="1"/>
          <p:nvPr/>
        </p:nvSpPr>
        <p:spPr>
          <a:xfrm>
            <a:off x="414869" y="135136"/>
            <a:ext cx="8415864" cy="3262432"/>
          </a:xfrm>
          <a:prstGeom prst="rect">
            <a:avLst/>
          </a:prstGeom>
          <a:noFill/>
        </p:spPr>
        <p:txBody>
          <a:bodyPr wrap="square">
            <a:spAutoFit/>
          </a:bodyPr>
          <a:lstStyle/>
          <a:p>
            <a:r>
              <a:rPr lang="en-US" sz="2000" b="1" dirty="0">
                <a:solidFill>
                  <a:srgbClr val="00B050"/>
                </a:solidFill>
              </a:rPr>
              <a:t>Result</a:t>
            </a:r>
            <a:r>
              <a:rPr lang="en-US" b="1" dirty="0"/>
              <a:t>: </a:t>
            </a:r>
          </a:p>
          <a:p>
            <a:r>
              <a:rPr lang="en-US" b="1" dirty="0"/>
              <a:t>Switch# show vlan</a:t>
            </a:r>
          </a:p>
          <a:p>
            <a:r>
              <a:rPr lang="en-US" dirty="0"/>
              <a:t> </a:t>
            </a:r>
          </a:p>
          <a:p>
            <a:endParaRPr lang="en-US" dirty="0"/>
          </a:p>
          <a:p>
            <a:r>
              <a:rPr lang="en-US" sz="1200" dirty="0"/>
              <a:t>When you run show vlan on a Cisco switch, you’ll always see those extra VLANs (1002–1005).</a:t>
            </a:r>
          </a:p>
          <a:p>
            <a:endParaRPr lang="en-US" sz="1200" dirty="0"/>
          </a:p>
          <a:p>
            <a:r>
              <a:rPr lang="en-US" sz="1200" dirty="0"/>
              <a:t>VLAN 1002 (fddi-default) → for old fiber networks (FDDI).</a:t>
            </a:r>
          </a:p>
          <a:p>
            <a:r>
              <a:rPr lang="en-US" sz="1200" dirty="0"/>
              <a:t>VLAN 1003 (token-ring-default) → for old Token Ring networks.</a:t>
            </a:r>
          </a:p>
          <a:p>
            <a:r>
              <a:rPr lang="en-US" sz="1200" dirty="0"/>
              <a:t>VLAN 1004 (</a:t>
            </a:r>
            <a:r>
              <a:rPr lang="en-US" sz="1200" dirty="0" err="1"/>
              <a:t>fddinet</a:t>
            </a:r>
            <a:r>
              <a:rPr lang="en-US" sz="1200" dirty="0"/>
              <a:t>-default) → for old fiber networks with two rings.</a:t>
            </a:r>
          </a:p>
          <a:p>
            <a:r>
              <a:rPr lang="en-US" sz="1200" dirty="0"/>
              <a:t>VLAN 1005 (</a:t>
            </a:r>
            <a:r>
              <a:rPr lang="en-US" sz="1200" dirty="0" err="1"/>
              <a:t>trnet</a:t>
            </a:r>
            <a:r>
              <a:rPr lang="en-US" sz="1200" dirty="0"/>
              <a:t>-default) → for old Token Ring networks.</a:t>
            </a:r>
          </a:p>
          <a:p>
            <a:endParaRPr lang="en-US" sz="1200" dirty="0"/>
          </a:p>
          <a:p>
            <a:endParaRPr lang="en-US" sz="1200" dirty="0"/>
          </a:p>
          <a:p>
            <a:endParaRPr lang="en-US" sz="1200" dirty="0"/>
          </a:p>
          <a:p>
            <a:pPr marL="171450" indent="-171450">
              <a:buFont typeface="Wingdings" panose="05000000000000000000" pitchFamily="2" charset="2"/>
              <a:buChar char="ü"/>
            </a:pPr>
            <a:r>
              <a:rPr lang="en-US" sz="1200" dirty="0"/>
              <a:t>Back in the 80s–90s, some companies used FDDI or Token Ring instead of Ethernet.</a:t>
            </a:r>
          </a:p>
          <a:p>
            <a:pPr marL="171450" indent="-171450">
              <a:buFont typeface="Wingdings" panose="05000000000000000000" pitchFamily="2" charset="2"/>
              <a:buChar char="ü"/>
            </a:pPr>
            <a:r>
              <a:rPr lang="en-US" sz="1200" dirty="0"/>
              <a:t>They are not used anymore. Ethernet completely replaced them.</a:t>
            </a:r>
          </a:p>
          <a:p>
            <a:pPr marL="171450" indent="-171450">
              <a:buFont typeface="Wingdings" panose="05000000000000000000" pitchFamily="2" charset="2"/>
              <a:buChar char="ü"/>
            </a:pPr>
            <a:r>
              <a:rPr lang="en-US" sz="1200" dirty="0"/>
              <a:t>You’ll still see them on all Cisco switches, but they are just reserved placeholders, not active in real life.</a:t>
            </a:r>
          </a:p>
        </p:txBody>
      </p:sp>
    </p:spTree>
    <p:extLst>
      <p:ext uri="{BB962C8B-B14F-4D97-AF65-F5344CB8AC3E}">
        <p14:creationId xmlns:p14="http://schemas.microsoft.com/office/powerpoint/2010/main" val="336516842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8C5822-7961-D03A-5712-90636541DC45}"/>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3D8A970-EEBB-4CB2-F920-1D02656BF33A}"/>
              </a:ext>
            </a:extLst>
          </p:cNvPr>
          <p:cNvPicPr>
            <a:picLocks noChangeAspect="1"/>
          </p:cNvPicPr>
          <p:nvPr/>
        </p:nvPicPr>
        <p:blipFill>
          <a:blip r:embed="rId2"/>
          <a:stretch>
            <a:fillRect/>
          </a:stretch>
        </p:blipFill>
        <p:spPr>
          <a:xfrm>
            <a:off x="1" y="-1"/>
            <a:ext cx="9144000" cy="5266267"/>
          </a:xfrm>
          <a:prstGeom prst="rect">
            <a:avLst/>
          </a:prstGeom>
        </p:spPr>
      </p:pic>
    </p:spTree>
    <p:extLst>
      <p:ext uri="{BB962C8B-B14F-4D97-AF65-F5344CB8AC3E}">
        <p14:creationId xmlns:p14="http://schemas.microsoft.com/office/powerpoint/2010/main" val="985760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2932606-1736-31CB-B163-71832A643900}"/>
              </a:ext>
            </a:extLst>
          </p:cNvPr>
          <p:cNvSpPr txBox="1"/>
          <p:nvPr/>
        </p:nvSpPr>
        <p:spPr>
          <a:xfrm>
            <a:off x="2556934" y="117649"/>
            <a:ext cx="4572000" cy="482568"/>
          </a:xfrm>
          <a:prstGeom prst="rect">
            <a:avLst/>
          </a:prstGeom>
          <a:noFill/>
        </p:spPr>
        <p:txBody>
          <a:bodyPr wrap="square">
            <a:spAutoFit/>
          </a:bodyPr>
          <a:lstStyle/>
          <a:p>
            <a:pPr>
              <a:lnSpc>
                <a:spcPts val="3469"/>
              </a:lnSpc>
            </a:pPr>
            <a:r>
              <a:rPr lang="en-US" sz="1600" b="1" u="sng" dirty="0">
                <a:solidFill>
                  <a:srgbClr val="403CCF"/>
                </a:solidFill>
                <a:latin typeface="Libre Baskerville" pitchFamily="34" charset="0"/>
              </a:rPr>
              <a:t>Trunk Links - ISL vs. 802.1Q (Dot1Q</a:t>
            </a:r>
            <a:r>
              <a:rPr lang="en-US" sz="1400" dirty="0">
                <a:solidFill>
                  <a:srgbClr val="403CCF"/>
                </a:solidFill>
                <a:latin typeface="Libre Baskerville" pitchFamily="34" charset="0"/>
              </a:rPr>
              <a:t>)</a:t>
            </a:r>
            <a:endParaRPr lang="en-PK" sz="1400" dirty="0">
              <a:solidFill>
                <a:srgbClr val="403CCF"/>
              </a:solidFill>
              <a:latin typeface="Libre Baskerville" pitchFamily="34" charset="0"/>
            </a:endParaRPr>
          </a:p>
        </p:txBody>
      </p:sp>
      <p:sp>
        <p:nvSpPr>
          <p:cNvPr id="7" name="TextBox 6">
            <a:extLst>
              <a:ext uri="{FF2B5EF4-FFF2-40B4-BE49-F238E27FC236}">
                <a16:creationId xmlns:a16="http://schemas.microsoft.com/office/drawing/2014/main" id="{F0B98C40-2EEB-DAD7-5F80-FBAB8CF82C9E}"/>
              </a:ext>
            </a:extLst>
          </p:cNvPr>
          <p:cNvSpPr txBox="1"/>
          <p:nvPr/>
        </p:nvSpPr>
        <p:spPr>
          <a:xfrm>
            <a:off x="270933" y="1300511"/>
            <a:ext cx="3657599" cy="3231654"/>
          </a:xfrm>
          <a:prstGeom prst="rect">
            <a:avLst/>
          </a:prstGeom>
          <a:noFill/>
        </p:spPr>
        <p:txBody>
          <a:bodyPr wrap="square">
            <a:spAutoFit/>
          </a:bodyPr>
          <a:lstStyle/>
          <a:p>
            <a:pPr algn="just"/>
            <a:r>
              <a:rPr lang="en-US" sz="1100" b="1" dirty="0">
                <a:highlight>
                  <a:srgbClr val="00FFFF"/>
                </a:highlight>
              </a:rPr>
              <a:t>ISL (Inter-Switch Link):</a:t>
            </a:r>
          </a:p>
          <a:p>
            <a:pPr marL="171450" indent="-171450" algn="just">
              <a:buFont typeface="Wingdings" panose="05000000000000000000" pitchFamily="2" charset="2"/>
              <a:buChar char="ü"/>
            </a:pPr>
            <a:r>
              <a:rPr lang="en-US" sz="1100" dirty="0"/>
              <a:t>A Cisco proprietary protocol that encapsulates the entire frame and adds VLAN information.</a:t>
            </a:r>
          </a:p>
          <a:p>
            <a:pPr marL="285750" indent="-2857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Encapsulation method used for VLAN tagging.</a:t>
            </a:r>
          </a:p>
          <a:p>
            <a:pPr marL="285750" indent="-2857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Inserts a 4-byte header &amp; 4-byte FCS at the beginning of frames.</a:t>
            </a:r>
          </a:p>
          <a:p>
            <a:pPr marL="285750" indent="-2857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Supports up to 1000 VLANs.</a:t>
            </a:r>
          </a:p>
          <a:p>
            <a:pPr marL="285750" indent="-2857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Older, less commonly used</a:t>
            </a:r>
          </a:p>
          <a:p>
            <a:pPr marL="285750" indent="-285750" algn="just">
              <a:buFont typeface="Wingdings" panose="05000000000000000000" pitchFamily="2" charset="2"/>
              <a:buChar char="Ø"/>
            </a:pPr>
            <a:endParaRPr lang="en-US" sz="1100" dirty="0"/>
          </a:p>
          <a:p>
            <a:pPr marL="171450" indent="-171450" algn="just">
              <a:buFont typeface="Wingdings" panose="05000000000000000000" pitchFamily="2" charset="2"/>
              <a:buChar char="q"/>
            </a:pPr>
            <a:r>
              <a:rPr lang="en-US" sz="1100" dirty="0"/>
              <a:t>switch(config)# interface fa 0/5  </a:t>
            </a:r>
          </a:p>
          <a:p>
            <a:pPr marL="171450" indent="-171450" algn="just">
              <a:buFont typeface="Wingdings" panose="05000000000000000000" pitchFamily="2" charset="2"/>
              <a:buChar char="q"/>
            </a:pPr>
            <a:r>
              <a:rPr lang="en-US" sz="1100" dirty="0"/>
              <a:t>switch(config-if)# switchport mode trunk  </a:t>
            </a:r>
          </a:p>
          <a:p>
            <a:pPr marL="171450" indent="-171450" algn="just">
              <a:buFont typeface="Wingdings" panose="05000000000000000000" pitchFamily="2" charset="2"/>
              <a:buChar char="q"/>
            </a:pPr>
            <a:r>
              <a:rPr lang="en-US" sz="1100" dirty="0"/>
              <a:t>switch(config-if)# exit </a:t>
            </a:r>
          </a:p>
          <a:p>
            <a:pPr algn="just"/>
            <a:endParaRPr lang="en-US" dirty="0"/>
          </a:p>
          <a:p>
            <a:pPr algn="just"/>
            <a:endParaRPr lang="en-PK" dirty="0"/>
          </a:p>
        </p:txBody>
      </p:sp>
      <p:sp>
        <p:nvSpPr>
          <p:cNvPr id="9" name="TextBox 8">
            <a:extLst>
              <a:ext uri="{FF2B5EF4-FFF2-40B4-BE49-F238E27FC236}">
                <a16:creationId xmlns:a16="http://schemas.microsoft.com/office/drawing/2014/main" id="{E380DE8D-B8C6-2B6D-5826-F1B7033030FE}"/>
              </a:ext>
            </a:extLst>
          </p:cNvPr>
          <p:cNvSpPr txBox="1"/>
          <p:nvPr/>
        </p:nvSpPr>
        <p:spPr>
          <a:xfrm>
            <a:off x="4572000" y="1300511"/>
            <a:ext cx="4250268" cy="3739485"/>
          </a:xfrm>
          <a:prstGeom prst="rect">
            <a:avLst/>
          </a:prstGeom>
          <a:noFill/>
        </p:spPr>
        <p:txBody>
          <a:bodyPr wrap="square">
            <a:spAutoFit/>
          </a:bodyPr>
          <a:lstStyle/>
          <a:p>
            <a:r>
              <a:rPr lang="en-US" sz="1100" b="1" dirty="0">
                <a:highlight>
                  <a:srgbClr val="00FFFF"/>
                </a:highlight>
              </a:rPr>
              <a:t>IEEE 802.1Q Trunking:</a:t>
            </a:r>
          </a:p>
          <a:p>
            <a:pPr marL="171450" indent="-171450">
              <a:buFont typeface="Wingdings" panose="05000000000000000000" pitchFamily="2" charset="2"/>
              <a:buChar char="ü"/>
            </a:pPr>
            <a:r>
              <a:rPr lang="en-US" sz="1100" dirty="0"/>
              <a:t>Open Standardized VLAN Trunking Protocol</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Adds VLAN tags to the Ethernet frames to carry traffic for multiple VLANs over the same link.</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Inserts a 4-byte VLAN tag in the Ethernet frame, separating VLAN ID from the payload.</a:t>
            </a:r>
          </a:p>
          <a:p>
            <a:pPr marL="285750" indent="-2857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Supports up to 4096 VLANs.</a:t>
            </a:r>
          </a:p>
          <a:p>
            <a:pPr marL="285750" indent="-2857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More commonly used as it is vendor-independent.</a:t>
            </a:r>
          </a:p>
          <a:p>
            <a:pPr marL="285750" indent="-2857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Compatible with non-Cisco equipment</a:t>
            </a:r>
            <a:r>
              <a:rPr lang="en-US" dirty="0"/>
              <a:t>.</a:t>
            </a:r>
          </a:p>
          <a:p>
            <a:endParaRPr lang="en-US" dirty="0"/>
          </a:p>
          <a:p>
            <a:pPr marL="171450" indent="-171450" algn="just">
              <a:buFont typeface="Wingdings" panose="05000000000000000000" pitchFamily="2" charset="2"/>
              <a:buChar char="q"/>
            </a:pPr>
            <a:r>
              <a:rPr lang="en-US" sz="1100" dirty="0"/>
              <a:t>switch(config)# interface fa 0/5  </a:t>
            </a:r>
          </a:p>
          <a:p>
            <a:pPr marL="171450" indent="-171450" algn="just">
              <a:buFont typeface="Wingdings" panose="05000000000000000000" pitchFamily="2" charset="2"/>
              <a:buChar char="q"/>
            </a:pPr>
            <a:r>
              <a:rPr lang="en-US" sz="1100" dirty="0"/>
              <a:t>switch(config-if)# switchport mode trunk  </a:t>
            </a:r>
          </a:p>
          <a:p>
            <a:pPr marL="171450" indent="-171450" algn="just">
              <a:buFont typeface="Wingdings" panose="05000000000000000000" pitchFamily="2" charset="2"/>
              <a:buChar char="q"/>
            </a:pPr>
            <a:r>
              <a:rPr lang="en-US" sz="1100" dirty="0"/>
              <a:t>switch(config-if)# switchport trunk encapsulation dot1q</a:t>
            </a:r>
          </a:p>
          <a:p>
            <a:pPr marL="171450" indent="-171450" algn="just">
              <a:buFont typeface="Wingdings" panose="05000000000000000000" pitchFamily="2" charset="2"/>
              <a:buChar char="q"/>
            </a:pPr>
            <a:r>
              <a:rPr lang="en-US" sz="1100" dirty="0"/>
              <a:t>switch(config-if)# exit</a:t>
            </a:r>
          </a:p>
          <a:p>
            <a:pPr marL="285750" indent="-285750" algn="just">
              <a:buFont typeface="Wingdings" panose="05000000000000000000" pitchFamily="2" charset="2"/>
              <a:buChar char="Ø"/>
            </a:pPr>
            <a:endParaRPr lang="en-US" sz="1100" dirty="0"/>
          </a:p>
          <a:p>
            <a:pPr algn="just"/>
            <a:r>
              <a:rPr lang="en-US" sz="1100" dirty="0"/>
              <a:t>For IEEE use a multi layer switch in packet tracer</a:t>
            </a:r>
          </a:p>
        </p:txBody>
      </p:sp>
      <p:sp>
        <p:nvSpPr>
          <p:cNvPr id="11" name="TextBox 10">
            <a:extLst>
              <a:ext uri="{FF2B5EF4-FFF2-40B4-BE49-F238E27FC236}">
                <a16:creationId xmlns:a16="http://schemas.microsoft.com/office/drawing/2014/main" id="{DA0F5C9F-BA1C-AE46-FF7E-C581513C605C}"/>
              </a:ext>
            </a:extLst>
          </p:cNvPr>
          <p:cNvSpPr txBox="1"/>
          <p:nvPr/>
        </p:nvSpPr>
        <p:spPr>
          <a:xfrm>
            <a:off x="270933" y="777291"/>
            <a:ext cx="6129866" cy="523220"/>
          </a:xfrm>
          <a:prstGeom prst="rect">
            <a:avLst/>
          </a:prstGeom>
          <a:noFill/>
        </p:spPr>
        <p:txBody>
          <a:bodyPr wrap="square">
            <a:spAutoFit/>
          </a:bodyPr>
          <a:lstStyle/>
          <a:p>
            <a:r>
              <a:rPr lang="en-US" b="1" dirty="0"/>
              <a:t>There are different types of trunk links. The most commonly used types are:</a:t>
            </a:r>
            <a:endParaRPr lang="en-PK" b="1" dirty="0"/>
          </a:p>
        </p:txBody>
      </p:sp>
    </p:spTree>
    <p:extLst>
      <p:ext uri="{BB962C8B-B14F-4D97-AF65-F5344CB8AC3E}">
        <p14:creationId xmlns:p14="http://schemas.microsoft.com/office/powerpoint/2010/main" val="16914750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8A5242-219F-CD48-7F76-C1C97F8C46DD}"/>
              </a:ext>
            </a:extLst>
          </p:cNvPr>
          <p:cNvSpPr txBox="1"/>
          <p:nvPr/>
        </p:nvSpPr>
        <p:spPr>
          <a:xfrm>
            <a:off x="355599" y="776925"/>
            <a:ext cx="8085667" cy="2462213"/>
          </a:xfrm>
          <a:prstGeom prst="rect">
            <a:avLst/>
          </a:prstGeom>
          <a:noFill/>
        </p:spPr>
        <p:txBody>
          <a:bodyPr wrap="square">
            <a:spAutoFit/>
          </a:bodyPr>
          <a:lstStyle/>
          <a:p>
            <a:pPr algn="just"/>
            <a:r>
              <a:rPr lang="en-US" dirty="0"/>
              <a:t>Encapsulation refers to the process of wrapping data with additional information as it travels across a network.</a:t>
            </a:r>
          </a:p>
          <a:p>
            <a:pPr algn="just"/>
            <a:endParaRPr lang="en-US" dirty="0"/>
          </a:p>
          <a:p>
            <a:pPr algn="just"/>
            <a:endParaRPr lang="en-US" dirty="0"/>
          </a:p>
          <a:p>
            <a:pPr algn="just"/>
            <a:r>
              <a:rPr lang="en-US" dirty="0"/>
              <a:t>In the context of VLAN Trunking :</a:t>
            </a:r>
          </a:p>
          <a:p>
            <a:pPr algn="just"/>
            <a:endParaRPr lang="en-US" dirty="0"/>
          </a:p>
          <a:p>
            <a:pPr algn="just"/>
            <a:r>
              <a:rPr lang="en-US" b="1" dirty="0"/>
              <a:t>Encapsulation is the technique used to insert VLAN identification into Ethernet frames so they can pass through trunk links.</a:t>
            </a:r>
          </a:p>
          <a:p>
            <a:pPr algn="just"/>
            <a:endParaRPr lang="en-US" dirty="0"/>
          </a:p>
          <a:p>
            <a:pPr algn="just"/>
            <a:r>
              <a:rPr lang="en-US" b="1" dirty="0"/>
              <a:t>Trunk links carry traffic for multiple VLANs, so encapsulation ensures that the data from different VLANs remains separated and identifiable</a:t>
            </a:r>
            <a:r>
              <a:rPr lang="en-US" dirty="0"/>
              <a:t>.</a:t>
            </a:r>
            <a:endParaRPr lang="en-PK" dirty="0"/>
          </a:p>
        </p:txBody>
      </p:sp>
      <p:sp>
        <p:nvSpPr>
          <p:cNvPr id="5" name="TextBox 4">
            <a:extLst>
              <a:ext uri="{FF2B5EF4-FFF2-40B4-BE49-F238E27FC236}">
                <a16:creationId xmlns:a16="http://schemas.microsoft.com/office/drawing/2014/main" id="{C0AC319C-7382-CC4E-0F93-B30188C9AD44}"/>
              </a:ext>
            </a:extLst>
          </p:cNvPr>
          <p:cNvSpPr txBox="1"/>
          <p:nvPr/>
        </p:nvSpPr>
        <p:spPr>
          <a:xfrm>
            <a:off x="355600" y="150391"/>
            <a:ext cx="4572000" cy="482568"/>
          </a:xfrm>
          <a:prstGeom prst="rect">
            <a:avLst/>
          </a:prstGeom>
          <a:noFill/>
        </p:spPr>
        <p:txBody>
          <a:bodyPr wrap="square">
            <a:spAutoFit/>
          </a:bodyPr>
          <a:lstStyle/>
          <a:p>
            <a:pPr>
              <a:lnSpc>
                <a:spcPts val="3469"/>
              </a:lnSpc>
            </a:pPr>
            <a:r>
              <a:rPr lang="en-US" sz="1600" b="1" u="sng" dirty="0">
                <a:solidFill>
                  <a:srgbClr val="403CCF"/>
                </a:solidFill>
                <a:latin typeface="Libre Baskerville" pitchFamily="34" charset="0"/>
              </a:rPr>
              <a:t>What is Encapsulation</a:t>
            </a:r>
            <a:endParaRPr lang="en-PK" sz="1600" b="1" u="sng" dirty="0">
              <a:solidFill>
                <a:srgbClr val="403CCF"/>
              </a:solidFill>
              <a:latin typeface="Libre Baskerville" pitchFamily="34" charset="0"/>
            </a:endParaRPr>
          </a:p>
        </p:txBody>
      </p:sp>
    </p:spTree>
    <p:extLst>
      <p:ext uri="{BB962C8B-B14F-4D97-AF65-F5344CB8AC3E}">
        <p14:creationId xmlns:p14="http://schemas.microsoft.com/office/powerpoint/2010/main" val="1635806898"/>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BFC9AA-7488-91E8-0851-F312C660A66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92A4691-366A-2B47-A53F-21D53A39F80C}"/>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FA8E8F60-FCD5-FC14-31C8-EE71B80AF8BF}"/>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664DE50-46D7-C39C-DB04-572A2456BD6E}"/>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FA63646E-E897-35FA-24BC-5A6506D563A7}"/>
              </a:ext>
            </a:extLst>
          </p:cNvPr>
          <p:cNvSpPr txBox="1"/>
          <p:nvPr/>
        </p:nvSpPr>
        <p:spPr>
          <a:xfrm>
            <a:off x="253852" y="200346"/>
            <a:ext cx="887648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VLAN &amp; Trunk Link Configuration  Example:</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AE82C95A-87A6-9BAB-E87C-6474BB3146A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pic>
        <p:nvPicPr>
          <p:cNvPr id="11" name="Picture 10">
            <a:extLst>
              <a:ext uri="{FF2B5EF4-FFF2-40B4-BE49-F238E27FC236}">
                <a16:creationId xmlns:a16="http://schemas.microsoft.com/office/drawing/2014/main" id="{2ACB7BC0-3E4F-43CF-083D-047CE7795550}"/>
              </a:ext>
            </a:extLst>
          </p:cNvPr>
          <p:cNvPicPr>
            <a:picLocks noChangeAspect="1"/>
          </p:cNvPicPr>
          <p:nvPr/>
        </p:nvPicPr>
        <p:blipFill>
          <a:blip r:embed="rId3"/>
          <a:stretch>
            <a:fillRect/>
          </a:stretch>
        </p:blipFill>
        <p:spPr>
          <a:xfrm>
            <a:off x="0" y="1137190"/>
            <a:ext cx="9144000" cy="4006309"/>
          </a:xfrm>
          <a:prstGeom prst="rect">
            <a:avLst/>
          </a:prstGeom>
        </p:spPr>
      </p:pic>
      <p:sp>
        <p:nvSpPr>
          <p:cNvPr id="13" name="TextBox 12">
            <a:extLst>
              <a:ext uri="{FF2B5EF4-FFF2-40B4-BE49-F238E27FC236}">
                <a16:creationId xmlns:a16="http://schemas.microsoft.com/office/drawing/2014/main" id="{CBA12449-4C54-152A-F4C2-19B524F56FEA}"/>
              </a:ext>
            </a:extLst>
          </p:cNvPr>
          <p:cNvSpPr txBox="1"/>
          <p:nvPr/>
        </p:nvSpPr>
        <p:spPr>
          <a:xfrm>
            <a:off x="1465882" y="1894771"/>
            <a:ext cx="981708" cy="307777"/>
          </a:xfrm>
          <a:prstGeom prst="rect">
            <a:avLst/>
          </a:prstGeom>
          <a:noFill/>
        </p:spPr>
        <p:txBody>
          <a:bodyPr wrap="square">
            <a:spAutoFit/>
          </a:bodyPr>
          <a:lstStyle/>
          <a:p>
            <a:r>
              <a:rPr lang="en-US" dirty="0"/>
              <a:t>Switch A</a:t>
            </a:r>
            <a:endParaRPr lang="en-PK" dirty="0"/>
          </a:p>
        </p:txBody>
      </p:sp>
      <p:sp>
        <p:nvSpPr>
          <p:cNvPr id="15" name="TextBox 14">
            <a:extLst>
              <a:ext uri="{FF2B5EF4-FFF2-40B4-BE49-F238E27FC236}">
                <a16:creationId xmlns:a16="http://schemas.microsoft.com/office/drawing/2014/main" id="{757D1BC3-A22B-82AC-C281-4274A70FB0EF}"/>
              </a:ext>
            </a:extLst>
          </p:cNvPr>
          <p:cNvSpPr txBox="1"/>
          <p:nvPr/>
        </p:nvSpPr>
        <p:spPr>
          <a:xfrm>
            <a:off x="5538288" y="1628351"/>
            <a:ext cx="938712" cy="307777"/>
          </a:xfrm>
          <a:prstGeom prst="rect">
            <a:avLst/>
          </a:prstGeom>
          <a:noFill/>
        </p:spPr>
        <p:txBody>
          <a:bodyPr wrap="square">
            <a:spAutoFit/>
          </a:bodyPr>
          <a:lstStyle/>
          <a:p>
            <a:r>
              <a:rPr lang="en-US" dirty="0"/>
              <a:t>Switch B</a:t>
            </a:r>
            <a:endParaRPr lang="en-PK" dirty="0"/>
          </a:p>
        </p:txBody>
      </p:sp>
      <p:sp>
        <p:nvSpPr>
          <p:cNvPr id="17" name="TextBox 16">
            <a:extLst>
              <a:ext uri="{FF2B5EF4-FFF2-40B4-BE49-F238E27FC236}">
                <a16:creationId xmlns:a16="http://schemas.microsoft.com/office/drawing/2014/main" id="{58355929-1D39-51B6-DE5D-7596C1E00ADD}"/>
              </a:ext>
            </a:extLst>
          </p:cNvPr>
          <p:cNvSpPr txBox="1"/>
          <p:nvPr/>
        </p:nvSpPr>
        <p:spPr>
          <a:xfrm>
            <a:off x="3819095" y="1885811"/>
            <a:ext cx="1159934" cy="215444"/>
          </a:xfrm>
          <a:prstGeom prst="rect">
            <a:avLst/>
          </a:prstGeom>
          <a:noFill/>
        </p:spPr>
        <p:txBody>
          <a:bodyPr wrap="square">
            <a:spAutoFit/>
          </a:bodyPr>
          <a:lstStyle/>
          <a:p>
            <a:r>
              <a:rPr lang="en-US" sz="800" dirty="0"/>
              <a:t>Trunk Link</a:t>
            </a:r>
          </a:p>
        </p:txBody>
      </p:sp>
      <p:sp>
        <p:nvSpPr>
          <p:cNvPr id="19" name="TextBox 18">
            <a:extLst>
              <a:ext uri="{FF2B5EF4-FFF2-40B4-BE49-F238E27FC236}">
                <a16:creationId xmlns:a16="http://schemas.microsoft.com/office/drawing/2014/main" id="{522F80DD-3865-A71E-E1E3-0F65A9FE3886}"/>
              </a:ext>
            </a:extLst>
          </p:cNvPr>
          <p:cNvSpPr txBox="1"/>
          <p:nvPr/>
        </p:nvSpPr>
        <p:spPr>
          <a:xfrm rot="2910180">
            <a:off x="2986977" y="2881914"/>
            <a:ext cx="998972" cy="215444"/>
          </a:xfrm>
          <a:prstGeom prst="rect">
            <a:avLst/>
          </a:prstGeom>
          <a:noFill/>
        </p:spPr>
        <p:txBody>
          <a:bodyPr wrap="square">
            <a:spAutoFit/>
          </a:bodyPr>
          <a:lstStyle/>
          <a:p>
            <a:r>
              <a:rPr lang="en-US" sz="800" dirty="0"/>
              <a:t>Access Link</a:t>
            </a:r>
          </a:p>
        </p:txBody>
      </p:sp>
      <p:sp>
        <p:nvSpPr>
          <p:cNvPr id="21" name="TextBox 20">
            <a:extLst>
              <a:ext uri="{FF2B5EF4-FFF2-40B4-BE49-F238E27FC236}">
                <a16:creationId xmlns:a16="http://schemas.microsoft.com/office/drawing/2014/main" id="{E8FF2C35-282D-F387-F46F-F473220C3FBD}"/>
              </a:ext>
            </a:extLst>
          </p:cNvPr>
          <p:cNvSpPr txBox="1"/>
          <p:nvPr/>
        </p:nvSpPr>
        <p:spPr>
          <a:xfrm rot="19669877">
            <a:off x="998728" y="2585985"/>
            <a:ext cx="729596" cy="215444"/>
          </a:xfrm>
          <a:prstGeom prst="rect">
            <a:avLst/>
          </a:prstGeom>
          <a:noFill/>
        </p:spPr>
        <p:txBody>
          <a:bodyPr wrap="square">
            <a:spAutoFit/>
          </a:bodyPr>
          <a:lstStyle/>
          <a:p>
            <a:r>
              <a:rPr lang="en-US" sz="800" dirty="0"/>
              <a:t>Access Link</a:t>
            </a:r>
          </a:p>
        </p:txBody>
      </p:sp>
      <p:sp>
        <p:nvSpPr>
          <p:cNvPr id="22" name="TextBox 21">
            <a:extLst>
              <a:ext uri="{FF2B5EF4-FFF2-40B4-BE49-F238E27FC236}">
                <a16:creationId xmlns:a16="http://schemas.microsoft.com/office/drawing/2014/main" id="{D956F161-145B-841A-D372-02B848476E37}"/>
              </a:ext>
            </a:extLst>
          </p:cNvPr>
          <p:cNvSpPr txBox="1"/>
          <p:nvPr/>
        </p:nvSpPr>
        <p:spPr>
          <a:xfrm rot="17291772">
            <a:off x="1826750" y="2949607"/>
            <a:ext cx="729596" cy="215444"/>
          </a:xfrm>
          <a:prstGeom prst="rect">
            <a:avLst/>
          </a:prstGeom>
          <a:noFill/>
        </p:spPr>
        <p:txBody>
          <a:bodyPr wrap="square">
            <a:spAutoFit/>
          </a:bodyPr>
          <a:lstStyle/>
          <a:p>
            <a:r>
              <a:rPr lang="en-US" sz="800" dirty="0"/>
              <a:t>Access Link</a:t>
            </a:r>
          </a:p>
        </p:txBody>
      </p:sp>
      <p:sp>
        <p:nvSpPr>
          <p:cNvPr id="23" name="TextBox 22">
            <a:extLst>
              <a:ext uri="{FF2B5EF4-FFF2-40B4-BE49-F238E27FC236}">
                <a16:creationId xmlns:a16="http://schemas.microsoft.com/office/drawing/2014/main" id="{983D3A81-9AF7-F536-F018-74310C16EBED}"/>
              </a:ext>
            </a:extLst>
          </p:cNvPr>
          <p:cNvSpPr txBox="1"/>
          <p:nvPr/>
        </p:nvSpPr>
        <p:spPr>
          <a:xfrm rot="4365559">
            <a:off x="5580167" y="2881913"/>
            <a:ext cx="729596" cy="215444"/>
          </a:xfrm>
          <a:prstGeom prst="rect">
            <a:avLst/>
          </a:prstGeom>
          <a:noFill/>
        </p:spPr>
        <p:txBody>
          <a:bodyPr wrap="square">
            <a:spAutoFit/>
          </a:bodyPr>
          <a:lstStyle/>
          <a:p>
            <a:r>
              <a:rPr lang="en-US" sz="800" dirty="0"/>
              <a:t>Access Link</a:t>
            </a:r>
          </a:p>
        </p:txBody>
      </p:sp>
      <p:sp>
        <p:nvSpPr>
          <p:cNvPr id="24" name="TextBox 23">
            <a:extLst>
              <a:ext uri="{FF2B5EF4-FFF2-40B4-BE49-F238E27FC236}">
                <a16:creationId xmlns:a16="http://schemas.microsoft.com/office/drawing/2014/main" id="{48F8138D-4F07-5EFA-D9F4-E22359D9B1BE}"/>
              </a:ext>
            </a:extLst>
          </p:cNvPr>
          <p:cNvSpPr txBox="1"/>
          <p:nvPr/>
        </p:nvSpPr>
        <p:spPr>
          <a:xfrm rot="1572531">
            <a:off x="6680276" y="2517106"/>
            <a:ext cx="729596" cy="215444"/>
          </a:xfrm>
          <a:prstGeom prst="rect">
            <a:avLst/>
          </a:prstGeom>
          <a:noFill/>
        </p:spPr>
        <p:txBody>
          <a:bodyPr wrap="square">
            <a:spAutoFit/>
          </a:bodyPr>
          <a:lstStyle/>
          <a:p>
            <a:r>
              <a:rPr lang="en-US" sz="800" dirty="0"/>
              <a:t>Access Link</a:t>
            </a:r>
          </a:p>
        </p:txBody>
      </p:sp>
      <p:sp>
        <p:nvSpPr>
          <p:cNvPr id="25" name="TextBox 24">
            <a:extLst>
              <a:ext uri="{FF2B5EF4-FFF2-40B4-BE49-F238E27FC236}">
                <a16:creationId xmlns:a16="http://schemas.microsoft.com/office/drawing/2014/main" id="{AA2ACCA4-17B8-D7DD-BD4C-A39C67AD5615}"/>
              </a:ext>
            </a:extLst>
          </p:cNvPr>
          <p:cNvSpPr txBox="1"/>
          <p:nvPr/>
        </p:nvSpPr>
        <p:spPr>
          <a:xfrm rot="20949346">
            <a:off x="6608321" y="1743593"/>
            <a:ext cx="729596" cy="215444"/>
          </a:xfrm>
          <a:prstGeom prst="rect">
            <a:avLst/>
          </a:prstGeom>
          <a:noFill/>
        </p:spPr>
        <p:txBody>
          <a:bodyPr wrap="square">
            <a:spAutoFit/>
          </a:bodyPr>
          <a:lstStyle/>
          <a:p>
            <a:r>
              <a:rPr lang="en-US" sz="800" dirty="0"/>
              <a:t>Access Link</a:t>
            </a:r>
          </a:p>
        </p:txBody>
      </p:sp>
    </p:spTree>
    <p:extLst>
      <p:ext uri="{BB962C8B-B14F-4D97-AF65-F5344CB8AC3E}">
        <p14:creationId xmlns:p14="http://schemas.microsoft.com/office/powerpoint/2010/main" val="6178733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F14D18-7B63-0C27-26C2-F7ADF4F230B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98D48C-9BA8-008E-5AF4-7C4CA445E318}"/>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46CD238-C9F5-B363-84FF-26778B6D7CB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9B486B9-DBE9-3729-99C6-40C7F0280AA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9B1C2BD9-3B5F-F085-82B5-7918E6C0B62E}"/>
              </a:ext>
            </a:extLst>
          </p:cNvPr>
          <p:cNvSpPr txBox="1"/>
          <p:nvPr/>
        </p:nvSpPr>
        <p:spPr>
          <a:xfrm>
            <a:off x="1134533" y="120094"/>
            <a:ext cx="6874933"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VLAN Configuration Example:</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C1BF46AD-9964-AD5D-A1CD-92034AC1995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DCA727C-2D29-D472-4BAA-ED343EB7DABF}"/>
              </a:ext>
            </a:extLst>
          </p:cNvPr>
          <p:cNvSpPr txBox="1"/>
          <p:nvPr/>
        </p:nvSpPr>
        <p:spPr>
          <a:xfrm>
            <a:off x="334839" y="636579"/>
            <a:ext cx="2268250" cy="4031873"/>
          </a:xfrm>
          <a:prstGeom prst="rect">
            <a:avLst/>
          </a:prstGeom>
          <a:noFill/>
        </p:spPr>
        <p:txBody>
          <a:bodyPr wrap="square">
            <a:spAutoFit/>
          </a:bodyPr>
          <a:lstStyle/>
          <a:p>
            <a:r>
              <a:rPr lang="en-US" dirty="0"/>
              <a:t>Switch A</a:t>
            </a:r>
          </a:p>
          <a:p>
            <a:endParaRPr lang="en-US" dirty="0"/>
          </a:p>
          <a:p>
            <a:r>
              <a:rPr lang="en-US" sz="800" dirty="0"/>
              <a:t>switch(config)# vlan 10  </a:t>
            </a:r>
          </a:p>
          <a:p>
            <a:r>
              <a:rPr lang="en-US" sz="800" dirty="0"/>
              <a:t>switch(config-</a:t>
            </a:r>
            <a:r>
              <a:rPr lang="en-US" sz="800" dirty="0" err="1"/>
              <a:t>vlan</a:t>
            </a:r>
            <a:r>
              <a:rPr lang="en-US" sz="800" dirty="0"/>
              <a:t>)# name IT  </a:t>
            </a:r>
          </a:p>
          <a:p>
            <a:r>
              <a:rPr lang="en-US" sz="800" dirty="0"/>
              <a:t>switch(config-</a:t>
            </a:r>
            <a:r>
              <a:rPr lang="en-US" sz="800" dirty="0" err="1"/>
              <a:t>vlan</a:t>
            </a:r>
            <a:r>
              <a:rPr lang="en-US" sz="800" dirty="0"/>
              <a:t>)# exit  </a:t>
            </a:r>
          </a:p>
          <a:p>
            <a:endParaRPr lang="en-US" sz="800" dirty="0"/>
          </a:p>
          <a:p>
            <a:r>
              <a:rPr lang="en-US" sz="800" dirty="0"/>
              <a:t>switch(config)# vlan 20  </a:t>
            </a:r>
          </a:p>
          <a:p>
            <a:r>
              <a:rPr lang="en-US" sz="800" dirty="0"/>
              <a:t>switch(config-</a:t>
            </a:r>
            <a:r>
              <a:rPr lang="en-US" sz="800" dirty="0" err="1"/>
              <a:t>vlan</a:t>
            </a:r>
            <a:r>
              <a:rPr lang="en-US" sz="800" dirty="0"/>
              <a:t>)# name HR  </a:t>
            </a:r>
          </a:p>
          <a:p>
            <a:r>
              <a:rPr lang="en-US" sz="800" dirty="0"/>
              <a:t>switch(config-</a:t>
            </a:r>
            <a:r>
              <a:rPr lang="en-US" sz="800" dirty="0" err="1"/>
              <a:t>vlan</a:t>
            </a:r>
            <a:r>
              <a:rPr lang="en-US" sz="800" dirty="0"/>
              <a:t>)# exit  </a:t>
            </a:r>
          </a:p>
          <a:p>
            <a:endParaRPr lang="en-US" sz="800" dirty="0"/>
          </a:p>
          <a:p>
            <a:r>
              <a:rPr lang="en-US" sz="800" dirty="0"/>
              <a:t>switch(config)# vlan 30  </a:t>
            </a:r>
          </a:p>
          <a:p>
            <a:r>
              <a:rPr lang="en-US" sz="800" dirty="0"/>
              <a:t>switch(config-</a:t>
            </a:r>
            <a:r>
              <a:rPr lang="en-US" sz="800" dirty="0" err="1"/>
              <a:t>vlan</a:t>
            </a:r>
            <a:r>
              <a:rPr lang="en-US" sz="800" dirty="0"/>
              <a:t>)# name Sales  </a:t>
            </a:r>
          </a:p>
          <a:p>
            <a:r>
              <a:rPr lang="en-US" sz="800" dirty="0"/>
              <a:t>switch(config-</a:t>
            </a:r>
            <a:r>
              <a:rPr lang="en-US" sz="800" dirty="0" err="1"/>
              <a:t>vlan</a:t>
            </a:r>
            <a:r>
              <a:rPr lang="en-US" sz="800" dirty="0"/>
              <a:t>)# exit </a:t>
            </a:r>
          </a:p>
          <a:p>
            <a:endParaRPr lang="en-US" sz="800" dirty="0"/>
          </a:p>
          <a:p>
            <a:r>
              <a:rPr lang="en-US" sz="800" dirty="0"/>
              <a:t>switch(config)# interface fa 0/1  </a:t>
            </a:r>
          </a:p>
          <a:p>
            <a:r>
              <a:rPr lang="en-US" sz="800" dirty="0"/>
              <a:t>switch(config-if)# switchport mode access  </a:t>
            </a:r>
          </a:p>
          <a:p>
            <a:r>
              <a:rPr lang="en-US" sz="800" dirty="0"/>
              <a:t>switch(config-if)# switchport access vlan 10  </a:t>
            </a:r>
          </a:p>
          <a:p>
            <a:r>
              <a:rPr lang="en-US" sz="800" dirty="0"/>
              <a:t>switch(config-if)# exit  </a:t>
            </a:r>
          </a:p>
          <a:p>
            <a:endParaRPr lang="en-US" sz="800" dirty="0"/>
          </a:p>
          <a:p>
            <a:r>
              <a:rPr lang="en-US" sz="800" dirty="0"/>
              <a:t>switch(config)# interface fa 0/2  </a:t>
            </a:r>
          </a:p>
          <a:p>
            <a:r>
              <a:rPr lang="en-US" sz="800" dirty="0"/>
              <a:t>switch(config-if)# switchport mode access  </a:t>
            </a:r>
          </a:p>
          <a:p>
            <a:r>
              <a:rPr lang="en-US" sz="800" dirty="0"/>
              <a:t>switch(config-if)# switchport access vlan 20  </a:t>
            </a:r>
          </a:p>
          <a:p>
            <a:r>
              <a:rPr lang="en-US" sz="800" dirty="0"/>
              <a:t>switch(config-if)# exit  </a:t>
            </a:r>
          </a:p>
          <a:p>
            <a:endParaRPr lang="en-US" sz="800" dirty="0"/>
          </a:p>
          <a:p>
            <a:r>
              <a:rPr lang="en-US" sz="800" dirty="0"/>
              <a:t>switch(config)# interface fa 0/3  </a:t>
            </a:r>
          </a:p>
          <a:p>
            <a:r>
              <a:rPr lang="en-US" sz="800" dirty="0"/>
              <a:t>switch(config-if)# switchport mode access  </a:t>
            </a:r>
          </a:p>
          <a:p>
            <a:r>
              <a:rPr lang="en-US" sz="800" dirty="0"/>
              <a:t>switch(config-if)# switchport access vlan 30  </a:t>
            </a:r>
          </a:p>
          <a:p>
            <a:r>
              <a:rPr lang="en-US" sz="800" dirty="0"/>
              <a:t>switch(config-if)# exit </a:t>
            </a:r>
          </a:p>
          <a:p>
            <a:endParaRPr lang="en-PK" dirty="0"/>
          </a:p>
        </p:txBody>
      </p:sp>
      <p:sp>
        <p:nvSpPr>
          <p:cNvPr id="13" name="TextBox 12">
            <a:extLst>
              <a:ext uri="{FF2B5EF4-FFF2-40B4-BE49-F238E27FC236}">
                <a16:creationId xmlns:a16="http://schemas.microsoft.com/office/drawing/2014/main" id="{F302AC35-6C1D-EDB7-FB25-E90897CCEB0E}"/>
              </a:ext>
            </a:extLst>
          </p:cNvPr>
          <p:cNvSpPr txBox="1"/>
          <p:nvPr/>
        </p:nvSpPr>
        <p:spPr>
          <a:xfrm>
            <a:off x="2838653" y="655091"/>
            <a:ext cx="2641600" cy="3939540"/>
          </a:xfrm>
          <a:prstGeom prst="rect">
            <a:avLst/>
          </a:prstGeom>
          <a:noFill/>
        </p:spPr>
        <p:txBody>
          <a:bodyPr wrap="square">
            <a:spAutoFit/>
          </a:bodyPr>
          <a:lstStyle/>
          <a:p>
            <a:r>
              <a:rPr lang="en-US" dirty="0"/>
              <a:t>Switch B</a:t>
            </a:r>
          </a:p>
          <a:p>
            <a:endParaRPr lang="en-US" dirty="0"/>
          </a:p>
          <a:p>
            <a:r>
              <a:rPr lang="en-US" sz="800" dirty="0"/>
              <a:t>switch(config)# vlan 10  </a:t>
            </a:r>
          </a:p>
          <a:p>
            <a:r>
              <a:rPr lang="en-US" sz="800" dirty="0"/>
              <a:t>switch(config-</a:t>
            </a:r>
            <a:r>
              <a:rPr lang="en-US" sz="800" dirty="0" err="1"/>
              <a:t>vlan</a:t>
            </a:r>
            <a:r>
              <a:rPr lang="en-US" sz="800" dirty="0"/>
              <a:t>)# name IT  </a:t>
            </a:r>
          </a:p>
          <a:p>
            <a:r>
              <a:rPr lang="en-US" sz="800" dirty="0"/>
              <a:t>switch(config-</a:t>
            </a:r>
            <a:r>
              <a:rPr lang="en-US" sz="800" dirty="0" err="1"/>
              <a:t>vlan</a:t>
            </a:r>
            <a:r>
              <a:rPr lang="en-US" sz="800" dirty="0"/>
              <a:t>)# exit  </a:t>
            </a:r>
          </a:p>
          <a:p>
            <a:endParaRPr lang="en-US" sz="800" dirty="0"/>
          </a:p>
          <a:p>
            <a:r>
              <a:rPr lang="en-US" sz="800" dirty="0"/>
              <a:t>switch(config)# vlan 20  </a:t>
            </a:r>
          </a:p>
          <a:p>
            <a:r>
              <a:rPr lang="en-US" sz="800" dirty="0"/>
              <a:t>switch(config-</a:t>
            </a:r>
            <a:r>
              <a:rPr lang="en-US" sz="800" dirty="0" err="1"/>
              <a:t>vlan</a:t>
            </a:r>
            <a:r>
              <a:rPr lang="en-US" sz="800" dirty="0"/>
              <a:t>)# name HR  </a:t>
            </a:r>
          </a:p>
          <a:p>
            <a:r>
              <a:rPr lang="en-US" sz="800" dirty="0"/>
              <a:t>switch(config-</a:t>
            </a:r>
            <a:r>
              <a:rPr lang="en-US" sz="800" dirty="0" err="1"/>
              <a:t>vlan</a:t>
            </a:r>
            <a:r>
              <a:rPr lang="en-US" sz="800" dirty="0"/>
              <a:t>)# exit  </a:t>
            </a:r>
          </a:p>
          <a:p>
            <a:endParaRPr lang="en-US" sz="800" dirty="0"/>
          </a:p>
          <a:p>
            <a:r>
              <a:rPr lang="en-US" sz="800" dirty="0"/>
              <a:t>switch(config)# vlan 30  </a:t>
            </a:r>
          </a:p>
          <a:p>
            <a:r>
              <a:rPr lang="en-US" sz="800" dirty="0"/>
              <a:t>switch(config-</a:t>
            </a:r>
            <a:r>
              <a:rPr lang="en-US" sz="800" dirty="0" err="1"/>
              <a:t>vlan</a:t>
            </a:r>
            <a:r>
              <a:rPr lang="en-US" sz="800" dirty="0"/>
              <a:t>)# name Sales  </a:t>
            </a:r>
          </a:p>
          <a:p>
            <a:r>
              <a:rPr lang="en-US" sz="800" dirty="0"/>
              <a:t>switch(config-</a:t>
            </a:r>
            <a:r>
              <a:rPr lang="en-US" sz="800" dirty="0" err="1"/>
              <a:t>vlan</a:t>
            </a:r>
            <a:r>
              <a:rPr lang="en-US" sz="800" dirty="0"/>
              <a:t>)# exit </a:t>
            </a:r>
          </a:p>
          <a:p>
            <a:endParaRPr lang="en-US" sz="800" dirty="0"/>
          </a:p>
          <a:p>
            <a:r>
              <a:rPr lang="en-US" sz="800" dirty="0"/>
              <a:t>switch(config)# interface fa 0/1  </a:t>
            </a:r>
          </a:p>
          <a:p>
            <a:r>
              <a:rPr lang="en-US" sz="800" dirty="0"/>
              <a:t>switch(config-if)# switchport mode access  </a:t>
            </a:r>
          </a:p>
          <a:p>
            <a:r>
              <a:rPr lang="en-US" sz="800" dirty="0"/>
              <a:t>switch(config-if)# switchport access vlan 10  </a:t>
            </a:r>
          </a:p>
          <a:p>
            <a:r>
              <a:rPr lang="en-US" sz="800" dirty="0"/>
              <a:t>switch(config-if)# exit  </a:t>
            </a:r>
          </a:p>
          <a:p>
            <a:endParaRPr lang="en-US" sz="800" dirty="0"/>
          </a:p>
          <a:p>
            <a:r>
              <a:rPr lang="en-US" sz="800" dirty="0"/>
              <a:t>switch(config)# interface fa 0/2  </a:t>
            </a:r>
          </a:p>
          <a:p>
            <a:r>
              <a:rPr lang="en-US" sz="800" dirty="0"/>
              <a:t>switch(config-if)# switchport mode access  </a:t>
            </a:r>
          </a:p>
          <a:p>
            <a:r>
              <a:rPr lang="en-US" sz="800" dirty="0"/>
              <a:t>switch(config-if)# switchport access vlan 20  </a:t>
            </a:r>
          </a:p>
          <a:p>
            <a:r>
              <a:rPr lang="en-US" sz="800" dirty="0"/>
              <a:t>switch(config-if)# exit  </a:t>
            </a:r>
          </a:p>
          <a:p>
            <a:endParaRPr lang="en-US" sz="800" dirty="0"/>
          </a:p>
          <a:p>
            <a:r>
              <a:rPr lang="en-US" sz="800" dirty="0"/>
              <a:t>switch(config)# interface fa 0/3  </a:t>
            </a:r>
          </a:p>
          <a:p>
            <a:r>
              <a:rPr lang="en-US" sz="800" dirty="0"/>
              <a:t>switch(config-if)# switchport mode access  </a:t>
            </a:r>
          </a:p>
          <a:p>
            <a:r>
              <a:rPr lang="en-US" sz="800" dirty="0"/>
              <a:t>switch(config-if)# switchport access vlan 30  </a:t>
            </a:r>
          </a:p>
          <a:p>
            <a:r>
              <a:rPr lang="en-US" sz="800" dirty="0"/>
              <a:t>switch(config-if)# exit </a:t>
            </a:r>
          </a:p>
          <a:p>
            <a:endParaRPr lang="en-US" dirty="0"/>
          </a:p>
        </p:txBody>
      </p:sp>
      <p:sp>
        <p:nvSpPr>
          <p:cNvPr id="15" name="TextBox 14">
            <a:extLst>
              <a:ext uri="{FF2B5EF4-FFF2-40B4-BE49-F238E27FC236}">
                <a16:creationId xmlns:a16="http://schemas.microsoft.com/office/drawing/2014/main" id="{74062E98-B119-5CFF-F57C-45660AFB3AA6}"/>
              </a:ext>
            </a:extLst>
          </p:cNvPr>
          <p:cNvSpPr txBox="1"/>
          <p:nvPr/>
        </p:nvSpPr>
        <p:spPr>
          <a:xfrm>
            <a:off x="434871" y="4659382"/>
            <a:ext cx="4572000" cy="307777"/>
          </a:xfrm>
          <a:prstGeom prst="rect">
            <a:avLst/>
          </a:prstGeom>
          <a:noFill/>
        </p:spPr>
        <p:txBody>
          <a:bodyPr wrap="square">
            <a:spAutoFit/>
          </a:bodyPr>
          <a:lstStyle/>
          <a:p>
            <a:r>
              <a:rPr lang="en-US" b="1" dirty="0"/>
              <a:t>Switch# show vlan</a:t>
            </a:r>
            <a:endParaRPr lang="en-PK" b="1" dirty="0"/>
          </a:p>
        </p:txBody>
      </p:sp>
      <p:sp>
        <p:nvSpPr>
          <p:cNvPr id="17" name="TextBox 16">
            <a:extLst>
              <a:ext uri="{FF2B5EF4-FFF2-40B4-BE49-F238E27FC236}">
                <a16:creationId xmlns:a16="http://schemas.microsoft.com/office/drawing/2014/main" id="{01C18299-CFBB-24D9-9867-F8F9DCA9F6A8}"/>
              </a:ext>
            </a:extLst>
          </p:cNvPr>
          <p:cNvSpPr txBox="1"/>
          <p:nvPr/>
        </p:nvSpPr>
        <p:spPr>
          <a:xfrm>
            <a:off x="5422081" y="800194"/>
            <a:ext cx="3603386" cy="3323987"/>
          </a:xfrm>
          <a:prstGeom prst="rect">
            <a:avLst/>
          </a:prstGeom>
          <a:noFill/>
        </p:spPr>
        <p:txBody>
          <a:bodyPr wrap="square">
            <a:spAutoFit/>
          </a:bodyPr>
          <a:lstStyle/>
          <a:p>
            <a:r>
              <a:rPr lang="en-US" b="1" dirty="0"/>
              <a:t>Now you need Configure trunk (ISL) on both switches</a:t>
            </a:r>
          </a:p>
          <a:p>
            <a:endParaRPr lang="en-US" b="1" dirty="0"/>
          </a:p>
          <a:p>
            <a:endParaRPr lang="en-US" b="1" dirty="0"/>
          </a:p>
          <a:p>
            <a:r>
              <a:rPr lang="en-US" b="1" dirty="0"/>
              <a:t>Switch A</a:t>
            </a:r>
          </a:p>
          <a:p>
            <a:r>
              <a:rPr lang="en-US" dirty="0"/>
              <a:t>switch(config)# interface fa 0/5  </a:t>
            </a:r>
          </a:p>
          <a:p>
            <a:r>
              <a:rPr lang="en-US" dirty="0"/>
              <a:t>switch(config-if)# switchport mode trunk  </a:t>
            </a:r>
          </a:p>
          <a:p>
            <a:r>
              <a:rPr lang="en-US" dirty="0"/>
              <a:t>switch(config-if)# exit </a:t>
            </a:r>
          </a:p>
          <a:p>
            <a:endParaRPr lang="en-US" dirty="0"/>
          </a:p>
          <a:p>
            <a:endParaRPr lang="en-US" dirty="0"/>
          </a:p>
          <a:p>
            <a:r>
              <a:rPr lang="en-US" b="1" dirty="0"/>
              <a:t>Switch B</a:t>
            </a:r>
            <a:endParaRPr lang="en-US" dirty="0"/>
          </a:p>
          <a:p>
            <a:r>
              <a:rPr lang="en-US" dirty="0"/>
              <a:t>switch(config)# interface fa 0/5  </a:t>
            </a:r>
          </a:p>
          <a:p>
            <a:r>
              <a:rPr lang="en-US" dirty="0"/>
              <a:t>switch(config-if)# switchport mode trunk  </a:t>
            </a:r>
          </a:p>
          <a:p>
            <a:r>
              <a:rPr lang="en-US" dirty="0"/>
              <a:t>switch(config-if)# exit </a:t>
            </a:r>
          </a:p>
          <a:p>
            <a:endParaRPr lang="en-PK" dirty="0"/>
          </a:p>
        </p:txBody>
      </p:sp>
      <p:sp>
        <p:nvSpPr>
          <p:cNvPr id="19" name="TextBox 18">
            <a:extLst>
              <a:ext uri="{FF2B5EF4-FFF2-40B4-BE49-F238E27FC236}">
                <a16:creationId xmlns:a16="http://schemas.microsoft.com/office/drawing/2014/main" id="{056F53B6-BAC3-DF08-B78F-18AA7AF5E21D}"/>
              </a:ext>
            </a:extLst>
          </p:cNvPr>
          <p:cNvSpPr txBox="1"/>
          <p:nvPr/>
        </p:nvSpPr>
        <p:spPr>
          <a:xfrm>
            <a:off x="5480253" y="4453608"/>
            <a:ext cx="3603386" cy="307777"/>
          </a:xfrm>
          <a:prstGeom prst="rect">
            <a:avLst/>
          </a:prstGeom>
          <a:noFill/>
        </p:spPr>
        <p:txBody>
          <a:bodyPr wrap="square">
            <a:spAutoFit/>
          </a:bodyPr>
          <a:lstStyle/>
          <a:p>
            <a:r>
              <a:rPr lang="en-US" b="1" dirty="0"/>
              <a:t>Switch#show interface trunk</a:t>
            </a:r>
          </a:p>
        </p:txBody>
      </p:sp>
    </p:spTree>
    <p:extLst>
      <p:ext uri="{BB962C8B-B14F-4D97-AF65-F5344CB8AC3E}">
        <p14:creationId xmlns:p14="http://schemas.microsoft.com/office/powerpoint/2010/main" val="319551223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4766DE28-DF62-0480-C417-26CED207CD80}"/>
              </a:ext>
            </a:extLst>
          </p:cNvPr>
          <p:cNvSpPr txBox="1"/>
          <p:nvPr/>
        </p:nvSpPr>
        <p:spPr>
          <a:xfrm>
            <a:off x="364067" y="257200"/>
            <a:ext cx="7340600" cy="1446550"/>
          </a:xfrm>
          <a:prstGeom prst="rect">
            <a:avLst/>
          </a:prstGeom>
          <a:noFill/>
        </p:spPr>
        <p:txBody>
          <a:bodyPr wrap="square">
            <a:spAutoFit/>
          </a:bodyPr>
          <a:lstStyle/>
          <a:p>
            <a:r>
              <a:rPr lang="en-US" sz="1100" b="1" dirty="0"/>
              <a:t>Question: </a:t>
            </a:r>
          </a:p>
          <a:p>
            <a:pPr marL="285750" indent="-285750">
              <a:buFont typeface="Wingdings" panose="05000000000000000000" pitchFamily="2" charset="2"/>
              <a:buChar char="ü"/>
            </a:pPr>
            <a:r>
              <a:rPr lang="en-US" sz="1100" b="1" dirty="0"/>
              <a:t>You have two switches connected via FA 0/5 trunk port.</a:t>
            </a:r>
          </a:p>
          <a:p>
            <a:pPr marL="285750" indent="-285750">
              <a:buFont typeface="Wingdings" panose="05000000000000000000" pitchFamily="2" charset="2"/>
              <a:buChar char="ü"/>
            </a:pPr>
            <a:endParaRPr lang="en-US" sz="1100" b="1" dirty="0"/>
          </a:p>
          <a:p>
            <a:pPr marL="285750" indent="-285750">
              <a:buFont typeface="Wingdings" panose="05000000000000000000" pitchFamily="2" charset="2"/>
              <a:buChar char="ü"/>
            </a:pPr>
            <a:r>
              <a:rPr lang="en-US" sz="1100" b="1" dirty="0"/>
              <a:t>4 computers on each switch, all connected to VLAN 1 on both switches.</a:t>
            </a:r>
          </a:p>
          <a:p>
            <a:pPr marL="285750" indent="-285750">
              <a:buFont typeface="Wingdings" panose="05000000000000000000" pitchFamily="2" charset="2"/>
              <a:buChar char="ü"/>
            </a:pPr>
            <a:endParaRPr lang="en-US" sz="1100" b="1" dirty="0"/>
          </a:p>
          <a:p>
            <a:pPr marL="285750" indent="-285750">
              <a:buFont typeface="Wingdings" panose="05000000000000000000" pitchFamily="2" charset="2"/>
              <a:buChar char="ü"/>
            </a:pPr>
            <a:r>
              <a:rPr lang="en-US" sz="1100" b="1" dirty="0"/>
              <a:t>Network IDs: 192.168.1.0 for all computers.</a:t>
            </a:r>
          </a:p>
          <a:p>
            <a:pPr marL="285750" indent="-285750">
              <a:buFont typeface="Wingdings" panose="05000000000000000000" pitchFamily="2" charset="2"/>
              <a:buChar char="ü"/>
            </a:pPr>
            <a:endParaRPr lang="en-US" sz="1100" b="1" dirty="0"/>
          </a:p>
          <a:p>
            <a:pPr marL="171450" indent="-171450">
              <a:buFont typeface="Wingdings" panose="05000000000000000000" pitchFamily="2" charset="2"/>
              <a:buChar char="ü"/>
            </a:pPr>
            <a:r>
              <a:rPr lang="en-US" sz="1100" b="1" dirty="0"/>
              <a:t>Do I need to configure the trunk port in this scenario?</a:t>
            </a:r>
            <a:endParaRPr lang="en-PK" sz="1100" b="1" dirty="0"/>
          </a:p>
        </p:txBody>
      </p:sp>
      <p:pic>
        <p:nvPicPr>
          <p:cNvPr id="7" name="Picture 6">
            <a:extLst>
              <a:ext uri="{FF2B5EF4-FFF2-40B4-BE49-F238E27FC236}">
                <a16:creationId xmlns:a16="http://schemas.microsoft.com/office/drawing/2014/main" id="{18F24C19-0411-6A8C-117B-1CFA8839A922}"/>
              </a:ext>
            </a:extLst>
          </p:cNvPr>
          <p:cNvPicPr>
            <a:picLocks noChangeAspect="1"/>
          </p:cNvPicPr>
          <p:nvPr/>
        </p:nvPicPr>
        <p:blipFill>
          <a:blip r:embed="rId2"/>
          <a:stretch>
            <a:fillRect/>
          </a:stretch>
        </p:blipFill>
        <p:spPr>
          <a:xfrm>
            <a:off x="4673600" y="1741003"/>
            <a:ext cx="4470400" cy="3402497"/>
          </a:xfrm>
          <a:prstGeom prst="rect">
            <a:avLst/>
          </a:prstGeom>
        </p:spPr>
      </p:pic>
      <p:sp>
        <p:nvSpPr>
          <p:cNvPr id="9" name="TextBox 8">
            <a:extLst>
              <a:ext uri="{FF2B5EF4-FFF2-40B4-BE49-F238E27FC236}">
                <a16:creationId xmlns:a16="http://schemas.microsoft.com/office/drawing/2014/main" id="{6310E47A-0B24-1E5F-99A4-15FCC866DA2D}"/>
              </a:ext>
            </a:extLst>
          </p:cNvPr>
          <p:cNvSpPr txBox="1"/>
          <p:nvPr/>
        </p:nvSpPr>
        <p:spPr>
          <a:xfrm>
            <a:off x="101600" y="3953815"/>
            <a:ext cx="4572000" cy="938719"/>
          </a:xfrm>
          <a:prstGeom prst="rect">
            <a:avLst/>
          </a:prstGeom>
          <a:noFill/>
        </p:spPr>
        <p:txBody>
          <a:bodyPr wrap="square">
            <a:spAutoFit/>
          </a:bodyPr>
          <a:lstStyle/>
          <a:p>
            <a:pPr algn="just"/>
            <a:r>
              <a:rPr lang="en-US" sz="1100" dirty="0">
                <a:highlight>
                  <a:srgbClr val="00FF00"/>
                </a:highlight>
              </a:rPr>
              <a:t>Answer:</a:t>
            </a:r>
          </a:p>
          <a:p>
            <a:pPr algn="just"/>
            <a:r>
              <a:rPr lang="en-US" sz="1100" dirty="0"/>
              <a:t>You don’t need to configure trunk on both switches explicitly unless you're using multiple VLANs other than VLAN 1 or other VLANs are required for specific purposes. For VLAN 1, it works by default via the trunk link.</a:t>
            </a:r>
            <a:endParaRPr lang="en-PK" sz="1100" dirty="0"/>
          </a:p>
        </p:txBody>
      </p:sp>
    </p:spTree>
    <p:extLst>
      <p:ext uri="{BB962C8B-B14F-4D97-AF65-F5344CB8AC3E}">
        <p14:creationId xmlns:p14="http://schemas.microsoft.com/office/powerpoint/2010/main" val="114924621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99ECC-203D-3571-FC0F-7BDD2DAC837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C695D0A-387B-BA07-7234-B3A7CB65AB6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D249183-906F-4398-F6C6-89CEBA41A6C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8DA8390-4310-7096-A45A-B9F12EAAD87C}"/>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1AD8F65D-8A3C-359C-C157-7D1167D7AC72}"/>
              </a:ext>
            </a:extLst>
          </p:cNvPr>
          <p:cNvSpPr txBox="1"/>
          <p:nvPr/>
        </p:nvSpPr>
        <p:spPr>
          <a:xfrm>
            <a:off x="211667" y="123899"/>
            <a:ext cx="8550513" cy="97097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Single Point of Failure: The Need for Backup Links:</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B82BFA6A-20D7-3A30-8497-719B79C2434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FD5B7DE-E1FD-8435-080D-0A16A7BF8A70}"/>
              </a:ext>
            </a:extLst>
          </p:cNvPr>
          <p:cNvSpPr txBox="1"/>
          <p:nvPr/>
        </p:nvSpPr>
        <p:spPr>
          <a:xfrm>
            <a:off x="343319" y="1200071"/>
            <a:ext cx="3339681" cy="3539430"/>
          </a:xfrm>
          <a:prstGeom prst="rect">
            <a:avLst/>
          </a:prstGeom>
          <a:noFill/>
        </p:spPr>
        <p:txBody>
          <a:bodyPr wrap="square">
            <a:spAutoFit/>
          </a:bodyPr>
          <a:lstStyle/>
          <a:p>
            <a:pPr algn="just"/>
            <a:r>
              <a:rPr lang="en-US" b="1" dirty="0"/>
              <a:t>Single Point of Failure (SPOF)</a:t>
            </a:r>
          </a:p>
          <a:p>
            <a:pPr algn="just"/>
            <a:endParaRPr lang="en-US" b="1" dirty="0"/>
          </a:p>
          <a:p>
            <a:pPr algn="just"/>
            <a:r>
              <a:rPr lang="en-US" dirty="0"/>
              <a:t>A </a:t>
            </a:r>
            <a:r>
              <a:rPr lang="en-US" b="1" dirty="0"/>
              <a:t>single point of failure</a:t>
            </a:r>
            <a:r>
              <a:rPr lang="en-US" dirty="0"/>
              <a:t> is a part of a system or network that, if it stops working, causes the entire system or network to fail.</a:t>
            </a:r>
          </a:p>
          <a:p>
            <a:pPr algn="just"/>
            <a:endParaRPr lang="en-US" dirty="0"/>
          </a:p>
          <a:p>
            <a:pPr algn="just"/>
            <a:r>
              <a:rPr lang="en-US" dirty="0"/>
              <a:t>For example:</a:t>
            </a:r>
          </a:p>
          <a:p>
            <a:pPr algn="just"/>
            <a:endParaRPr lang="en-US" dirty="0"/>
          </a:p>
          <a:p>
            <a:pPr marL="285750" indent="-285750" algn="just">
              <a:buFont typeface="Wingdings" panose="05000000000000000000" pitchFamily="2" charset="2"/>
              <a:buChar char="Ø"/>
            </a:pPr>
            <a:r>
              <a:rPr lang="en-US" dirty="0"/>
              <a:t>In a network, if two switches are connected by a single trunk link and that link fails, communication between the switches will stop.</a:t>
            </a:r>
          </a:p>
          <a:p>
            <a:endParaRPr lang="en-US" dirty="0"/>
          </a:p>
          <a:p>
            <a:endParaRPr lang="en-US" dirty="0"/>
          </a:p>
          <a:p>
            <a:endParaRPr lang="en-PK" dirty="0"/>
          </a:p>
        </p:txBody>
      </p:sp>
      <p:sp>
        <p:nvSpPr>
          <p:cNvPr id="17" name="TextBox 16">
            <a:extLst>
              <a:ext uri="{FF2B5EF4-FFF2-40B4-BE49-F238E27FC236}">
                <a16:creationId xmlns:a16="http://schemas.microsoft.com/office/drawing/2014/main" id="{67EB2E95-B021-DFAE-A816-18849EA6117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93D4CAC6-DA0F-CD2C-B8A8-0847EA08893D}"/>
              </a:ext>
            </a:extLst>
          </p:cNvPr>
          <p:cNvSpPr txBox="1"/>
          <p:nvPr/>
        </p:nvSpPr>
        <p:spPr>
          <a:xfrm>
            <a:off x="5116408" y="1211551"/>
            <a:ext cx="3496733" cy="2031325"/>
          </a:xfrm>
          <a:prstGeom prst="rect">
            <a:avLst/>
          </a:prstGeom>
          <a:noFill/>
        </p:spPr>
        <p:txBody>
          <a:bodyPr wrap="square">
            <a:spAutoFit/>
          </a:bodyPr>
          <a:lstStyle/>
          <a:p>
            <a:r>
              <a:rPr lang="en-US" b="1" dirty="0"/>
              <a:t>Backup Link</a:t>
            </a:r>
          </a:p>
          <a:p>
            <a:endParaRPr lang="en-US" b="1" dirty="0"/>
          </a:p>
          <a:p>
            <a:r>
              <a:rPr lang="en-US" dirty="0"/>
              <a:t>A </a:t>
            </a:r>
            <a:r>
              <a:rPr lang="en-US" b="1" dirty="0"/>
              <a:t>backup link</a:t>
            </a:r>
            <a:r>
              <a:rPr lang="en-US" dirty="0"/>
              <a:t> is an alternate connection that ensures communication continues if the main link fails.</a:t>
            </a:r>
          </a:p>
          <a:p>
            <a:r>
              <a:rPr lang="en-US" dirty="0"/>
              <a:t>In networks:</a:t>
            </a:r>
          </a:p>
          <a:p>
            <a:endParaRPr lang="en-US" dirty="0"/>
          </a:p>
          <a:p>
            <a:pPr marL="285750" indent="-285750">
              <a:buFont typeface="Wingdings" panose="05000000000000000000" pitchFamily="2" charset="2"/>
              <a:buChar char="Ø"/>
            </a:pPr>
            <a:r>
              <a:rPr lang="en-US" dirty="0"/>
              <a:t>It provides redundancy to avoid downtime.</a:t>
            </a:r>
          </a:p>
        </p:txBody>
      </p:sp>
      <p:pic>
        <p:nvPicPr>
          <p:cNvPr id="11" name="Picture 10">
            <a:extLst>
              <a:ext uri="{FF2B5EF4-FFF2-40B4-BE49-F238E27FC236}">
                <a16:creationId xmlns:a16="http://schemas.microsoft.com/office/drawing/2014/main" id="{4516EB75-AFB0-99A0-873D-ABE895C7D52C}"/>
              </a:ext>
            </a:extLst>
          </p:cNvPr>
          <p:cNvPicPr>
            <a:picLocks noChangeAspect="1"/>
          </p:cNvPicPr>
          <p:nvPr/>
        </p:nvPicPr>
        <p:blipFill>
          <a:blip r:embed="rId3"/>
          <a:stretch>
            <a:fillRect/>
          </a:stretch>
        </p:blipFill>
        <p:spPr>
          <a:xfrm>
            <a:off x="589252" y="4077077"/>
            <a:ext cx="2457296" cy="942524"/>
          </a:xfrm>
          <a:prstGeom prst="rect">
            <a:avLst/>
          </a:prstGeom>
        </p:spPr>
      </p:pic>
      <p:pic>
        <p:nvPicPr>
          <p:cNvPr id="14" name="Picture 13">
            <a:extLst>
              <a:ext uri="{FF2B5EF4-FFF2-40B4-BE49-F238E27FC236}">
                <a16:creationId xmlns:a16="http://schemas.microsoft.com/office/drawing/2014/main" id="{3CCC5610-C0FE-162A-D044-1E2442B17BA0}"/>
              </a:ext>
            </a:extLst>
          </p:cNvPr>
          <p:cNvPicPr>
            <a:picLocks noChangeAspect="1"/>
          </p:cNvPicPr>
          <p:nvPr/>
        </p:nvPicPr>
        <p:blipFill>
          <a:blip r:embed="rId4"/>
          <a:stretch>
            <a:fillRect/>
          </a:stretch>
        </p:blipFill>
        <p:spPr>
          <a:xfrm>
            <a:off x="5393254" y="3242876"/>
            <a:ext cx="2457296" cy="1050126"/>
          </a:xfrm>
          <a:prstGeom prst="rect">
            <a:avLst/>
          </a:prstGeom>
        </p:spPr>
      </p:pic>
    </p:spTree>
    <p:extLst>
      <p:ext uri="{BB962C8B-B14F-4D97-AF65-F5344CB8AC3E}">
        <p14:creationId xmlns:p14="http://schemas.microsoft.com/office/powerpoint/2010/main" val="396867393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E10D1-435A-7A7C-65AD-7162497DD8F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A90821-90DE-33E5-7654-47F7DAEAFF8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F4F7887-3197-5675-69CF-E6189EA19A8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9B8CCF1-46A5-2250-7CD9-3FA630FD77FF}"/>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DD37DCCF-3A02-8E5A-7DB4-1A653F8062A8}"/>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Problem caused by the Backup Link:</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5737B91A-EFE7-5CEE-D11A-4221A109D7F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B246CB70-347C-CD0D-F43A-342A9562049F}"/>
              </a:ext>
            </a:extLst>
          </p:cNvPr>
          <p:cNvSpPr txBox="1"/>
          <p:nvPr/>
        </p:nvSpPr>
        <p:spPr>
          <a:xfrm>
            <a:off x="343319" y="1200071"/>
            <a:ext cx="3771481" cy="2246769"/>
          </a:xfrm>
          <a:prstGeom prst="rect">
            <a:avLst/>
          </a:prstGeom>
          <a:noFill/>
        </p:spPr>
        <p:txBody>
          <a:bodyPr wrap="square">
            <a:spAutoFit/>
          </a:bodyPr>
          <a:lstStyle/>
          <a:p>
            <a:pPr algn="just"/>
            <a:r>
              <a:rPr lang="en-US" b="1" dirty="0"/>
              <a:t>Broadcast Storm:</a:t>
            </a:r>
          </a:p>
          <a:p>
            <a:pPr algn="just"/>
            <a:endParaRPr lang="en-US" dirty="0"/>
          </a:p>
          <a:p>
            <a:pPr marL="285750" indent="-285750" algn="just">
              <a:buFont typeface="Wingdings" panose="05000000000000000000" pitchFamily="2" charset="2"/>
              <a:buChar char="Ø"/>
            </a:pPr>
            <a:r>
              <a:rPr lang="en-US" dirty="0"/>
              <a:t>Broadcast packets, like ARP requests, will keep circulating endlessly between the two switches, consuming bandwidth and overwhelming the network.</a:t>
            </a:r>
          </a:p>
          <a:p>
            <a:pPr algn="just"/>
            <a:endParaRPr lang="en-US" dirty="0"/>
          </a:p>
          <a:p>
            <a:endParaRPr lang="en-US" dirty="0"/>
          </a:p>
          <a:p>
            <a:endParaRPr lang="en-US" dirty="0"/>
          </a:p>
          <a:p>
            <a:endParaRPr lang="en-PK" dirty="0"/>
          </a:p>
        </p:txBody>
      </p:sp>
      <p:sp>
        <p:nvSpPr>
          <p:cNvPr id="13" name="TextBox 12">
            <a:extLst>
              <a:ext uri="{FF2B5EF4-FFF2-40B4-BE49-F238E27FC236}">
                <a16:creationId xmlns:a16="http://schemas.microsoft.com/office/drawing/2014/main" id="{B4D83FE9-9B4B-6885-C06B-A1C26676A8AE}"/>
              </a:ext>
            </a:extLst>
          </p:cNvPr>
          <p:cNvSpPr txBox="1"/>
          <p:nvPr/>
        </p:nvSpPr>
        <p:spPr>
          <a:xfrm>
            <a:off x="2838653" y="655091"/>
            <a:ext cx="2641600" cy="523220"/>
          </a:xfrm>
          <a:prstGeom prst="rect">
            <a:avLst/>
          </a:prstGeom>
          <a:noFill/>
        </p:spPr>
        <p:txBody>
          <a:bodyPr wrap="square">
            <a:spAutoFit/>
          </a:bodyPr>
          <a:lstStyle/>
          <a:p>
            <a:endParaRPr lang="en-US" dirty="0"/>
          </a:p>
          <a:p>
            <a:endParaRPr lang="en-US" dirty="0"/>
          </a:p>
        </p:txBody>
      </p:sp>
      <p:sp>
        <p:nvSpPr>
          <p:cNvPr id="17" name="TextBox 16">
            <a:extLst>
              <a:ext uri="{FF2B5EF4-FFF2-40B4-BE49-F238E27FC236}">
                <a16:creationId xmlns:a16="http://schemas.microsoft.com/office/drawing/2014/main" id="{8F68291C-97BC-8076-EB6B-809D125E7D5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E016EC6F-3694-ED20-A94F-46DBE3725B79}"/>
              </a:ext>
            </a:extLst>
          </p:cNvPr>
          <p:cNvSpPr txBox="1"/>
          <p:nvPr/>
        </p:nvSpPr>
        <p:spPr>
          <a:xfrm>
            <a:off x="5116408" y="1211551"/>
            <a:ext cx="3496733" cy="1815882"/>
          </a:xfrm>
          <a:prstGeom prst="rect">
            <a:avLst/>
          </a:prstGeom>
          <a:noFill/>
        </p:spPr>
        <p:txBody>
          <a:bodyPr wrap="square">
            <a:spAutoFit/>
          </a:bodyPr>
          <a:lstStyle/>
          <a:p>
            <a:pPr algn="just"/>
            <a:r>
              <a:rPr lang="en-US" b="1" dirty="0"/>
              <a:t>MAC Address Table Instability:</a:t>
            </a:r>
          </a:p>
          <a:p>
            <a:pPr algn="just"/>
            <a:endParaRPr lang="en-US" dirty="0"/>
          </a:p>
          <a:p>
            <a:pPr marL="285750" indent="-285750" algn="just">
              <a:buFont typeface="Wingdings" panose="05000000000000000000" pitchFamily="2" charset="2"/>
              <a:buChar char="Ø"/>
            </a:pPr>
            <a:r>
              <a:rPr lang="en-US" dirty="0"/>
              <a:t>Switches will receive the same frames on multiple ports due to the loop, causing constant updates to their MAC address tables, which leads to instability and confusion about which port to use for forwarding frames.</a:t>
            </a:r>
          </a:p>
        </p:txBody>
      </p:sp>
      <p:sp>
        <p:nvSpPr>
          <p:cNvPr id="7" name="TextBox 6">
            <a:extLst>
              <a:ext uri="{FF2B5EF4-FFF2-40B4-BE49-F238E27FC236}">
                <a16:creationId xmlns:a16="http://schemas.microsoft.com/office/drawing/2014/main" id="{DE2CC6ED-0368-9D4A-7571-E962DEBF7510}"/>
              </a:ext>
            </a:extLst>
          </p:cNvPr>
          <p:cNvSpPr txBox="1"/>
          <p:nvPr/>
        </p:nvSpPr>
        <p:spPr>
          <a:xfrm>
            <a:off x="471119" y="3088258"/>
            <a:ext cx="3643681" cy="1169551"/>
          </a:xfrm>
          <a:prstGeom prst="rect">
            <a:avLst/>
          </a:prstGeom>
          <a:noFill/>
        </p:spPr>
        <p:txBody>
          <a:bodyPr wrap="square">
            <a:spAutoFit/>
          </a:bodyPr>
          <a:lstStyle/>
          <a:p>
            <a:r>
              <a:rPr lang="en-US" b="1" dirty="0"/>
              <a:t>Looping:</a:t>
            </a:r>
          </a:p>
          <a:p>
            <a:endParaRPr lang="en-US" dirty="0"/>
          </a:p>
          <a:p>
            <a:pPr marL="285750" indent="-285750" algn="just">
              <a:buFont typeface="Wingdings" panose="05000000000000000000" pitchFamily="2" charset="2"/>
              <a:buChar char="Ø"/>
            </a:pPr>
            <a:r>
              <a:rPr lang="en-US" dirty="0"/>
              <a:t>Frames will loop endlessly between the switches, making the network unusable and causing delays or outages.</a:t>
            </a:r>
          </a:p>
        </p:txBody>
      </p:sp>
    </p:spTree>
    <p:extLst>
      <p:ext uri="{BB962C8B-B14F-4D97-AF65-F5344CB8AC3E}">
        <p14:creationId xmlns:p14="http://schemas.microsoft.com/office/powerpoint/2010/main" val="341752392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90C08F-FA66-0F5A-AA8C-6E9A77B45EF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29647DE-EA72-7CF6-5E96-FA2BE547CCC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5942693-B128-AAA2-D0B7-31A7D2D37DB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DF3B4BD-CF76-F7B3-004F-065F47EABA6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8EBFD371-59B2-B0B7-A7D8-AD8FD8F6AB55}"/>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Solution to this problem is “STP”:</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833F021C-E11D-9832-268A-842B0DF0420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44E977D-39B6-C1C1-A102-538BCB78BAB4}"/>
              </a:ext>
            </a:extLst>
          </p:cNvPr>
          <p:cNvSpPr txBox="1"/>
          <p:nvPr/>
        </p:nvSpPr>
        <p:spPr>
          <a:xfrm>
            <a:off x="341412" y="894977"/>
            <a:ext cx="8523188" cy="4001095"/>
          </a:xfrm>
          <a:prstGeom prst="rect">
            <a:avLst/>
          </a:prstGeom>
          <a:noFill/>
        </p:spPr>
        <p:txBody>
          <a:bodyPr wrap="square">
            <a:spAutoFit/>
          </a:bodyPr>
          <a:lstStyle/>
          <a:p>
            <a:r>
              <a:rPr lang="en-US" b="1" dirty="0"/>
              <a:t>Spanning Tree Protocol (STP):</a:t>
            </a:r>
          </a:p>
          <a:p>
            <a:endParaRPr lang="en-US" b="1" dirty="0"/>
          </a:p>
          <a:p>
            <a:pPr algn="just"/>
            <a:r>
              <a:rPr lang="en-US" dirty="0"/>
              <a:t>STP is a network protocol that prevents loops in a network with multiple switches. It does this by making sure only one active path exists between switches, while blocking any redundant paths. If the active path fails, STP automatically activates the backup path to keep the network running smoothly.</a:t>
            </a:r>
          </a:p>
          <a:p>
            <a:pPr algn="just"/>
            <a:endParaRPr lang="en-US" dirty="0"/>
          </a:p>
          <a:p>
            <a:pPr algn="just"/>
            <a:r>
              <a:rPr lang="en-US" b="1" dirty="0"/>
              <a:t>In short:</a:t>
            </a:r>
          </a:p>
          <a:p>
            <a:pPr algn="just"/>
            <a:endParaRPr lang="en-US" b="1" dirty="0"/>
          </a:p>
          <a:p>
            <a:pPr algn="just"/>
            <a:r>
              <a:rPr lang="en-US" dirty="0"/>
              <a:t>STP keeps your network stable and avoids issues like loops, broadcast storms, and unstable connections caused by backup links.</a:t>
            </a:r>
          </a:p>
          <a:p>
            <a:pPr algn="just"/>
            <a:endParaRPr lang="en-US" dirty="0"/>
          </a:p>
          <a:p>
            <a:pPr algn="just"/>
            <a:endParaRPr lang="en-US" dirty="0"/>
          </a:p>
          <a:p>
            <a:endParaRPr lang="en-US" dirty="0"/>
          </a:p>
          <a:p>
            <a:endParaRPr lang="en-US" dirty="0"/>
          </a:p>
          <a:p>
            <a:r>
              <a:rPr lang="en-US" sz="1600" b="1" dirty="0">
                <a:solidFill>
                  <a:srgbClr val="403CCF"/>
                </a:solidFill>
                <a:latin typeface="Libre Baskerville" pitchFamily="34" charset="0"/>
              </a:rPr>
              <a:t>Router# show spanning-tree</a:t>
            </a:r>
          </a:p>
          <a:p>
            <a:endParaRPr lang="en-US" dirty="0"/>
          </a:p>
          <a:p>
            <a:endParaRPr lang="en-US" dirty="0"/>
          </a:p>
          <a:p>
            <a:endParaRPr lang="en-PK" dirty="0"/>
          </a:p>
        </p:txBody>
      </p:sp>
      <p:sp>
        <p:nvSpPr>
          <p:cNvPr id="17" name="TextBox 16">
            <a:extLst>
              <a:ext uri="{FF2B5EF4-FFF2-40B4-BE49-F238E27FC236}">
                <a16:creationId xmlns:a16="http://schemas.microsoft.com/office/drawing/2014/main" id="{E35209A4-446D-591F-5588-F01E85658399}"/>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Tree>
    <p:extLst>
      <p:ext uri="{BB962C8B-B14F-4D97-AF65-F5344CB8AC3E}">
        <p14:creationId xmlns:p14="http://schemas.microsoft.com/office/powerpoint/2010/main" val="5311908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45A497-B47C-9426-D76E-DCD79BDC0FF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73396C3-4674-8EF0-1567-BC1CFF11226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C72E29D-9766-9882-8A46-0B4BE9EA86D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01DB9C8-4B3E-788B-A668-37B800862B6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776A90A6-7668-A34C-D8D3-D57AE8A6FF02}"/>
              </a:ext>
            </a:extLst>
          </p:cNvPr>
          <p:cNvSpPr txBox="1"/>
          <p:nvPr/>
        </p:nvSpPr>
        <p:spPr>
          <a:xfrm>
            <a:off x="978528" y="122392"/>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FB90F6BB-2C14-FE08-E922-E1CF9ACF97B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E0D42BA6-0C51-A03B-FBA0-CECB844021F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8" name="TextBox 17">
            <a:extLst>
              <a:ext uri="{FF2B5EF4-FFF2-40B4-BE49-F238E27FC236}">
                <a16:creationId xmlns:a16="http://schemas.microsoft.com/office/drawing/2014/main" id="{9A5BCB44-BAEE-4186-05A9-4627075503FD}"/>
              </a:ext>
            </a:extLst>
          </p:cNvPr>
          <p:cNvSpPr txBox="1"/>
          <p:nvPr/>
        </p:nvSpPr>
        <p:spPr>
          <a:xfrm>
            <a:off x="339675" y="783221"/>
            <a:ext cx="7187191" cy="2354491"/>
          </a:xfrm>
          <a:prstGeom prst="rect">
            <a:avLst/>
          </a:prstGeom>
          <a:noFill/>
        </p:spPr>
        <p:txBody>
          <a:bodyPr wrap="square">
            <a:spAutoFit/>
          </a:bodyPr>
          <a:lstStyle/>
          <a:p>
            <a:r>
              <a:rPr lang="en-US" sz="1300" b="1" dirty="0"/>
              <a:t>1. Elect the Root Bridge:</a:t>
            </a:r>
          </a:p>
          <a:p>
            <a:endParaRPr lang="en-US" sz="1300" b="1" dirty="0"/>
          </a:p>
          <a:p>
            <a:pPr marL="285750" indent="-285750" algn="just">
              <a:buFont typeface="Wingdings" panose="05000000000000000000" pitchFamily="2" charset="2"/>
              <a:buChar char="ü"/>
            </a:pPr>
            <a:r>
              <a:rPr lang="en-US" sz="1100" dirty="0"/>
              <a:t>All switches initially assume they are the root bridge.</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Each switch sends out a BPDU (Bridge Protocol Data Unit).</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BPDU includes the switch's priority and MAC address. (BPDUs are sent every two seconds</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switch with the lowest priority is elected as the root bridge.</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If priorities are equal, the switch with the lowest MAC address becomes the root.</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root bridge manages the Spanning Tree Protocol (STP) process.</a:t>
            </a:r>
          </a:p>
        </p:txBody>
      </p:sp>
      <p:sp>
        <p:nvSpPr>
          <p:cNvPr id="20" name="TextBox 19">
            <a:extLst>
              <a:ext uri="{FF2B5EF4-FFF2-40B4-BE49-F238E27FC236}">
                <a16:creationId xmlns:a16="http://schemas.microsoft.com/office/drawing/2014/main" id="{8EA2138C-90C3-1F74-6747-2B495CC4867B}"/>
              </a:ext>
            </a:extLst>
          </p:cNvPr>
          <p:cNvSpPr txBox="1"/>
          <p:nvPr/>
        </p:nvSpPr>
        <p:spPr>
          <a:xfrm>
            <a:off x="381819" y="3500298"/>
            <a:ext cx="5358390" cy="1508105"/>
          </a:xfrm>
          <a:prstGeom prst="rect">
            <a:avLst/>
          </a:prstGeom>
          <a:noFill/>
        </p:spPr>
        <p:txBody>
          <a:bodyPr wrap="square">
            <a:spAutoFit/>
          </a:bodyPr>
          <a:lstStyle/>
          <a:p>
            <a:r>
              <a:rPr lang="en-US" sz="1300" b="1" dirty="0"/>
              <a:t>2. Determine Root Ports (RP):</a:t>
            </a:r>
          </a:p>
          <a:p>
            <a:endParaRPr lang="en-US" sz="1300" b="1" dirty="0"/>
          </a:p>
          <a:p>
            <a:pPr marL="285750" indent="-285750" algn="just">
              <a:buFont typeface="Wingdings" panose="05000000000000000000" pitchFamily="2" charset="2"/>
              <a:buChar char="ü"/>
            </a:pPr>
            <a:r>
              <a:rPr lang="en-US" sz="1100" dirty="0"/>
              <a:t>After the root bridge is elected, each non-root switch determines its root port (the port that leads to the root bridge).</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The root port is the best path towards the root bridge.</a:t>
            </a:r>
          </a:p>
          <a:p>
            <a:pPr marL="285750" indent="-285750" algn="just">
              <a:buFont typeface="Wingdings" panose="05000000000000000000" pitchFamily="2" charset="2"/>
              <a:buChar char="ü"/>
            </a:pPr>
            <a:endParaRPr lang="en-US" sz="1100" dirty="0"/>
          </a:p>
          <a:p>
            <a:pPr marL="285750" indent="-285750" algn="just">
              <a:buFont typeface="Wingdings" panose="05000000000000000000" pitchFamily="2" charset="2"/>
              <a:buChar char="ü"/>
            </a:pPr>
            <a:r>
              <a:rPr lang="en-US" sz="1100" dirty="0"/>
              <a:t>Each switch will choose the path with the lowest path cost to the root bridge.</a:t>
            </a:r>
          </a:p>
        </p:txBody>
      </p:sp>
    </p:spTree>
    <p:extLst>
      <p:ext uri="{BB962C8B-B14F-4D97-AF65-F5344CB8AC3E}">
        <p14:creationId xmlns:p14="http://schemas.microsoft.com/office/powerpoint/2010/main" val="330854778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BDD0F9-9A83-CF12-B1D5-774DE3076BD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5C8CA3A-34A9-A749-0D23-FB438F8BC25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29E59B9-A6A6-3F53-622E-D6FF50C0EFC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228F4C13-D318-CF0E-24BE-4C2408E27C7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84E25385-EA97-C016-ECE1-AA8343FFB28A}"/>
              </a:ext>
            </a:extLst>
          </p:cNvPr>
          <p:cNvSpPr txBox="1"/>
          <p:nvPr/>
        </p:nvSpPr>
        <p:spPr>
          <a:xfrm>
            <a:off x="978528" y="122392"/>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8B051237-E244-E804-CC84-4651AD57642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DC84D4EF-B8E8-939F-109F-0E5F599E46C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8" name="TextBox 17">
            <a:extLst>
              <a:ext uri="{FF2B5EF4-FFF2-40B4-BE49-F238E27FC236}">
                <a16:creationId xmlns:a16="http://schemas.microsoft.com/office/drawing/2014/main" id="{9836A984-AFEF-440A-DB2A-FBFB04728CA8}"/>
              </a:ext>
            </a:extLst>
          </p:cNvPr>
          <p:cNvSpPr txBox="1"/>
          <p:nvPr/>
        </p:nvSpPr>
        <p:spPr>
          <a:xfrm>
            <a:off x="339676" y="783221"/>
            <a:ext cx="5358390" cy="2385268"/>
          </a:xfrm>
          <a:prstGeom prst="rect">
            <a:avLst/>
          </a:prstGeom>
          <a:noFill/>
        </p:spPr>
        <p:txBody>
          <a:bodyPr wrap="square">
            <a:spAutoFit/>
          </a:bodyPr>
          <a:lstStyle/>
          <a:p>
            <a:endParaRPr lang="en-US" sz="1300" b="1" dirty="0"/>
          </a:p>
          <a:p>
            <a:r>
              <a:rPr lang="en-US" sz="1300" b="1" dirty="0"/>
              <a:t>3. Designated Port</a:t>
            </a:r>
          </a:p>
          <a:p>
            <a:pPr algn="just"/>
            <a:endParaRPr lang="en-US" sz="1100" dirty="0"/>
          </a:p>
          <a:p>
            <a:pPr algn="just"/>
            <a:r>
              <a:rPr lang="en-US" sz="1100" dirty="0"/>
              <a:t>Designated Port (DP)	</a:t>
            </a:r>
          </a:p>
          <a:p>
            <a:pPr algn="just"/>
            <a:r>
              <a:rPr lang="en-US" sz="1100" dirty="0"/>
              <a:t>The port on each segment with the best path toward the Root Bridge.</a:t>
            </a:r>
          </a:p>
          <a:p>
            <a:pPr algn="just"/>
            <a:endParaRPr lang="en-US" sz="1100" dirty="0"/>
          </a:p>
          <a:p>
            <a:pPr algn="just"/>
            <a:endParaRPr lang="en-US" sz="1100" dirty="0"/>
          </a:p>
          <a:p>
            <a:pPr algn="just"/>
            <a:endParaRPr lang="en-US" sz="1100" dirty="0"/>
          </a:p>
          <a:p>
            <a:pPr algn="just"/>
            <a:endParaRPr lang="en-US" sz="1100" dirty="0"/>
          </a:p>
          <a:p>
            <a:pPr algn="just"/>
            <a:endParaRPr lang="en-US" sz="1100" dirty="0"/>
          </a:p>
          <a:p>
            <a:pPr algn="just"/>
            <a:r>
              <a:rPr lang="en-US" sz="1300" b="1" dirty="0"/>
              <a:t>4. Blocked Port</a:t>
            </a:r>
            <a:r>
              <a:rPr lang="en-US" sz="1100" dirty="0"/>
              <a:t>	</a:t>
            </a:r>
          </a:p>
          <a:p>
            <a:pPr marL="171450" indent="-171450" algn="just">
              <a:buFont typeface="Wingdings" panose="05000000000000000000" pitchFamily="2" charset="2"/>
              <a:buChar char="ü"/>
            </a:pPr>
            <a:r>
              <a:rPr lang="en-US" sz="1100" dirty="0"/>
              <a:t>A port that is turned off by STP to prevent loops in the network.</a:t>
            </a:r>
          </a:p>
          <a:p>
            <a:pPr marL="171450" indent="-171450" algn="just">
              <a:buFont typeface="Wingdings" panose="05000000000000000000" pitchFamily="2" charset="2"/>
              <a:buChar char="ü"/>
            </a:pPr>
            <a:r>
              <a:rPr lang="en-US" sz="1100" dirty="0"/>
              <a:t>It doesn’t send or receive normal traffic.</a:t>
            </a:r>
          </a:p>
        </p:txBody>
      </p:sp>
      <p:pic>
        <p:nvPicPr>
          <p:cNvPr id="6" name="Picture 5">
            <a:extLst>
              <a:ext uri="{FF2B5EF4-FFF2-40B4-BE49-F238E27FC236}">
                <a16:creationId xmlns:a16="http://schemas.microsoft.com/office/drawing/2014/main" id="{66C5F89B-5ADC-B851-976A-730EB5DCD6B9}"/>
              </a:ext>
            </a:extLst>
          </p:cNvPr>
          <p:cNvPicPr>
            <a:picLocks noChangeAspect="1"/>
          </p:cNvPicPr>
          <p:nvPr/>
        </p:nvPicPr>
        <p:blipFill>
          <a:blip r:embed="rId3"/>
          <a:stretch>
            <a:fillRect/>
          </a:stretch>
        </p:blipFill>
        <p:spPr>
          <a:xfrm>
            <a:off x="4707418" y="1941445"/>
            <a:ext cx="4436582" cy="3202055"/>
          </a:xfrm>
          <a:prstGeom prst="rect">
            <a:avLst/>
          </a:prstGeom>
        </p:spPr>
      </p:pic>
    </p:spTree>
    <p:extLst>
      <p:ext uri="{BB962C8B-B14F-4D97-AF65-F5344CB8AC3E}">
        <p14:creationId xmlns:p14="http://schemas.microsoft.com/office/powerpoint/2010/main" val="71704772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6B1655-BAEB-53F9-1A39-8CAD61E9B2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6914CE9-97C4-1476-7DA5-C36B2DC7528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FC92D1C-7DD8-7EF8-8D44-42C56E4CE700}"/>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CD2538A-518D-60A6-9396-2E3DC374EF4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6AC96921-7358-3AD0-3543-856DC5791B55}"/>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58B63FAD-1A20-8843-900C-CAF67B79C54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107BD843-FF78-CFB9-1D6C-AEAF127A176E}"/>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8" name="TextBox 17">
            <a:extLst>
              <a:ext uri="{FF2B5EF4-FFF2-40B4-BE49-F238E27FC236}">
                <a16:creationId xmlns:a16="http://schemas.microsoft.com/office/drawing/2014/main" id="{EEBDE668-012D-3AF5-AE93-291C2D312841}"/>
              </a:ext>
            </a:extLst>
          </p:cNvPr>
          <p:cNvSpPr txBox="1"/>
          <p:nvPr/>
        </p:nvSpPr>
        <p:spPr>
          <a:xfrm>
            <a:off x="339675" y="783221"/>
            <a:ext cx="8533391" cy="2693045"/>
          </a:xfrm>
          <a:prstGeom prst="rect">
            <a:avLst/>
          </a:prstGeom>
          <a:noFill/>
        </p:spPr>
        <p:txBody>
          <a:bodyPr wrap="square">
            <a:spAutoFit/>
          </a:bodyPr>
          <a:lstStyle/>
          <a:p>
            <a:r>
              <a:rPr lang="en-US" sz="1300" b="1" dirty="0"/>
              <a:t>Why does the STP election happen?</a:t>
            </a:r>
          </a:p>
          <a:p>
            <a:endParaRPr lang="en-US" sz="1300" b="1" dirty="0"/>
          </a:p>
          <a:p>
            <a:pPr marL="285750" indent="-285750" algn="just">
              <a:buFont typeface="Wingdings" panose="05000000000000000000" pitchFamily="2" charset="2"/>
              <a:buChar char="Ø"/>
            </a:pPr>
            <a:r>
              <a:rPr lang="en-US" sz="1100" dirty="0"/>
              <a:t>Because loops can crash a network.</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STP holds an election to choose one main switch (Root Bridge).</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Then, all other switches follow it to avoid loops.</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BPDUs are sent every 2 seconds </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When a switch is down &amp; 10 BPDUs are sent &amp; no response from that down switch the again election will take place among other remaining switches </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endParaRPr lang="en-US" sz="1100" dirty="0"/>
          </a:p>
          <a:p>
            <a:pPr algn="just"/>
            <a:r>
              <a:rPr lang="en-US" sz="1100" dirty="0"/>
              <a:t>Think of it like choosing a leader so everyone knows who to follow — and no one goes in circles.</a:t>
            </a:r>
          </a:p>
        </p:txBody>
      </p:sp>
      <p:sp>
        <p:nvSpPr>
          <p:cNvPr id="6" name="TextBox 5">
            <a:extLst>
              <a:ext uri="{FF2B5EF4-FFF2-40B4-BE49-F238E27FC236}">
                <a16:creationId xmlns:a16="http://schemas.microsoft.com/office/drawing/2014/main" id="{0523AF42-E763-EB4E-E908-5D3EB3D46A93}"/>
              </a:ext>
            </a:extLst>
          </p:cNvPr>
          <p:cNvSpPr txBox="1"/>
          <p:nvPr/>
        </p:nvSpPr>
        <p:spPr>
          <a:xfrm>
            <a:off x="556997" y="3990947"/>
            <a:ext cx="8246532" cy="738664"/>
          </a:xfrm>
          <a:prstGeom prst="rect">
            <a:avLst/>
          </a:prstGeom>
          <a:noFill/>
        </p:spPr>
        <p:txBody>
          <a:bodyPr wrap="square">
            <a:spAutoFit/>
          </a:bodyPr>
          <a:lstStyle/>
          <a:p>
            <a:r>
              <a:rPr lang="en-US" sz="1400" dirty="0">
                <a:solidFill>
                  <a:schemeClr val="bg1"/>
                </a:solidFill>
                <a:highlight>
                  <a:srgbClr val="00FFFF"/>
                </a:highlight>
                <a:latin typeface="Libre Baskerville" pitchFamily="34" charset="0"/>
              </a:rPr>
              <a:t>The default priority value on Cisco switches for Spanning Tree Protocol (STP) is: 32768</a:t>
            </a:r>
          </a:p>
          <a:p>
            <a:endParaRPr lang="en-US" sz="1400" dirty="0">
              <a:solidFill>
                <a:schemeClr val="bg1"/>
              </a:solidFill>
              <a:highlight>
                <a:srgbClr val="00FFFF"/>
              </a:highlight>
              <a:latin typeface="Libre Baskerville" pitchFamily="34" charset="0"/>
            </a:endParaRPr>
          </a:p>
          <a:p>
            <a:r>
              <a:rPr lang="en-US" sz="1400" dirty="0">
                <a:solidFill>
                  <a:schemeClr val="bg1"/>
                </a:solidFill>
                <a:highlight>
                  <a:srgbClr val="00FFFF"/>
                </a:highlight>
                <a:latin typeface="Libre Baskerville" pitchFamily="34" charset="0"/>
              </a:rPr>
              <a:t>Bridge ID = Priority + MAC Address</a:t>
            </a:r>
            <a:endParaRPr lang="en-PK" sz="1400" dirty="0">
              <a:solidFill>
                <a:schemeClr val="bg1"/>
              </a:solidFill>
              <a:highlight>
                <a:srgbClr val="00FFFF"/>
              </a:highlight>
              <a:latin typeface="Libre Baskerville" pitchFamily="34" charset="0"/>
            </a:endParaRPr>
          </a:p>
        </p:txBody>
      </p:sp>
    </p:spTree>
    <p:extLst>
      <p:ext uri="{BB962C8B-B14F-4D97-AF65-F5344CB8AC3E}">
        <p14:creationId xmlns:p14="http://schemas.microsoft.com/office/powerpoint/2010/main" val="151889565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F88E9E-C82B-CEC4-DD82-47F64DBC71D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2258A9A-7157-6A03-7549-2E8CD8CE27F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D65297B-169D-99A1-E093-9876EED0C443}"/>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C7C584D-81B2-5E5A-0751-E4054E74612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9832351D-AF0D-CFDA-3F95-BECB6D367E70}"/>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39BF4B5D-D5C0-0EA5-CEE1-46687747027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A2685E57-BE9C-F4CA-735D-7B46A2CE043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8" name="TextBox 17">
            <a:extLst>
              <a:ext uri="{FF2B5EF4-FFF2-40B4-BE49-F238E27FC236}">
                <a16:creationId xmlns:a16="http://schemas.microsoft.com/office/drawing/2014/main" id="{B2CABDB6-4F84-539F-E45B-E7029C923A5D}"/>
              </a:ext>
            </a:extLst>
          </p:cNvPr>
          <p:cNvSpPr txBox="1"/>
          <p:nvPr/>
        </p:nvSpPr>
        <p:spPr>
          <a:xfrm>
            <a:off x="339675" y="783221"/>
            <a:ext cx="8112199" cy="2354491"/>
          </a:xfrm>
          <a:prstGeom prst="rect">
            <a:avLst/>
          </a:prstGeom>
          <a:noFill/>
        </p:spPr>
        <p:txBody>
          <a:bodyPr wrap="square">
            <a:spAutoFit/>
          </a:bodyPr>
          <a:lstStyle/>
          <a:p>
            <a:r>
              <a:rPr lang="en-US" sz="1300" b="1" dirty="0"/>
              <a:t>🔹 Role of the Root Bridge</a:t>
            </a:r>
          </a:p>
          <a:p>
            <a:endParaRPr lang="en-US" sz="1300" b="1" dirty="0"/>
          </a:p>
          <a:p>
            <a:pPr marL="285750" indent="-285750" algn="just">
              <a:buFont typeface="Wingdings" panose="05000000000000000000" pitchFamily="2" charset="2"/>
              <a:buChar char="Ø"/>
            </a:pPr>
            <a:r>
              <a:rPr lang="en-US" sz="1100" dirty="0"/>
              <a:t>Acts as the central reference point in the network.</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All path cost calculations in the network are made with respect to the root bridge.</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Sends BPDUs from all its ports to other switches.</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Helps other switches calculate the best path to reach it.</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Does not choose root or designated ports for other switches.</a:t>
            </a:r>
          </a:p>
          <a:p>
            <a:pPr marL="285750" indent="-285750" algn="just">
              <a:buFont typeface="Wingdings" panose="05000000000000000000" pitchFamily="2" charset="2"/>
              <a:buChar char="Ø"/>
            </a:pPr>
            <a:endParaRPr lang="en-US" sz="1100" dirty="0"/>
          </a:p>
          <a:p>
            <a:pPr marL="285750" indent="-285750" algn="just">
              <a:buFont typeface="Wingdings" panose="05000000000000000000" pitchFamily="2" charset="2"/>
              <a:buChar char="Ø"/>
            </a:pPr>
            <a:r>
              <a:rPr lang="en-US" sz="1100" dirty="0"/>
              <a:t>Keeps sending BPDUs to maintain network stability and detect changes..</a:t>
            </a:r>
          </a:p>
        </p:txBody>
      </p:sp>
    </p:spTree>
    <p:extLst>
      <p:ext uri="{BB962C8B-B14F-4D97-AF65-F5344CB8AC3E}">
        <p14:creationId xmlns:p14="http://schemas.microsoft.com/office/powerpoint/2010/main" val="261800471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F358AD-B42C-F46E-A9FF-078BA2C3229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18C9202-70EF-2E2C-D454-7913B771796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6CD83AF-F68A-4749-4E3B-89B84ECD372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356F2BB-A000-69F2-2BF6-A837FD62B9A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A81BF6B6-54D3-ED2E-96F9-4B4FF1451733}"/>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D7C95F5A-F6DB-8D98-14A5-1A0CAD87963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505F6A0F-ADB1-6B22-1230-CDC7FBEAED49}"/>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9309C02E-26B9-DC7A-D566-A602EAED540D}"/>
              </a:ext>
            </a:extLst>
          </p:cNvPr>
          <p:cNvSpPr txBox="1"/>
          <p:nvPr/>
        </p:nvSpPr>
        <p:spPr>
          <a:xfrm>
            <a:off x="381819" y="784474"/>
            <a:ext cx="8330381" cy="3170099"/>
          </a:xfrm>
          <a:prstGeom prst="rect">
            <a:avLst/>
          </a:prstGeom>
          <a:noFill/>
        </p:spPr>
        <p:txBody>
          <a:bodyPr wrap="square">
            <a:spAutoFit/>
          </a:bodyPr>
          <a:lstStyle/>
          <a:p>
            <a:r>
              <a:rPr lang="en-US" b="1" dirty="0"/>
              <a:t>3. Assign Port Roles:</a:t>
            </a:r>
          </a:p>
          <a:p>
            <a:endParaRPr lang="en-US" b="1" dirty="0"/>
          </a:p>
          <a:p>
            <a:r>
              <a:rPr lang="en-US" dirty="0"/>
              <a:t>The switches then assign roles to their ports:</a:t>
            </a:r>
          </a:p>
          <a:p>
            <a:endParaRPr lang="en-US" dirty="0"/>
          </a:p>
          <a:p>
            <a:pPr marL="285750" indent="-285750">
              <a:buFont typeface="Wingdings" panose="05000000000000000000" pitchFamily="2" charset="2"/>
              <a:buChar char="Ø"/>
            </a:pPr>
            <a:r>
              <a:rPr lang="en-US" sz="1100" dirty="0"/>
              <a:t>Root Port (RP): The best port on a switch towards the Root Bridge.</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t>Designated Port (DP): The best port on a segment away from Root Bridge. (On which computers can be connected)</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t>Blocked Port: Extra links that might cause loops — these are put in blocking state.</a:t>
            </a:r>
            <a:endParaRPr lang="en-US" dirty="0"/>
          </a:p>
          <a:p>
            <a:pPr marL="285750" indent="-285750">
              <a:buFont typeface="Wingdings" panose="05000000000000000000" pitchFamily="2" charset="2"/>
              <a:buChar char="Ø"/>
            </a:pPr>
            <a:endParaRPr lang="en-US" dirty="0"/>
          </a:p>
          <a:p>
            <a:r>
              <a:rPr lang="en-US" b="1" dirty="0"/>
              <a:t>4. Calculate Path Cost:</a:t>
            </a:r>
          </a:p>
          <a:p>
            <a:endParaRPr lang="en-US" b="1" dirty="0"/>
          </a:p>
          <a:p>
            <a:pPr marL="285750" indent="-285750">
              <a:buFont typeface="Wingdings" panose="05000000000000000000" pitchFamily="2" charset="2"/>
              <a:buChar char="Ø"/>
            </a:pPr>
            <a:r>
              <a:rPr lang="en-US" sz="1100" dirty="0"/>
              <a:t>The cost of the path is calculated using the port cost based on the speed of the link (higher-speed links have lower cost).</a:t>
            </a:r>
          </a:p>
          <a:p>
            <a:pPr marL="285750" indent="-285750">
              <a:buFont typeface="Wingdings" panose="05000000000000000000" pitchFamily="2" charset="2"/>
              <a:buChar char="Ø"/>
            </a:pPr>
            <a:endParaRPr lang="en-US" sz="1100" dirty="0"/>
          </a:p>
          <a:p>
            <a:pPr marL="285750" indent="-285750">
              <a:buFont typeface="Wingdings" panose="05000000000000000000" pitchFamily="2" charset="2"/>
              <a:buChar char="Ø"/>
            </a:pPr>
            <a:r>
              <a:rPr lang="en-US" sz="1100" dirty="0"/>
              <a:t>The switch chooses the port with the lowest total cost to the root bridge as the root port.</a:t>
            </a:r>
          </a:p>
          <a:p>
            <a:pPr marL="285750" indent="-285750">
              <a:buFont typeface="Wingdings" panose="05000000000000000000" pitchFamily="2" charset="2"/>
              <a:buChar char="Ø"/>
            </a:pPr>
            <a:endParaRPr lang="en-US" dirty="0"/>
          </a:p>
        </p:txBody>
      </p:sp>
    </p:spTree>
    <p:extLst>
      <p:ext uri="{BB962C8B-B14F-4D97-AF65-F5344CB8AC3E}">
        <p14:creationId xmlns:p14="http://schemas.microsoft.com/office/powerpoint/2010/main" val="178759636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218C31-AC4E-FE2C-A109-B31BC8ABB81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DCA464D-29FD-4A7C-4838-2334573C8EE1}"/>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D3617D1-FD4D-A511-874D-D87DECAD88C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9AC260C-EE7C-0F70-F5FB-876DB1FB5900}"/>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06A6665B-B671-B947-03AD-64C254915303}"/>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EDDF9205-2244-C307-FB09-1734573EA16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1EF640B6-56BD-018B-5B2A-77552FEEE47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8319CEF-C84B-2922-C92F-1DEE475DCBEF}"/>
              </a:ext>
            </a:extLst>
          </p:cNvPr>
          <p:cNvSpPr txBox="1"/>
          <p:nvPr/>
        </p:nvSpPr>
        <p:spPr>
          <a:xfrm>
            <a:off x="381819" y="784474"/>
            <a:ext cx="8330381" cy="3108543"/>
          </a:xfrm>
          <a:prstGeom prst="rect">
            <a:avLst/>
          </a:prstGeom>
          <a:noFill/>
        </p:spPr>
        <p:txBody>
          <a:bodyPr wrap="square">
            <a:spAutoFit/>
          </a:bodyPr>
          <a:lstStyle/>
          <a:p>
            <a:r>
              <a:rPr lang="en-US" dirty="0"/>
              <a:t>✅ Note: If both links are of the same quality and cost, then the port with the lowest port number will become the Root Port.</a:t>
            </a:r>
          </a:p>
          <a:p>
            <a:endParaRPr lang="en-US" dirty="0"/>
          </a:p>
          <a:p>
            <a:r>
              <a:rPr lang="en-US" dirty="0"/>
              <a:t>Example: </a:t>
            </a:r>
          </a:p>
          <a:p>
            <a:endParaRPr lang="en-US" dirty="0"/>
          </a:p>
          <a:p>
            <a:r>
              <a:rPr lang="en-US" dirty="0"/>
              <a:t>Between fa0/1 &amp; fa0/2</a:t>
            </a:r>
          </a:p>
          <a:p>
            <a:r>
              <a:rPr lang="en-US" dirty="0">
                <a:highlight>
                  <a:srgbClr val="00FFFF"/>
                </a:highlight>
              </a:rPr>
              <a:t>fa0/1 will be the Root Port.</a:t>
            </a:r>
          </a:p>
          <a:p>
            <a:endParaRPr lang="en-US" dirty="0"/>
          </a:p>
          <a:p>
            <a:endParaRPr lang="en-US" dirty="0"/>
          </a:p>
          <a:p>
            <a:endParaRPr lang="en-US" dirty="0"/>
          </a:p>
          <a:p>
            <a:r>
              <a:rPr lang="it-IT" dirty="0"/>
              <a:t>Between fa0/5 &amp; fa0/6</a:t>
            </a:r>
          </a:p>
          <a:p>
            <a:r>
              <a:rPr lang="en-US" dirty="0">
                <a:highlight>
                  <a:srgbClr val="00FFFF"/>
                </a:highlight>
              </a:rPr>
              <a:t>fa0/5 will be the Root Port.</a:t>
            </a:r>
          </a:p>
          <a:p>
            <a:endParaRPr lang="it-IT" dirty="0"/>
          </a:p>
          <a:p>
            <a:endParaRPr lang="en-US" dirty="0"/>
          </a:p>
        </p:txBody>
      </p:sp>
    </p:spTree>
    <p:extLst>
      <p:ext uri="{BB962C8B-B14F-4D97-AF65-F5344CB8AC3E}">
        <p14:creationId xmlns:p14="http://schemas.microsoft.com/office/powerpoint/2010/main" val="194290966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BE486-9C25-A02E-16DE-B663755DD83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31867D3-0131-3E39-6429-59C2D6F85DA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86E2307-2978-0B90-A034-7A6BFD54F65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C203811-7F0D-CB8A-87EC-979DBF118C6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96879D62-32C1-37FF-72AD-74EECCCC4103}"/>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A486FA33-36D2-79B3-8481-166B28706FB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1DAFECC9-3BEB-66ED-9205-FD3E7ACE0F1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1" name="TextBox 10">
            <a:extLst>
              <a:ext uri="{FF2B5EF4-FFF2-40B4-BE49-F238E27FC236}">
                <a16:creationId xmlns:a16="http://schemas.microsoft.com/office/drawing/2014/main" id="{6ABEECAF-333E-572C-887B-80D0C0BC5112}"/>
              </a:ext>
            </a:extLst>
          </p:cNvPr>
          <p:cNvSpPr txBox="1"/>
          <p:nvPr/>
        </p:nvSpPr>
        <p:spPr>
          <a:xfrm>
            <a:off x="496119" y="1016289"/>
            <a:ext cx="7403470" cy="1292662"/>
          </a:xfrm>
          <a:prstGeom prst="rect">
            <a:avLst/>
          </a:prstGeom>
          <a:noFill/>
        </p:spPr>
        <p:txBody>
          <a:bodyPr wrap="square">
            <a:spAutoFit/>
          </a:bodyPr>
          <a:lstStyle/>
          <a:p>
            <a:r>
              <a:rPr lang="en-US" b="1" dirty="0"/>
              <a:t>4. Path Cost Calculation Process:</a:t>
            </a:r>
          </a:p>
          <a:p>
            <a:pPr algn="just"/>
            <a:r>
              <a:rPr lang="en-US" sz="1100" dirty="0"/>
              <a:t>Port Cost Based on Link Speed: Each port on a switch has a default cost based on the bandwidth of the link. The faster the link (higher bandwidth), the lower the cost.</a:t>
            </a:r>
          </a:p>
          <a:p>
            <a:pPr algn="just"/>
            <a:endParaRPr lang="en-US" dirty="0"/>
          </a:p>
          <a:p>
            <a:pPr algn="just"/>
            <a:endParaRPr lang="en-US" dirty="0"/>
          </a:p>
          <a:p>
            <a:pPr algn="just"/>
            <a:endParaRPr lang="en-US" dirty="0"/>
          </a:p>
        </p:txBody>
      </p:sp>
      <p:graphicFrame>
        <p:nvGraphicFramePr>
          <p:cNvPr id="14" name="Table 13">
            <a:extLst>
              <a:ext uri="{FF2B5EF4-FFF2-40B4-BE49-F238E27FC236}">
                <a16:creationId xmlns:a16="http://schemas.microsoft.com/office/drawing/2014/main" id="{36328C44-FD78-FA08-BF68-D6A6447420CF}"/>
              </a:ext>
            </a:extLst>
          </p:cNvPr>
          <p:cNvGraphicFramePr>
            <a:graphicFrameLocks noGrp="1"/>
          </p:cNvGraphicFramePr>
          <p:nvPr>
            <p:extLst>
              <p:ext uri="{D42A27DB-BD31-4B8C-83A1-F6EECF244321}">
                <p14:modId xmlns:p14="http://schemas.microsoft.com/office/powerpoint/2010/main" val="3045359960"/>
              </p:ext>
            </p:extLst>
          </p:nvPr>
        </p:nvGraphicFramePr>
        <p:xfrm>
          <a:off x="1083544" y="2009412"/>
          <a:ext cx="6096000" cy="2372360"/>
        </p:xfrm>
        <a:graphic>
          <a:graphicData uri="http://schemas.openxmlformats.org/drawingml/2006/table">
            <a:tbl>
              <a:tblPr firstRow="1" bandRow="1">
                <a:tableStyleId>{17343FFC-C285-48B6-A5F1-531E15585DCF}</a:tableStyleId>
              </a:tblPr>
              <a:tblGrid>
                <a:gridCol w="2535139">
                  <a:extLst>
                    <a:ext uri="{9D8B030D-6E8A-4147-A177-3AD203B41FA5}">
                      <a16:colId xmlns:a16="http://schemas.microsoft.com/office/drawing/2014/main" val="1849837920"/>
                    </a:ext>
                  </a:extLst>
                </a:gridCol>
                <a:gridCol w="1994717">
                  <a:extLst>
                    <a:ext uri="{9D8B030D-6E8A-4147-A177-3AD203B41FA5}">
                      <a16:colId xmlns:a16="http://schemas.microsoft.com/office/drawing/2014/main" val="1123062460"/>
                    </a:ext>
                  </a:extLst>
                </a:gridCol>
                <a:gridCol w="1566144">
                  <a:extLst>
                    <a:ext uri="{9D8B030D-6E8A-4147-A177-3AD203B41FA5}">
                      <a16:colId xmlns:a16="http://schemas.microsoft.com/office/drawing/2014/main" val="2724868199"/>
                    </a:ext>
                  </a:extLst>
                </a:gridCol>
              </a:tblGrid>
              <a:tr h="370840">
                <a:tc>
                  <a:txBody>
                    <a:bodyPr/>
                    <a:lstStyle/>
                    <a:p>
                      <a:endParaRPr lang="en-PK" dirty="0"/>
                    </a:p>
                  </a:txBody>
                  <a:tcPr/>
                </a:tc>
                <a:tc>
                  <a:txBody>
                    <a:bodyPr/>
                    <a:lstStyle/>
                    <a:p>
                      <a:r>
                        <a:rPr lang="en-US" dirty="0"/>
                        <a:t>Bandwidth</a:t>
                      </a:r>
                      <a:endParaRPr lang="en-PK" dirty="0"/>
                    </a:p>
                  </a:txBody>
                  <a:tcPr/>
                </a:tc>
                <a:tc>
                  <a:txBody>
                    <a:bodyPr/>
                    <a:lstStyle/>
                    <a:p>
                      <a:r>
                        <a:rPr lang="en-US" dirty="0"/>
                        <a:t>Cost</a:t>
                      </a:r>
                      <a:endParaRPr lang="en-PK" dirty="0"/>
                    </a:p>
                  </a:txBody>
                  <a:tcPr/>
                </a:tc>
                <a:extLst>
                  <a:ext uri="{0D108BD9-81ED-4DB2-BD59-A6C34878D82A}">
                    <a16:rowId xmlns:a16="http://schemas.microsoft.com/office/drawing/2014/main" val="3896924461"/>
                  </a:ext>
                </a:extLst>
              </a:tr>
              <a:tr h="370840">
                <a:tc>
                  <a:txBody>
                    <a:bodyPr/>
                    <a:lstStyle/>
                    <a:p>
                      <a:r>
                        <a:rPr lang="en-US" dirty="0"/>
                        <a:t>Ethernet</a:t>
                      </a:r>
                      <a:endParaRPr lang="en-PK" dirty="0"/>
                    </a:p>
                  </a:txBody>
                  <a:tcPr/>
                </a:tc>
                <a:tc>
                  <a:txBody>
                    <a:bodyPr/>
                    <a:lstStyle/>
                    <a:p>
                      <a:r>
                        <a:rPr lang="en-US" dirty="0"/>
                        <a:t>10Mbs</a:t>
                      </a:r>
                      <a:endParaRPr lang="en-PK" dirty="0"/>
                    </a:p>
                  </a:txBody>
                  <a:tcPr/>
                </a:tc>
                <a:tc>
                  <a:txBody>
                    <a:bodyPr/>
                    <a:lstStyle/>
                    <a:p>
                      <a:r>
                        <a:rPr lang="en-US" dirty="0"/>
                        <a:t>100</a:t>
                      </a:r>
                      <a:endParaRPr lang="en-PK" dirty="0"/>
                    </a:p>
                  </a:txBody>
                  <a:tcPr/>
                </a:tc>
                <a:extLst>
                  <a:ext uri="{0D108BD9-81ED-4DB2-BD59-A6C34878D82A}">
                    <a16:rowId xmlns:a16="http://schemas.microsoft.com/office/drawing/2014/main" val="2007638570"/>
                  </a:ext>
                </a:extLst>
              </a:tr>
              <a:tr h="370840">
                <a:tc>
                  <a:txBody>
                    <a:bodyPr/>
                    <a:lstStyle/>
                    <a:p>
                      <a:r>
                        <a:rPr lang="en-US" dirty="0"/>
                        <a:t>Fast Ethernet</a:t>
                      </a:r>
                      <a:endParaRPr lang="en-PK" dirty="0"/>
                    </a:p>
                  </a:txBody>
                  <a:tcPr/>
                </a:tc>
                <a:tc>
                  <a:txBody>
                    <a:bodyPr/>
                    <a:lstStyle/>
                    <a:p>
                      <a:r>
                        <a:rPr lang="en-US" dirty="0"/>
                        <a:t>100Mbs</a:t>
                      </a:r>
                      <a:endParaRPr lang="en-PK" dirty="0"/>
                    </a:p>
                  </a:txBody>
                  <a:tcPr/>
                </a:tc>
                <a:tc>
                  <a:txBody>
                    <a:bodyPr/>
                    <a:lstStyle/>
                    <a:p>
                      <a:r>
                        <a:rPr lang="en-US" dirty="0"/>
                        <a:t>19 or 20</a:t>
                      </a:r>
                      <a:endParaRPr lang="en-PK" dirty="0"/>
                    </a:p>
                  </a:txBody>
                  <a:tcPr/>
                </a:tc>
                <a:extLst>
                  <a:ext uri="{0D108BD9-81ED-4DB2-BD59-A6C34878D82A}">
                    <a16:rowId xmlns:a16="http://schemas.microsoft.com/office/drawing/2014/main" val="3726852937"/>
                  </a:ext>
                </a:extLst>
              </a:tr>
              <a:tr h="370840">
                <a:tc>
                  <a:txBody>
                    <a:bodyPr/>
                    <a:lstStyle/>
                    <a:p>
                      <a:r>
                        <a:rPr lang="en-US" dirty="0"/>
                        <a:t>Gig Ethernet</a:t>
                      </a:r>
                      <a:endParaRPr lang="en-PK" dirty="0"/>
                    </a:p>
                  </a:txBody>
                  <a:tcPr/>
                </a:tc>
                <a:tc>
                  <a:txBody>
                    <a:bodyPr/>
                    <a:lstStyle/>
                    <a:p>
                      <a:r>
                        <a:rPr lang="en-US" dirty="0"/>
                        <a:t>1 Gb</a:t>
                      </a:r>
                      <a:endParaRPr lang="en-PK" dirty="0"/>
                    </a:p>
                  </a:txBody>
                  <a:tcPr/>
                </a:tc>
                <a:tc>
                  <a:txBody>
                    <a:bodyPr/>
                    <a:lstStyle/>
                    <a:p>
                      <a:r>
                        <a:rPr lang="en-US" dirty="0"/>
                        <a:t>4</a:t>
                      </a:r>
                      <a:endParaRPr lang="en-PK" dirty="0"/>
                    </a:p>
                  </a:txBody>
                  <a:tcPr/>
                </a:tc>
                <a:extLst>
                  <a:ext uri="{0D108BD9-81ED-4DB2-BD59-A6C34878D82A}">
                    <a16:rowId xmlns:a16="http://schemas.microsoft.com/office/drawing/2014/main" val="3598776839"/>
                  </a:ext>
                </a:extLst>
              </a:tr>
              <a:tr h="370840">
                <a:tc>
                  <a:txBody>
                    <a:bodyPr/>
                    <a:lstStyle/>
                    <a:p>
                      <a:r>
                        <a:rPr lang="en-US" dirty="0"/>
                        <a:t>10 Gigabit Ethernet (10GbE)</a:t>
                      </a:r>
                      <a:endParaRPr lang="en-PK" dirty="0"/>
                    </a:p>
                  </a:txBody>
                  <a:tcPr/>
                </a:tc>
                <a:tc>
                  <a:txBody>
                    <a:bodyPr/>
                    <a:lstStyle/>
                    <a:p>
                      <a:r>
                        <a:rPr lang="en-US" dirty="0"/>
                        <a:t>10 Gbps</a:t>
                      </a:r>
                      <a:endParaRPr lang="en-PK" dirty="0"/>
                    </a:p>
                  </a:txBody>
                  <a:tcPr/>
                </a:tc>
                <a:tc>
                  <a:txBody>
                    <a:bodyPr/>
                    <a:lstStyle/>
                    <a:p>
                      <a:r>
                        <a:rPr lang="en-US" dirty="0"/>
                        <a:t>2</a:t>
                      </a:r>
                      <a:endParaRPr lang="en-PK" dirty="0"/>
                    </a:p>
                  </a:txBody>
                  <a:tcPr/>
                </a:tc>
                <a:extLst>
                  <a:ext uri="{0D108BD9-81ED-4DB2-BD59-A6C34878D82A}">
                    <a16:rowId xmlns:a16="http://schemas.microsoft.com/office/drawing/2014/main" val="1255015727"/>
                  </a:ext>
                </a:extLst>
              </a:tr>
              <a:tr h="370840">
                <a:tc>
                  <a:txBody>
                    <a:bodyPr/>
                    <a:lstStyle/>
                    <a:p>
                      <a:r>
                        <a:rPr lang="en-US" dirty="0"/>
                        <a:t>100 Gigabit Ethernet (100GbE)</a:t>
                      </a:r>
                      <a:endParaRPr lang="en-PK" dirty="0"/>
                    </a:p>
                  </a:txBody>
                  <a:tcPr/>
                </a:tc>
                <a:tc>
                  <a:txBody>
                    <a:bodyPr/>
                    <a:lstStyle/>
                    <a:p>
                      <a:r>
                        <a:rPr lang="en-US" dirty="0"/>
                        <a:t>100 Gbps</a:t>
                      </a:r>
                      <a:endParaRPr lang="en-PK" dirty="0"/>
                    </a:p>
                  </a:txBody>
                  <a:tcPr/>
                </a:tc>
                <a:tc>
                  <a:txBody>
                    <a:bodyPr/>
                    <a:lstStyle/>
                    <a:p>
                      <a:r>
                        <a:rPr lang="en-US" dirty="0"/>
                        <a:t>1</a:t>
                      </a:r>
                      <a:endParaRPr lang="en-PK" dirty="0"/>
                    </a:p>
                  </a:txBody>
                  <a:tcPr/>
                </a:tc>
                <a:extLst>
                  <a:ext uri="{0D108BD9-81ED-4DB2-BD59-A6C34878D82A}">
                    <a16:rowId xmlns:a16="http://schemas.microsoft.com/office/drawing/2014/main" val="3614540233"/>
                  </a:ext>
                </a:extLst>
              </a:tr>
            </a:tbl>
          </a:graphicData>
        </a:graphic>
      </p:graphicFrame>
    </p:spTree>
    <p:extLst>
      <p:ext uri="{BB962C8B-B14F-4D97-AF65-F5344CB8AC3E}">
        <p14:creationId xmlns:p14="http://schemas.microsoft.com/office/powerpoint/2010/main" val="4091373761"/>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AE384-A224-F99C-2433-31F35B68453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1BC1355-B6FC-8451-5260-82B20B5749D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4F8C0F5-5E06-60DE-805C-0D8DABB85626}"/>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3A8D791-FCE5-7B0C-E3AB-0632541E6B4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4A9FDEC5-16B9-659C-FD41-701BFA6A2B13}"/>
              </a:ext>
            </a:extLst>
          </p:cNvPr>
          <p:cNvSpPr txBox="1"/>
          <p:nvPr/>
        </p:nvSpPr>
        <p:spPr>
          <a:xfrm>
            <a:off x="978528" y="113925"/>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Process Algorithm:</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87D0C79A-D306-B2EE-E2F3-710333AB6F37}"/>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295E257C-EA55-9CD1-382B-9A05AF40318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E838FE7-94A1-93B3-AFA9-C03370F81715}"/>
              </a:ext>
            </a:extLst>
          </p:cNvPr>
          <p:cNvSpPr txBox="1"/>
          <p:nvPr/>
        </p:nvSpPr>
        <p:spPr>
          <a:xfrm>
            <a:off x="496118" y="1137191"/>
            <a:ext cx="8151763" cy="1815882"/>
          </a:xfrm>
          <a:prstGeom prst="rect">
            <a:avLst/>
          </a:prstGeom>
          <a:noFill/>
        </p:spPr>
        <p:txBody>
          <a:bodyPr wrap="square">
            <a:spAutoFit/>
          </a:bodyPr>
          <a:lstStyle/>
          <a:p>
            <a:r>
              <a:rPr lang="en-US" dirty="0"/>
              <a:t>Preemption is the process where a device, process, or path automatically takes control when it becomes available again</a:t>
            </a:r>
          </a:p>
          <a:p>
            <a:endParaRPr lang="en-US" dirty="0"/>
          </a:p>
          <a:p>
            <a:endParaRPr lang="en-US" dirty="0"/>
          </a:p>
          <a:p>
            <a:endParaRPr lang="en-US" dirty="0"/>
          </a:p>
          <a:p>
            <a:endParaRPr lang="en-US" dirty="0"/>
          </a:p>
          <a:p>
            <a:r>
              <a:rPr lang="en-US" dirty="0"/>
              <a:t>STP has preemption, meaning if the Root Bridge or Root Port goes down, and later comes back up, it will become the Root Bridge or Root Port again</a:t>
            </a:r>
            <a:endParaRPr lang="en-PK" dirty="0"/>
          </a:p>
        </p:txBody>
      </p:sp>
    </p:spTree>
    <p:extLst>
      <p:ext uri="{BB962C8B-B14F-4D97-AF65-F5344CB8AC3E}">
        <p14:creationId xmlns:p14="http://schemas.microsoft.com/office/powerpoint/2010/main" val="410273063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66C744-4B06-ACCD-F449-2E986EEEAD03}"/>
            </a:ext>
          </a:extLst>
        </p:cNvPr>
        <p:cNvGrpSpPr/>
        <p:nvPr/>
      </p:nvGrpSpPr>
      <p:grpSpPr>
        <a:xfrm>
          <a:off x="0" y="0"/>
          <a:ext cx="0" cy="0"/>
          <a:chOff x="0" y="0"/>
          <a:chExt cx="0" cy="0"/>
        </a:xfrm>
      </p:grpSpPr>
      <p:sp>
        <p:nvSpPr>
          <p:cNvPr id="3" name="Text 1">
            <a:extLst>
              <a:ext uri="{FF2B5EF4-FFF2-40B4-BE49-F238E27FC236}">
                <a16:creationId xmlns:a16="http://schemas.microsoft.com/office/drawing/2014/main" id="{29CE07EC-E590-D363-3769-DBB2944E389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957A568B-05D8-E25D-055E-C4CCF1000BF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57BDE75A-4D14-4836-37BF-2D84C9E9C043}"/>
              </a:ext>
            </a:extLst>
          </p:cNvPr>
          <p:cNvSpPr txBox="1"/>
          <p:nvPr/>
        </p:nvSpPr>
        <p:spPr>
          <a:xfrm>
            <a:off x="2721132" y="56968"/>
            <a:ext cx="7403471"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STP Ports State:</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6733F652-2931-1CA6-CA04-5F7C9959B015}"/>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5E73F51A-A794-D4A2-3555-C54A6402D85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11" name="TextBox 10">
            <a:extLst>
              <a:ext uri="{FF2B5EF4-FFF2-40B4-BE49-F238E27FC236}">
                <a16:creationId xmlns:a16="http://schemas.microsoft.com/office/drawing/2014/main" id="{36DF9612-8A6D-645D-5A30-C487ADE257AB}"/>
              </a:ext>
            </a:extLst>
          </p:cNvPr>
          <p:cNvSpPr txBox="1"/>
          <p:nvPr/>
        </p:nvSpPr>
        <p:spPr>
          <a:xfrm>
            <a:off x="239689" y="721061"/>
            <a:ext cx="3993644" cy="4116512"/>
          </a:xfrm>
          <a:prstGeom prst="rect">
            <a:avLst/>
          </a:prstGeom>
          <a:noFill/>
        </p:spPr>
        <p:txBody>
          <a:bodyPr wrap="square">
            <a:spAutoFit/>
          </a:bodyPr>
          <a:lstStyle/>
          <a:p>
            <a:pPr algn="just"/>
            <a:r>
              <a:rPr lang="en-US" sz="1600" b="1" dirty="0">
                <a:solidFill>
                  <a:srgbClr val="403CCF"/>
                </a:solidFill>
                <a:latin typeface="Libre Baskerville" pitchFamily="34" charset="0"/>
              </a:rPr>
              <a:t>1. Disabled</a:t>
            </a:r>
          </a:p>
          <a:p>
            <a:pPr marL="285750" indent="-285750" algn="just">
              <a:buFont typeface="Wingdings" panose="05000000000000000000" pitchFamily="2" charset="2"/>
              <a:buChar char="ü"/>
            </a:pPr>
            <a:r>
              <a:rPr lang="en-US" sz="1050" b="1" dirty="0"/>
              <a:t>Description: </a:t>
            </a:r>
            <a:r>
              <a:rPr lang="en-US" sz="1050" dirty="0"/>
              <a:t>Port is administratively down or not in STP.</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Traffic</a:t>
            </a:r>
            <a:r>
              <a:rPr lang="en-US" sz="1050" dirty="0"/>
              <a:t>: No traffic sent or received.</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Reason: </a:t>
            </a:r>
            <a:r>
              <a:rPr lang="en-US" sz="1050" dirty="0"/>
              <a:t>Manually disabled or unused</a:t>
            </a:r>
            <a:r>
              <a:rPr lang="en-US" dirty="0"/>
              <a:t>.</a:t>
            </a:r>
          </a:p>
          <a:p>
            <a:pPr algn="just"/>
            <a:endParaRPr lang="en-US" dirty="0"/>
          </a:p>
          <a:p>
            <a:pPr algn="just"/>
            <a:r>
              <a:rPr lang="en-US" sz="1600" b="1" dirty="0">
                <a:solidFill>
                  <a:srgbClr val="403CCF"/>
                </a:solidFill>
                <a:latin typeface="Libre Baskerville" pitchFamily="34" charset="0"/>
              </a:rPr>
              <a:t>2. Blocking</a:t>
            </a:r>
          </a:p>
          <a:p>
            <a:pPr marL="285750" indent="-285750" algn="just">
              <a:buFont typeface="Wingdings" panose="05000000000000000000" pitchFamily="2" charset="2"/>
              <a:buChar char="ü"/>
            </a:pPr>
            <a:r>
              <a:rPr lang="en-US" sz="1050" b="1" dirty="0"/>
              <a:t>Description: </a:t>
            </a:r>
            <a:r>
              <a:rPr lang="en-US" sz="1050" dirty="0"/>
              <a:t>Active port prevents loops by not forwarding traffic.</a:t>
            </a:r>
          </a:p>
          <a:p>
            <a:pPr marL="285750" indent="-285750" algn="just">
              <a:buFont typeface="Wingdings" panose="05000000000000000000" pitchFamily="2" charset="2"/>
              <a:buChar char="ü"/>
            </a:pPr>
            <a:r>
              <a:rPr lang="en-US" sz="1050" b="1" dirty="0"/>
              <a:t>Traffic: </a:t>
            </a:r>
            <a:r>
              <a:rPr lang="en-US" sz="1050" dirty="0"/>
              <a:t>Processes BPDU only.</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Reason: </a:t>
            </a:r>
            <a:r>
              <a:rPr lang="en-US" sz="1050" dirty="0"/>
              <a:t>Backup or alternative path.</a:t>
            </a:r>
          </a:p>
          <a:p>
            <a:pPr algn="just"/>
            <a:endParaRPr lang="en-US" dirty="0"/>
          </a:p>
          <a:p>
            <a:pPr algn="just"/>
            <a:r>
              <a:rPr lang="en-US" sz="1600" b="1" dirty="0">
                <a:solidFill>
                  <a:srgbClr val="403CCF"/>
                </a:solidFill>
                <a:latin typeface="Libre Baskerville" pitchFamily="34" charset="0"/>
              </a:rPr>
              <a:t>3. Listening</a:t>
            </a:r>
          </a:p>
          <a:p>
            <a:pPr marL="285750" indent="-285750" algn="just">
              <a:buFont typeface="Wingdings" panose="05000000000000000000" pitchFamily="2" charset="2"/>
              <a:buChar char="ü"/>
            </a:pPr>
            <a:r>
              <a:rPr lang="en-US" sz="1050" b="1" dirty="0"/>
              <a:t>Description: </a:t>
            </a:r>
            <a:r>
              <a:rPr lang="en-US" sz="1050" dirty="0"/>
              <a:t>Listens for BPDU to check topology and prevent loops.</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Traffic: </a:t>
            </a:r>
            <a:r>
              <a:rPr lang="en-US" sz="1050" dirty="0"/>
              <a:t>No user traffic forwarded.</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Duration: </a:t>
            </a:r>
            <a:r>
              <a:rPr lang="en-US" sz="1050" dirty="0"/>
              <a:t>Temporary during convergence.</a:t>
            </a:r>
          </a:p>
          <a:p>
            <a:pPr algn="just"/>
            <a:endParaRPr lang="en-US" dirty="0"/>
          </a:p>
        </p:txBody>
      </p:sp>
      <p:sp>
        <p:nvSpPr>
          <p:cNvPr id="6" name="TextBox 5">
            <a:extLst>
              <a:ext uri="{FF2B5EF4-FFF2-40B4-BE49-F238E27FC236}">
                <a16:creationId xmlns:a16="http://schemas.microsoft.com/office/drawing/2014/main" id="{4BE241C3-E616-D62F-C2F6-D410CF42D937}"/>
              </a:ext>
            </a:extLst>
          </p:cNvPr>
          <p:cNvSpPr txBox="1"/>
          <p:nvPr/>
        </p:nvSpPr>
        <p:spPr>
          <a:xfrm>
            <a:off x="4572000" y="778749"/>
            <a:ext cx="3701736" cy="3062377"/>
          </a:xfrm>
          <a:prstGeom prst="rect">
            <a:avLst/>
          </a:prstGeom>
          <a:noFill/>
        </p:spPr>
        <p:txBody>
          <a:bodyPr wrap="square">
            <a:spAutoFit/>
          </a:bodyPr>
          <a:lstStyle/>
          <a:p>
            <a:pPr algn="just"/>
            <a:r>
              <a:rPr lang="en-US" sz="1600" b="1" dirty="0">
                <a:solidFill>
                  <a:srgbClr val="403CCF"/>
                </a:solidFill>
                <a:latin typeface="Libre Baskerville" pitchFamily="34" charset="0"/>
              </a:rPr>
              <a:t>4. Learning</a:t>
            </a:r>
          </a:p>
          <a:p>
            <a:pPr marL="285750" indent="-285750" algn="just">
              <a:buFont typeface="Wingdings" panose="05000000000000000000" pitchFamily="2" charset="2"/>
              <a:buChar char="ü"/>
            </a:pPr>
            <a:r>
              <a:rPr lang="en-US" sz="1050" b="1" dirty="0"/>
              <a:t>Description: </a:t>
            </a:r>
            <a:r>
              <a:rPr lang="en-US" sz="1050" dirty="0"/>
              <a:t>The port begins to learn MAC addresses but still does not forward user traffic.</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Traffic: </a:t>
            </a:r>
            <a:r>
              <a:rPr lang="en-US" sz="1050" dirty="0"/>
              <a:t>Processes BPDU and updates the MAC address table.</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Duration: </a:t>
            </a:r>
            <a:r>
              <a:rPr lang="en-US" sz="1050" dirty="0"/>
              <a:t>Temporary state during convergence.</a:t>
            </a:r>
          </a:p>
          <a:p>
            <a:pPr marL="285750" indent="-285750" algn="just">
              <a:buFont typeface="Wingdings" panose="05000000000000000000" pitchFamily="2" charset="2"/>
              <a:buChar char="Ø"/>
            </a:pPr>
            <a:endParaRPr lang="en-US" dirty="0"/>
          </a:p>
          <a:p>
            <a:pPr algn="just"/>
            <a:r>
              <a:rPr lang="en-US" sz="1600" b="1" dirty="0">
                <a:solidFill>
                  <a:srgbClr val="403CCF"/>
                </a:solidFill>
                <a:latin typeface="Libre Baskerville" pitchFamily="34" charset="0"/>
              </a:rPr>
              <a:t>5. Forwarding</a:t>
            </a:r>
          </a:p>
          <a:p>
            <a:pPr marL="285750" indent="-285750" algn="just">
              <a:buFont typeface="Wingdings" panose="05000000000000000000" pitchFamily="2" charset="2"/>
              <a:buChar char="ü"/>
            </a:pPr>
            <a:r>
              <a:rPr lang="en-US" sz="1050" b="1" dirty="0"/>
              <a:t>Description: </a:t>
            </a:r>
            <a:r>
              <a:rPr lang="en-US" sz="1050" dirty="0"/>
              <a:t>The port is fully operational and forwards user traffic.</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Traffic: </a:t>
            </a:r>
            <a:r>
              <a:rPr lang="en-US" sz="1050" dirty="0"/>
              <a:t>Forwards traffic, sends and receives BPDU, and updates the MAC address table.</a:t>
            </a:r>
          </a:p>
          <a:p>
            <a:pPr marL="285750" indent="-285750" algn="just">
              <a:buFont typeface="Wingdings" panose="05000000000000000000" pitchFamily="2" charset="2"/>
              <a:buChar char="ü"/>
            </a:pPr>
            <a:endParaRPr lang="en-US" sz="1050" dirty="0"/>
          </a:p>
          <a:p>
            <a:pPr marL="285750" indent="-285750" algn="just">
              <a:buFont typeface="Wingdings" panose="05000000000000000000" pitchFamily="2" charset="2"/>
              <a:buChar char="ü"/>
            </a:pPr>
            <a:r>
              <a:rPr lang="en-US" sz="1050" b="1" dirty="0"/>
              <a:t>Reason: </a:t>
            </a:r>
            <a:r>
              <a:rPr lang="en-US" sz="1050" dirty="0"/>
              <a:t>Port is part of the active topology.</a:t>
            </a:r>
          </a:p>
        </p:txBody>
      </p:sp>
    </p:spTree>
    <p:extLst>
      <p:ext uri="{BB962C8B-B14F-4D97-AF65-F5344CB8AC3E}">
        <p14:creationId xmlns:p14="http://schemas.microsoft.com/office/powerpoint/2010/main" val="163982643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ABC734-5324-ED76-B3BF-B9FDF0D1F4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B6B540C-128B-9E58-CFC0-94CF0ACE6A2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E1A19E73-B113-A6B1-7F82-5782F40E4CE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7053837-E553-95DF-DC57-FA4144CDD7AF}"/>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8" name="TextBox 7">
            <a:extLst>
              <a:ext uri="{FF2B5EF4-FFF2-40B4-BE49-F238E27FC236}">
                <a16:creationId xmlns:a16="http://schemas.microsoft.com/office/drawing/2014/main" id="{99720A4D-8378-6A08-4266-2945A3E1F052}"/>
              </a:ext>
            </a:extLst>
          </p:cNvPr>
          <p:cNvSpPr txBox="1"/>
          <p:nvPr/>
        </p:nvSpPr>
        <p:spPr>
          <a:xfrm>
            <a:off x="2663394" y="95913"/>
            <a:ext cx="3144739" cy="522131"/>
          </a:xfrm>
          <a:prstGeom prst="rect">
            <a:avLst/>
          </a:prstGeom>
          <a:noFill/>
        </p:spPr>
        <p:txBody>
          <a:bodyPr wrap="square">
            <a:spAutoFit/>
          </a:bodyPr>
          <a:lstStyle/>
          <a:p>
            <a:pPr>
              <a:lnSpc>
                <a:spcPts val="3469"/>
              </a:lnSpc>
            </a:pPr>
            <a:r>
              <a:rPr lang="en-US" sz="2781" b="1" dirty="0">
                <a:solidFill>
                  <a:srgbClr val="403CCF"/>
                </a:solidFill>
                <a:latin typeface="Libre Baskerville" pitchFamily="34" charset="0"/>
              </a:rPr>
              <a:t>Types of STP:</a:t>
            </a:r>
            <a:endParaRPr lang="en-PK" sz="2781" b="1" dirty="0">
              <a:solidFill>
                <a:srgbClr val="403CCF"/>
              </a:solidFill>
              <a:latin typeface="Libre Baskerville" pitchFamily="34" charset="0"/>
            </a:endParaRPr>
          </a:p>
        </p:txBody>
      </p:sp>
      <p:sp>
        <p:nvSpPr>
          <p:cNvPr id="9" name="TextBox 8">
            <a:extLst>
              <a:ext uri="{FF2B5EF4-FFF2-40B4-BE49-F238E27FC236}">
                <a16:creationId xmlns:a16="http://schemas.microsoft.com/office/drawing/2014/main" id="{471141F0-8333-E75A-83A4-F762D93B190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7" name="TextBox 16">
            <a:extLst>
              <a:ext uri="{FF2B5EF4-FFF2-40B4-BE49-F238E27FC236}">
                <a16:creationId xmlns:a16="http://schemas.microsoft.com/office/drawing/2014/main" id="{23848118-4143-BF47-F0DE-6BCD41358ED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544EB6BC-653C-CB4C-3963-2E25C06D71D7}"/>
              </a:ext>
            </a:extLst>
          </p:cNvPr>
          <p:cNvSpPr txBox="1"/>
          <p:nvPr/>
        </p:nvSpPr>
        <p:spPr>
          <a:xfrm>
            <a:off x="314477" y="816049"/>
            <a:ext cx="6382655" cy="738664"/>
          </a:xfrm>
          <a:prstGeom prst="rect">
            <a:avLst/>
          </a:prstGeom>
          <a:noFill/>
        </p:spPr>
        <p:txBody>
          <a:bodyPr wrap="square">
            <a:spAutoFit/>
          </a:bodyPr>
          <a:lstStyle/>
          <a:p>
            <a:pPr marL="342900" indent="-342900">
              <a:buFont typeface="+mj-lt"/>
              <a:buAutoNum type="arabicPeriod"/>
            </a:pPr>
            <a:r>
              <a:rPr lang="en-US" b="1" dirty="0"/>
              <a:t>PVSTP (Per-VLAN Spanning Tree Protocol):Cisco-only.</a:t>
            </a:r>
          </a:p>
          <a:p>
            <a:pPr marL="285750" indent="-285750">
              <a:buFont typeface="Wingdings" panose="05000000000000000000" pitchFamily="2" charset="2"/>
              <a:buChar char="ü"/>
            </a:pPr>
            <a:r>
              <a:rPr lang="en-US" dirty="0"/>
              <a:t>One spanning tree for each VLAN.</a:t>
            </a:r>
          </a:p>
          <a:p>
            <a:pPr marL="285750" indent="-285750">
              <a:buFont typeface="Wingdings" panose="05000000000000000000" pitchFamily="2" charset="2"/>
              <a:buChar char="ü"/>
            </a:pPr>
            <a:r>
              <a:rPr lang="en-US" dirty="0"/>
              <a:t>Better load balancing.</a:t>
            </a:r>
          </a:p>
        </p:txBody>
      </p:sp>
      <p:sp>
        <p:nvSpPr>
          <p:cNvPr id="11" name="TextBox 10">
            <a:extLst>
              <a:ext uri="{FF2B5EF4-FFF2-40B4-BE49-F238E27FC236}">
                <a16:creationId xmlns:a16="http://schemas.microsoft.com/office/drawing/2014/main" id="{126AE22F-A182-E17E-6C88-E9EEA72F058A}"/>
              </a:ext>
            </a:extLst>
          </p:cNvPr>
          <p:cNvSpPr txBox="1"/>
          <p:nvPr/>
        </p:nvSpPr>
        <p:spPr>
          <a:xfrm>
            <a:off x="314478" y="2229986"/>
            <a:ext cx="4572000" cy="738664"/>
          </a:xfrm>
          <a:prstGeom prst="rect">
            <a:avLst/>
          </a:prstGeom>
          <a:noFill/>
        </p:spPr>
        <p:txBody>
          <a:bodyPr wrap="square">
            <a:spAutoFit/>
          </a:bodyPr>
          <a:lstStyle/>
          <a:p>
            <a:pPr marL="342900" indent="-342900">
              <a:buFont typeface="+mj-lt"/>
              <a:buAutoNum type="arabicPeriod" startAt="2"/>
            </a:pPr>
            <a:r>
              <a:rPr lang="en-US" b="1" dirty="0"/>
              <a:t>RSTP (Rapid Spanning Tree Protocol):</a:t>
            </a:r>
          </a:p>
          <a:p>
            <a:pPr marL="285750" indent="-285750">
              <a:buFont typeface="Wingdings" panose="05000000000000000000" pitchFamily="2" charset="2"/>
              <a:buChar char="ü"/>
            </a:pPr>
            <a:r>
              <a:rPr lang="en-US" dirty="0"/>
              <a:t>Faster version of STP.</a:t>
            </a:r>
          </a:p>
          <a:p>
            <a:pPr marL="285750" indent="-285750">
              <a:buFont typeface="Wingdings" panose="05000000000000000000" pitchFamily="2" charset="2"/>
              <a:buChar char="ü"/>
            </a:pPr>
            <a:r>
              <a:rPr lang="en-US" dirty="0"/>
              <a:t>Quick recovery from network changes.</a:t>
            </a:r>
          </a:p>
        </p:txBody>
      </p:sp>
      <p:sp>
        <p:nvSpPr>
          <p:cNvPr id="13" name="TextBox 12">
            <a:extLst>
              <a:ext uri="{FF2B5EF4-FFF2-40B4-BE49-F238E27FC236}">
                <a16:creationId xmlns:a16="http://schemas.microsoft.com/office/drawing/2014/main" id="{C51E5FFB-E558-BBB5-C9AE-1B3D3F86B80E}"/>
              </a:ext>
            </a:extLst>
          </p:cNvPr>
          <p:cNvSpPr txBox="1"/>
          <p:nvPr/>
        </p:nvSpPr>
        <p:spPr>
          <a:xfrm>
            <a:off x="224366" y="3688786"/>
            <a:ext cx="4572000" cy="738664"/>
          </a:xfrm>
          <a:prstGeom prst="rect">
            <a:avLst/>
          </a:prstGeom>
          <a:noFill/>
        </p:spPr>
        <p:txBody>
          <a:bodyPr wrap="square">
            <a:spAutoFit/>
          </a:bodyPr>
          <a:lstStyle/>
          <a:p>
            <a:pPr marL="342900" indent="-342900">
              <a:buFont typeface="+mj-lt"/>
              <a:buAutoNum type="arabicPeriod" startAt="3"/>
            </a:pPr>
            <a:r>
              <a:rPr lang="en-US" b="1" dirty="0"/>
              <a:t>MSTP (Multiple Spanning Tree Protocol):</a:t>
            </a:r>
          </a:p>
          <a:p>
            <a:pPr marL="285750" indent="-285750">
              <a:buFont typeface="Wingdings" panose="05000000000000000000" pitchFamily="2" charset="2"/>
              <a:buChar char="ü"/>
            </a:pPr>
            <a:r>
              <a:rPr lang="en-US" dirty="0"/>
              <a:t>Groups multiple VLANs into one spanning tree.</a:t>
            </a:r>
          </a:p>
          <a:p>
            <a:pPr marL="285750" indent="-285750">
              <a:buFont typeface="Wingdings" panose="05000000000000000000" pitchFamily="2" charset="2"/>
              <a:buChar char="ü"/>
            </a:pPr>
            <a:r>
              <a:rPr lang="en-US" dirty="0"/>
              <a:t>Efficient for large networks.</a:t>
            </a:r>
          </a:p>
        </p:txBody>
      </p:sp>
    </p:spTree>
    <p:extLst>
      <p:ext uri="{BB962C8B-B14F-4D97-AF65-F5344CB8AC3E}">
        <p14:creationId xmlns:p14="http://schemas.microsoft.com/office/powerpoint/2010/main" val="40229101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F2408C-F761-DB86-BCB2-77F7F5AD88A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495CE2-2AE0-15C5-B487-6647E047B820}"/>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307EA6E-2D76-B788-15C1-8F5F5D0ACEA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4B2B1A2E-F7CA-08C9-FD87-A141E8C69DDB}"/>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5A56C46-4433-18AF-4820-4F4B8F7DA81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49A1145-630F-585F-BC56-CC41B787AA2A}"/>
              </a:ext>
            </a:extLst>
          </p:cNvPr>
          <p:cNvSpPr txBox="1"/>
          <p:nvPr/>
        </p:nvSpPr>
        <p:spPr>
          <a:xfrm>
            <a:off x="220280" y="205971"/>
            <a:ext cx="8703440" cy="4736810"/>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a:p>
            <a:pPr algn="just"/>
            <a:endParaRPr lang="en-US" dirty="0"/>
          </a:p>
          <a:p>
            <a:pPr algn="just"/>
            <a:r>
              <a:rPr lang="en-US" dirty="0"/>
              <a:t>Imagine you have a network with 3 VLANs (VLAN 10, VLAN 20, VLAN 30) connected to multiple switches. With PVSTP:</a:t>
            </a:r>
          </a:p>
          <a:p>
            <a:pPr algn="just"/>
            <a:endParaRPr lang="en-US" dirty="0"/>
          </a:p>
          <a:p>
            <a:pPr marL="285750" indent="-285750" algn="just">
              <a:buFont typeface="Wingdings" panose="05000000000000000000" pitchFamily="2" charset="2"/>
              <a:buChar char="Ø"/>
            </a:pPr>
            <a:r>
              <a:rPr lang="en-US" sz="1000" dirty="0"/>
              <a:t>Each VLAN gets its own spanning tree.</a:t>
            </a:r>
          </a:p>
          <a:p>
            <a:pPr marL="285750" indent="-285750" algn="just">
              <a:buFont typeface="Wingdings" panose="05000000000000000000" pitchFamily="2" charset="2"/>
              <a:buChar char="Ø"/>
            </a:pPr>
            <a:endParaRPr lang="en-US" sz="1000" dirty="0"/>
          </a:p>
          <a:p>
            <a:pPr marL="285750" indent="-285750" algn="just">
              <a:buFont typeface="Wingdings" panose="05000000000000000000" pitchFamily="2" charset="2"/>
              <a:buChar char="Ø"/>
            </a:pPr>
            <a:r>
              <a:rPr lang="en-US" sz="1000" dirty="0"/>
              <a:t>VLAN 10 could have one root bridge, VLAN 20 could have a different root bridge, and VLAN 30 a third one.</a:t>
            </a:r>
          </a:p>
          <a:p>
            <a:pPr marL="285750" indent="-285750" algn="just">
              <a:buFont typeface="Wingdings" panose="05000000000000000000" pitchFamily="2" charset="2"/>
              <a:buChar char="Ø"/>
            </a:pPr>
            <a:endParaRPr lang="en-US" sz="1000" dirty="0"/>
          </a:p>
          <a:p>
            <a:pPr marL="285750" indent="-285750" algn="just">
              <a:buFont typeface="Wingdings" panose="05000000000000000000" pitchFamily="2" charset="2"/>
              <a:buChar char="Ø"/>
            </a:pPr>
            <a:r>
              <a:rPr lang="en-US" sz="1000" dirty="0"/>
              <a:t>This allows the network to manage each VLAN separately, improving performance and load balancing.</a:t>
            </a:r>
          </a:p>
          <a:p>
            <a:endParaRPr lang="en-US" dirty="0"/>
          </a:p>
          <a:p>
            <a:endParaRPr lang="en-US" dirty="0"/>
          </a:p>
          <a:p>
            <a:r>
              <a:rPr lang="en-US" b="1" dirty="0"/>
              <a:t>Example Scenario:</a:t>
            </a:r>
          </a:p>
          <a:p>
            <a:pPr algn="just"/>
            <a:r>
              <a:rPr lang="en-US" sz="1000" b="1" dirty="0"/>
              <a:t>VLAN 10: </a:t>
            </a:r>
            <a:r>
              <a:rPr lang="en-US" sz="1000" dirty="0"/>
              <a:t>If Switch A has the lowest Bridge ID for VLAN 10, it will be the root bridge for that VLAN. </a:t>
            </a:r>
          </a:p>
          <a:p>
            <a:pPr algn="just"/>
            <a:r>
              <a:rPr lang="en-US" sz="1000" dirty="0"/>
              <a:t>Other switches (Switch B, Switch C) will learn about Switch A as the root bridge for VLAN 10 and will adjust their paths accordingly.</a:t>
            </a:r>
          </a:p>
          <a:p>
            <a:pPr algn="just"/>
            <a:endParaRPr lang="en-US" sz="1000" dirty="0"/>
          </a:p>
          <a:p>
            <a:pPr algn="just"/>
            <a:r>
              <a:rPr lang="en-US" sz="1000" b="1" dirty="0"/>
              <a:t>VLAN 20: </a:t>
            </a:r>
            <a:r>
              <a:rPr lang="en-US" sz="1000" dirty="0"/>
              <a:t>If Switch B has the lowest Bridge ID for VLAN 20, it will be the root bridge for that VLAN, while Switch A and Switch C will recognize it as the root bridge for VLAN 20.</a:t>
            </a:r>
          </a:p>
          <a:p>
            <a:pPr algn="just"/>
            <a:endParaRPr lang="en-US" sz="1000" dirty="0"/>
          </a:p>
          <a:p>
            <a:pPr algn="just"/>
            <a:r>
              <a:rPr lang="en-US" sz="1000" b="1" dirty="0"/>
              <a:t>VLAN 30: </a:t>
            </a:r>
            <a:r>
              <a:rPr lang="en-US" sz="1000" dirty="0"/>
              <a:t>If Switch C has the lowest Bridge ID for VLAN 30, it will be the root bridge for that VLAN, while the other switches will learn that Switch C is the root for VLAN 30</a:t>
            </a:r>
            <a:r>
              <a:rPr lang="en-US" dirty="0"/>
              <a:t>.</a:t>
            </a:r>
          </a:p>
          <a:p>
            <a:endParaRPr lang="en-US" dirty="0"/>
          </a:p>
          <a:p>
            <a:endParaRPr lang="en-US" dirty="0"/>
          </a:p>
          <a:p>
            <a:endParaRPr lang="en-PK" dirty="0"/>
          </a:p>
        </p:txBody>
      </p:sp>
      <p:sp>
        <p:nvSpPr>
          <p:cNvPr id="17" name="TextBox 16">
            <a:extLst>
              <a:ext uri="{FF2B5EF4-FFF2-40B4-BE49-F238E27FC236}">
                <a16:creationId xmlns:a16="http://schemas.microsoft.com/office/drawing/2014/main" id="{E00E9531-9CBA-69EB-CBDA-B1063B4A530B}"/>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Tree>
    <p:extLst>
      <p:ext uri="{BB962C8B-B14F-4D97-AF65-F5344CB8AC3E}">
        <p14:creationId xmlns:p14="http://schemas.microsoft.com/office/powerpoint/2010/main" val="91725039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6E110-E9A3-084D-D551-0CB9EC577A22}"/>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278DF19-1481-433A-2F00-C02F47D6D813}"/>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C61FD66-E081-77D4-E050-A3629FDF931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7D1F20F-45A9-CB1A-C163-C277953E39E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F7FDE58-C37C-1A32-47B5-2DD0842F9934}"/>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E30ABCEF-4E62-C39A-8931-A9F20037DC9E}"/>
              </a:ext>
            </a:extLst>
          </p:cNvPr>
          <p:cNvSpPr txBox="1"/>
          <p:nvPr/>
        </p:nvSpPr>
        <p:spPr>
          <a:xfrm>
            <a:off x="220280" y="205971"/>
            <a:ext cx="8703440" cy="951158"/>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a:p>
            <a:pPr algn="just"/>
            <a:endParaRPr lang="en-US" dirty="0"/>
          </a:p>
          <a:p>
            <a:pPr algn="just"/>
            <a:r>
              <a:rPr lang="en-US" dirty="0"/>
              <a:t>Practical:</a:t>
            </a:r>
          </a:p>
        </p:txBody>
      </p:sp>
      <p:sp>
        <p:nvSpPr>
          <p:cNvPr id="17" name="TextBox 16">
            <a:extLst>
              <a:ext uri="{FF2B5EF4-FFF2-40B4-BE49-F238E27FC236}">
                <a16:creationId xmlns:a16="http://schemas.microsoft.com/office/drawing/2014/main" id="{FAEDEA88-052C-6B5F-B529-778CE6D2E48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6" name="Picture 5">
            <a:extLst>
              <a:ext uri="{FF2B5EF4-FFF2-40B4-BE49-F238E27FC236}">
                <a16:creationId xmlns:a16="http://schemas.microsoft.com/office/drawing/2014/main" id="{12C7700A-1EE3-7273-508C-8785D2018C94}"/>
              </a:ext>
            </a:extLst>
          </p:cNvPr>
          <p:cNvPicPr>
            <a:picLocks noChangeAspect="1"/>
          </p:cNvPicPr>
          <p:nvPr/>
        </p:nvPicPr>
        <p:blipFill>
          <a:blip r:embed="rId3"/>
          <a:stretch>
            <a:fillRect/>
          </a:stretch>
        </p:blipFill>
        <p:spPr>
          <a:xfrm>
            <a:off x="0" y="1366281"/>
            <a:ext cx="9144000" cy="3777219"/>
          </a:xfrm>
          <a:prstGeom prst="rect">
            <a:avLst/>
          </a:prstGeom>
        </p:spPr>
      </p:pic>
      <p:sp>
        <p:nvSpPr>
          <p:cNvPr id="8" name="TextBox 7">
            <a:extLst>
              <a:ext uri="{FF2B5EF4-FFF2-40B4-BE49-F238E27FC236}">
                <a16:creationId xmlns:a16="http://schemas.microsoft.com/office/drawing/2014/main" id="{F14A2629-174C-003B-1A08-5E97D6463956}"/>
              </a:ext>
            </a:extLst>
          </p:cNvPr>
          <p:cNvSpPr txBox="1"/>
          <p:nvPr/>
        </p:nvSpPr>
        <p:spPr>
          <a:xfrm>
            <a:off x="2000753" y="1481783"/>
            <a:ext cx="688961" cy="369332"/>
          </a:xfrm>
          <a:prstGeom prst="rect">
            <a:avLst/>
          </a:prstGeom>
          <a:noFill/>
        </p:spPr>
        <p:txBody>
          <a:bodyPr wrap="square">
            <a:spAutoFit/>
          </a:bodyPr>
          <a:lstStyle/>
          <a:p>
            <a:r>
              <a:rPr lang="en-US" sz="900" dirty="0"/>
              <a:t>fa0/10 </a:t>
            </a:r>
          </a:p>
          <a:p>
            <a:r>
              <a:rPr lang="en-US" sz="900" dirty="0"/>
              <a:t>fa0/11</a:t>
            </a:r>
          </a:p>
        </p:txBody>
      </p:sp>
      <p:sp>
        <p:nvSpPr>
          <p:cNvPr id="12" name="TextBox 11">
            <a:extLst>
              <a:ext uri="{FF2B5EF4-FFF2-40B4-BE49-F238E27FC236}">
                <a16:creationId xmlns:a16="http://schemas.microsoft.com/office/drawing/2014/main" id="{446CD5A5-3095-F210-FA12-6AA2560F4BEE}"/>
              </a:ext>
            </a:extLst>
          </p:cNvPr>
          <p:cNvSpPr txBox="1"/>
          <p:nvPr/>
        </p:nvSpPr>
        <p:spPr>
          <a:xfrm>
            <a:off x="6482305" y="1451670"/>
            <a:ext cx="660942" cy="369332"/>
          </a:xfrm>
          <a:prstGeom prst="rect">
            <a:avLst/>
          </a:prstGeom>
          <a:noFill/>
        </p:spPr>
        <p:txBody>
          <a:bodyPr wrap="square">
            <a:spAutoFit/>
          </a:bodyPr>
          <a:lstStyle/>
          <a:p>
            <a:r>
              <a:rPr lang="en-US" sz="900" dirty="0"/>
              <a:t>fa0/10 </a:t>
            </a:r>
          </a:p>
          <a:p>
            <a:r>
              <a:rPr lang="en-US" sz="900" dirty="0"/>
              <a:t>fa0/11</a:t>
            </a:r>
          </a:p>
        </p:txBody>
      </p:sp>
    </p:spTree>
    <p:extLst>
      <p:ext uri="{BB962C8B-B14F-4D97-AF65-F5344CB8AC3E}">
        <p14:creationId xmlns:p14="http://schemas.microsoft.com/office/powerpoint/2010/main" val="70437578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847145-C809-C730-2E90-D0EF4E2209C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7488260-408D-D3C5-CA16-ED832E839DE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EA26721-7070-2B09-12CA-CBA07BF33AB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003FEAD-9AEB-08A1-2F8F-8F214C7C2C25}"/>
              </a:ext>
            </a:extLst>
          </p:cNvPr>
          <p:cNvSpPr/>
          <p:nvPr/>
        </p:nvSpPr>
        <p:spPr>
          <a:xfrm>
            <a:off x="496119" y="26972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CE31FF6-A67F-0FE4-523D-C8E5882BFA8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80177B70-B269-C239-69A6-EBC824E4E1AE}"/>
              </a:ext>
            </a:extLst>
          </p:cNvPr>
          <p:cNvSpPr txBox="1"/>
          <p:nvPr/>
        </p:nvSpPr>
        <p:spPr>
          <a:xfrm>
            <a:off x="220280" y="205971"/>
            <a:ext cx="8703440" cy="951158"/>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a:p>
            <a:pPr algn="just"/>
            <a:endParaRPr lang="en-US" dirty="0"/>
          </a:p>
          <a:p>
            <a:pPr algn="just"/>
            <a:r>
              <a:rPr lang="en-US" dirty="0"/>
              <a:t>Practical:</a:t>
            </a:r>
          </a:p>
        </p:txBody>
      </p:sp>
      <p:sp>
        <p:nvSpPr>
          <p:cNvPr id="7" name="TextBox 6">
            <a:extLst>
              <a:ext uri="{FF2B5EF4-FFF2-40B4-BE49-F238E27FC236}">
                <a16:creationId xmlns:a16="http://schemas.microsoft.com/office/drawing/2014/main" id="{ECEA7793-78FB-1E92-7478-C2822FE65F16}"/>
              </a:ext>
            </a:extLst>
          </p:cNvPr>
          <p:cNvSpPr txBox="1"/>
          <p:nvPr/>
        </p:nvSpPr>
        <p:spPr>
          <a:xfrm>
            <a:off x="220280" y="1200716"/>
            <a:ext cx="2429787" cy="37240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Switch A</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10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20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HR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30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Sales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0/1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10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0/2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20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0/3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30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p:txBody>
      </p:sp>
      <p:sp>
        <p:nvSpPr>
          <p:cNvPr id="13" name="TextBox 12">
            <a:extLst>
              <a:ext uri="{FF2B5EF4-FFF2-40B4-BE49-F238E27FC236}">
                <a16:creationId xmlns:a16="http://schemas.microsoft.com/office/drawing/2014/main" id="{8B7827CE-631E-A4DB-D854-426E805F0440}"/>
              </a:ext>
            </a:extLst>
          </p:cNvPr>
          <p:cNvSpPr txBox="1"/>
          <p:nvPr/>
        </p:nvSpPr>
        <p:spPr>
          <a:xfrm>
            <a:off x="2925906" y="1175410"/>
            <a:ext cx="2782119" cy="372409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400" b="0" i="0" u="none" strike="noStrike" kern="0" cap="none" spc="0" normalizeH="0" baseline="0" noProof="0" dirty="0">
                <a:ln>
                  <a:noFill/>
                </a:ln>
                <a:solidFill>
                  <a:srgbClr val="000000"/>
                </a:solidFill>
                <a:effectLst/>
                <a:uLnTx/>
                <a:uFillTx/>
                <a:latin typeface="Arial"/>
                <a:cs typeface="Arial"/>
                <a:sym typeface="Arial"/>
              </a:rPr>
              <a:t>Switch B</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10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20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HR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vlan 30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name Sales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a:t>
            </a:r>
            <a:r>
              <a:rPr kumimoji="0" lang="en-US" sz="800" b="0" i="0" u="none" strike="noStrike" kern="0" cap="none" spc="0" normalizeH="0" baseline="0" noProof="0" dirty="0" err="1">
                <a:ln>
                  <a:noFill/>
                </a:ln>
                <a:solidFill>
                  <a:srgbClr val="000000"/>
                </a:solidFill>
                <a:effectLst/>
                <a:uLnTx/>
                <a:uFillTx/>
                <a:latin typeface="Arial"/>
                <a:cs typeface="Arial"/>
                <a:sym typeface="Arial"/>
              </a:rPr>
              <a:t>vlan</a:t>
            </a:r>
            <a:r>
              <a:rPr kumimoji="0" lang="en-US" sz="800" b="0" i="0" u="none" strike="noStrike" kern="0" cap="none" spc="0" normalizeH="0" baseline="0" noProof="0" dirty="0">
                <a:ln>
                  <a:noFill/>
                </a:ln>
                <a:solidFill>
                  <a:srgbClr val="000000"/>
                </a:solidFill>
                <a:effectLst/>
                <a:uLnTx/>
                <a:uFillTx/>
                <a:latin typeface="Arial"/>
                <a:cs typeface="Arial"/>
                <a:sym typeface="Arial"/>
              </a:rPr>
              <a:t>)#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0/1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10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0/2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20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0/3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access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access vlan 30  </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p:txBody>
      </p:sp>
      <p:sp>
        <p:nvSpPr>
          <p:cNvPr id="15" name="TextBox 14">
            <a:extLst>
              <a:ext uri="{FF2B5EF4-FFF2-40B4-BE49-F238E27FC236}">
                <a16:creationId xmlns:a16="http://schemas.microsoft.com/office/drawing/2014/main" id="{6184964D-5DE0-C01C-2A3B-EAFD46935DB7}"/>
              </a:ext>
            </a:extLst>
          </p:cNvPr>
          <p:cNvSpPr txBox="1"/>
          <p:nvPr/>
        </p:nvSpPr>
        <p:spPr>
          <a:xfrm>
            <a:off x="5655156" y="1200716"/>
            <a:ext cx="2345844" cy="2585323"/>
          </a:xfrm>
          <a:prstGeom prst="rect">
            <a:avLst/>
          </a:prstGeom>
          <a:noFill/>
        </p:spPr>
        <p:txBody>
          <a:bodyPr wrap="square">
            <a:spAutoFit/>
          </a:bodyPr>
          <a:lstStyle/>
          <a:p>
            <a:r>
              <a:rPr lang="en-US" dirty="0" err="1"/>
              <a:t>Trunking</a:t>
            </a:r>
            <a:r>
              <a:rPr lang="en-US" dirty="0"/>
              <a:t> protocol</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0/10 </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trunk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lang="en-US" sz="8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 interface fa 0/11</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switchport mode trunk</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switch(config-if)# exit  </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lang="en-US" sz="8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lang="en-US" sz="800" dirty="0"/>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lvl="0" defTabSz="914400" eaLnBrk="1" fontAlgn="auto" latinLnBrk="0" hangingPunct="1">
              <a:buSzTx/>
              <a:tabLst/>
              <a:defRPr/>
            </a:pPr>
            <a:r>
              <a:rPr lang="en-US">
                <a:highlight>
                  <a:srgbClr val="00FF00"/>
                </a:highlight>
              </a:rPr>
              <a:t>Result:</a:t>
            </a:r>
            <a:endParaRPr lang="en-US" dirty="0">
              <a:highlight>
                <a:srgbClr val="00FF00"/>
              </a:highlight>
            </a:endParaRPr>
          </a:p>
          <a:p>
            <a:pPr marR="0" lvl="0" algn="l" defTabSz="914400" rtl="0" eaLnBrk="1" fontAlgn="auto" latinLnBrk="0" hangingPunct="1">
              <a:lnSpc>
                <a:spcPct val="100000"/>
              </a:lnSpc>
              <a:spcBef>
                <a:spcPts val="0"/>
              </a:spcBef>
              <a:spcAft>
                <a:spcPts val="0"/>
              </a:spcAft>
              <a:buClr>
                <a:srgbClr val="000000"/>
              </a:buClr>
              <a:buSzTx/>
              <a:tabLst/>
              <a:defRPr/>
            </a:pPr>
            <a:r>
              <a:rPr kumimoji="0" lang="en-US" sz="800" b="0" i="0" u="none" strike="noStrike" kern="0" cap="none" spc="0" normalizeH="0" baseline="0" noProof="0" dirty="0">
                <a:ln>
                  <a:noFill/>
                </a:ln>
                <a:solidFill>
                  <a:srgbClr val="000000"/>
                </a:solidFill>
                <a:effectLst/>
                <a:uLnTx/>
                <a:uFillTx/>
                <a:latin typeface="Arial"/>
                <a:cs typeface="Arial"/>
                <a:sym typeface="Arial"/>
              </a:rPr>
              <a:t>#show spanning-tree</a:t>
            </a: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pPr marL="171450" marR="0" lvl="0" indent="-171450" algn="l" defTabSz="914400" rtl="0" eaLnBrk="1" fontAlgn="auto" latinLnBrk="0" hangingPunct="1">
              <a:lnSpc>
                <a:spcPct val="100000"/>
              </a:lnSpc>
              <a:spcBef>
                <a:spcPts val="0"/>
              </a:spcBef>
              <a:spcAft>
                <a:spcPts val="0"/>
              </a:spcAft>
              <a:buClr>
                <a:srgbClr val="000000"/>
              </a:buClr>
              <a:buSzTx/>
              <a:buFont typeface="Wingdings" panose="05000000000000000000" pitchFamily="2" charset="2"/>
              <a:buChar char="q"/>
              <a:tabLst/>
              <a:defRPr/>
            </a:pPr>
            <a:endParaRPr kumimoji="0" lang="en-US" sz="800" b="0" i="0" u="none" strike="noStrike" kern="0" cap="none" spc="0" normalizeH="0" baseline="0" noProof="0" dirty="0">
              <a:ln>
                <a:noFill/>
              </a:ln>
              <a:solidFill>
                <a:srgbClr val="000000"/>
              </a:solidFill>
              <a:effectLst/>
              <a:uLnTx/>
              <a:uFillTx/>
              <a:latin typeface="Arial"/>
              <a:cs typeface="Arial"/>
              <a:sym typeface="Arial"/>
            </a:endParaRPr>
          </a:p>
          <a:p>
            <a:endParaRPr lang="en-PK" dirty="0"/>
          </a:p>
        </p:txBody>
      </p:sp>
    </p:spTree>
    <p:extLst>
      <p:ext uri="{BB962C8B-B14F-4D97-AF65-F5344CB8AC3E}">
        <p14:creationId xmlns:p14="http://schemas.microsoft.com/office/powerpoint/2010/main" val="265568457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A273DA-619E-47BE-EE85-0FE093CC03C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AEE449-2821-CB8C-F3CF-14356050B30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447F1834-6D56-6D3D-120A-9C517C3A71E7}"/>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6B3B074-1056-EDA6-FC1F-FCB804ECDE6F}"/>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D396F395-0CCB-3E53-6751-F25FFB1CA8B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2C48BE4-78E1-8AAC-6139-642CE3EF3D31}"/>
              </a:ext>
            </a:extLst>
          </p:cNvPr>
          <p:cNvSpPr txBox="1"/>
          <p:nvPr/>
        </p:nvSpPr>
        <p:spPr>
          <a:xfrm>
            <a:off x="220280" y="205971"/>
            <a:ext cx="8703440" cy="520271"/>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p:txBody>
      </p:sp>
      <p:sp>
        <p:nvSpPr>
          <p:cNvPr id="17" name="TextBox 16">
            <a:extLst>
              <a:ext uri="{FF2B5EF4-FFF2-40B4-BE49-F238E27FC236}">
                <a16:creationId xmlns:a16="http://schemas.microsoft.com/office/drawing/2014/main" id="{DB067E16-8742-55EA-B664-2F407BF93E51}"/>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6" name="Picture 5">
            <a:extLst>
              <a:ext uri="{FF2B5EF4-FFF2-40B4-BE49-F238E27FC236}">
                <a16:creationId xmlns:a16="http://schemas.microsoft.com/office/drawing/2014/main" id="{60ED41E1-2FE5-0E58-ED9F-DE6CF5E275E5}"/>
              </a:ext>
            </a:extLst>
          </p:cNvPr>
          <p:cNvPicPr>
            <a:picLocks noChangeAspect="1"/>
          </p:cNvPicPr>
          <p:nvPr/>
        </p:nvPicPr>
        <p:blipFill>
          <a:blip r:embed="rId3"/>
          <a:stretch>
            <a:fillRect/>
          </a:stretch>
        </p:blipFill>
        <p:spPr>
          <a:xfrm>
            <a:off x="5506206" y="3555485"/>
            <a:ext cx="3637794" cy="1588015"/>
          </a:xfrm>
          <a:prstGeom prst="rect">
            <a:avLst/>
          </a:prstGeom>
        </p:spPr>
      </p:pic>
      <p:sp>
        <p:nvSpPr>
          <p:cNvPr id="12" name="TextBox 11">
            <a:extLst>
              <a:ext uri="{FF2B5EF4-FFF2-40B4-BE49-F238E27FC236}">
                <a16:creationId xmlns:a16="http://schemas.microsoft.com/office/drawing/2014/main" id="{26CA2203-09B0-EA53-D282-AB663E673AB0}"/>
              </a:ext>
            </a:extLst>
          </p:cNvPr>
          <p:cNvSpPr txBox="1"/>
          <p:nvPr/>
        </p:nvSpPr>
        <p:spPr>
          <a:xfrm>
            <a:off x="6180301" y="3648338"/>
            <a:ext cx="914400" cy="215444"/>
          </a:xfrm>
          <a:prstGeom prst="rect">
            <a:avLst/>
          </a:prstGeom>
          <a:noFill/>
        </p:spPr>
        <p:txBody>
          <a:bodyPr wrap="square">
            <a:spAutoFit/>
          </a:bodyPr>
          <a:lstStyle/>
          <a:p>
            <a:r>
              <a:rPr lang="en-US" sz="800" dirty="0"/>
              <a:t>Switch A</a:t>
            </a:r>
            <a:endParaRPr lang="en-PK" sz="800" dirty="0"/>
          </a:p>
        </p:txBody>
      </p:sp>
      <p:sp>
        <p:nvSpPr>
          <p:cNvPr id="14" name="TextBox 13">
            <a:extLst>
              <a:ext uri="{FF2B5EF4-FFF2-40B4-BE49-F238E27FC236}">
                <a16:creationId xmlns:a16="http://schemas.microsoft.com/office/drawing/2014/main" id="{5A5B6685-B814-EFC9-5B56-F8D3C778E0DA}"/>
              </a:ext>
            </a:extLst>
          </p:cNvPr>
          <p:cNvSpPr txBox="1"/>
          <p:nvPr/>
        </p:nvSpPr>
        <p:spPr>
          <a:xfrm>
            <a:off x="7768795" y="3665669"/>
            <a:ext cx="918005" cy="215444"/>
          </a:xfrm>
          <a:prstGeom prst="rect">
            <a:avLst/>
          </a:prstGeom>
          <a:noFill/>
        </p:spPr>
        <p:txBody>
          <a:bodyPr wrap="square">
            <a:spAutoFit/>
          </a:bodyPr>
          <a:lstStyle/>
          <a:p>
            <a:r>
              <a:rPr lang="en-US" sz="800" dirty="0"/>
              <a:t>Switch B</a:t>
            </a:r>
            <a:endParaRPr lang="en-PK" sz="800" dirty="0"/>
          </a:p>
        </p:txBody>
      </p:sp>
      <p:sp>
        <p:nvSpPr>
          <p:cNvPr id="20" name="TextBox 19">
            <a:extLst>
              <a:ext uri="{FF2B5EF4-FFF2-40B4-BE49-F238E27FC236}">
                <a16:creationId xmlns:a16="http://schemas.microsoft.com/office/drawing/2014/main" id="{EE7A10BB-4026-CED4-B529-B038F84B8201}"/>
              </a:ext>
            </a:extLst>
          </p:cNvPr>
          <p:cNvSpPr txBox="1"/>
          <p:nvPr/>
        </p:nvSpPr>
        <p:spPr>
          <a:xfrm>
            <a:off x="381819" y="1091313"/>
            <a:ext cx="4572000" cy="338554"/>
          </a:xfrm>
          <a:prstGeom prst="rect">
            <a:avLst/>
          </a:prstGeom>
          <a:noFill/>
        </p:spPr>
        <p:txBody>
          <a:bodyPr wrap="square">
            <a:spAutoFit/>
          </a:bodyPr>
          <a:lstStyle/>
          <a:p>
            <a:pPr marL="285750" indent="-285750">
              <a:buFont typeface="Wingdings" panose="05000000000000000000" pitchFamily="2" charset="2"/>
              <a:buChar char="q"/>
            </a:pPr>
            <a:r>
              <a:rPr lang="en-US" sz="1600" dirty="0">
                <a:solidFill>
                  <a:schemeClr val="bg1"/>
                </a:solidFill>
                <a:latin typeface="Libre Baskerville" pitchFamily="34" charset="0"/>
              </a:rPr>
              <a:t>Switch# show spanning-tree</a:t>
            </a:r>
          </a:p>
        </p:txBody>
      </p:sp>
      <p:sp>
        <p:nvSpPr>
          <p:cNvPr id="22" name="TextBox 21">
            <a:extLst>
              <a:ext uri="{FF2B5EF4-FFF2-40B4-BE49-F238E27FC236}">
                <a16:creationId xmlns:a16="http://schemas.microsoft.com/office/drawing/2014/main" id="{1BC1104A-AAEE-C86A-FD50-1D958D2426BA}"/>
              </a:ext>
            </a:extLst>
          </p:cNvPr>
          <p:cNvSpPr txBox="1"/>
          <p:nvPr/>
        </p:nvSpPr>
        <p:spPr>
          <a:xfrm>
            <a:off x="358199" y="1746067"/>
            <a:ext cx="8427601" cy="938719"/>
          </a:xfrm>
          <a:prstGeom prst="rect">
            <a:avLst/>
          </a:prstGeom>
          <a:noFill/>
        </p:spPr>
        <p:txBody>
          <a:bodyPr wrap="square">
            <a:spAutoFit/>
          </a:bodyPr>
          <a:lstStyle/>
          <a:p>
            <a:pPr marL="285750" indent="-285750">
              <a:buFont typeface="Wingdings" panose="05000000000000000000" pitchFamily="2" charset="2"/>
              <a:buChar char="ü"/>
            </a:pPr>
            <a:r>
              <a:rPr lang="en-US" sz="1100" dirty="0"/>
              <a:t>In the root bridge, only the root bridge information will be displayed (including the root ID and bridge ID).</a:t>
            </a:r>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endParaRPr lang="en-US" sz="1100" dirty="0"/>
          </a:p>
          <a:p>
            <a:pPr marL="285750" indent="-285750">
              <a:buFont typeface="Wingdings" panose="05000000000000000000" pitchFamily="2" charset="2"/>
              <a:buChar char="ü"/>
            </a:pPr>
            <a:r>
              <a:rPr lang="en-US" sz="1100" dirty="0"/>
              <a:t>In non-root bridges, the root ID will show the root bridge information, while the bridge ID will display the non-root bridge's information.</a:t>
            </a:r>
            <a:endParaRPr lang="en-PK" sz="1100" dirty="0"/>
          </a:p>
        </p:txBody>
      </p:sp>
    </p:spTree>
    <p:extLst>
      <p:ext uri="{BB962C8B-B14F-4D97-AF65-F5344CB8AC3E}">
        <p14:creationId xmlns:p14="http://schemas.microsoft.com/office/powerpoint/2010/main" val="42923546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769F9-D6A5-D931-EAAC-DED09FC33A1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25DD65F-AAB1-3FF5-1085-C71527CDAFFD}"/>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0A9AF774-2099-7A4B-E02F-51611A9999D1}"/>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E8B8D8F-B9BE-CC07-B52A-14771ADC635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B60EAA2-E263-E87E-98E2-DC90C02A8E2C}"/>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17B8A990-E072-0775-1B70-869CC90AB2CF}"/>
              </a:ext>
            </a:extLst>
          </p:cNvPr>
          <p:cNvSpPr txBox="1"/>
          <p:nvPr/>
        </p:nvSpPr>
        <p:spPr>
          <a:xfrm>
            <a:off x="220280" y="205971"/>
            <a:ext cx="8703440" cy="520271"/>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p:txBody>
      </p:sp>
      <p:sp>
        <p:nvSpPr>
          <p:cNvPr id="17" name="TextBox 16">
            <a:extLst>
              <a:ext uri="{FF2B5EF4-FFF2-40B4-BE49-F238E27FC236}">
                <a16:creationId xmlns:a16="http://schemas.microsoft.com/office/drawing/2014/main" id="{7CC7C821-A2B5-9714-4189-D3BE3ACB020A}"/>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pic>
        <p:nvPicPr>
          <p:cNvPr id="6" name="Picture 5">
            <a:extLst>
              <a:ext uri="{FF2B5EF4-FFF2-40B4-BE49-F238E27FC236}">
                <a16:creationId xmlns:a16="http://schemas.microsoft.com/office/drawing/2014/main" id="{A69AAC03-652E-587A-8DBC-F555C0C0B8A6}"/>
              </a:ext>
            </a:extLst>
          </p:cNvPr>
          <p:cNvPicPr>
            <a:picLocks noChangeAspect="1"/>
          </p:cNvPicPr>
          <p:nvPr/>
        </p:nvPicPr>
        <p:blipFill>
          <a:blip r:embed="rId3"/>
          <a:stretch>
            <a:fillRect/>
          </a:stretch>
        </p:blipFill>
        <p:spPr>
          <a:xfrm>
            <a:off x="5506206" y="3555485"/>
            <a:ext cx="3637794" cy="1588015"/>
          </a:xfrm>
          <a:prstGeom prst="rect">
            <a:avLst/>
          </a:prstGeom>
        </p:spPr>
      </p:pic>
      <p:sp>
        <p:nvSpPr>
          <p:cNvPr id="12" name="TextBox 11">
            <a:extLst>
              <a:ext uri="{FF2B5EF4-FFF2-40B4-BE49-F238E27FC236}">
                <a16:creationId xmlns:a16="http://schemas.microsoft.com/office/drawing/2014/main" id="{5FB5A15E-B23E-A89F-EB78-9335E7ED6D93}"/>
              </a:ext>
            </a:extLst>
          </p:cNvPr>
          <p:cNvSpPr txBox="1"/>
          <p:nvPr/>
        </p:nvSpPr>
        <p:spPr>
          <a:xfrm>
            <a:off x="6180301" y="3648338"/>
            <a:ext cx="914400" cy="215444"/>
          </a:xfrm>
          <a:prstGeom prst="rect">
            <a:avLst/>
          </a:prstGeom>
          <a:noFill/>
        </p:spPr>
        <p:txBody>
          <a:bodyPr wrap="square">
            <a:spAutoFit/>
          </a:bodyPr>
          <a:lstStyle/>
          <a:p>
            <a:r>
              <a:rPr lang="en-US" sz="800" dirty="0"/>
              <a:t>Switch A</a:t>
            </a:r>
            <a:endParaRPr lang="en-PK" sz="800" dirty="0"/>
          </a:p>
        </p:txBody>
      </p:sp>
      <p:sp>
        <p:nvSpPr>
          <p:cNvPr id="14" name="TextBox 13">
            <a:extLst>
              <a:ext uri="{FF2B5EF4-FFF2-40B4-BE49-F238E27FC236}">
                <a16:creationId xmlns:a16="http://schemas.microsoft.com/office/drawing/2014/main" id="{16B06E83-C28A-E32E-F15F-2679BC171F55}"/>
              </a:ext>
            </a:extLst>
          </p:cNvPr>
          <p:cNvSpPr txBox="1"/>
          <p:nvPr/>
        </p:nvSpPr>
        <p:spPr>
          <a:xfrm>
            <a:off x="7768795" y="3665669"/>
            <a:ext cx="918005" cy="215444"/>
          </a:xfrm>
          <a:prstGeom prst="rect">
            <a:avLst/>
          </a:prstGeom>
          <a:noFill/>
        </p:spPr>
        <p:txBody>
          <a:bodyPr wrap="square">
            <a:spAutoFit/>
          </a:bodyPr>
          <a:lstStyle/>
          <a:p>
            <a:r>
              <a:rPr lang="en-US" sz="800" dirty="0"/>
              <a:t>Switch B</a:t>
            </a:r>
            <a:endParaRPr lang="en-PK" sz="800" dirty="0"/>
          </a:p>
        </p:txBody>
      </p:sp>
      <p:sp>
        <p:nvSpPr>
          <p:cNvPr id="20" name="TextBox 19">
            <a:extLst>
              <a:ext uri="{FF2B5EF4-FFF2-40B4-BE49-F238E27FC236}">
                <a16:creationId xmlns:a16="http://schemas.microsoft.com/office/drawing/2014/main" id="{698BA68F-531E-5A49-240C-F7DD91A4A47A}"/>
              </a:ext>
            </a:extLst>
          </p:cNvPr>
          <p:cNvSpPr txBox="1"/>
          <p:nvPr/>
        </p:nvSpPr>
        <p:spPr>
          <a:xfrm>
            <a:off x="381818" y="1091313"/>
            <a:ext cx="5316247" cy="307777"/>
          </a:xfrm>
          <a:prstGeom prst="rect">
            <a:avLst/>
          </a:prstGeom>
          <a:noFill/>
        </p:spPr>
        <p:txBody>
          <a:bodyPr wrap="square">
            <a:spAutoFit/>
          </a:bodyPr>
          <a:lstStyle/>
          <a:p>
            <a:r>
              <a:rPr lang="en-US" b="1" dirty="0"/>
              <a:t>To Make Switch-A a root bridge manually by priority:</a:t>
            </a:r>
          </a:p>
        </p:txBody>
      </p:sp>
      <p:sp>
        <p:nvSpPr>
          <p:cNvPr id="7" name="TextBox 6">
            <a:extLst>
              <a:ext uri="{FF2B5EF4-FFF2-40B4-BE49-F238E27FC236}">
                <a16:creationId xmlns:a16="http://schemas.microsoft.com/office/drawing/2014/main" id="{BF99626E-5679-189C-D24A-D0DFDA665CD7}"/>
              </a:ext>
            </a:extLst>
          </p:cNvPr>
          <p:cNvSpPr txBox="1"/>
          <p:nvPr/>
        </p:nvSpPr>
        <p:spPr>
          <a:xfrm>
            <a:off x="381817" y="1855403"/>
            <a:ext cx="6814850" cy="1692771"/>
          </a:xfrm>
          <a:prstGeom prst="rect">
            <a:avLst/>
          </a:prstGeom>
          <a:noFill/>
        </p:spPr>
        <p:txBody>
          <a:bodyPr wrap="square">
            <a:spAutoFit/>
          </a:bodyPr>
          <a:lstStyle/>
          <a:p>
            <a:pPr marL="285750" indent="-285750">
              <a:buFont typeface="Wingdings" panose="05000000000000000000" pitchFamily="2" charset="2"/>
              <a:buChar char="q"/>
            </a:pPr>
            <a:r>
              <a:rPr lang="en-PK" sz="1600" b="1" dirty="0">
                <a:solidFill>
                  <a:schemeClr val="bg1"/>
                </a:solidFill>
                <a:latin typeface="Libre Baskerville" pitchFamily="34" charset="0"/>
              </a:rPr>
              <a:t>Switch</a:t>
            </a:r>
            <a:r>
              <a:rPr lang="en-US" sz="1600" b="1" dirty="0">
                <a:solidFill>
                  <a:schemeClr val="bg1"/>
                </a:solidFill>
                <a:latin typeface="Libre Baskerville" pitchFamily="34" charset="0"/>
              </a:rPr>
              <a:t>A</a:t>
            </a:r>
            <a:r>
              <a:rPr lang="en-PK" sz="1600" b="1" dirty="0">
                <a:solidFill>
                  <a:schemeClr val="bg1"/>
                </a:solidFill>
                <a:latin typeface="Libre Baskerville" pitchFamily="34" charset="0"/>
              </a:rPr>
              <a:t>(config)# spanning-tree vlan 1 priority 28672</a:t>
            </a:r>
            <a:endParaRPr lang="en-US" sz="1600" b="1" dirty="0">
              <a:solidFill>
                <a:schemeClr val="bg1"/>
              </a:solidFill>
              <a:latin typeface="Libre Baskerville" pitchFamily="34" charset="0"/>
            </a:endParaRPr>
          </a:p>
          <a:p>
            <a:endParaRPr lang="en-US" sz="1600" b="1" u="sng" dirty="0">
              <a:solidFill>
                <a:schemeClr val="bg1"/>
              </a:solidFill>
              <a:latin typeface="Libre Baskerville" pitchFamily="34" charset="0"/>
            </a:endParaRPr>
          </a:p>
          <a:p>
            <a:r>
              <a:rPr lang="en-US" dirty="0">
                <a:solidFill>
                  <a:schemeClr val="bg1"/>
                </a:solidFill>
              </a:rPr>
              <a:t>		Or </a:t>
            </a:r>
          </a:p>
          <a:p>
            <a:endParaRPr lang="en-US" dirty="0">
              <a:solidFill>
                <a:schemeClr val="bg1"/>
              </a:solidFill>
            </a:endParaRPr>
          </a:p>
          <a:p>
            <a:pPr marL="285750" indent="-285750">
              <a:buFont typeface="Wingdings" panose="05000000000000000000" pitchFamily="2" charset="2"/>
              <a:buChar char="q"/>
            </a:pPr>
            <a:r>
              <a:rPr lang="en-PK" sz="1600" b="1" dirty="0">
                <a:solidFill>
                  <a:schemeClr val="bg1"/>
                </a:solidFill>
                <a:latin typeface="Libre Baskerville" pitchFamily="34" charset="0"/>
              </a:rPr>
              <a:t>Switch</a:t>
            </a:r>
            <a:r>
              <a:rPr lang="en-US" sz="1600" b="1" dirty="0">
                <a:solidFill>
                  <a:schemeClr val="bg1"/>
                </a:solidFill>
                <a:latin typeface="Libre Baskerville" pitchFamily="34" charset="0"/>
              </a:rPr>
              <a:t>A</a:t>
            </a:r>
            <a:r>
              <a:rPr lang="en-PK" sz="1600" b="1" dirty="0">
                <a:solidFill>
                  <a:schemeClr val="bg1"/>
                </a:solidFill>
                <a:latin typeface="Libre Baskerville" pitchFamily="34" charset="0"/>
              </a:rPr>
              <a:t>(config)# spanning-tree vlan 1 root primary</a:t>
            </a:r>
            <a:endParaRPr lang="en-US" sz="1600" b="1" dirty="0">
              <a:solidFill>
                <a:schemeClr val="bg1"/>
              </a:solidFill>
              <a:latin typeface="Libre Baskerville" pitchFamily="34" charset="0"/>
            </a:endParaRPr>
          </a:p>
          <a:p>
            <a:r>
              <a:rPr lang="en-US" dirty="0"/>
              <a:t>This command will automatically set the lowest priority</a:t>
            </a:r>
            <a:endParaRPr lang="en-PK" dirty="0"/>
          </a:p>
          <a:p>
            <a:endParaRPr lang="en-US" dirty="0"/>
          </a:p>
        </p:txBody>
      </p:sp>
      <p:sp>
        <p:nvSpPr>
          <p:cNvPr id="15" name="TextBox 14">
            <a:extLst>
              <a:ext uri="{FF2B5EF4-FFF2-40B4-BE49-F238E27FC236}">
                <a16:creationId xmlns:a16="http://schemas.microsoft.com/office/drawing/2014/main" id="{36CBA01F-47A8-6A38-9D3A-180D43A8BCFC}"/>
              </a:ext>
            </a:extLst>
          </p:cNvPr>
          <p:cNvSpPr txBox="1"/>
          <p:nvPr/>
        </p:nvSpPr>
        <p:spPr>
          <a:xfrm>
            <a:off x="381817" y="4158990"/>
            <a:ext cx="3216611" cy="1138773"/>
          </a:xfrm>
          <a:prstGeom prst="rect">
            <a:avLst/>
          </a:prstGeom>
          <a:noFill/>
        </p:spPr>
        <p:txBody>
          <a:bodyPr wrap="square">
            <a:spAutoFit/>
          </a:bodyPr>
          <a:lstStyle/>
          <a:p>
            <a:r>
              <a:rPr lang="en-US" sz="900" b="1" dirty="0"/>
              <a:t>To make Switch A the root bridge for VLAN 10, VLAN 20, and VLAN 30, you can use the following commands:</a:t>
            </a:r>
          </a:p>
          <a:p>
            <a:endParaRPr lang="en-US" sz="900" b="1" dirty="0"/>
          </a:p>
          <a:p>
            <a:r>
              <a:rPr lang="en-US" sz="900" dirty="0"/>
              <a:t>SwitchA(config)# spanning-tree vlan 10 priority 28672</a:t>
            </a:r>
          </a:p>
          <a:p>
            <a:r>
              <a:rPr lang="en-US" sz="900" dirty="0"/>
              <a:t>SwitchA(config)# spanning-tree vlan 20 priority 28672</a:t>
            </a:r>
          </a:p>
          <a:p>
            <a:r>
              <a:rPr lang="en-US" sz="900" dirty="0"/>
              <a:t>SwitchA(config)# spanning-tree vlan 30 priority 28672</a:t>
            </a:r>
          </a:p>
          <a:p>
            <a:endParaRPr lang="en-PK" dirty="0"/>
          </a:p>
        </p:txBody>
      </p:sp>
    </p:spTree>
    <p:extLst>
      <p:ext uri="{BB962C8B-B14F-4D97-AF65-F5344CB8AC3E}">
        <p14:creationId xmlns:p14="http://schemas.microsoft.com/office/powerpoint/2010/main" val="25406567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BB3FFB-080A-34A2-ADD4-277144AA413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680EF27-F899-C804-906F-D50CD30A79BB}"/>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9EC2DD1-63C9-E560-74C6-F10B432816D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5E83A6BF-D2E8-DDDA-FC33-8BB57EB8B01D}"/>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916448A-4C2C-29ED-65AB-DC6517899B1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A18F053-EC91-9D03-3779-01E2F578FB92}"/>
              </a:ext>
            </a:extLst>
          </p:cNvPr>
          <p:cNvSpPr txBox="1"/>
          <p:nvPr/>
        </p:nvSpPr>
        <p:spPr>
          <a:xfrm>
            <a:off x="220280" y="205971"/>
            <a:ext cx="8703440" cy="520271"/>
          </a:xfrm>
          <a:prstGeom prst="rect">
            <a:avLst/>
          </a:prstGeom>
          <a:noFill/>
        </p:spPr>
        <p:txBody>
          <a:bodyPr wrap="square">
            <a:spAutoFit/>
          </a:bodyPr>
          <a:lstStyle/>
          <a:p>
            <a:r>
              <a:rPr lang="en-US" sz="2781" b="1" dirty="0">
                <a:solidFill>
                  <a:srgbClr val="403CCF"/>
                </a:solidFill>
                <a:latin typeface="Libre Baskerville" pitchFamily="34" charset="0"/>
              </a:rPr>
              <a:t>PVSTP (Per-VLAN Spanning Tree Protocol):</a:t>
            </a:r>
          </a:p>
        </p:txBody>
      </p:sp>
      <p:sp>
        <p:nvSpPr>
          <p:cNvPr id="17" name="TextBox 16">
            <a:extLst>
              <a:ext uri="{FF2B5EF4-FFF2-40B4-BE49-F238E27FC236}">
                <a16:creationId xmlns:a16="http://schemas.microsoft.com/office/drawing/2014/main" id="{B8874268-5A93-60EF-9FFA-FACB57DEC596}"/>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20" name="TextBox 19">
            <a:extLst>
              <a:ext uri="{FF2B5EF4-FFF2-40B4-BE49-F238E27FC236}">
                <a16:creationId xmlns:a16="http://schemas.microsoft.com/office/drawing/2014/main" id="{7A49DD97-DE84-61C8-B6DD-B9F2D75A9ACE}"/>
              </a:ext>
            </a:extLst>
          </p:cNvPr>
          <p:cNvSpPr txBox="1"/>
          <p:nvPr/>
        </p:nvSpPr>
        <p:spPr>
          <a:xfrm>
            <a:off x="381819" y="852095"/>
            <a:ext cx="7695382" cy="3939540"/>
          </a:xfrm>
          <a:prstGeom prst="rect">
            <a:avLst/>
          </a:prstGeom>
          <a:noFill/>
        </p:spPr>
        <p:txBody>
          <a:bodyPr wrap="square">
            <a:spAutoFit/>
          </a:bodyPr>
          <a:lstStyle/>
          <a:p>
            <a:r>
              <a:rPr lang="en-US" sz="1000" dirty="0"/>
              <a:t>You change the root bridge to control the path that traffic takes for performance, load balancing, and stability.</a:t>
            </a:r>
          </a:p>
          <a:p>
            <a:endParaRPr lang="en-US" sz="1000" dirty="0"/>
          </a:p>
          <a:p>
            <a:r>
              <a:rPr lang="en-US" sz="1000" dirty="0"/>
              <a:t>Example:</a:t>
            </a:r>
          </a:p>
          <a:p>
            <a:endParaRPr lang="en-US" sz="1000" dirty="0"/>
          </a:p>
          <a:p>
            <a:r>
              <a:rPr lang="en-US" sz="1000" dirty="0"/>
              <a:t>You have two switches (A and B) connected by two trunk links and have multiple VLANs.</a:t>
            </a:r>
          </a:p>
          <a:p>
            <a:pPr marL="171450" indent="-171450">
              <a:buFont typeface="Wingdings" panose="05000000000000000000" pitchFamily="2" charset="2"/>
              <a:buChar char="ü"/>
            </a:pPr>
            <a:r>
              <a:rPr lang="en-US" sz="1000" dirty="0"/>
              <a:t>VLAN 10 (IT)</a:t>
            </a:r>
          </a:p>
          <a:p>
            <a:pPr marL="171450" indent="-171450">
              <a:buFont typeface="Wingdings" panose="05000000000000000000" pitchFamily="2" charset="2"/>
              <a:buChar char="ü"/>
            </a:pPr>
            <a:r>
              <a:rPr lang="en-US" sz="1000" dirty="0"/>
              <a:t>VLAN 20 (HR)</a:t>
            </a:r>
          </a:p>
          <a:p>
            <a:pPr marL="171450" indent="-171450">
              <a:buFont typeface="Wingdings" panose="05000000000000000000" pitchFamily="2" charset="2"/>
              <a:buChar char="ü"/>
            </a:pPr>
            <a:r>
              <a:rPr lang="en-US" sz="1000" dirty="0"/>
              <a:t>VLAN 30 (Sales)</a:t>
            </a:r>
          </a:p>
          <a:p>
            <a:endParaRPr lang="en-US" sz="1000" dirty="0"/>
          </a:p>
          <a:p>
            <a:r>
              <a:rPr lang="en-US" sz="1000" dirty="0"/>
              <a:t>By default, one of the switches (e.g., Switch B) may become the root for all VLANs — because it happens to have the lowest Bridge ID.</a:t>
            </a:r>
          </a:p>
          <a:p>
            <a:endParaRPr lang="en-US" sz="1000" dirty="0"/>
          </a:p>
          <a:p>
            <a:r>
              <a:rPr lang="en-US" sz="1000" dirty="0"/>
              <a:t>That means: </a:t>
            </a:r>
          </a:p>
          <a:p>
            <a:pPr marL="171450" indent="-171450">
              <a:buFont typeface="Wingdings" panose="05000000000000000000" pitchFamily="2" charset="2"/>
              <a:buChar char="ü"/>
            </a:pPr>
            <a:r>
              <a:rPr lang="en-US" sz="1000" dirty="0"/>
              <a:t>All VLANs will forward traffic through Switch B, and Switch A will block one of its ports for all VLANs.</a:t>
            </a:r>
          </a:p>
          <a:p>
            <a:pPr marL="171450" indent="-171450">
              <a:buFont typeface="Wingdings" panose="05000000000000000000" pitchFamily="2" charset="2"/>
              <a:buChar char="ü"/>
            </a:pPr>
            <a:r>
              <a:rPr lang="en-US" sz="1000" dirty="0"/>
              <a:t>So → only one link is active, the other is blocked for all VLANs.</a:t>
            </a:r>
          </a:p>
          <a:p>
            <a:pPr marL="171450" indent="-171450">
              <a:buFont typeface="Wingdings" panose="05000000000000000000" pitchFamily="2" charset="2"/>
              <a:buChar char="ü"/>
            </a:pPr>
            <a:endParaRPr lang="en-US" sz="1000" dirty="0"/>
          </a:p>
          <a:p>
            <a:r>
              <a:rPr lang="en-US" sz="1000" dirty="0"/>
              <a:t>Why we change it?</a:t>
            </a:r>
          </a:p>
          <a:p>
            <a:r>
              <a:rPr lang="en-US" sz="1000" dirty="0"/>
              <a:t>If you manually make Switch A the root for VLAN 10,and Switch B the root for VLAN 20.</a:t>
            </a:r>
          </a:p>
          <a:p>
            <a:pPr marL="171450" indent="-171450">
              <a:buFont typeface="Wingdings" panose="05000000000000000000" pitchFamily="2" charset="2"/>
              <a:buChar char="ü"/>
            </a:pPr>
            <a:r>
              <a:rPr lang="en-US" sz="1000" dirty="0"/>
              <a:t>VLAN 10 will use link 1 (e.g., Fa0/10)</a:t>
            </a:r>
          </a:p>
          <a:p>
            <a:pPr marL="171450" indent="-171450">
              <a:buFont typeface="Wingdings" panose="05000000000000000000" pitchFamily="2" charset="2"/>
              <a:buChar char="ü"/>
            </a:pPr>
            <a:r>
              <a:rPr lang="en-US" sz="1000" dirty="0"/>
              <a:t>VLAN 20 will use link 2 (e.g., Fa0/11)</a:t>
            </a:r>
          </a:p>
          <a:p>
            <a:pPr marL="171450" indent="-171450">
              <a:buFont typeface="Wingdings" panose="05000000000000000000" pitchFamily="2" charset="2"/>
              <a:buChar char="ü"/>
            </a:pPr>
            <a:endParaRPr lang="en-US" sz="1000" dirty="0"/>
          </a:p>
          <a:p>
            <a:r>
              <a:rPr lang="en-US" sz="1000" dirty="0"/>
              <a:t>➡️ Result: Both trunk links are active — traffic load is shared. This is called STP load balancing.</a:t>
            </a:r>
          </a:p>
          <a:p>
            <a:endParaRPr lang="en-US" sz="1000" dirty="0"/>
          </a:p>
          <a:p>
            <a:r>
              <a:rPr lang="en-US" sz="1000" dirty="0"/>
              <a:t>Will it create loop ?</a:t>
            </a:r>
          </a:p>
          <a:p>
            <a:r>
              <a:rPr lang="en-US" sz="1000" dirty="0">
                <a:highlight>
                  <a:srgbClr val="00FF00"/>
                </a:highlight>
              </a:rPr>
              <a:t>No — it will not create a loop, because each VLAN’s STP instance still makes sure there’s only one active path per VLAN.</a:t>
            </a:r>
          </a:p>
        </p:txBody>
      </p:sp>
    </p:spTree>
    <p:extLst>
      <p:ext uri="{BB962C8B-B14F-4D97-AF65-F5344CB8AC3E}">
        <p14:creationId xmlns:p14="http://schemas.microsoft.com/office/powerpoint/2010/main" val="26231229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40868-765B-7EB9-5A2A-BD924A869A4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ABABEDA-E6CD-3749-5548-B1FAB8BAC012}"/>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A9083B8-15B7-C7AA-AAB7-6FFA4E5D8C28}"/>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ED87A59B-6B8B-0F81-840A-86F0E7FDDB15}"/>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D31E1CB-E398-3D49-A513-DE06C5328949}"/>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D3134DB-BCB8-FC3C-6711-63A4541FE29C}"/>
              </a:ext>
            </a:extLst>
          </p:cNvPr>
          <p:cNvSpPr txBox="1"/>
          <p:nvPr/>
        </p:nvSpPr>
        <p:spPr>
          <a:xfrm>
            <a:off x="220280" y="205971"/>
            <a:ext cx="8703440" cy="1382045"/>
          </a:xfrm>
          <a:prstGeom prst="rect">
            <a:avLst/>
          </a:prstGeom>
          <a:noFill/>
        </p:spPr>
        <p:txBody>
          <a:bodyPr wrap="square">
            <a:spAutoFit/>
          </a:bodyPr>
          <a:lstStyle/>
          <a:p>
            <a:r>
              <a:rPr lang="en-US" sz="2781" b="1" dirty="0">
                <a:solidFill>
                  <a:srgbClr val="403CCF"/>
                </a:solidFill>
                <a:latin typeface="Libre Baskerville" pitchFamily="34" charset="0"/>
              </a:rPr>
              <a:t>RSTP (Rapid Spanning Tree Protocol):</a:t>
            </a:r>
          </a:p>
          <a:p>
            <a:pPr algn="just"/>
            <a:endParaRPr lang="en-US" dirty="0"/>
          </a:p>
          <a:p>
            <a:endParaRPr lang="en-US" dirty="0"/>
          </a:p>
          <a:p>
            <a:endParaRPr lang="en-US" dirty="0"/>
          </a:p>
          <a:p>
            <a:endParaRPr lang="en-PK" dirty="0"/>
          </a:p>
        </p:txBody>
      </p:sp>
      <p:sp>
        <p:nvSpPr>
          <p:cNvPr id="17" name="TextBox 16">
            <a:extLst>
              <a:ext uri="{FF2B5EF4-FFF2-40B4-BE49-F238E27FC236}">
                <a16:creationId xmlns:a16="http://schemas.microsoft.com/office/drawing/2014/main" id="{63BC745C-5E8A-1E7B-FA1C-4207F5F5C46A}"/>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1B4E5883-7C1A-0F30-DEF5-57E2CA2B5C5C}"/>
              </a:ext>
            </a:extLst>
          </p:cNvPr>
          <p:cNvSpPr txBox="1"/>
          <p:nvPr/>
        </p:nvSpPr>
        <p:spPr>
          <a:xfrm>
            <a:off x="220279" y="831877"/>
            <a:ext cx="8703439" cy="3970318"/>
          </a:xfrm>
          <a:prstGeom prst="rect">
            <a:avLst/>
          </a:prstGeom>
          <a:noFill/>
        </p:spPr>
        <p:txBody>
          <a:bodyPr wrap="square">
            <a:spAutoFit/>
          </a:bodyPr>
          <a:lstStyle/>
          <a:p>
            <a:pPr algn="just"/>
            <a:r>
              <a:rPr lang="en-US" b="1" dirty="0"/>
              <a:t>Rapid Spanning Tree Protocol (RSTP) </a:t>
            </a:r>
          </a:p>
          <a:p>
            <a:pPr algn="just"/>
            <a:endParaRPr lang="en-US" sz="1100" b="1" dirty="0"/>
          </a:p>
          <a:p>
            <a:pPr marL="171450" indent="-171450" algn="just">
              <a:buFont typeface="Wingdings" panose="05000000000000000000" pitchFamily="2" charset="2"/>
              <a:buChar char="ü"/>
            </a:pPr>
            <a:r>
              <a:rPr lang="en-US" sz="1100" dirty="0"/>
              <a:t>RSTP is an improved version of STP (Spanning Tree Protocol).</a:t>
            </a:r>
          </a:p>
          <a:p>
            <a:pPr marL="171450" indent="-171450" algn="just">
              <a:buFont typeface="Wingdings" panose="05000000000000000000" pitchFamily="2" charset="2"/>
              <a:buChar char="ü"/>
            </a:pPr>
            <a:r>
              <a:rPr lang="en-US" sz="1100" dirty="0"/>
              <a:t>It provides faster network recovery when a link or switch fails.</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Traditional STP takes 30–50 seconds to recover.</a:t>
            </a:r>
          </a:p>
          <a:p>
            <a:pPr marL="171450" indent="-171450" algn="just">
              <a:buFont typeface="Wingdings" panose="05000000000000000000" pitchFamily="2" charset="2"/>
              <a:buChar char="ü"/>
            </a:pPr>
            <a:r>
              <a:rPr lang="en-US" sz="1100" dirty="0"/>
              <a:t>RSTP recovers in just 1–2 seconds.</a:t>
            </a:r>
          </a:p>
          <a:p>
            <a:pPr marL="171450" indent="-171450" algn="just">
              <a:buFont typeface="Wingdings" panose="05000000000000000000" pitchFamily="2" charset="2"/>
              <a:buChar char="ü"/>
            </a:pPr>
            <a:endParaRPr lang="en-US" sz="1100" dirty="0"/>
          </a:p>
          <a:p>
            <a:pPr marL="171450" indent="-171450" algn="just">
              <a:buFont typeface="Wingdings" panose="05000000000000000000" pitchFamily="2" charset="2"/>
              <a:buChar char="ü"/>
            </a:pPr>
            <a:r>
              <a:rPr lang="en-US" sz="1100" dirty="0"/>
              <a:t>It quickly activates backup paths, reducing downtime.</a:t>
            </a:r>
          </a:p>
          <a:p>
            <a:pPr marL="171450" indent="-171450" algn="just">
              <a:buFont typeface="Wingdings" panose="05000000000000000000" pitchFamily="2" charset="2"/>
              <a:buChar char="ü"/>
            </a:pPr>
            <a:r>
              <a:rPr lang="en-US" sz="1100" dirty="0"/>
              <a:t>Ensures traffic is rerouted efficiently.</a:t>
            </a:r>
            <a:endParaRPr lang="en-US" dirty="0"/>
          </a:p>
          <a:p>
            <a:pPr algn="just"/>
            <a:br>
              <a:rPr lang="en-US" dirty="0"/>
            </a:br>
            <a:r>
              <a:rPr lang="en-US" b="1" dirty="0"/>
              <a:t>Example:</a:t>
            </a:r>
          </a:p>
          <a:p>
            <a:pPr marL="171450" indent="-171450" algn="just">
              <a:buFont typeface="Wingdings" panose="05000000000000000000" pitchFamily="2" charset="2"/>
              <a:buChar char="ü"/>
            </a:pPr>
            <a:r>
              <a:rPr lang="en-US" sz="1100" dirty="0"/>
              <a:t>Without RSTP: STP takes 30-50 seconds to recover if the root switch fails.</a:t>
            </a:r>
          </a:p>
          <a:p>
            <a:pPr marL="171450" indent="-171450" algn="just">
              <a:buFont typeface="Wingdings" panose="05000000000000000000" pitchFamily="2" charset="2"/>
              <a:buChar char="ü"/>
            </a:pPr>
            <a:r>
              <a:rPr lang="en-US" sz="1100" dirty="0"/>
              <a:t>With RSTP: Traffic is rerouted in 1-2 seconds for fast recovery.</a:t>
            </a:r>
          </a:p>
          <a:p>
            <a:endParaRPr lang="en-US" dirty="0"/>
          </a:p>
          <a:p>
            <a:endParaRPr lang="en-US" dirty="0"/>
          </a:p>
          <a:p>
            <a:r>
              <a:rPr lang="en-US" b="1" dirty="0"/>
              <a:t>Advantages of RSTP for Trunk Links</a:t>
            </a:r>
            <a:r>
              <a:rPr lang="en-US" dirty="0"/>
              <a:t>:</a:t>
            </a:r>
          </a:p>
          <a:p>
            <a:endParaRPr lang="en-US" dirty="0"/>
          </a:p>
          <a:p>
            <a:pPr marL="171450" indent="-171450" algn="just">
              <a:buFont typeface="Wingdings" panose="05000000000000000000" pitchFamily="2" charset="2"/>
              <a:buChar char="ü"/>
            </a:pPr>
            <a:r>
              <a:rPr lang="en-US" sz="1100" dirty="0"/>
              <a:t>Faster Recovery: Trunk link failures are detected and recovered in seconds.</a:t>
            </a:r>
          </a:p>
          <a:p>
            <a:pPr marL="171450" indent="-171450" algn="just">
              <a:buFont typeface="Wingdings" panose="05000000000000000000" pitchFamily="2" charset="2"/>
              <a:buChar char="ü"/>
            </a:pPr>
            <a:r>
              <a:rPr lang="en-US" sz="1100" dirty="0"/>
              <a:t>Improved Redundancy: Alternate paths for trunk links are quickly activated.</a:t>
            </a:r>
          </a:p>
          <a:p>
            <a:pPr marL="171450" indent="-171450" algn="just">
              <a:buFont typeface="Wingdings" panose="05000000000000000000" pitchFamily="2" charset="2"/>
              <a:buChar char="ü"/>
            </a:pPr>
            <a:r>
              <a:rPr lang="en-US" sz="1100" dirty="0"/>
              <a:t>Minimized Downtime: Traffic rerouted faster, ensuring continuous network connectivity.</a:t>
            </a:r>
            <a:endParaRPr lang="en-US" dirty="0"/>
          </a:p>
        </p:txBody>
      </p:sp>
    </p:spTree>
    <p:extLst>
      <p:ext uri="{BB962C8B-B14F-4D97-AF65-F5344CB8AC3E}">
        <p14:creationId xmlns:p14="http://schemas.microsoft.com/office/powerpoint/2010/main" val="95748000"/>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2B26B0-F81A-1A45-7F3B-8FD1E970278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0493111-BD03-94C3-42B3-4FBA76E1350E}"/>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F21F8B02-67A7-79AB-9211-6122E45A5A8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583A084-A08B-F3B4-6EAF-A7227F3D2E68}"/>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762420A5-5903-8B6F-C6F8-0CE858D49CC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ECEC21E-01B3-EBBA-F63A-C95E9E2443E0}"/>
              </a:ext>
            </a:extLst>
          </p:cNvPr>
          <p:cNvSpPr txBox="1"/>
          <p:nvPr/>
        </p:nvSpPr>
        <p:spPr>
          <a:xfrm>
            <a:off x="220280" y="205971"/>
            <a:ext cx="8703440" cy="1382045"/>
          </a:xfrm>
          <a:prstGeom prst="rect">
            <a:avLst/>
          </a:prstGeom>
          <a:noFill/>
        </p:spPr>
        <p:txBody>
          <a:bodyPr wrap="square">
            <a:spAutoFit/>
          </a:bodyPr>
          <a:lstStyle/>
          <a:p>
            <a:r>
              <a:rPr lang="en-US" sz="2781" b="1" dirty="0">
                <a:solidFill>
                  <a:srgbClr val="403CCF"/>
                </a:solidFill>
                <a:latin typeface="Libre Baskerville" pitchFamily="34" charset="0"/>
              </a:rPr>
              <a:t>RSTP (Rapid Spanning Tree Protocol):</a:t>
            </a:r>
          </a:p>
          <a:p>
            <a:pPr algn="just"/>
            <a:endParaRPr lang="en-US" dirty="0"/>
          </a:p>
          <a:p>
            <a:endParaRPr lang="en-US" dirty="0"/>
          </a:p>
          <a:p>
            <a:endParaRPr lang="en-US" dirty="0"/>
          </a:p>
          <a:p>
            <a:endParaRPr lang="en-PK" dirty="0"/>
          </a:p>
        </p:txBody>
      </p:sp>
      <p:sp>
        <p:nvSpPr>
          <p:cNvPr id="17" name="TextBox 16">
            <a:extLst>
              <a:ext uri="{FF2B5EF4-FFF2-40B4-BE49-F238E27FC236}">
                <a16:creationId xmlns:a16="http://schemas.microsoft.com/office/drawing/2014/main" id="{A0DBE82E-7111-38F4-CFBA-149672C9D31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173B4964-A2ED-64AF-9E3B-2A7714449826}"/>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6A631DC5-37D0-96EA-69DB-0E9B565A2BDB}"/>
              </a:ext>
            </a:extLst>
          </p:cNvPr>
          <p:cNvSpPr txBox="1"/>
          <p:nvPr/>
        </p:nvSpPr>
        <p:spPr>
          <a:xfrm>
            <a:off x="281559" y="896993"/>
            <a:ext cx="8170316" cy="3877985"/>
          </a:xfrm>
          <a:prstGeom prst="rect">
            <a:avLst/>
          </a:prstGeom>
          <a:noFill/>
        </p:spPr>
        <p:txBody>
          <a:bodyPr wrap="square">
            <a:spAutoFit/>
          </a:bodyPr>
          <a:lstStyle/>
          <a:p>
            <a:r>
              <a:rPr lang="en-US" b="1" dirty="0"/>
              <a:t>RSTP is used for faster trunk link ports:</a:t>
            </a:r>
          </a:p>
          <a:p>
            <a:endParaRPr lang="en-US" b="1" dirty="0"/>
          </a:p>
          <a:p>
            <a:pPr marL="285750" indent="-285750">
              <a:buFont typeface="Wingdings" panose="05000000000000000000" pitchFamily="2" charset="2"/>
              <a:buChar char="q"/>
            </a:pPr>
            <a:r>
              <a:rPr lang="en-US" sz="1600" b="1" dirty="0">
                <a:solidFill>
                  <a:schemeClr val="bg1"/>
                </a:solidFill>
                <a:latin typeface="Libre Baskerville" pitchFamily="34" charset="0"/>
              </a:rPr>
              <a:t>SwitchA(config)#spanning-tree mode rapid-</a:t>
            </a:r>
            <a:r>
              <a:rPr lang="en-US" sz="1600" b="1" dirty="0" err="1">
                <a:solidFill>
                  <a:schemeClr val="bg1"/>
                </a:solidFill>
                <a:latin typeface="Libre Baskerville" pitchFamily="34" charset="0"/>
              </a:rPr>
              <a:t>pvst</a:t>
            </a:r>
            <a:endParaRPr lang="en-US" sz="1600" b="1" dirty="0">
              <a:solidFill>
                <a:schemeClr val="bg1"/>
              </a:solidFill>
              <a:latin typeface="Libre Baskerville" pitchFamily="34" charset="0"/>
            </a:endParaRPr>
          </a:p>
          <a:p>
            <a:pPr marL="285750" indent="-285750">
              <a:buFont typeface="Wingdings" panose="05000000000000000000" pitchFamily="2" charset="2"/>
              <a:buChar char="q"/>
            </a:pPr>
            <a:r>
              <a:rPr lang="en-US" sz="1600" b="1" dirty="0">
                <a:solidFill>
                  <a:schemeClr val="bg1"/>
                </a:solidFill>
                <a:latin typeface="Libre Baskerville" pitchFamily="34" charset="0"/>
              </a:rPr>
              <a:t>SwitchB(config)#spanning-tree mode rapid-</a:t>
            </a:r>
            <a:r>
              <a:rPr lang="en-US" sz="1600" b="1" dirty="0" err="1">
                <a:solidFill>
                  <a:schemeClr val="bg1"/>
                </a:solidFill>
                <a:latin typeface="Libre Baskerville" pitchFamily="34" charset="0"/>
              </a:rPr>
              <a:t>pvst</a:t>
            </a:r>
            <a:endParaRPr lang="en-US" sz="1600" b="1" dirty="0">
              <a:solidFill>
                <a:schemeClr val="bg1"/>
              </a:solidFill>
              <a:latin typeface="Libre Baskerville" pitchFamily="34" charset="0"/>
            </a:endParaRPr>
          </a:p>
          <a:p>
            <a:br>
              <a:rPr lang="en-US" dirty="0">
                <a:solidFill>
                  <a:schemeClr val="bg1"/>
                </a:solidFill>
              </a:rPr>
            </a:br>
            <a:r>
              <a:rPr lang="en-US" dirty="0">
                <a:solidFill>
                  <a:schemeClr val="bg1"/>
                </a:solidFill>
              </a:rPr>
              <a:t>To enable Port Fast on trunk links, you need to configure it on both sides. i.e. SwitchA and SwitchB</a:t>
            </a:r>
          </a:p>
          <a:p>
            <a:endParaRPr lang="en-US" dirty="0">
              <a:solidFill>
                <a:schemeClr val="bg1"/>
              </a:solidFill>
            </a:endParaRPr>
          </a:p>
          <a:p>
            <a:endParaRPr lang="en-US" dirty="0">
              <a:solidFill>
                <a:schemeClr val="bg1"/>
              </a:solidFill>
            </a:endParaRPr>
          </a:p>
          <a:p>
            <a:r>
              <a:rPr lang="en-US" dirty="0">
                <a:solidFill>
                  <a:schemeClr val="bg1"/>
                </a:solidFill>
              </a:rPr>
              <a:t>******************************************************************************************************************</a:t>
            </a:r>
          </a:p>
          <a:p>
            <a:endParaRPr lang="en-US" dirty="0">
              <a:solidFill>
                <a:schemeClr val="bg1"/>
              </a:solidFill>
            </a:endParaRPr>
          </a:p>
          <a:p>
            <a:r>
              <a:rPr lang="en-US" b="1" dirty="0">
                <a:solidFill>
                  <a:schemeClr val="bg1"/>
                </a:solidFill>
              </a:rPr>
              <a:t>To enable PortFast on an access port:</a:t>
            </a:r>
          </a:p>
          <a:p>
            <a:endParaRPr lang="en-US" b="1" dirty="0">
              <a:solidFill>
                <a:schemeClr val="bg1"/>
              </a:solidFill>
            </a:endParaRPr>
          </a:p>
          <a:p>
            <a:pPr marL="285750" indent="-285750">
              <a:buFont typeface="Wingdings" panose="05000000000000000000" pitchFamily="2" charset="2"/>
              <a:buChar char="q"/>
            </a:pPr>
            <a:r>
              <a:rPr lang="en-US" sz="1600" b="1" dirty="0">
                <a:solidFill>
                  <a:schemeClr val="bg1"/>
                </a:solidFill>
                <a:latin typeface="Libre Baskerville" pitchFamily="34" charset="0"/>
              </a:rPr>
              <a:t>Switch(config)# spanning-tree portfast default</a:t>
            </a:r>
          </a:p>
          <a:p>
            <a:endParaRPr lang="en-US" sz="1600" b="1" dirty="0">
              <a:solidFill>
                <a:srgbClr val="403CCF"/>
              </a:solidFill>
              <a:latin typeface="Libre Baskerville" pitchFamily="34" charset="0"/>
            </a:endParaRPr>
          </a:p>
          <a:p>
            <a:r>
              <a:rPr lang="en-US" dirty="0"/>
              <a:t>It is used to globally enable PortFast on all access ports on the switch.</a:t>
            </a:r>
          </a:p>
          <a:p>
            <a:endParaRPr lang="en-US" dirty="0"/>
          </a:p>
          <a:p>
            <a:endParaRPr lang="en-PK" dirty="0"/>
          </a:p>
        </p:txBody>
      </p:sp>
    </p:spTree>
    <p:extLst>
      <p:ext uri="{BB962C8B-B14F-4D97-AF65-F5344CB8AC3E}">
        <p14:creationId xmlns:p14="http://schemas.microsoft.com/office/powerpoint/2010/main" val="42467763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B35E92-B7A1-3501-0E1F-CB3F0BD601B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06FE60D-9AEF-224B-A372-F83618C675AB}"/>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71F00F0-86F7-BDD9-7D98-7F2B4B094A41}"/>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3A773CA-489E-5DAE-4095-C7686C7E7FDB}"/>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D7DD9B9-9948-5899-8E12-B2170700CA67}"/>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AF44BF9-B149-414E-643A-376E34EB9A9D}"/>
              </a:ext>
            </a:extLst>
          </p:cNvPr>
          <p:cNvSpPr txBox="1"/>
          <p:nvPr/>
        </p:nvSpPr>
        <p:spPr>
          <a:xfrm>
            <a:off x="235811" y="587338"/>
            <a:ext cx="8703440" cy="3670236"/>
          </a:xfrm>
          <a:prstGeom prst="rect">
            <a:avLst/>
          </a:prstGeom>
          <a:noFill/>
        </p:spPr>
        <p:txBody>
          <a:bodyPr wrap="square">
            <a:spAutoFit/>
          </a:bodyPr>
          <a:lstStyle/>
          <a:p>
            <a:endParaRPr lang="en-US" sz="1050" b="1"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rPr>
              <a:t>Ether Channel:</a:t>
            </a:r>
          </a:p>
          <a:p>
            <a:endParaRPr lang="en-US" sz="1050" b="1" dirty="0">
              <a:latin typeface="Arial" panose="020B0604020202020204" pitchFamily="34" charset="0"/>
              <a:cs typeface="Arial" panose="020B0604020202020204" pitchFamily="34" charset="0"/>
            </a:endParaRPr>
          </a:p>
          <a:p>
            <a:endParaRPr lang="en-US" sz="1050" dirty="0"/>
          </a:p>
          <a:p>
            <a:r>
              <a:rPr lang="en-US" sz="1050" dirty="0"/>
              <a:t>The logical combination of two or more than two trunk links into a single logical link to increase bandwidth and provide redundancy is called Ether Channel</a:t>
            </a:r>
          </a:p>
          <a:p>
            <a:endParaRPr lang="en-US" sz="1050" b="1" dirty="0">
              <a:latin typeface="Arial" panose="020B0604020202020204" pitchFamily="34" charset="0"/>
              <a:cs typeface="Arial" panose="020B0604020202020204" pitchFamily="34" charset="0"/>
            </a:endParaRPr>
          </a:p>
          <a:p>
            <a:endParaRPr lang="en-US" sz="1050" b="1" dirty="0">
              <a:latin typeface="Arial" panose="020B0604020202020204" pitchFamily="34" charset="0"/>
              <a:cs typeface="Arial" panose="020B0604020202020204" pitchFamily="34" charset="0"/>
            </a:endParaRPr>
          </a:p>
          <a:p>
            <a:endParaRPr lang="en-US" sz="1050" b="1" dirty="0">
              <a:latin typeface="Arial" panose="020B0604020202020204" pitchFamily="34" charset="0"/>
              <a:cs typeface="Arial" panose="020B0604020202020204" pitchFamily="34" charset="0"/>
            </a:endParaRPr>
          </a:p>
          <a:p>
            <a:r>
              <a:rPr lang="en-US" sz="1800" b="1" dirty="0">
                <a:latin typeface="Arial" panose="020B0604020202020204" pitchFamily="34" charset="0"/>
                <a:cs typeface="Arial" panose="020B0604020202020204" pitchFamily="34" charset="0"/>
              </a:rPr>
              <a:t>Conditions for Configuring EtherChannel:</a:t>
            </a:r>
          </a:p>
          <a:p>
            <a:endParaRPr lang="en-US" sz="1050" b="1" dirty="0">
              <a:latin typeface="Arial" panose="020B0604020202020204" pitchFamily="34" charset="0"/>
              <a:cs typeface="Arial" panose="020B0604020202020204" pitchFamily="34" charset="0"/>
            </a:endParaRPr>
          </a:p>
          <a:p>
            <a:pPr marL="214313" indent="-214313">
              <a:buFont typeface="Wingdings" panose="05000000000000000000" pitchFamily="2" charset="2"/>
              <a:buChar char="ü"/>
            </a:pPr>
            <a:r>
              <a:rPr lang="en-US" sz="1050" dirty="0"/>
              <a:t>Port Speed: The speed of the ports must match on both sides of the link.</a:t>
            </a:r>
          </a:p>
          <a:p>
            <a:pPr marL="214313" indent="-214313">
              <a:buFont typeface="Wingdings" panose="05000000000000000000" pitchFamily="2" charset="2"/>
              <a:buChar char="ü"/>
            </a:pPr>
            <a:endParaRPr lang="en-US" sz="1050" dirty="0"/>
          </a:p>
          <a:p>
            <a:pPr marL="214313" indent="-214313">
              <a:buFont typeface="Wingdings" panose="05000000000000000000" pitchFamily="2" charset="2"/>
              <a:buChar char="ü"/>
            </a:pPr>
            <a:r>
              <a:rPr lang="en-US" sz="1050" dirty="0"/>
              <a:t>Allowed VLANs: The VLANs allowed on the trunks must be the same on both switches.</a:t>
            </a:r>
          </a:p>
          <a:p>
            <a:pPr marL="214313" indent="-214313">
              <a:buFont typeface="Wingdings" panose="05000000000000000000" pitchFamily="2" charset="2"/>
              <a:buChar char="ü"/>
            </a:pPr>
            <a:endParaRPr lang="en-US" sz="1050" dirty="0"/>
          </a:p>
          <a:p>
            <a:pPr marL="214313" indent="-214313">
              <a:buFont typeface="Wingdings" panose="05000000000000000000" pitchFamily="2" charset="2"/>
              <a:buChar char="ü"/>
            </a:pPr>
            <a:r>
              <a:rPr lang="en-US" sz="1050" dirty="0"/>
              <a:t>Duplex: The duplex settings must match on both sides.</a:t>
            </a:r>
          </a:p>
          <a:p>
            <a:pPr marL="214313" indent="-214313">
              <a:buFont typeface="Wingdings" panose="05000000000000000000" pitchFamily="2" charset="2"/>
              <a:buChar char="ü"/>
            </a:pPr>
            <a:endParaRPr lang="en-US" sz="1050" dirty="0"/>
          </a:p>
          <a:p>
            <a:pPr marL="214313" indent="-214313">
              <a:buFont typeface="Wingdings" panose="05000000000000000000" pitchFamily="2" charset="2"/>
              <a:buChar char="ü"/>
            </a:pPr>
            <a:r>
              <a:rPr lang="en-US" sz="1050" dirty="0"/>
              <a:t>Protocol: Protocol must be same on both sides (either LACP or </a:t>
            </a:r>
            <a:r>
              <a:rPr lang="en-US" sz="1050" dirty="0" err="1"/>
              <a:t>PAgP</a:t>
            </a:r>
            <a:r>
              <a:rPr lang="en-US" sz="1050" dirty="0"/>
              <a:t>)</a:t>
            </a:r>
          </a:p>
          <a:p>
            <a:endParaRPr lang="en-US" sz="1050" b="1" dirty="0">
              <a:latin typeface="Arial" panose="020B0604020202020204" pitchFamily="34" charset="0"/>
              <a:cs typeface="Arial" panose="020B0604020202020204" pitchFamily="34" charset="0"/>
            </a:endParaRPr>
          </a:p>
          <a:p>
            <a:endParaRPr lang="en-US" sz="1800" dirty="0"/>
          </a:p>
        </p:txBody>
      </p:sp>
      <p:sp>
        <p:nvSpPr>
          <p:cNvPr id="17" name="TextBox 16">
            <a:extLst>
              <a:ext uri="{FF2B5EF4-FFF2-40B4-BE49-F238E27FC236}">
                <a16:creationId xmlns:a16="http://schemas.microsoft.com/office/drawing/2014/main" id="{18421574-F954-E018-C0BD-61AE9CF32102}"/>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Tree>
    <p:extLst>
      <p:ext uri="{BB962C8B-B14F-4D97-AF65-F5344CB8AC3E}">
        <p14:creationId xmlns:p14="http://schemas.microsoft.com/office/powerpoint/2010/main" val="128521464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E4D1D-4F59-74D5-6A9A-E3A644CD95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6E17D6D-ACF5-C2B4-603B-E520C5C35E75}"/>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DDF6522-B773-21FB-2EC9-CFCAD1ADFE1A}"/>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A51E4B1A-0A69-0432-7008-9423C7C5DDE2}"/>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8F710DD-5DC0-2F91-A2E0-EA7A42FC6309}"/>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24DADE8-E20A-2B96-F641-3A8B37A266EC}"/>
              </a:ext>
            </a:extLst>
          </p:cNvPr>
          <p:cNvSpPr txBox="1"/>
          <p:nvPr/>
        </p:nvSpPr>
        <p:spPr>
          <a:xfrm>
            <a:off x="381820" y="144350"/>
            <a:ext cx="3614448"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Protocols in EtherChannel:</a:t>
            </a:r>
          </a:p>
        </p:txBody>
      </p:sp>
      <p:sp>
        <p:nvSpPr>
          <p:cNvPr id="17" name="TextBox 16">
            <a:extLst>
              <a:ext uri="{FF2B5EF4-FFF2-40B4-BE49-F238E27FC236}">
                <a16:creationId xmlns:a16="http://schemas.microsoft.com/office/drawing/2014/main" id="{C18D7AD4-94AC-204B-EF70-4965B132EA00}"/>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A491F7D8-074F-8288-4BA4-99E59B08AB24}"/>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sp>
        <p:nvSpPr>
          <p:cNvPr id="7" name="TextBox 6">
            <a:extLst>
              <a:ext uri="{FF2B5EF4-FFF2-40B4-BE49-F238E27FC236}">
                <a16:creationId xmlns:a16="http://schemas.microsoft.com/office/drawing/2014/main" id="{C6BFE99A-4130-CADD-66F9-6B1B9727E824}"/>
              </a:ext>
            </a:extLst>
          </p:cNvPr>
          <p:cNvSpPr txBox="1"/>
          <p:nvPr/>
        </p:nvSpPr>
        <p:spPr>
          <a:xfrm>
            <a:off x="349328" y="573549"/>
            <a:ext cx="6449441" cy="577081"/>
          </a:xfrm>
          <a:prstGeom prst="rect">
            <a:avLst/>
          </a:prstGeom>
          <a:noFill/>
        </p:spPr>
        <p:txBody>
          <a:bodyPr wrap="square">
            <a:spAutoFit/>
          </a:bodyPr>
          <a:lstStyle/>
          <a:p>
            <a:r>
              <a:rPr lang="en-US" sz="1050" dirty="0"/>
              <a:t>There are two types of protocols used in EtherChannel:</a:t>
            </a:r>
          </a:p>
          <a:p>
            <a:pPr>
              <a:buFont typeface="+mj-lt"/>
              <a:buAutoNum type="arabicPeriod"/>
            </a:pPr>
            <a:r>
              <a:rPr lang="en-US" sz="1050" dirty="0"/>
              <a:t> PAgP (Port Aggregation Protocol)</a:t>
            </a:r>
          </a:p>
          <a:p>
            <a:pPr>
              <a:buFont typeface="+mj-lt"/>
              <a:buAutoNum type="arabicPeriod"/>
            </a:pPr>
            <a:r>
              <a:rPr lang="en-US" sz="1050" dirty="0"/>
              <a:t> LACP (Link Aggregation Control Protocol).</a:t>
            </a:r>
          </a:p>
        </p:txBody>
      </p:sp>
      <p:graphicFrame>
        <p:nvGraphicFramePr>
          <p:cNvPr id="8" name="Table 7">
            <a:extLst>
              <a:ext uri="{FF2B5EF4-FFF2-40B4-BE49-F238E27FC236}">
                <a16:creationId xmlns:a16="http://schemas.microsoft.com/office/drawing/2014/main" id="{5EFAE805-D199-E5FE-5DFF-7B938708D545}"/>
              </a:ext>
            </a:extLst>
          </p:cNvPr>
          <p:cNvGraphicFramePr>
            <a:graphicFrameLocks noGrp="1"/>
          </p:cNvGraphicFramePr>
          <p:nvPr>
            <p:extLst>
              <p:ext uri="{D42A27DB-BD31-4B8C-83A1-F6EECF244321}">
                <p14:modId xmlns:p14="http://schemas.microsoft.com/office/powerpoint/2010/main" val="2719405210"/>
              </p:ext>
            </p:extLst>
          </p:nvPr>
        </p:nvGraphicFramePr>
        <p:xfrm>
          <a:off x="496119" y="1470641"/>
          <a:ext cx="7955756" cy="2377440"/>
        </p:xfrm>
        <a:graphic>
          <a:graphicData uri="http://schemas.openxmlformats.org/drawingml/2006/table">
            <a:tbl>
              <a:tblPr firstRow="1" bandRow="1">
                <a:tableStyleId>{17343FFC-C285-48B6-A5F1-531E15585DCF}</a:tableStyleId>
              </a:tblPr>
              <a:tblGrid>
                <a:gridCol w="3940415">
                  <a:extLst>
                    <a:ext uri="{9D8B030D-6E8A-4147-A177-3AD203B41FA5}">
                      <a16:colId xmlns:a16="http://schemas.microsoft.com/office/drawing/2014/main" val="4128753886"/>
                    </a:ext>
                  </a:extLst>
                </a:gridCol>
                <a:gridCol w="4015341">
                  <a:extLst>
                    <a:ext uri="{9D8B030D-6E8A-4147-A177-3AD203B41FA5}">
                      <a16:colId xmlns:a16="http://schemas.microsoft.com/office/drawing/2014/main" val="4186578460"/>
                    </a:ext>
                  </a:extLst>
                </a:gridCol>
              </a:tblGrid>
              <a:tr h="251460">
                <a:tc>
                  <a:txBody>
                    <a:bodyPr/>
                    <a:lstStyle/>
                    <a:p>
                      <a:r>
                        <a:rPr lang="en-US" sz="1100" kern="1200" dirty="0">
                          <a:solidFill>
                            <a:schemeClr val="bg1"/>
                          </a:solidFill>
                          <a:latin typeface="+mn-lt"/>
                          <a:ea typeface="+mn-ea"/>
                          <a:cs typeface="+mn-cs"/>
                        </a:rPr>
                        <a:t>                       </a:t>
                      </a:r>
                      <a:r>
                        <a:rPr lang="en-US" sz="1100" b="1" kern="1200" dirty="0">
                          <a:solidFill>
                            <a:schemeClr val="bg1"/>
                          </a:solidFill>
                          <a:latin typeface="+mn-lt"/>
                          <a:ea typeface="+mn-ea"/>
                          <a:cs typeface="+mn-cs"/>
                        </a:rPr>
                        <a:t>PAgP</a:t>
                      </a:r>
                      <a:endParaRPr lang="en-PK" sz="1100" b="1" kern="1200" dirty="0">
                        <a:solidFill>
                          <a:schemeClr val="bg1"/>
                        </a:solidFill>
                        <a:latin typeface="+mn-lt"/>
                        <a:ea typeface="+mn-ea"/>
                        <a:cs typeface="+mn-cs"/>
                      </a:endParaRPr>
                    </a:p>
                  </a:txBody>
                  <a:tcPr/>
                </a:tc>
                <a:tc>
                  <a:txBody>
                    <a:bodyPr/>
                    <a:lstStyle/>
                    <a:p>
                      <a:pPr marL="0" algn="l" defTabSz="914400" rtl="0" eaLnBrk="1" latinLnBrk="0" hangingPunct="1"/>
                      <a:r>
                        <a:rPr lang="it-IT" sz="1100" b="1" kern="1200" dirty="0">
                          <a:solidFill>
                            <a:schemeClr val="bg1"/>
                          </a:solidFill>
                          <a:latin typeface="+mn-lt"/>
                          <a:ea typeface="+mn-ea"/>
                          <a:cs typeface="+mn-cs"/>
                        </a:rPr>
                        <a:t>                          LACP </a:t>
                      </a:r>
                      <a:endParaRPr lang="en-PK" sz="1100" b="1" kern="1200" dirty="0">
                        <a:solidFill>
                          <a:schemeClr val="bg1"/>
                        </a:solidFill>
                        <a:latin typeface="+mn-lt"/>
                        <a:ea typeface="+mn-ea"/>
                        <a:cs typeface="+mn-cs"/>
                      </a:endParaRPr>
                    </a:p>
                  </a:txBody>
                  <a:tcPr/>
                </a:tc>
                <a:extLst>
                  <a:ext uri="{0D108BD9-81ED-4DB2-BD59-A6C34878D82A}">
                    <a16:rowId xmlns:a16="http://schemas.microsoft.com/office/drawing/2014/main" val="3543314301"/>
                  </a:ext>
                </a:extLst>
              </a:tr>
              <a:tr h="251460">
                <a:tc>
                  <a:txBody>
                    <a:bodyPr/>
                    <a:lstStyle/>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Cisco Proprietary: Supported only on Cisco devices.</a:t>
                      </a:r>
                      <a:endParaRPr lang="en-PK" sz="1100" kern="1200" dirty="0">
                        <a:solidFill>
                          <a:schemeClr val="bg1"/>
                        </a:solidFill>
                        <a:latin typeface="+mn-lt"/>
                        <a:ea typeface="+mn-ea"/>
                        <a:cs typeface="+mn-cs"/>
                        <a:sym typeface="Arial"/>
                      </a:endParaRPr>
                    </a:p>
                  </a:txBody>
                  <a:tcPr/>
                </a:tc>
                <a:tc>
                  <a:txBody>
                    <a:bodyPr/>
                    <a:lstStyle/>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Open Standard: Supported by multiple vendors.</a:t>
                      </a:r>
                      <a:endParaRPr lang="en-PK" sz="1100" kern="1200" dirty="0">
                        <a:solidFill>
                          <a:schemeClr val="bg1"/>
                        </a:solidFill>
                        <a:latin typeface="+mn-lt"/>
                        <a:ea typeface="+mn-ea"/>
                        <a:cs typeface="+mn-cs"/>
                        <a:sym typeface="Arial"/>
                      </a:endParaRPr>
                    </a:p>
                  </a:txBody>
                  <a:tcPr/>
                </a:tc>
                <a:extLst>
                  <a:ext uri="{0D108BD9-81ED-4DB2-BD59-A6C34878D82A}">
                    <a16:rowId xmlns:a16="http://schemas.microsoft.com/office/drawing/2014/main" val="684898032"/>
                  </a:ext>
                </a:extLst>
              </a:tr>
              <a:tr h="571500">
                <a:tc>
                  <a:txBody>
                    <a:bodyPr/>
                    <a:lstStyle/>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Maximum Ports: Can combine up to 8 physical ports into a single EtherChannel.</a:t>
                      </a:r>
                      <a:endParaRPr lang="en-PK" sz="1100" kern="1200" dirty="0">
                        <a:solidFill>
                          <a:schemeClr val="bg1"/>
                        </a:solidFill>
                        <a:latin typeface="+mn-lt"/>
                        <a:ea typeface="+mn-ea"/>
                        <a:cs typeface="+mn-cs"/>
                        <a:sym typeface="Arial"/>
                      </a:endParaRPr>
                    </a:p>
                  </a:txBody>
                  <a:tcPr/>
                </a:tc>
                <a:tc>
                  <a:txBody>
                    <a:bodyPr/>
                    <a:lstStyle/>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Maximum Ports: Can combine up to 16 physical ports into a single EtherChannel, but only 8 are active at a time, while the rest remain in standby.</a:t>
                      </a:r>
                      <a:endParaRPr lang="en-PK" sz="1100" kern="1200" dirty="0">
                        <a:solidFill>
                          <a:schemeClr val="bg1"/>
                        </a:solidFill>
                        <a:latin typeface="+mn-lt"/>
                        <a:ea typeface="+mn-ea"/>
                        <a:cs typeface="+mn-cs"/>
                        <a:sym typeface="Arial"/>
                      </a:endParaRPr>
                    </a:p>
                  </a:txBody>
                  <a:tcPr/>
                </a:tc>
                <a:extLst>
                  <a:ext uri="{0D108BD9-81ED-4DB2-BD59-A6C34878D82A}">
                    <a16:rowId xmlns:a16="http://schemas.microsoft.com/office/drawing/2014/main" val="1647474723"/>
                  </a:ext>
                </a:extLst>
              </a:tr>
              <a:tr h="1211580">
                <a:tc>
                  <a:txBody>
                    <a:bodyPr/>
                    <a:lstStyle/>
                    <a:p>
                      <a:r>
                        <a:rPr lang="en-US" sz="1100" kern="1200" dirty="0">
                          <a:solidFill>
                            <a:schemeClr val="bg1"/>
                          </a:solidFill>
                          <a:latin typeface="+mn-lt"/>
                          <a:ea typeface="+mn-ea"/>
                          <a:cs typeface="+mn-cs"/>
                          <a:sym typeface="Arial"/>
                        </a:rPr>
                        <a:t>Mode: </a:t>
                      </a:r>
                    </a:p>
                    <a:p>
                      <a:endParaRPr lang="en-US" sz="1100" kern="1200" dirty="0">
                        <a:solidFill>
                          <a:schemeClr val="bg1"/>
                        </a:solidFill>
                        <a:latin typeface="+mn-lt"/>
                        <a:ea typeface="+mn-ea"/>
                        <a:cs typeface="+mn-cs"/>
                        <a:sym typeface="Arial"/>
                      </a:endParaRPr>
                    </a:p>
                    <a:p>
                      <a:r>
                        <a:rPr lang="en-US" sz="1100" kern="1200" dirty="0">
                          <a:solidFill>
                            <a:schemeClr val="bg1"/>
                          </a:solidFill>
                          <a:latin typeface="+mn-lt"/>
                          <a:ea typeface="+mn-ea"/>
                          <a:cs typeface="+mn-cs"/>
                          <a:sym typeface="Arial"/>
                        </a:rPr>
                        <a:t>Desirable :Actively sends and receives PAgP packets.</a:t>
                      </a:r>
                    </a:p>
                    <a:p>
                      <a:endParaRPr lang="en-US" sz="1100" kern="1200" dirty="0">
                        <a:solidFill>
                          <a:schemeClr val="bg1"/>
                        </a:solidFill>
                        <a:latin typeface="+mn-lt"/>
                        <a:ea typeface="+mn-ea"/>
                        <a:cs typeface="+mn-cs"/>
                        <a:sym typeface="Arial"/>
                      </a:endParaRPr>
                    </a:p>
                    <a:p>
                      <a:r>
                        <a:rPr lang="en-US" sz="1100" kern="1200" dirty="0">
                          <a:solidFill>
                            <a:schemeClr val="bg1"/>
                          </a:solidFill>
                          <a:latin typeface="+mn-lt"/>
                          <a:ea typeface="+mn-ea"/>
                          <a:cs typeface="+mn-cs"/>
                          <a:sym typeface="Arial"/>
                        </a:rPr>
                        <a:t>Auto: Only listens for PAgP packets but does not actively send them.</a:t>
                      </a:r>
                    </a:p>
                    <a:p>
                      <a:endParaRPr lang="en-PK" sz="1100" kern="1200" dirty="0">
                        <a:solidFill>
                          <a:schemeClr val="bg1"/>
                        </a:solidFill>
                        <a:latin typeface="+mn-lt"/>
                        <a:ea typeface="+mn-ea"/>
                        <a:cs typeface="+mn-cs"/>
                      </a:endParaRPr>
                    </a:p>
                  </a:txBody>
                  <a:tcPr/>
                </a:tc>
                <a:tc>
                  <a:txBody>
                    <a:bodyPr/>
                    <a:lstStyle/>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Modes: </a:t>
                      </a:r>
                    </a:p>
                    <a:p>
                      <a:pPr marR="0" algn="l" rtl="0">
                        <a:lnSpc>
                          <a:spcPct val="100000"/>
                        </a:lnSpc>
                        <a:spcBef>
                          <a:spcPts val="0"/>
                        </a:spcBef>
                        <a:spcAft>
                          <a:spcPts val="0"/>
                        </a:spcAft>
                        <a:buClr>
                          <a:srgbClr val="000000"/>
                        </a:buClr>
                        <a:buFont typeface="Arial"/>
                      </a:pPr>
                      <a:endParaRPr lang="en-US" sz="1100" kern="1200" dirty="0">
                        <a:solidFill>
                          <a:schemeClr val="bg1"/>
                        </a:solidFill>
                        <a:latin typeface="+mn-lt"/>
                        <a:ea typeface="+mn-ea"/>
                        <a:cs typeface="+mn-cs"/>
                        <a:sym typeface="Arial"/>
                      </a:endParaRPr>
                    </a:p>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Active: Actively sends and receives LACP packets.</a:t>
                      </a:r>
                    </a:p>
                    <a:p>
                      <a:pPr marR="0" algn="l" rtl="0">
                        <a:lnSpc>
                          <a:spcPct val="100000"/>
                        </a:lnSpc>
                        <a:spcBef>
                          <a:spcPts val="0"/>
                        </a:spcBef>
                        <a:spcAft>
                          <a:spcPts val="0"/>
                        </a:spcAft>
                        <a:buClr>
                          <a:srgbClr val="000000"/>
                        </a:buClr>
                        <a:buFont typeface="Arial"/>
                      </a:pPr>
                      <a:endParaRPr lang="en-US" sz="1100" kern="1200" dirty="0">
                        <a:solidFill>
                          <a:schemeClr val="bg1"/>
                        </a:solidFill>
                        <a:latin typeface="+mn-lt"/>
                        <a:ea typeface="+mn-ea"/>
                        <a:cs typeface="+mn-cs"/>
                        <a:sym typeface="Arial"/>
                      </a:endParaRPr>
                    </a:p>
                    <a:p>
                      <a:pPr marR="0" algn="l" rtl="0">
                        <a:lnSpc>
                          <a:spcPct val="100000"/>
                        </a:lnSpc>
                        <a:spcBef>
                          <a:spcPts val="0"/>
                        </a:spcBef>
                        <a:spcAft>
                          <a:spcPts val="0"/>
                        </a:spcAft>
                        <a:buClr>
                          <a:srgbClr val="000000"/>
                        </a:buClr>
                        <a:buFont typeface="Arial"/>
                      </a:pPr>
                      <a:r>
                        <a:rPr lang="en-US" sz="1100" kern="1200" dirty="0">
                          <a:solidFill>
                            <a:schemeClr val="bg1"/>
                          </a:solidFill>
                          <a:latin typeface="+mn-lt"/>
                          <a:ea typeface="+mn-ea"/>
                          <a:cs typeface="+mn-cs"/>
                          <a:sym typeface="Arial"/>
                        </a:rPr>
                        <a:t>Passive: Only listens for LACP packets but does not actively send them.</a:t>
                      </a:r>
                    </a:p>
                    <a:p>
                      <a:pPr marR="0" algn="l" rtl="0">
                        <a:lnSpc>
                          <a:spcPct val="100000"/>
                        </a:lnSpc>
                        <a:spcBef>
                          <a:spcPts val="0"/>
                        </a:spcBef>
                        <a:spcAft>
                          <a:spcPts val="0"/>
                        </a:spcAft>
                        <a:buClr>
                          <a:srgbClr val="000000"/>
                        </a:buClr>
                        <a:buFont typeface="Arial"/>
                      </a:pPr>
                      <a:endParaRPr lang="en-PK" sz="1100" kern="1200" dirty="0">
                        <a:solidFill>
                          <a:schemeClr val="bg1"/>
                        </a:solidFill>
                        <a:latin typeface="+mn-lt"/>
                        <a:ea typeface="+mn-ea"/>
                        <a:cs typeface="+mn-cs"/>
                        <a:sym typeface="Arial"/>
                      </a:endParaRPr>
                    </a:p>
                  </a:txBody>
                  <a:tcPr/>
                </a:tc>
                <a:extLst>
                  <a:ext uri="{0D108BD9-81ED-4DB2-BD59-A6C34878D82A}">
                    <a16:rowId xmlns:a16="http://schemas.microsoft.com/office/drawing/2014/main" val="249074296"/>
                  </a:ext>
                </a:extLst>
              </a:tr>
            </a:tbl>
          </a:graphicData>
        </a:graphic>
      </p:graphicFrame>
    </p:spTree>
    <p:extLst>
      <p:ext uri="{BB962C8B-B14F-4D97-AF65-F5344CB8AC3E}">
        <p14:creationId xmlns:p14="http://schemas.microsoft.com/office/powerpoint/2010/main" val="374987307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42FC12-A246-766C-36BD-CEB6DC6E6DB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DA61A29-DA11-4927-8222-9C55C933B509}"/>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69FE373B-B479-26C3-48CA-E98BEFAA57D1}"/>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6DA8019-8360-14FD-B545-5557D6666BDE}"/>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A51836C-79CD-06A5-6730-559CBB632140}"/>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91F4A0FF-E3EF-55BD-00F7-741DC8477F04}"/>
              </a:ext>
            </a:extLst>
          </p:cNvPr>
          <p:cNvSpPr txBox="1"/>
          <p:nvPr/>
        </p:nvSpPr>
        <p:spPr>
          <a:xfrm>
            <a:off x="381820" y="113302"/>
            <a:ext cx="3470514"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Protocols in EtherChannel:</a:t>
            </a:r>
          </a:p>
        </p:txBody>
      </p:sp>
      <p:sp>
        <p:nvSpPr>
          <p:cNvPr id="17" name="TextBox 16">
            <a:extLst>
              <a:ext uri="{FF2B5EF4-FFF2-40B4-BE49-F238E27FC236}">
                <a16:creationId xmlns:a16="http://schemas.microsoft.com/office/drawing/2014/main" id="{1DD73254-866F-4ABB-6E26-E9E3850E6758}"/>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DC0BE304-CA0A-F802-18EF-59BCCED331AD}"/>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sp>
        <p:nvSpPr>
          <p:cNvPr id="11" name="TextBox 10">
            <a:extLst>
              <a:ext uri="{FF2B5EF4-FFF2-40B4-BE49-F238E27FC236}">
                <a16:creationId xmlns:a16="http://schemas.microsoft.com/office/drawing/2014/main" id="{BC9308BF-95E8-4A4D-9B8C-30A5F86FB121}"/>
              </a:ext>
            </a:extLst>
          </p:cNvPr>
          <p:cNvSpPr txBox="1"/>
          <p:nvPr/>
        </p:nvSpPr>
        <p:spPr>
          <a:xfrm>
            <a:off x="414865" y="669820"/>
            <a:ext cx="4800603" cy="253916"/>
          </a:xfrm>
          <a:prstGeom prst="rect">
            <a:avLst/>
          </a:prstGeom>
          <a:noFill/>
        </p:spPr>
        <p:txBody>
          <a:bodyPr wrap="square">
            <a:spAutoFit/>
          </a:bodyPr>
          <a:lstStyle/>
          <a:p>
            <a:r>
              <a:rPr lang="fr-FR" sz="1050" dirty="0"/>
              <a:t>PAgP Mode Combinations and Ether Channel Formation</a:t>
            </a:r>
            <a:endParaRPr lang="en-PK" sz="1050" dirty="0"/>
          </a:p>
        </p:txBody>
      </p:sp>
      <p:graphicFrame>
        <p:nvGraphicFramePr>
          <p:cNvPr id="12" name="Table 11">
            <a:extLst>
              <a:ext uri="{FF2B5EF4-FFF2-40B4-BE49-F238E27FC236}">
                <a16:creationId xmlns:a16="http://schemas.microsoft.com/office/drawing/2014/main" id="{AE1D3555-658F-4CDB-8322-819DEAB10625}"/>
              </a:ext>
            </a:extLst>
          </p:cNvPr>
          <p:cNvGraphicFramePr>
            <a:graphicFrameLocks noGrp="1"/>
          </p:cNvGraphicFramePr>
          <p:nvPr>
            <p:extLst>
              <p:ext uri="{D42A27DB-BD31-4B8C-83A1-F6EECF244321}">
                <p14:modId xmlns:p14="http://schemas.microsoft.com/office/powerpoint/2010/main" val="226342712"/>
              </p:ext>
            </p:extLst>
          </p:nvPr>
        </p:nvGraphicFramePr>
        <p:xfrm>
          <a:off x="1695226" y="1044188"/>
          <a:ext cx="4726676" cy="1036320"/>
        </p:xfrm>
        <a:graphic>
          <a:graphicData uri="http://schemas.openxmlformats.org/drawingml/2006/table">
            <a:tbl>
              <a:tblPr firstRow="1" bandRow="1">
                <a:tableStyleId>{17343FFC-C285-48B6-A5F1-531E15585DCF}</a:tableStyleId>
              </a:tblPr>
              <a:tblGrid>
                <a:gridCol w="2177071">
                  <a:extLst>
                    <a:ext uri="{9D8B030D-6E8A-4147-A177-3AD203B41FA5}">
                      <a16:colId xmlns:a16="http://schemas.microsoft.com/office/drawing/2014/main" val="3997525483"/>
                    </a:ext>
                  </a:extLst>
                </a:gridCol>
                <a:gridCol w="2549605">
                  <a:extLst>
                    <a:ext uri="{9D8B030D-6E8A-4147-A177-3AD203B41FA5}">
                      <a16:colId xmlns:a16="http://schemas.microsoft.com/office/drawing/2014/main" val="1298722718"/>
                    </a:ext>
                  </a:extLst>
                </a:gridCol>
              </a:tblGrid>
              <a:tr h="251460">
                <a:tc>
                  <a:txBody>
                    <a:bodyPr/>
                    <a:lstStyle/>
                    <a:p>
                      <a:r>
                        <a:rPr lang="en-US" sz="1100" b="1" kern="1200" dirty="0">
                          <a:solidFill>
                            <a:schemeClr val="bg1"/>
                          </a:solidFill>
                          <a:latin typeface="+mn-lt"/>
                          <a:ea typeface="+mn-ea"/>
                          <a:cs typeface="+mn-cs"/>
                        </a:rPr>
                        <a:t>Mode Combination</a:t>
                      </a:r>
                      <a:endParaRPr lang="en-PK" sz="1100" b="1" kern="1200" dirty="0">
                        <a:solidFill>
                          <a:schemeClr val="bg1"/>
                        </a:solidFill>
                        <a:latin typeface="+mn-lt"/>
                        <a:ea typeface="+mn-ea"/>
                        <a:cs typeface="+mn-cs"/>
                      </a:endParaRPr>
                    </a:p>
                  </a:txBody>
                  <a:tcPr/>
                </a:tc>
                <a:tc>
                  <a:txBody>
                    <a:bodyPr/>
                    <a:lstStyle/>
                    <a:p>
                      <a:pPr marL="0" algn="l" defTabSz="914400" rtl="0" eaLnBrk="1" latinLnBrk="0" hangingPunct="1"/>
                      <a:r>
                        <a:rPr lang="en-US" sz="1100" b="1" kern="1200" dirty="0">
                          <a:solidFill>
                            <a:schemeClr val="bg1"/>
                          </a:solidFill>
                          <a:latin typeface="+mn-lt"/>
                          <a:ea typeface="+mn-ea"/>
                          <a:cs typeface="+mn-cs"/>
                        </a:rPr>
                        <a:t>Ether Channel Formation</a:t>
                      </a:r>
                      <a:endParaRPr lang="en-PK" sz="1100" b="1" kern="1200" dirty="0">
                        <a:solidFill>
                          <a:schemeClr val="bg1"/>
                        </a:solidFill>
                        <a:latin typeface="+mn-lt"/>
                        <a:ea typeface="+mn-ea"/>
                        <a:cs typeface="+mn-cs"/>
                      </a:endParaRPr>
                    </a:p>
                  </a:txBody>
                  <a:tcPr/>
                </a:tc>
                <a:extLst>
                  <a:ext uri="{0D108BD9-81ED-4DB2-BD59-A6C34878D82A}">
                    <a16:rowId xmlns:a16="http://schemas.microsoft.com/office/drawing/2014/main" val="1549585819"/>
                  </a:ext>
                </a:extLst>
              </a:tr>
              <a:tr h="251460">
                <a:tc>
                  <a:txBody>
                    <a:bodyPr/>
                    <a:lstStyle/>
                    <a:p>
                      <a:r>
                        <a:rPr lang="en-US" sz="1100" kern="1200" dirty="0">
                          <a:solidFill>
                            <a:schemeClr val="bg1"/>
                          </a:solidFill>
                          <a:latin typeface="+mn-lt"/>
                          <a:ea typeface="+mn-ea"/>
                          <a:cs typeface="+mn-cs"/>
                        </a:rPr>
                        <a:t>Desirable ↔ Desirable</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2359762355"/>
                  </a:ext>
                </a:extLst>
              </a:tr>
              <a:tr h="251460">
                <a:tc>
                  <a:txBody>
                    <a:bodyPr/>
                    <a:lstStyle/>
                    <a:p>
                      <a:r>
                        <a:rPr lang="en-US" sz="1100" kern="1200" dirty="0">
                          <a:solidFill>
                            <a:schemeClr val="bg1"/>
                          </a:solidFill>
                          <a:latin typeface="+mn-lt"/>
                          <a:ea typeface="+mn-ea"/>
                          <a:cs typeface="+mn-cs"/>
                        </a:rPr>
                        <a:t>Desirable ↔ Auto</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710138753"/>
                  </a:ext>
                </a:extLst>
              </a:tr>
              <a:tr h="2514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kern="1200" dirty="0">
                          <a:solidFill>
                            <a:schemeClr val="bg1"/>
                          </a:solidFill>
                          <a:latin typeface="+mn-lt"/>
                          <a:ea typeface="+mn-ea"/>
                          <a:cs typeface="+mn-cs"/>
                        </a:rPr>
                        <a:t>Auto ↔ Auto</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No 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2133610901"/>
                  </a:ext>
                </a:extLst>
              </a:tr>
            </a:tbl>
          </a:graphicData>
        </a:graphic>
      </p:graphicFrame>
      <p:sp>
        <p:nvSpPr>
          <p:cNvPr id="14" name="TextBox 13">
            <a:extLst>
              <a:ext uri="{FF2B5EF4-FFF2-40B4-BE49-F238E27FC236}">
                <a16:creationId xmlns:a16="http://schemas.microsoft.com/office/drawing/2014/main" id="{27BCE835-1540-7177-788D-0851E66F053A}"/>
              </a:ext>
            </a:extLst>
          </p:cNvPr>
          <p:cNvSpPr txBox="1"/>
          <p:nvPr/>
        </p:nvSpPr>
        <p:spPr>
          <a:xfrm>
            <a:off x="414865" y="2970650"/>
            <a:ext cx="4726677" cy="253916"/>
          </a:xfrm>
          <a:prstGeom prst="rect">
            <a:avLst/>
          </a:prstGeom>
          <a:noFill/>
        </p:spPr>
        <p:txBody>
          <a:bodyPr wrap="square">
            <a:spAutoFit/>
          </a:bodyPr>
          <a:lstStyle/>
          <a:p>
            <a:r>
              <a:rPr lang="fr-FR" sz="1050" dirty="0"/>
              <a:t>LACP Mode Combinations and Ether Channel Formation</a:t>
            </a:r>
            <a:endParaRPr lang="en-PK" sz="1050" dirty="0"/>
          </a:p>
        </p:txBody>
      </p:sp>
      <p:graphicFrame>
        <p:nvGraphicFramePr>
          <p:cNvPr id="15" name="Table 14">
            <a:extLst>
              <a:ext uri="{FF2B5EF4-FFF2-40B4-BE49-F238E27FC236}">
                <a16:creationId xmlns:a16="http://schemas.microsoft.com/office/drawing/2014/main" id="{4766D76E-EE30-26E1-BA6F-7AC70DF6A824}"/>
              </a:ext>
            </a:extLst>
          </p:cNvPr>
          <p:cNvGraphicFramePr>
            <a:graphicFrameLocks noGrp="1"/>
          </p:cNvGraphicFramePr>
          <p:nvPr>
            <p:extLst>
              <p:ext uri="{D42A27DB-BD31-4B8C-83A1-F6EECF244321}">
                <p14:modId xmlns:p14="http://schemas.microsoft.com/office/powerpoint/2010/main" val="228453893"/>
              </p:ext>
            </p:extLst>
          </p:nvPr>
        </p:nvGraphicFramePr>
        <p:xfrm>
          <a:off x="1695226" y="3424096"/>
          <a:ext cx="4726676" cy="1036320"/>
        </p:xfrm>
        <a:graphic>
          <a:graphicData uri="http://schemas.openxmlformats.org/drawingml/2006/table">
            <a:tbl>
              <a:tblPr firstRow="1" bandRow="1">
                <a:tableStyleId>{17343FFC-C285-48B6-A5F1-531E15585DCF}</a:tableStyleId>
              </a:tblPr>
              <a:tblGrid>
                <a:gridCol w="2177071">
                  <a:extLst>
                    <a:ext uri="{9D8B030D-6E8A-4147-A177-3AD203B41FA5}">
                      <a16:colId xmlns:a16="http://schemas.microsoft.com/office/drawing/2014/main" val="1597233158"/>
                    </a:ext>
                  </a:extLst>
                </a:gridCol>
                <a:gridCol w="2549605">
                  <a:extLst>
                    <a:ext uri="{9D8B030D-6E8A-4147-A177-3AD203B41FA5}">
                      <a16:colId xmlns:a16="http://schemas.microsoft.com/office/drawing/2014/main" val="277474861"/>
                    </a:ext>
                  </a:extLst>
                </a:gridCol>
              </a:tblGrid>
              <a:tr h="251460">
                <a:tc>
                  <a:txBody>
                    <a:bodyPr/>
                    <a:lstStyle/>
                    <a:p>
                      <a:pPr marL="0" algn="l" defTabSz="914400" rtl="0" eaLnBrk="1" latinLnBrk="0" hangingPunct="1"/>
                      <a:r>
                        <a:rPr lang="en-US" sz="1100" b="1" kern="1200" dirty="0">
                          <a:solidFill>
                            <a:schemeClr val="bg1"/>
                          </a:solidFill>
                          <a:latin typeface="+mn-lt"/>
                          <a:ea typeface="+mn-ea"/>
                          <a:cs typeface="+mn-cs"/>
                        </a:rPr>
                        <a:t>Mode Combination</a:t>
                      </a:r>
                      <a:endParaRPr lang="en-PK" sz="1100" b="1" kern="1200" dirty="0">
                        <a:solidFill>
                          <a:schemeClr val="bg1"/>
                        </a:solidFill>
                        <a:latin typeface="+mn-lt"/>
                        <a:ea typeface="+mn-ea"/>
                        <a:cs typeface="+mn-cs"/>
                      </a:endParaRPr>
                    </a:p>
                  </a:txBody>
                  <a:tcPr/>
                </a:tc>
                <a:tc>
                  <a:txBody>
                    <a:bodyPr/>
                    <a:lstStyle/>
                    <a:p>
                      <a:pPr marL="0" algn="l" defTabSz="914400" rtl="0" eaLnBrk="1" latinLnBrk="0" hangingPunct="1"/>
                      <a:r>
                        <a:rPr lang="en-US" sz="1100" b="1" kern="1200" dirty="0">
                          <a:solidFill>
                            <a:schemeClr val="bg1"/>
                          </a:solidFill>
                          <a:latin typeface="+mn-lt"/>
                          <a:ea typeface="+mn-ea"/>
                          <a:cs typeface="+mn-cs"/>
                        </a:rPr>
                        <a:t>Ether Channel Formation</a:t>
                      </a:r>
                      <a:endParaRPr lang="en-PK" sz="1100" b="1" kern="1200" dirty="0">
                        <a:solidFill>
                          <a:schemeClr val="bg1"/>
                        </a:solidFill>
                        <a:latin typeface="+mn-lt"/>
                        <a:ea typeface="+mn-ea"/>
                        <a:cs typeface="+mn-cs"/>
                      </a:endParaRPr>
                    </a:p>
                  </a:txBody>
                  <a:tcPr/>
                </a:tc>
                <a:extLst>
                  <a:ext uri="{0D108BD9-81ED-4DB2-BD59-A6C34878D82A}">
                    <a16:rowId xmlns:a16="http://schemas.microsoft.com/office/drawing/2014/main" val="765980057"/>
                  </a:ext>
                </a:extLst>
              </a:tr>
              <a:tr h="251460">
                <a:tc>
                  <a:txBody>
                    <a:bodyPr/>
                    <a:lstStyle/>
                    <a:p>
                      <a:r>
                        <a:rPr lang="en-US" sz="1100" kern="1200" dirty="0">
                          <a:solidFill>
                            <a:schemeClr val="bg1"/>
                          </a:solidFill>
                          <a:latin typeface="+mn-lt"/>
                          <a:ea typeface="+mn-ea"/>
                          <a:cs typeface="+mn-cs"/>
                        </a:rPr>
                        <a:t>Active ↔ Active</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707795154"/>
                  </a:ext>
                </a:extLst>
              </a:tr>
              <a:tr h="251460">
                <a:tc>
                  <a:txBody>
                    <a:bodyPr/>
                    <a:lstStyle/>
                    <a:p>
                      <a:r>
                        <a:rPr lang="en-US" sz="1100" kern="1200" dirty="0">
                          <a:solidFill>
                            <a:schemeClr val="bg1"/>
                          </a:solidFill>
                          <a:latin typeface="+mn-lt"/>
                          <a:ea typeface="+mn-ea"/>
                          <a:cs typeface="+mn-cs"/>
                        </a:rPr>
                        <a:t>Active ↔ Passive</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2545353699"/>
                  </a:ext>
                </a:extLst>
              </a:tr>
              <a:tr h="25146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100" kern="1200" dirty="0">
                          <a:solidFill>
                            <a:schemeClr val="bg1"/>
                          </a:solidFill>
                          <a:latin typeface="+mn-lt"/>
                          <a:ea typeface="+mn-ea"/>
                          <a:cs typeface="+mn-cs"/>
                        </a:rPr>
                        <a:t>Passive ↔ Passive</a:t>
                      </a:r>
                      <a:endParaRPr lang="en-PK" sz="1100" kern="1200" dirty="0">
                        <a:solidFill>
                          <a:schemeClr val="bg1"/>
                        </a:solidFill>
                        <a:latin typeface="+mn-lt"/>
                        <a:ea typeface="+mn-ea"/>
                        <a:cs typeface="+mn-cs"/>
                      </a:endParaRPr>
                    </a:p>
                  </a:txBody>
                  <a:tcPr/>
                </a:tc>
                <a:tc>
                  <a:txBody>
                    <a:bodyPr/>
                    <a:lstStyle/>
                    <a:p>
                      <a:r>
                        <a:rPr lang="en-US" sz="1100" kern="1200" dirty="0">
                          <a:solidFill>
                            <a:schemeClr val="bg1"/>
                          </a:solidFill>
                          <a:latin typeface="+mn-lt"/>
                          <a:ea typeface="+mn-ea"/>
                          <a:cs typeface="+mn-cs"/>
                        </a:rPr>
                        <a:t>No EtherChannel</a:t>
                      </a:r>
                      <a:endParaRPr lang="en-PK" sz="1100" kern="1200" dirty="0">
                        <a:solidFill>
                          <a:schemeClr val="bg1"/>
                        </a:solidFill>
                        <a:latin typeface="+mn-lt"/>
                        <a:ea typeface="+mn-ea"/>
                        <a:cs typeface="+mn-cs"/>
                      </a:endParaRPr>
                    </a:p>
                  </a:txBody>
                  <a:tcPr/>
                </a:tc>
                <a:extLst>
                  <a:ext uri="{0D108BD9-81ED-4DB2-BD59-A6C34878D82A}">
                    <a16:rowId xmlns:a16="http://schemas.microsoft.com/office/drawing/2014/main" val="561546593"/>
                  </a:ext>
                </a:extLst>
              </a:tr>
            </a:tbl>
          </a:graphicData>
        </a:graphic>
      </p:graphicFrame>
      <p:sp>
        <p:nvSpPr>
          <p:cNvPr id="18" name="TextBox 17">
            <a:extLst>
              <a:ext uri="{FF2B5EF4-FFF2-40B4-BE49-F238E27FC236}">
                <a16:creationId xmlns:a16="http://schemas.microsoft.com/office/drawing/2014/main" id="{8166AA43-1483-2A41-A677-52DD044EFDA2}"/>
              </a:ext>
            </a:extLst>
          </p:cNvPr>
          <p:cNvSpPr txBox="1"/>
          <p:nvPr/>
        </p:nvSpPr>
        <p:spPr>
          <a:xfrm>
            <a:off x="6615413" y="1376643"/>
            <a:ext cx="2258322" cy="215444"/>
          </a:xfrm>
          <a:prstGeom prst="rect">
            <a:avLst/>
          </a:prstGeom>
          <a:noFill/>
        </p:spPr>
        <p:txBody>
          <a:bodyPr wrap="square">
            <a:spAutoFit/>
          </a:bodyPr>
          <a:lstStyle/>
          <a:p>
            <a:r>
              <a:rPr lang="en-US" sz="800" dirty="0">
                <a:solidFill>
                  <a:srgbClr val="403CCF"/>
                </a:solidFill>
                <a:latin typeface="Libre Baskerville" pitchFamily="34" charset="0"/>
              </a:rPr>
              <a:t>Best Situation is Desirable ↔ Desirable</a:t>
            </a:r>
            <a:endParaRPr lang="en-PK" sz="800" dirty="0">
              <a:solidFill>
                <a:srgbClr val="403CCF"/>
              </a:solidFill>
              <a:latin typeface="Libre Baskerville" pitchFamily="34" charset="0"/>
            </a:endParaRPr>
          </a:p>
        </p:txBody>
      </p:sp>
      <p:sp>
        <p:nvSpPr>
          <p:cNvPr id="20" name="TextBox 19">
            <a:extLst>
              <a:ext uri="{FF2B5EF4-FFF2-40B4-BE49-F238E27FC236}">
                <a16:creationId xmlns:a16="http://schemas.microsoft.com/office/drawing/2014/main" id="{C15D01AF-6AE3-425E-CCE8-C048D7F9D7EC}"/>
              </a:ext>
            </a:extLst>
          </p:cNvPr>
          <p:cNvSpPr txBox="1"/>
          <p:nvPr/>
        </p:nvSpPr>
        <p:spPr>
          <a:xfrm>
            <a:off x="6570320" y="3830811"/>
            <a:ext cx="2303416" cy="215444"/>
          </a:xfrm>
          <a:prstGeom prst="rect">
            <a:avLst/>
          </a:prstGeom>
          <a:noFill/>
        </p:spPr>
        <p:txBody>
          <a:bodyPr wrap="square">
            <a:spAutoFit/>
          </a:bodyPr>
          <a:lstStyle/>
          <a:p>
            <a:r>
              <a:rPr lang="en-US" sz="800" dirty="0">
                <a:solidFill>
                  <a:srgbClr val="403CCF"/>
                </a:solidFill>
                <a:latin typeface="Libre Baskerville" pitchFamily="34" charset="0"/>
              </a:rPr>
              <a:t>Best Situation is Active ↔ Active</a:t>
            </a:r>
            <a:endParaRPr lang="en-PK" sz="800" dirty="0">
              <a:solidFill>
                <a:srgbClr val="403CCF"/>
              </a:solidFill>
              <a:latin typeface="Libre Baskerville" pitchFamily="34" charset="0"/>
            </a:endParaRPr>
          </a:p>
        </p:txBody>
      </p:sp>
    </p:spTree>
    <p:extLst>
      <p:ext uri="{BB962C8B-B14F-4D97-AF65-F5344CB8AC3E}">
        <p14:creationId xmlns:p14="http://schemas.microsoft.com/office/powerpoint/2010/main" val="383781796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074BED-5C4D-ABF0-7B77-8B0B2A5407C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3937E574-BD58-92FC-DE00-378B82A045A3}"/>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66D88198-C7A0-4120-16A3-C951A45D9EE5}"/>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C20F9B33-0C53-391B-FF68-F9FC7867F524}"/>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976D8B4-011A-984A-8DE5-F5D2688CCB3C}"/>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FED2834E-9615-B8DB-A13E-CE501C018EF6}"/>
              </a:ext>
            </a:extLst>
          </p:cNvPr>
          <p:cNvSpPr txBox="1"/>
          <p:nvPr/>
        </p:nvSpPr>
        <p:spPr>
          <a:xfrm>
            <a:off x="381820" y="113302"/>
            <a:ext cx="3470514"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Protocols in EtherChannel:</a:t>
            </a:r>
          </a:p>
        </p:txBody>
      </p:sp>
      <p:sp>
        <p:nvSpPr>
          <p:cNvPr id="17" name="TextBox 16">
            <a:extLst>
              <a:ext uri="{FF2B5EF4-FFF2-40B4-BE49-F238E27FC236}">
                <a16:creationId xmlns:a16="http://schemas.microsoft.com/office/drawing/2014/main" id="{E0FB546A-98F0-49ED-B9FF-3194E3DADDEA}"/>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FBE2AE40-4BC8-8E37-BCEB-AF67F735E065}"/>
              </a:ext>
            </a:extLst>
          </p:cNvPr>
          <p:cNvSpPr txBox="1"/>
          <p:nvPr/>
        </p:nvSpPr>
        <p:spPr>
          <a:xfrm>
            <a:off x="220280" y="831878"/>
            <a:ext cx="8703439" cy="2908489"/>
          </a:xfrm>
          <a:prstGeom prst="rect">
            <a:avLst/>
          </a:prstGeom>
          <a:noFill/>
        </p:spPr>
        <p:txBody>
          <a:bodyPr wrap="square">
            <a:spAutoFit/>
          </a:bodyPr>
          <a:lstStyle/>
          <a:p>
            <a:r>
              <a:rPr lang="en-US" sz="1050" dirty="0"/>
              <a:t>Desirable                         </a:t>
            </a:r>
            <a:r>
              <a:rPr lang="en-US" sz="1050" dirty="0" err="1"/>
              <a:t>Desirable</a:t>
            </a:r>
            <a:r>
              <a:rPr lang="en-US" sz="1050" dirty="0"/>
              <a:t>                         ✅ Works, Both sides actively send LACP packets</a:t>
            </a:r>
            <a:r>
              <a:rPr lang="en-US" sz="1800" dirty="0"/>
              <a:t>.</a:t>
            </a:r>
          </a:p>
          <a:p>
            <a:endParaRPr lang="en-US" sz="1800" dirty="0"/>
          </a:p>
          <a:p>
            <a:r>
              <a:rPr lang="en-US" sz="1050" dirty="0"/>
              <a:t>Desirable	              Auto        	       ✅ Works, One side initiates, the other responds.</a:t>
            </a:r>
          </a:p>
          <a:p>
            <a:endParaRPr lang="en-US" sz="1050" dirty="0"/>
          </a:p>
          <a:p>
            <a:endParaRPr lang="en-US" sz="1050" dirty="0"/>
          </a:p>
          <a:p>
            <a:r>
              <a:rPr lang="en-US" sz="1050" dirty="0"/>
              <a:t>Auto	              Auto	                             ❌ Fails, Both are waiting — no one starts negotiation.</a:t>
            </a:r>
          </a:p>
          <a:p>
            <a:endParaRPr lang="en-US" sz="1050" dirty="0"/>
          </a:p>
          <a:p>
            <a:endParaRPr lang="en-US" sz="1050" dirty="0"/>
          </a:p>
          <a:p>
            <a:endParaRPr lang="en-US" sz="1050" dirty="0"/>
          </a:p>
          <a:p>
            <a:r>
              <a:rPr lang="en-US" sz="1050" dirty="0"/>
              <a:t>Active                             </a:t>
            </a:r>
            <a:r>
              <a:rPr lang="en-US" sz="1050" dirty="0" err="1"/>
              <a:t>Active</a:t>
            </a:r>
            <a:r>
              <a:rPr lang="en-US" sz="1050" dirty="0"/>
              <a:t>                                  ✅ Works, Both sides actively send LACP packets.</a:t>
            </a:r>
          </a:p>
          <a:p>
            <a:endParaRPr lang="en-US" sz="1050" dirty="0"/>
          </a:p>
          <a:p>
            <a:r>
              <a:rPr lang="en-US" sz="1050" dirty="0"/>
              <a:t>Active	              Passive        	       ✅ Works, One side initiates, the other responds.</a:t>
            </a:r>
          </a:p>
          <a:p>
            <a:endParaRPr lang="en-US" sz="1050" dirty="0"/>
          </a:p>
          <a:p>
            <a:endParaRPr lang="en-US" sz="1050" dirty="0"/>
          </a:p>
          <a:p>
            <a:r>
              <a:rPr lang="en-US" sz="1050" dirty="0"/>
              <a:t>Passive	              Passive	        ❌ Fails, Both are waiting — no one starts negotiation.</a:t>
            </a:r>
          </a:p>
          <a:p>
            <a:endParaRPr lang="en-PK" sz="1050" dirty="0"/>
          </a:p>
        </p:txBody>
      </p:sp>
      <p:cxnSp>
        <p:nvCxnSpPr>
          <p:cNvPr id="7" name="Straight Arrow Connector 6">
            <a:extLst>
              <a:ext uri="{FF2B5EF4-FFF2-40B4-BE49-F238E27FC236}">
                <a16:creationId xmlns:a16="http://schemas.microsoft.com/office/drawing/2014/main" id="{5E5B84D9-6FFF-FB06-AC8A-70CE53D30052}"/>
              </a:ext>
            </a:extLst>
          </p:cNvPr>
          <p:cNvCxnSpPr/>
          <p:nvPr/>
        </p:nvCxnSpPr>
        <p:spPr>
          <a:xfrm>
            <a:off x="948267" y="1049867"/>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C20F4351-8E89-440F-083F-7C7AB104BE60}"/>
              </a:ext>
            </a:extLst>
          </p:cNvPr>
          <p:cNvCxnSpPr/>
          <p:nvPr/>
        </p:nvCxnSpPr>
        <p:spPr>
          <a:xfrm>
            <a:off x="948267" y="1488227"/>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D7E602A1-0E1C-A399-9E16-404D3E5D8EB2}"/>
              </a:ext>
            </a:extLst>
          </p:cNvPr>
          <p:cNvCxnSpPr/>
          <p:nvPr/>
        </p:nvCxnSpPr>
        <p:spPr>
          <a:xfrm>
            <a:off x="948267" y="1971196"/>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F2C36582-1986-F5AB-EBE2-0C766B477C25}"/>
              </a:ext>
            </a:extLst>
          </p:cNvPr>
          <p:cNvCxnSpPr/>
          <p:nvPr/>
        </p:nvCxnSpPr>
        <p:spPr>
          <a:xfrm>
            <a:off x="948267" y="2631596"/>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A03BFED8-3BA5-A29D-C82C-A919D08FFF73}"/>
              </a:ext>
            </a:extLst>
          </p:cNvPr>
          <p:cNvCxnSpPr/>
          <p:nvPr/>
        </p:nvCxnSpPr>
        <p:spPr>
          <a:xfrm>
            <a:off x="948267" y="2953330"/>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D2218EF5-B3D6-132F-D35F-3FDF6E24E818}"/>
              </a:ext>
            </a:extLst>
          </p:cNvPr>
          <p:cNvCxnSpPr/>
          <p:nvPr/>
        </p:nvCxnSpPr>
        <p:spPr>
          <a:xfrm>
            <a:off x="948267" y="3443877"/>
            <a:ext cx="65193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76670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3BC88-2733-91FD-2665-C705191D6A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D4EEEC7-9B6D-FC4A-D0F2-CDE472C8D0C6}"/>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D391687-F5BE-EB72-A893-48360FDFF3CF}"/>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CC900B8-0AAB-CF28-4E8E-EB71EF510847}"/>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FA75C06-E9FC-B261-35D0-3B490012781C}"/>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24044D66-ACC3-AB17-CCF9-72B538BF7A38}"/>
              </a:ext>
            </a:extLst>
          </p:cNvPr>
          <p:cNvSpPr txBox="1"/>
          <p:nvPr/>
        </p:nvSpPr>
        <p:spPr>
          <a:xfrm>
            <a:off x="220281" y="205971"/>
            <a:ext cx="8703440"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Example Working of Ether Channel:</a:t>
            </a:r>
            <a:endParaRPr lang="en-US" sz="1800" dirty="0"/>
          </a:p>
        </p:txBody>
      </p:sp>
      <p:sp>
        <p:nvSpPr>
          <p:cNvPr id="17" name="TextBox 16">
            <a:extLst>
              <a:ext uri="{FF2B5EF4-FFF2-40B4-BE49-F238E27FC236}">
                <a16:creationId xmlns:a16="http://schemas.microsoft.com/office/drawing/2014/main" id="{D83A2E2C-9C7D-1610-C640-737978DE7629}"/>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BF41B978-2FC2-7DF3-C34B-0FFFB4672CC3}"/>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sp>
        <p:nvSpPr>
          <p:cNvPr id="7" name="TextBox 6">
            <a:extLst>
              <a:ext uri="{FF2B5EF4-FFF2-40B4-BE49-F238E27FC236}">
                <a16:creationId xmlns:a16="http://schemas.microsoft.com/office/drawing/2014/main" id="{5CD8D1C6-EF8B-D9C2-8B61-F4F6D2375165}"/>
              </a:ext>
            </a:extLst>
          </p:cNvPr>
          <p:cNvSpPr txBox="1"/>
          <p:nvPr/>
        </p:nvSpPr>
        <p:spPr>
          <a:xfrm>
            <a:off x="281558" y="896994"/>
            <a:ext cx="8456042" cy="2608406"/>
          </a:xfrm>
          <a:prstGeom prst="rect">
            <a:avLst/>
          </a:prstGeom>
          <a:noFill/>
        </p:spPr>
        <p:txBody>
          <a:bodyPr wrap="square">
            <a:spAutoFit/>
          </a:bodyPr>
          <a:lstStyle/>
          <a:p>
            <a:r>
              <a:rPr lang="en-US" sz="1050" b="1" dirty="0"/>
              <a:t>Practical Example:</a:t>
            </a:r>
          </a:p>
          <a:p>
            <a:r>
              <a:rPr lang="en-US" sz="1050" dirty="0"/>
              <a:t>10 computers on Switch A and 10 computers on Switch B, all communicating simultaneously.</a:t>
            </a:r>
          </a:p>
          <a:p>
            <a:endParaRPr lang="en-US" sz="1800" dirty="0"/>
          </a:p>
          <a:p>
            <a:endParaRPr lang="en-US" sz="1800" dirty="0"/>
          </a:p>
          <a:p>
            <a:r>
              <a:rPr lang="en-US" sz="1050" b="1" dirty="0"/>
              <a:t>With EtherChannel (3 links at 100 Mbps each):</a:t>
            </a:r>
          </a:p>
          <a:p>
            <a:pPr lvl="1" indent="-285743">
              <a:buFont typeface="Wingdings" panose="05000000000000000000" pitchFamily="2" charset="2"/>
              <a:buChar char="Ø"/>
            </a:pPr>
            <a:r>
              <a:rPr lang="en-US" sz="1050" dirty="0"/>
              <a:t>Each flow (e.g., a file transfer between Computer 1 and Computer 2) uses one link.</a:t>
            </a:r>
          </a:p>
          <a:p>
            <a:pPr lvl="1" indent="-285743">
              <a:buFont typeface="Wingdings" panose="05000000000000000000" pitchFamily="2" charset="2"/>
              <a:buChar char="Ø"/>
            </a:pPr>
            <a:r>
              <a:rPr lang="en-US" sz="1050" dirty="0"/>
              <a:t>Different flows can use different links, effectively utilizing the combined 300 Mbps bandwidth.</a:t>
            </a:r>
          </a:p>
          <a:p>
            <a:pPr marL="742931" lvl="1" indent="-285743">
              <a:buFont typeface="Wingdings" panose="05000000000000000000" pitchFamily="2" charset="2"/>
              <a:buChar char="Ø"/>
            </a:pPr>
            <a:endParaRPr lang="en-US" sz="1800" dirty="0"/>
          </a:p>
          <a:p>
            <a:r>
              <a:rPr lang="en-US" sz="1050" b="1" dirty="0"/>
              <a:t>Without EtherChannel:</a:t>
            </a:r>
          </a:p>
          <a:p>
            <a:r>
              <a:rPr lang="en-US" sz="1050" dirty="0"/>
              <a:t>All flows are forced to share a single 100 Mbps link, creating congestion and slower performance.</a:t>
            </a:r>
          </a:p>
          <a:p>
            <a:endParaRPr lang="en-US" sz="1800" dirty="0"/>
          </a:p>
          <a:p>
            <a:pPr algn="just"/>
            <a:endParaRPr lang="en-US" sz="1800" dirty="0"/>
          </a:p>
        </p:txBody>
      </p:sp>
      <p:sp>
        <p:nvSpPr>
          <p:cNvPr id="8" name="TextBox 7">
            <a:extLst>
              <a:ext uri="{FF2B5EF4-FFF2-40B4-BE49-F238E27FC236}">
                <a16:creationId xmlns:a16="http://schemas.microsoft.com/office/drawing/2014/main" id="{0300AE55-F720-D73F-E8CE-8E486FB9D218}"/>
              </a:ext>
            </a:extLst>
          </p:cNvPr>
          <p:cNvSpPr txBox="1"/>
          <p:nvPr/>
        </p:nvSpPr>
        <p:spPr>
          <a:xfrm>
            <a:off x="381820" y="3456884"/>
            <a:ext cx="8355780" cy="369332"/>
          </a:xfrm>
          <a:prstGeom prst="rect">
            <a:avLst/>
          </a:prstGeom>
          <a:noFill/>
        </p:spPr>
        <p:txBody>
          <a:bodyPr wrap="square">
            <a:spAutoFit/>
          </a:bodyPr>
          <a:lstStyle/>
          <a:p>
            <a:pPr algn="just"/>
            <a:r>
              <a:rPr lang="en-US" sz="900" dirty="0"/>
              <a:t>In a traditional setup with multiple links between two switches, STP will block redundant links to prevent loops. With EtherChannel, STP treats all links in the EtherChannel as one logical link, so no links are blocked. This means you can use the full capacity of all the links.</a:t>
            </a:r>
          </a:p>
        </p:txBody>
      </p:sp>
    </p:spTree>
    <p:extLst>
      <p:ext uri="{BB962C8B-B14F-4D97-AF65-F5344CB8AC3E}">
        <p14:creationId xmlns:p14="http://schemas.microsoft.com/office/powerpoint/2010/main" val="85332708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4413E6-B61D-69FE-1F58-A31FD618AA5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1FF4CBB-0E98-B74D-6A35-B494F40CE7C2}"/>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6A3F001C-3755-7991-C92F-5206A92F4B5A}"/>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00509C65-17AE-C61C-AEA7-7D9713CE86A2}"/>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E5AB2CC-DFDD-D598-169A-1BAC64951B7B}"/>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58D98EF-1111-3606-D88C-951238B4E68A}"/>
              </a:ext>
            </a:extLst>
          </p:cNvPr>
          <p:cNvSpPr txBox="1"/>
          <p:nvPr/>
        </p:nvSpPr>
        <p:spPr>
          <a:xfrm>
            <a:off x="220281" y="205971"/>
            <a:ext cx="8703440" cy="369332"/>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Example Working of Ether Channel:</a:t>
            </a:r>
            <a:endParaRPr lang="en-US" sz="1800" dirty="0"/>
          </a:p>
        </p:txBody>
      </p:sp>
      <p:sp>
        <p:nvSpPr>
          <p:cNvPr id="17" name="TextBox 16">
            <a:extLst>
              <a:ext uri="{FF2B5EF4-FFF2-40B4-BE49-F238E27FC236}">
                <a16:creationId xmlns:a16="http://schemas.microsoft.com/office/drawing/2014/main" id="{9B6BEE93-25FB-A327-4B7F-E6A0B9CFBD5E}"/>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AC69B823-F55C-3972-55A3-BDD036E3C883}"/>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sp>
        <p:nvSpPr>
          <p:cNvPr id="7" name="TextBox 6">
            <a:extLst>
              <a:ext uri="{FF2B5EF4-FFF2-40B4-BE49-F238E27FC236}">
                <a16:creationId xmlns:a16="http://schemas.microsoft.com/office/drawing/2014/main" id="{A1012A16-DC12-C8AD-DD7B-03CE63F2F505}"/>
              </a:ext>
            </a:extLst>
          </p:cNvPr>
          <p:cNvSpPr txBox="1"/>
          <p:nvPr/>
        </p:nvSpPr>
        <p:spPr>
          <a:xfrm>
            <a:off x="281558" y="896993"/>
            <a:ext cx="8642160" cy="3447098"/>
          </a:xfrm>
          <a:prstGeom prst="rect">
            <a:avLst/>
          </a:prstGeom>
          <a:noFill/>
        </p:spPr>
        <p:txBody>
          <a:bodyPr wrap="square">
            <a:spAutoFit/>
          </a:bodyPr>
          <a:lstStyle/>
          <a:p>
            <a:r>
              <a:rPr lang="en-US" sz="1100" dirty="0"/>
              <a:t>When you're using EtherChannel, all the bundled links (e.g., 3 links) are treated as one logical link by STP.</a:t>
            </a:r>
          </a:p>
          <a:p>
            <a:pPr algn="just"/>
            <a:br>
              <a:rPr lang="en-US" sz="1800" dirty="0"/>
            </a:br>
            <a:r>
              <a:rPr lang="en-US" sz="900" dirty="0"/>
              <a:t>🔹 Here’s what happens:</a:t>
            </a:r>
          </a:p>
          <a:p>
            <a:pPr algn="just"/>
            <a:endParaRPr lang="en-US" sz="900" dirty="0"/>
          </a:p>
          <a:p>
            <a:pPr algn="just"/>
            <a:r>
              <a:rPr lang="en-US" sz="900" dirty="0"/>
              <a:t>STP does not block individual links inside an EtherChannel.</a:t>
            </a:r>
          </a:p>
          <a:p>
            <a:pPr algn="just"/>
            <a:r>
              <a:rPr lang="en-US" sz="900" dirty="0"/>
              <a:t>Instead, it sees all links in the EtherChannel as a single connection.</a:t>
            </a:r>
          </a:p>
          <a:p>
            <a:pPr algn="just"/>
            <a:r>
              <a:rPr lang="en-US" sz="900" dirty="0"/>
              <a:t>So, all 3 links are active and used for traffic (no blocking among them).</a:t>
            </a:r>
          </a:p>
          <a:p>
            <a:pPr algn="just"/>
            <a:endParaRPr lang="en-US" sz="900" dirty="0"/>
          </a:p>
          <a:p>
            <a:pPr algn="just"/>
            <a:r>
              <a:rPr lang="en-US" sz="900" dirty="0"/>
              <a:t>✅Traffic will go over all 3 links in the EtherChannel — none of them will be in a blocked state.</a:t>
            </a:r>
          </a:p>
          <a:p>
            <a:pPr algn="just"/>
            <a:endParaRPr lang="en-US" sz="900" dirty="0"/>
          </a:p>
          <a:p>
            <a:pPr algn="just"/>
            <a:endParaRPr lang="en-US" sz="900" dirty="0"/>
          </a:p>
          <a:p>
            <a:pPr algn="just"/>
            <a:endParaRPr lang="en-US" sz="900" dirty="0"/>
          </a:p>
          <a:p>
            <a:pPr algn="just"/>
            <a:r>
              <a:rPr lang="en-US" sz="900" dirty="0"/>
              <a:t>🔁 Normally (Without EtherChannel):</a:t>
            </a:r>
          </a:p>
          <a:p>
            <a:pPr algn="just"/>
            <a:r>
              <a:rPr lang="en-US" sz="900" dirty="0"/>
              <a:t>STP blocks redundant (backup) links to prevent loops.</a:t>
            </a:r>
          </a:p>
          <a:p>
            <a:pPr algn="just"/>
            <a:r>
              <a:rPr lang="en-US" sz="900" dirty="0"/>
              <a:t>Only one active path is allowed between switches.</a:t>
            </a:r>
          </a:p>
          <a:p>
            <a:pPr algn="just"/>
            <a:r>
              <a:rPr lang="en-US" sz="900" dirty="0"/>
              <a:t>The backup link stays in Blocking State until it's needed (e.g., if the active link fails).</a:t>
            </a:r>
          </a:p>
          <a:p>
            <a:pPr algn="just"/>
            <a:endParaRPr lang="en-US" sz="900" dirty="0"/>
          </a:p>
          <a:p>
            <a:pPr algn="just"/>
            <a:endParaRPr lang="en-US" sz="900" dirty="0"/>
          </a:p>
          <a:p>
            <a:pPr algn="just"/>
            <a:endParaRPr lang="en-US" sz="900" dirty="0"/>
          </a:p>
          <a:p>
            <a:pPr algn="just"/>
            <a:r>
              <a:rPr lang="en-US" sz="900" dirty="0"/>
              <a:t>🔀 But with EtherChannel:</a:t>
            </a:r>
          </a:p>
          <a:p>
            <a:pPr algn="just"/>
            <a:r>
              <a:rPr lang="en-US" sz="900" dirty="0"/>
              <a:t>All physical links are bundled into one logical link.</a:t>
            </a:r>
          </a:p>
          <a:p>
            <a:pPr algn="just"/>
            <a:r>
              <a:rPr lang="en-US" sz="900" dirty="0"/>
              <a:t>STP sees it as a single link, so it doesn’t block individual links inside it.</a:t>
            </a:r>
          </a:p>
          <a:p>
            <a:pPr algn="just"/>
            <a:r>
              <a:rPr lang="en-US" sz="900" dirty="0"/>
              <a:t>All links stay active and share the traffic — no blocking within the EtherChannel.</a:t>
            </a:r>
          </a:p>
        </p:txBody>
      </p:sp>
    </p:spTree>
    <p:extLst>
      <p:ext uri="{BB962C8B-B14F-4D97-AF65-F5344CB8AC3E}">
        <p14:creationId xmlns:p14="http://schemas.microsoft.com/office/powerpoint/2010/main" val="1518109755"/>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C40EE-79E2-499E-A894-C084CB6022C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5E393C4-E9CF-69DF-D873-D2B94E40947F}"/>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872EF2B7-701C-756A-E5D3-4EFC0E56F563}"/>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E8D28C9-158F-5956-48B0-CF26CAAF735C}"/>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015F4BE-A33C-ED97-22AE-A965843D015E}"/>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B45595F-2132-2029-F816-168376C47D76}"/>
              </a:ext>
            </a:extLst>
          </p:cNvPr>
          <p:cNvSpPr txBox="1"/>
          <p:nvPr/>
        </p:nvSpPr>
        <p:spPr>
          <a:xfrm>
            <a:off x="220281" y="205971"/>
            <a:ext cx="8703440" cy="646331"/>
          </a:xfrm>
          <a:prstGeom prst="rect">
            <a:avLst/>
          </a:prstGeom>
          <a:noFill/>
        </p:spPr>
        <p:txBody>
          <a:bodyPr wrap="square">
            <a:spAutoFit/>
          </a:bodyPr>
          <a:lstStyle/>
          <a:p>
            <a:r>
              <a:rPr lang="en-US" sz="1800" b="1" dirty="0">
                <a:latin typeface="Arial" panose="020B0604020202020204" pitchFamily="34" charset="0"/>
                <a:cs typeface="Arial" panose="020B0604020202020204" pitchFamily="34" charset="0"/>
              </a:rPr>
              <a:t>Example Working of Ether Channel:</a:t>
            </a:r>
          </a:p>
          <a:p>
            <a:r>
              <a:rPr lang="en-US" sz="1800" b="1" dirty="0">
                <a:latin typeface="Arial" panose="020B0604020202020204" pitchFamily="34" charset="0"/>
                <a:cs typeface="Arial" panose="020B0604020202020204" pitchFamily="34" charset="0"/>
              </a:rPr>
              <a:t>No loop , No storming , No Mac Address Instability</a:t>
            </a:r>
            <a:endParaRPr lang="en-US" sz="1800" dirty="0"/>
          </a:p>
        </p:txBody>
      </p:sp>
      <p:sp>
        <p:nvSpPr>
          <p:cNvPr id="17" name="TextBox 16">
            <a:extLst>
              <a:ext uri="{FF2B5EF4-FFF2-40B4-BE49-F238E27FC236}">
                <a16:creationId xmlns:a16="http://schemas.microsoft.com/office/drawing/2014/main" id="{F7BFD4D6-4801-5DAF-441C-1635CC19968D}"/>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DAE00EEA-D474-98E9-9366-9F6D0BD1CCB2}"/>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sp>
        <p:nvSpPr>
          <p:cNvPr id="7" name="TextBox 6">
            <a:extLst>
              <a:ext uri="{FF2B5EF4-FFF2-40B4-BE49-F238E27FC236}">
                <a16:creationId xmlns:a16="http://schemas.microsoft.com/office/drawing/2014/main" id="{F3DA6C37-EE2A-FD6B-8ED6-7AF5616ED395}"/>
              </a:ext>
            </a:extLst>
          </p:cNvPr>
          <p:cNvSpPr txBox="1"/>
          <p:nvPr/>
        </p:nvSpPr>
        <p:spPr>
          <a:xfrm>
            <a:off x="281559" y="1061454"/>
            <a:ext cx="8642160" cy="3647152"/>
          </a:xfrm>
          <a:prstGeom prst="rect">
            <a:avLst/>
          </a:prstGeom>
          <a:noFill/>
        </p:spPr>
        <p:txBody>
          <a:bodyPr wrap="square">
            <a:spAutoFit/>
          </a:bodyPr>
          <a:lstStyle/>
          <a:p>
            <a:pPr marL="171450" indent="-171450">
              <a:buFont typeface="Wingdings" panose="05000000000000000000" pitchFamily="2" charset="2"/>
              <a:buChar char="ü"/>
            </a:pPr>
            <a:r>
              <a:rPr lang="en-US" sz="1100" dirty="0"/>
              <a:t>You create EtherChannel (example: Port-channel1).</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switches, treat these 3 cables as one single big pipe.</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STP sees only ONE logical link (Port-channel1), not 3.</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r>
              <a:rPr lang="en-US" sz="1100" dirty="0"/>
              <a:t>✅ All 3 cables are active   ✅ No loops   ✅ Full bandwidth is used</a:t>
            </a:r>
          </a:p>
          <a:p>
            <a:pPr marL="171450" indent="-171450">
              <a:buFont typeface="Wingdings" panose="05000000000000000000" pitchFamily="2" charset="2"/>
              <a:buChar char="ü"/>
            </a:pPr>
            <a:endParaRPr lang="en-US" sz="1100" dirty="0"/>
          </a:p>
          <a:p>
            <a:pPr marL="171450" indent="-171450">
              <a:buFont typeface="Wingdings" panose="05000000000000000000" pitchFamily="2" charset="2"/>
              <a:buChar char="ü"/>
            </a:pPr>
            <a:endParaRPr lang="en-US" sz="1100" dirty="0"/>
          </a:p>
          <a:p>
            <a:r>
              <a:rPr lang="en-US" sz="1100" dirty="0"/>
              <a:t>🧮 How traffic actually flows</a:t>
            </a:r>
          </a:p>
          <a:p>
            <a:endParaRPr lang="en-US" sz="1100" dirty="0"/>
          </a:p>
          <a:p>
            <a:pPr marL="171450" indent="-171450">
              <a:buFont typeface="Wingdings" panose="05000000000000000000" pitchFamily="2" charset="2"/>
              <a:buChar char="ü"/>
            </a:pPr>
            <a:r>
              <a:rPr lang="en-US" sz="1100" dirty="0"/>
              <a:t>Inside EtherChannel: Each frame is sent only through one cable — chosen by a hashing algorithm (like based on MAC or IP).</a:t>
            </a:r>
          </a:p>
          <a:p>
            <a:pPr marL="171450" indent="-171450">
              <a:buFont typeface="Wingdings" panose="05000000000000000000" pitchFamily="2" charset="2"/>
              <a:buChar char="ü"/>
            </a:pPr>
            <a:endParaRPr lang="en-US" sz="900" dirty="0"/>
          </a:p>
          <a:p>
            <a:pPr marL="171450" indent="-171450">
              <a:buFont typeface="Wingdings" panose="05000000000000000000" pitchFamily="2" charset="2"/>
              <a:buChar char="ü"/>
            </a:pPr>
            <a:r>
              <a:rPr lang="fr-FR" sz="900" dirty="0"/>
              <a:t>Frame 1 → Cable 1  ,    Frame 2 → Cable 2,     Frame 3 → Cable 3</a:t>
            </a:r>
          </a:p>
          <a:p>
            <a:pPr marL="171450" indent="-171450">
              <a:buFont typeface="Wingdings" panose="05000000000000000000" pitchFamily="2" charset="2"/>
              <a:buChar char="ü"/>
            </a:pPr>
            <a:endParaRPr lang="fr-FR" sz="900" dirty="0"/>
          </a:p>
          <a:p>
            <a:pPr marL="171450" indent="-171450">
              <a:buFont typeface="Wingdings" panose="05000000000000000000" pitchFamily="2" charset="2"/>
              <a:buChar char="ü"/>
            </a:pPr>
            <a:r>
              <a:rPr lang="en-US" sz="900" dirty="0"/>
              <a:t>No frame is ever copied on all 3 cables — so no looping or storming happens.</a:t>
            </a:r>
          </a:p>
          <a:p>
            <a:pPr marL="171450" indent="-171450">
              <a:buFont typeface="Wingdings" panose="05000000000000000000" pitchFamily="2" charset="2"/>
              <a:buChar char="ü"/>
            </a:pPr>
            <a:endParaRPr lang="en-US" sz="900" dirty="0"/>
          </a:p>
          <a:p>
            <a:pPr marL="171450" indent="-171450">
              <a:buFont typeface="Wingdings" panose="05000000000000000000" pitchFamily="2" charset="2"/>
              <a:buChar char="ü"/>
            </a:pPr>
            <a:endParaRPr lang="en-US" sz="900" dirty="0"/>
          </a:p>
          <a:p>
            <a:r>
              <a:rPr lang="en-US" sz="900" dirty="0"/>
              <a:t>🧱 Why MAC address table stays stable</a:t>
            </a:r>
          </a:p>
          <a:p>
            <a:endParaRPr lang="en-US" sz="900" dirty="0"/>
          </a:p>
          <a:p>
            <a:r>
              <a:rPr lang="en-US" sz="900" dirty="0"/>
              <a:t>All 3 cables act as one single interface (Port-channel1), so the switch learns:  </a:t>
            </a:r>
          </a:p>
          <a:p>
            <a:r>
              <a:rPr lang="en-US" sz="900" dirty="0"/>
              <a:t>PC1’s MAC → Port-channel1</a:t>
            </a:r>
          </a:p>
          <a:p>
            <a:endParaRPr lang="en-US" sz="900" dirty="0"/>
          </a:p>
        </p:txBody>
      </p:sp>
    </p:spTree>
    <p:extLst>
      <p:ext uri="{BB962C8B-B14F-4D97-AF65-F5344CB8AC3E}">
        <p14:creationId xmlns:p14="http://schemas.microsoft.com/office/powerpoint/2010/main" val="351199454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ABAA4F-D62A-7A6C-5556-622ED14E606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9E47FF-C4BC-0624-2171-E19B9C233728}"/>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BA5C00B-96E2-DBA8-A9E8-97E69918A982}"/>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56447AA-7F29-3E73-7D85-58A3BB54432C}"/>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FFD1D1A1-5A1A-4868-AF6E-4E762D3E0E83}"/>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493F0386-559B-412A-A17D-B9EAA662EDBA}"/>
              </a:ext>
            </a:extLst>
          </p:cNvPr>
          <p:cNvSpPr txBox="1"/>
          <p:nvPr/>
        </p:nvSpPr>
        <p:spPr>
          <a:xfrm>
            <a:off x="220279" y="87555"/>
            <a:ext cx="8703440" cy="369332"/>
          </a:xfrm>
          <a:prstGeom prst="rect">
            <a:avLst/>
          </a:prstGeom>
          <a:noFill/>
        </p:spPr>
        <p:txBody>
          <a:bodyPr wrap="square">
            <a:spAutoFit/>
          </a:bodyPr>
          <a:lstStyle/>
          <a:p>
            <a:r>
              <a:rPr lang="fr-FR" sz="1800" b="1" dirty="0">
                <a:latin typeface="Arial" panose="020B0604020202020204" pitchFamily="34" charset="0"/>
                <a:cs typeface="Arial" panose="020B0604020202020204" pitchFamily="34" charset="0"/>
              </a:rPr>
              <a:t>PAgP Lab Practical : </a:t>
            </a:r>
            <a:endParaRPr lang="en-US" sz="18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BCBAA0A6-5390-9D50-7894-B73D0C66E1C1}"/>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EE7222FE-45A9-EC6C-58E3-A22D075353B2}"/>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pic>
        <p:nvPicPr>
          <p:cNvPr id="7" name="Picture 6">
            <a:extLst>
              <a:ext uri="{FF2B5EF4-FFF2-40B4-BE49-F238E27FC236}">
                <a16:creationId xmlns:a16="http://schemas.microsoft.com/office/drawing/2014/main" id="{A0620BA7-015E-9256-25FB-224192D12854}"/>
              </a:ext>
            </a:extLst>
          </p:cNvPr>
          <p:cNvPicPr>
            <a:picLocks noChangeAspect="1"/>
          </p:cNvPicPr>
          <p:nvPr/>
        </p:nvPicPr>
        <p:blipFill>
          <a:blip r:embed="rId3"/>
          <a:stretch>
            <a:fillRect/>
          </a:stretch>
        </p:blipFill>
        <p:spPr>
          <a:xfrm>
            <a:off x="4504335" y="2748038"/>
            <a:ext cx="4639665" cy="2395463"/>
          </a:xfrm>
          <a:prstGeom prst="rect">
            <a:avLst/>
          </a:prstGeom>
        </p:spPr>
      </p:pic>
      <p:sp>
        <p:nvSpPr>
          <p:cNvPr id="13" name="TextBox 12">
            <a:extLst>
              <a:ext uri="{FF2B5EF4-FFF2-40B4-BE49-F238E27FC236}">
                <a16:creationId xmlns:a16="http://schemas.microsoft.com/office/drawing/2014/main" id="{6C2BAD9D-19BF-3FFF-0198-F8D9BDDE8228}"/>
              </a:ext>
            </a:extLst>
          </p:cNvPr>
          <p:cNvSpPr txBox="1"/>
          <p:nvPr/>
        </p:nvSpPr>
        <p:spPr>
          <a:xfrm>
            <a:off x="304800" y="1091785"/>
            <a:ext cx="4809068" cy="707886"/>
          </a:xfrm>
          <a:prstGeom prst="rect">
            <a:avLst/>
          </a:prstGeom>
          <a:noFill/>
        </p:spPr>
        <p:txBody>
          <a:bodyPr wrap="square">
            <a:spAutoFit/>
          </a:bodyPr>
          <a:lstStyle/>
          <a:p>
            <a:pPr marL="171446" indent="-171446">
              <a:buFont typeface="Wingdings" panose="05000000000000000000" pitchFamily="2" charset="2"/>
              <a:buChar char="q"/>
            </a:pPr>
            <a:r>
              <a:rPr lang="en-PK" sz="1000" dirty="0"/>
              <a:t>switch&gt; enable</a:t>
            </a:r>
          </a:p>
          <a:p>
            <a:pPr marL="171446" indent="-171446">
              <a:buFont typeface="Wingdings" panose="05000000000000000000" pitchFamily="2" charset="2"/>
              <a:buChar char="q"/>
            </a:pPr>
            <a:r>
              <a:rPr lang="en-PK" sz="1000" dirty="0"/>
              <a:t>switch# configure terminal</a:t>
            </a:r>
          </a:p>
          <a:p>
            <a:pPr marL="171446" indent="-171446">
              <a:buFont typeface="Wingdings" panose="05000000000000000000" pitchFamily="2" charset="2"/>
              <a:buChar char="q"/>
            </a:pPr>
            <a:r>
              <a:rPr lang="en-PK" sz="1000" dirty="0"/>
              <a:t>switch(config)# interface range fa0/1, fa0/2, fa0/3</a:t>
            </a:r>
          </a:p>
          <a:p>
            <a:pPr marL="171446" indent="-171446">
              <a:buFont typeface="Wingdings" panose="05000000000000000000" pitchFamily="2" charset="2"/>
              <a:buChar char="q"/>
            </a:pPr>
            <a:r>
              <a:rPr lang="en-PK" sz="1000" dirty="0"/>
              <a:t>switch(config-if-range)# channel-group 2 mode desirable</a:t>
            </a:r>
          </a:p>
        </p:txBody>
      </p:sp>
      <p:sp>
        <p:nvSpPr>
          <p:cNvPr id="19" name="TextBox 18">
            <a:extLst>
              <a:ext uri="{FF2B5EF4-FFF2-40B4-BE49-F238E27FC236}">
                <a16:creationId xmlns:a16="http://schemas.microsoft.com/office/drawing/2014/main" id="{C9E63CFC-7F29-4FAE-BC83-4DD030CF99E3}"/>
              </a:ext>
            </a:extLst>
          </p:cNvPr>
          <p:cNvSpPr txBox="1"/>
          <p:nvPr/>
        </p:nvSpPr>
        <p:spPr>
          <a:xfrm>
            <a:off x="304800" y="2395463"/>
            <a:ext cx="4809068" cy="707886"/>
          </a:xfrm>
          <a:prstGeom prst="rect">
            <a:avLst/>
          </a:prstGeom>
          <a:noFill/>
        </p:spPr>
        <p:txBody>
          <a:bodyPr wrap="square">
            <a:spAutoFit/>
          </a:bodyPr>
          <a:lstStyle/>
          <a:p>
            <a:pPr marL="171446" indent="-171446">
              <a:buFont typeface="Wingdings" panose="05000000000000000000" pitchFamily="2" charset="2"/>
              <a:buChar char="q"/>
            </a:pPr>
            <a:r>
              <a:rPr lang="en-PK" sz="1000" dirty="0"/>
              <a:t>switch&gt; enable</a:t>
            </a:r>
          </a:p>
          <a:p>
            <a:pPr marL="171446" indent="-171446">
              <a:buFont typeface="Wingdings" panose="05000000000000000000" pitchFamily="2" charset="2"/>
              <a:buChar char="q"/>
            </a:pPr>
            <a:r>
              <a:rPr lang="en-PK" sz="1000" dirty="0"/>
              <a:t>switch# configure terminal</a:t>
            </a:r>
          </a:p>
          <a:p>
            <a:pPr marL="171446" indent="-171446">
              <a:buFont typeface="Wingdings" panose="05000000000000000000" pitchFamily="2" charset="2"/>
              <a:buChar char="q"/>
            </a:pPr>
            <a:r>
              <a:rPr lang="en-PK" sz="1000" dirty="0"/>
              <a:t>switch(config)# interface range fa0/1, fa0/2, fa0/3</a:t>
            </a:r>
          </a:p>
          <a:p>
            <a:pPr marL="171446" indent="-171446">
              <a:buFont typeface="Wingdings" panose="05000000000000000000" pitchFamily="2" charset="2"/>
              <a:buChar char="q"/>
            </a:pPr>
            <a:r>
              <a:rPr lang="en-PK" sz="1000" dirty="0"/>
              <a:t>switch(config-if-range)# channel-group 2 mode desirable</a:t>
            </a:r>
          </a:p>
        </p:txBody>
      </p:sp>
      <p:sp>
        <p:nvSpPr>
          <p:cNvPr id="22" name="TextBox 21">
            <a:extLst>
              <a:ext uri="{FF2B5EF4-FFF2-40B4-BE49-F238E27FC236}">
                <a16:creationId xmlns:a16="http://schemas.microsoft.com/office/drawing/2014/main" id="{372AB19E-7A91-87B8-0464-F8B4A821F0C2}"/>
              </a:ext>
            </a:extLst>
          </p:cNvPr>
          <p:cNvSpPr txBox="1"/>
          <p:nvPr/>
        </p:nvSpPr>
        <p:spPr>
          <a:xfrm>
            <a:off x="304800" y="4188513"/>
            <a:ext cx="4605866" cy="246221"/>
          </a:xfrm>
          <a:prstGeom prst="rect">
            <a:avLst/>
          </a:prstGeom>
          <a:noFill/>
        </p:spPr>
        <p:txBody>
          <a:bodyPr wrap="square">
            <a:spAutoFit/>
          </a:bodyPr>
          <a:lstStyle/>
          <a:p>
            <a:pPr marL="171446" indent="-171446">
              <a:buFont typeface="Wingdings" panose="05000000000000000000" pitchFamily="2" charset="2"/>
              <a:buChar char="q"/>
            </a:pPr>
            <a:r>
              <a:rPr lang="en-PK" sz="1000" dirty="0"/>
              <a:t>switch# show etherchannel summary</a:t>
            </a:r>
          </a:p>
        </p:txBody>
      </p:sp>
      <p:sp>
        <p:nvSpPr>
          <p:cNvPr id="24" name="TextBox 23">
            <a:extLst>
              <a:ext uri="{FF2B5EF4-FFF2-40B4-BE49-F238E27FC236}">
                <a16:creationId xmlns:a16="http://schemas.microsoft.com/office/drawing/2014/main" id="{FE41E206-E5DB-74CD-99EE-C853AD8C7C1E}"/>
              </a:ext>
            </a:extLst>
          </p:cNvPr>
          <p:cNvSpPr txBox="1"/>
          <p:nvPr/>
        </p:nvSpPr>
        <p:spPr>
          <a:xfrm>
            <a:off x="304799" y="768656"/>
            <a:ext cx="2040435" cy="369332"/>
          </a:xfrm>
          <a:prstGeom prst="rect">
            <a:avLst/>
          </a:prstGeom>
          <a:noFill/>
        </p:spPr>
        <p:txBody>
          <a:bodyPr wrap="square">
            <a:spAutoFit/>
          </a:bodyPr>
          <a:lstStyle/>
          <a:p>
            <a:r>
              <a:rPr lang="en-US" sz="1800" b="1" dirty="0"/>
              <a:t>On Switch A:</a:t>
            </a:r>
            <a:endParaRPr lang="en-PK" sz="1800" b="1" dirty="0"/>
          </a:p>
        </p:txBody>
      </p:sp>
      <p:sp>
        <p:nvSpPr>
          <p:cNvPr id="26" name="TextBox 25">
            <a:extLst>
              <a:ext uri="{FF2B5EF4-FFF2-40B4-BE49-F238E27FC236}">
                <a16:creationId xmlns:a16="http://schemas.microsoft.com/office/drawing/2014/main" id="{69A9010F-B51E-A6BF-F5CF-C6D668B714C7}"/>
              </a:ext>
            </a:extLst>
          </p:cNvPr>
          <p:cNvSpPr txBox="1"/>
          <p:nvPr/>
        </p:nvSpPr>
        <p:spPr>
          <a:xfrm>
            <a:off x="304800" y="2132973"/>
            <a:ext cx="4605866" cy="369332"/>
          </a:xfrm>
          <a:prstGeom prst="rect">
            <a:avLst/>
          </a:prstGeom>
          <a:noFill/>
        </p:spPr>
        <p:txBody>
          <a:bodyPr wrap="square">
            <a:spAutoFit/>
          </a:bodyPr>
          <a:lstStyle/>
          <a:p>
            <a:r>
              <a:rPr lang="en-US" sz="1800" b="1" dirty="0"/>
              <a:t>On Switch B:</a:t>
            </a:r>
            <a:endParaRPr lang="en-PK" sz="1800" b="1" dirty="0"/>
          </a:p>
        </p:txBody>
      </p:sp>
      <p:sp>
        <p:nvSpPr>
          <p:cNvPr id="28" name="TextBox 27">
            <a:extLst>
              <a:ext uri="{FF2B5EF4-FFF2-40B4-BE49-F238E27FC236}">
                <a16:creationId xmlns:a16="http://schemas.microsoft.com/office/drawing/2014/main" id="{FFF25BC5-C179-D2AD-D741-56D69BB05191}"/>
              </a:ext>
            </a:extLst>
          </p:cNvPr>
          <p:cNvSpPr txBox="1"/>
          <p:nvPr/>
        </p:nvSpPr>
        <p:spPr>
          <a:xfrm>
            <a:off x="304800" y="3903764"/>
            <a:ext cx="1422400" cy="369332"/>
          </a:xfrm>
          <a:prstGeom prst="rect">
            <a:avLst/>
          </a:prstGeom>
          <a:noFill/>
        </p:spPr>
        <p:txBody>
          <a:bodyPr wrap="square">
            <a:spAutoFit/>
          </a:bodyPr>
          <a:lstStyle/>
          <a:p>
            <a:r>
              <a:rPr lang="en-US" sz="1800" b="1" dirty="0"/>
              <a:t>Result:</a:t>
            </a:r>
            <a:endParaRPr lang="en-PK" sz="1800" b="1" dirty="0"/>
          </a:p>
        </p:txBody>
      </p:sp>
    </p:spTree>
    <p:extLst>
      <p:ext uri="{BB962C8B-B14F-4D97-AF65-F5344CB8AC3E}">
        <p14:creationId xmlns:p14="http://schemas.microsoft.com/office/powerpoint/2010/main" val="8949993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7D4613-51D1-6C07-1531-5302ADF5EC2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233B354-9F5D-B374-D2A8-3F3479843620}"/>
              </a:ext>
            </a:extLst>
          </p:cNvPr>
          <p:cNvSpPr/>
          <p:nvPr/>
        </p:nvSpPr>
        <p:spPr>
          <a:xfrm>
            <a:off x="496120" y="1587476"/>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C780D77-87D6-A515-945A-73F14885D07E}"/>
              </a:ext>
            </a:extLst>
          </p:cNvPr>
          <p:cNvSpPr/>
          <p:nvPr/>
        </p:nvSpPr>
        <p:spPr>
          <a:xfrm>
            <a:off x="381820"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5004AB0-F7A8-EA84-C017-AA27330F0C4A}"/>
              </a:ext>
            </a:extLst>
          </p:cNvPr>
          <p:cNvSpPr/>
          <p:nvPr/>
        </p:nvSpPr>
        <p:spPr>
          <a:xfrm>
            <a:off x="496120" y="2748038"/>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9E0FC1B-0A97-8848-211A-96CBB6C57BFC}"/>
              </a:ext>
            </a:extLst>
          </p:cNvPr>
          <p:cNvSpPr txBox="1"/>
          <p:nvPr/>
        </p:nvSpPr>
        <p:spPr>
          <a:xfrm>
            <a:off x="6189134"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396A844-95FC-AC44-372C-8BC082E14ED5}"/>
              </a:ext>
            </a:extLst>
          </p:cNvPr>
          <p:cNvSpPr txBox="1"/>
          <p:nvPr/>
        </p:nvSpPr>
        <p:spPr>
          <a:xfrm>
            <a:off x="220279" y="87555"/>
            <a:ext cx="8703440" cy="369332"/>
          </a:xfrm>
          <a:prstGeom prst="rect">
            <a:avLst/>
          </a:prstGeom>
          <a:noFill/>
        </p:spPr>
        <p:txBody>
          <a:bodyPr wrap="square">
            <a:spAutoFit/>
          </a:bodyPr>
          <a:lstStyle/>
          <a:p>
            <a:r>
              <a:rPr lang="fr-FR" sz="1800" b="1" dirty="0">
                <a:latin typeface="Arial" panose="020B0604020202020204" pitchFamily="34" charset="0"/>
                <a:cs typeface="Arial" panose="020B0604020202020204" pitchFamily="34" charset="0"/>
              </a:rPr>
              <a:t>LACP Lab Practical: </a:t>
            </a:r>
            <a:endParaRPr lang="en-US" sz="1800" b="1" dirty="0">
              <a:latin typeface="Arial" panose="020B0604020202020204" pitchFamily="34" charset="0"/>
              <a:cs typeface="Arial" panose="020B0604020202020204" pitchFamily="34" charset="0"/>
            </a:endParaRPr>
          </a:p>
        </p:txBody>
      </p:sp>
      <p:sp>
        <p:nvSpPr>
          <p:cNvPr id="17" name="TextBox 16">
            <a:extLst>
              <a:ext uri="{FF2B5EF4-FFF2-40B4-BE49-F238E27FC236}">
                <a16:creationId xmlns:a16="http://schemas.microsoft.com/office/drawing/2014/main" id="{F7474E06-CFF7-81FF-DD2B-52FA7D6ED2B3}"/>
              </a:ext>
            </a:extLst>
          </p:cNvPr>
          <p:cNvSpPr txBox="1"/>
          <p:nvPr/>
        </p:nvSpPr>
        <p:spPr>
          <a:xfrm>
            <a:off x="5808133" y="831878"/>
            <a:ext cx="3225800" cy="646331"/>
          </a:xfrm>
          <a:prstGeom prst="rect">
            <a:avLst/>
          </a:prstGeom>
          <a:noFill/>
        </p:spPr>
        <p:txBody>
          <a:bodyPr wrap="square">
            <a:spAutoFit/>
          </a:bodyPr>
          <a:lstStyle/>
          <a:p>
            <a:endParaRPr lang="en-US" sz="1800" b="1" dirty="0"/>
          </a:p>
          <a:p>
            <a:endParaRPr lang="en-PK" sz="1800" dirty="0"/>
          </a:p>
        </p:txBody>
      </p:sp>
      <p:sp>
        <p:nvSpPr>
          <p:cNvPr id="6" name="TextBox 5">
            <a:extLst>
              <a:ext uri="{FF2B5EF4-FFF2-40B4-BE49-F238E27FC236}">
                <a16:creationId xmlns:a16="http://schemas.microsoft.com/office/drawing/2014/main" id="{34F07C00-9E4B-7760-D918-479BE1AACFA1}"/>
              </a:ext>
            </a:extLst>
          </p:cNvPr>
          <p:cNvSpPr txBox="1"/>
          <p:nvPr/>
        </p:nvSpPr>
        <p:spPr>
          <a:xfrm>
            <a:off x="220280" y="831878"/>
            <a:ext cx="8703439" cy="646331"/>
          </a:xfrm>
          <a:prstGeom prst="rect">
            <a:avLst/>
          </a:prstGeom>
          <a:noFill/>
        </p:spPr>
        <p:txBody>
          <a:bodyPr wrap="square">
            <a:spAutoFit/>
          </a:bodyPr>
          <a:lstStyle/>
          <a:p>
            <a:endParaRPr lang="en-US" sz="1800" dirty="0"/>
          </a:p>
          <a:p>
            <a:pPr algn="just"/>
            <a:endParaRPr lang="en-PK" sz="1800" dirty="0"/>
          </a:p>
        </p:txBody>
      </p:sp>
      <p:pic>
        <p:nvPicPr>
          <p:cNvPr id="7" name="Picture 6">
            <a:extLst>
              <a:ext uri="{FF2B5EF4-FFF2-40B4-BE49-F238E27FC236}">
                <a16:creationId xmlns:a16="http://schemas.microsoft.com/office/drawing/2014/main" id="{019AC213-BCC4-6F71-DC27-B63828ECA42A}"/>
              </a:ext>
            </a:extLst>
          </p:cNvPr>
          <p:cNvPicPr>
            <a:picLocks noChangeAspect="1"/>
          </p:cNvPicPr>
          <p:nvPr/>
        </p:nvPicPr>
        <p:blipFill>
          <a:blip r:embed="rId3"/>
          <a:stretch>
            <a:fillRect/>
          </a:stretch>
        </p:blipFill>
        <p:spPr>
          <a:xfrm>
            <a:off x="4504335" y="2764795"/>
            <a:ext cx="4639665" cy="2395463"/>
          </a:xfrm>
          <a:prstGeom prst="rect">
            <a:avLst/>
          </a:prstGeom>
        </p:spPr>
      </p:pic>
      <p:sp>
        <p:nvSpPr>
          <p:cNvPr id="13" name="TextBox 12">
            <a:extLst>
              <a:ext uri="{FF2B5EF4-FFF2-40B4-BE49-F238E27FC236}">
                <a16:creationId xmlns:a16="http://schemas.microsoft.com/office/drawing/2014/main" id="{0BE8BF4A-627A-E240-0405-8DCE05B59FDB}"/>
              </a:ext>
            </a:extLst>
          </p:cNvPr>
          <p:cNvSpPr txBox="1"/>
          <p:nvPr/>
        </p:nvSpPr>
        <p:spPr>
          <a:xfrm>
            <a:off x="304800" y="1091785"/>
            <a:ext cx="4809068" cy="707886"/>
          </a:xfrm>
          <a:prstGeom prst="rect">
            <a:avLst/>
          </a:prstGeom>
          <a:noFill/>
        </p:spPr>
        <p:txBody>
          <a:bodyPr wrap="square">
            <a:spAutoFit/>
          </a:bodyPr>
          <a:lstStyle/>
          <a:p>
            <a:pPr marL="171446" indent="-171446">
              <a:buFont typeface="Wingdings" panose="05000000000000000000" pitchFamily="2" charset="2"/>
              <a:buChar char="q"/>
            </a:pPr>
            <a:r>
              <a:rPr lang="en-PK" sz="1000" dirty="0"/>
              <a:t>switch&gt; enable</a:t>
            </a:r>
          </a:p>
          <a:p>
            <a:pPr marL="171446" indent="-171446">
              <a:buFont typeface="Wingdings" panose="05000000000000000000" pitchFamily="2" charset="2"/>
              <a:buChar char="q"/>
            </a:pPr>
            <a:r>
              <a:rPr lang="en-PK" sz="1000" dirty="0"/>
              <a:t>switch# configure terminal</a:t>
            </a:r>
          </a:p>
          <a:p>
            <a:pPr marL="171446" indent="-171446">
              <a:buFont typeface="Wingdings" panose="05000000000000000000" pitchFamily="2" charset="2"/>
              <a:buChar char="q"/>
            </a:pPr>
            <a:r>
              <a:rPr lang="en-PK" sz="1000" dirty="0"/>
              <a:t>switch(config)# interface range fa0/1, fa0/2, fa0/3</a:t>
            </a:r>
          </a:p>
          <a:p>
            <a:pPr marL="171446" indent="-171446">
              <a:buFont typeface="Wingdings" panose="05000000000000000000" pitchFamily="2" charset="2"/>
              <a:buChar char="q"/>
            </a:pPr>
            <a:r>
              <a:rPr lang="en-PK" sz="1000" dirty="0"/>
              <a:t>switch(config-if-range)# channel-group 2 mode </a:t>
            </a:r>
            <a:r>
              <a:rPr lang="en-US" sz="1000" dirty="0"/>
              <a:t>active</a:t>
            </a:r>
            <a:endParaRPr lang="en-PK" sz="1000" dirty="0"/>
          </a:p>
        </p:txBody>
      </p:sp>
      <p:sp>
        <p:nvSpPr>
          <p:cNvPr id="19" name="TextBox 18">
            <a:extLst>
              <a:ext uri="{FF2B5EF4-FFF2-40B4-BE49-F238E27FC236}">
                <a16:creationId xmlns:a16="http://schemas.microsoft.com/office/drawing/2014/main" id="{EF6F62ED-6D7B-53B5-257B-E33946D00E6B}"/>
              </a:ext>
            </a:extLst>
          </p:cNvPr>
          <p:cNvSpPr txBox="1"/>
          <p:nvPr/>
        </p:nvSpPr>
        <p:spPr>
          <a:xfrm>
            <a:off x="304800" y="2395463"/>
            <a:ext cx="4809068" cy="707886"/>
          </a:xfrm>
          <a:prstGeom prst="rect">
            <a:avLst/>
          </a:prstGeom>
          <a:noFill/>
        </p:spPr>
        <p:txBody>
          <a:bodyPr wrap="square">
            <a:spAutoFit/>
          </a:bodyPr>
          <a:lstStyle/>
          <a:p>
            <a:pPr marL="171446" indent="-171446">
              <a:buFont typeface="Wingdings" panose="05000000000000000000" pitchFamily="2" charset="2"/>
              <a:buChar char="q"/>
            </a:pPr>
            <a:r>
              <a:rPr lang="en-PK" sz="1000" dirty="0"/>
              <a:t>switch&gt; enable</a:t>
            </a:r>
          </a:p>
          <a:p>
            <a:pPr marL="171446" indent="-171446">
              <a:buFont typeface="Wingdings" panose="05000000000000000000" pitchFamily="2" charset="2"/>
              <a:buChar char="q"/>
            </a:pPr>
            <a:r>
              <a:rPr lang="en-PK" sz="1000" dirty="0"/>
              <a:t>switch# configure terminal</a:t>
            </a:r>
          </a:p>
          <a:p>
            <a:pPr marL="171446" indent="-171446">
              <a:buFont typeface="Wingdings" panose="05000000000000000000" pitchFamily="2" charset="2"/>
              <a:buChar char="q"/>
            </a:pPr>
            <a:r>
              <a:rPr lang="en-PK" sz="1000" dirty="0"/>
              <a:t>switch(config)# interface range fa0/1, fa0/2, fa0/3</a:t>
            </a:r>
          </a:p>
          <a:p>
            <a:pPr marL="171446" indent="-171446">
              <a:buFont typeface="Wingdings" panose="05000000000000000000" pitchFamily="2" charset="2"/>
              <a:buChar char="q"/>
            </a:pPr>
            <a:r>
              <a:rPr lang="en-PK" sz="1000" dirty="0"/>
              <a:t>switch(config-if-range)# channel-group 2 mode </a:t>
            </a:r>
            <a:r>
              <a:rPr lang="en-US" sz="1000" dirty="0"/>
              <a:t>active</a:t>
            </a:r>
            <a:endParaRPr lang="en-PK" sz="1000" dirty="0"/>
          </a:p>
        </p:txBody>
      </p:sp>
      <p:sp>
        <p:nvSpPr>
          <p:cNvPr id="22" name="TextBox 21">
            <a:extLst>
              <a:ext uri="{FF2B5EF4-FFF2-40B4-BE49-F238E27FC236}">
                <a16:creationId xmlns:a16="http://schemas.microsoft.com/office/drawing/2014/main" id="{7A324044-58DC-39EA-8092-E9CFE79D405B}"/>
              </a:ext>
            </a:extLst>
          </p:cNvPr>
          <p:cNvSpPr txBox="1"/>
          <p:nvPr/>
        </p:nvSpPr>
        <p:spPr>
          <a:xfrm>
            <a:off x="304800" y="4188513"/>
            <a:ext cx="4605866" cy="246221"/>
          </a:xfrm>
          <a:prstGeom prst="rect">
            <a:avLst/>
          </a:prstGeom>
          <a:noFill/>
        </p:spPr>
        <p:txBody>
          <a:bodyPr wrap="square">
            <a:spAutoFit/>
          </a:bodyPr>
          <a:lstStyle/>
          <a:p>
            <a:pPr marL="171446" indent="-171446">
              <a:buFont typeface="Wingdings" panose="05000000000000000000" pitchFamily="2" charset="2"/>
              <a:buChar char="q"/>
            </a:pPr>
            <a:r>
              <a:rPr lang="en-PK" sz="1000" dirty="0"/>
              <a:t>switch# show etherchannel summary</a:t>
            </a:r>
          </a:p>
        </p:txBody>
      </p:sp>
      <p:sp>
        <p:nvSpPr>
          <p:cNvPr id="24" name="TextBox 23">
            <a:extLst>
              <a:ext uri="{FF2B5EF4-FFF2-40B4-BE49-F238E27FC236}">
                <a16:creationId xmlns:a16="http://schemas.microsoft.com/office/drawing/2014/main" id="{DBBA3A22-82C9-BCBD-71CD-C28D14F46136}"/>
              </a:ext>
            </a:extLst>
          </p:cNvPr>
          <p:cNvSpPr txBox="1"/>
          <p:nvPr/>
        </p:nvSpPr>
        <p:spPr>
          <a:xfrm>
            <a:off x="304800" y="768656"/>
            <a:ext cx="1963414" cy="369332"/>
          </a:xfrm>
          <a:prstGeom prst="rect">
            <a:avLst/>
          </a:prstGeom>
          <a:noFill/>
        </p:spPr>
        <p:txBody>
          <a:bodyPr wrap="square">
            <a:spAutoFit/>
          </a:bodyPr>
          <a:lstStyle/>
          <a:p>
            <a:r>
              <a:rPr lang="en-US" sz="1800" b="1" dirty="0"/>
              <a:t>On Switch A:</a:t>
            </a:r>
            <a:endParaRPr lang="en-PK" sz="1800" b="1" dirty="0"/>
          </a:p>
        </p:txBody>
      </p:sp>
      <p:sp>
        <p:nvSpPr>
          <p:cNvPr id="26" name="TextBox 25">
            <a:extLst>
              <a:ext uri="{FF2B5EF4-FFF2-40B4-BE49-F238E27FC236}">
                <a16:creationId xmlns:a16="http://schemas.microsoft.com/office/drawing/2014/main" id="{8715C052-AEB6-F1C4-4052-B29EE3588DA5}"/>
              </a:ext>
            </a:extLst>
          </p:cNvPr>
          <p:cNvSpPr txBox="1"/>
          <p:nvPr/>
        </p:nvSpPr>
        <p:spPr>
          <a:xfrm>
            <a:off x="304800" y="2132973"/>
            <a:ext cx="4605866" cy="369332"/>
          </a:xfrm>
          <a:prstGeom prst="rect">
            <a:avLst/>
          </a:prstGeom>
          <a:noFill/>
        </p:spPr>
        <p:txBody>
          <a:bodyPr wrap="square">
            <a:spAutoFit/>
          </a:bodyPr>
          <a:lstStyle/>
          <a:p>
            <a:r>
              <a:rPr lang="en-US" sz="1800" b="1" dirty="0"/>
              <a:t>On Switch B:</a:t>
            </a:r>
            <a:endParaRPr lang="en-PK" sz="1800" b="1" dirty="0"/>
          </a:p>
        </p:txBody>
      </p:sp>
      <p:sp>
        <p:nvSpPr>
          <p:cNvPr id="28" name="TextBox 27">
            <a:extLst>
              <a:ext uri="{FF2B5EF4-FFF2-40B4-BE49-F238E27FC236}">
                <a16:creationId xmlns:a16="http://schemas.microsoft.com/office/drawing/2014/main" id="{E1189DB4-04F6-1456-32CE-97F62D4AEECA}"/>
              </a:ext>
            </a:extLst>
          </p:cNvPr>
          <p:cNvSpPr txBox="1"/>
          <p:nvPr/>
        </p:nvSpPr>
        <p:spPr>
          <a:xfrm>
            <a:off x="304799" y="3903764"/>
            <a:ext cx="1769533" cy="369332"/>
          </a:xfrm>
          <a:prstGeom prst="rect">
            <a:avLst/>
          </a:prstGeom>
          <a:noFill/>
        </p:spPr>
        <p:txBody>
          <a:bodyPr wrap="square">
            <a:spAutoFit/>
          </a:bodyPr>
          <a:lstStyle/>
          <a:p>
            <a:r>
              <a:rPr lang="en-US" sz="1800" b="1" dirty="0"/>
              <a:t>Result:</a:t>
            </a:r>
            <a:endParaRPr lang="en-PK" sz="1800" b="1" dirty="0"/>
          </a:p>
        </p:txBody>
      </p:sp>
    </p:spTree>
    <p:extLst>
      <p:ext uri="{BB962C8B-B14F-4D97-AF65-F5344CB8AC3E}">
        <p14:creationId xmlns:p14="http://schemas.microsoft.com/office/powerpoint/2010/main" val="288806259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99A9E1-B752-A996-117C-57B2730BE42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01ADB0E-9F08-95E0-A873-0F72E9A73172}"/>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694D544-A3CE-D009-C46B-1213FB83D8F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608861ED-AE49-5FB2-7D1F-ABA4B360EDB2}"/>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ECEDA2E6-DE56-374B-CEF5-1077D98BEB3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4F4E16E-B55E-4468-E5FE-0CF8A6B01D0A}"/>
              </a:ext>
            </a:extLst>
          </p:cNvPr>
          <p:cNvSpPr txBox="1"/>
          <p:nvPr/>
        </p:nvSpPr>
        <p:spPr>
          <a:xfrm>
            <a:off x="220279" y="87555"/>
            <a:ext cx="8703440" cy="520271"/>
          </a:xfrm>
          <a:prstGeom prst="rect">
            <a:avLst/>
          </a:prstGeom>
          <a:noFill/>
        </p:spPr>
        <p:txBody>
          <a:bodyPr wrap="square">
            <a:spAutoFit/>
          </a:bodyPr>
          <a:lstStyle/>
          <a:p>
            <a:r>
              <a:rPr lang="fr-FR" sz="2781" b="1" dirty="0">
                <a:solidFill>
                  <a:srgbClr val="403CCF"/>
                </a:solidFill>
                <a:latin typeface="Libre Baskerville" pitchFamily="34" charset="0"/>
              </a:rPr>
              <a:t>CISCO Wireless Architecture and AP Modes</a:t>
            </a:r>
            <a:endParaRPr lang="en-US" sz="2781"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34C75B53-D94B-08FC-BDAD-FB0682ED2C5D}"/>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0B3F55A-E9C2-B135-EF0C-7F0A3C0D9D8A}"/>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8" name="TextBox 7">
            <a:extLst>
              <a:ext uri="{FF2B5EF4-FFF2-40B4-BE49-F238E27FC236}">
                <a16:creationId xmlns:a16="http://schemas.microsoft.com/office/drawing/2014/main" id="{DC8CCD96-516D-0D05-3D66-E4F993AF78E7}"/>
              </a:ext>
            </a:extLst>
          </p:cNvPr>
          <p:cNvSpPr txBox="1"/>
          <p:nvPr/>
        </p:nvSpPr>
        <p:spPr>
          <a:xfrm>
            <a:off x="297153" y="578891"/>
            <a:ext cx="6361881" cy="4585871"/>
          </a:xfrm>
          <a:prstGeom prst="rect">
            <a:avLst/>
          </a:prstGeom>
          <a:noFill/>
        </p:spPr>
        <p:txBody>
          <a:bodyPr wrap="square">
            <a:spAutoFit/>
          </a:bodyPr>
          <a:lstStyle/>
          <a:p>
            <a:r>
              <a:rPr lang="en-US" sz="1200" dirty="0"/>
              <a:t>Cisco's wireless architecture provides secure, scalable, and high-performance wireless networking. Key components include:</a:t>
            </a:r>
          </a:p>
          <a:p>
            <a:endParaRPr lang="en-US" sz="1200" dirty="0"/>
          </a:p>
          <a:p>
            <a:r>
              <a:rPr lang="en-US" sz="1600" dirty="0">
                <a:solidFill>
                  <a:srgbClr val="403CCF"/>
                </a:solidFill>
                <a:latin typeface="Libre Baskerville" pitchFamily="34" charset="0"/>
              </a:rPr>
              <a:t>Wireless LAN Controller (WLC): </a:t>
            </a:r>
            <a:r>
              <a:rPr lang="en-US" sz="1200" dirty="0"/>
              <a:t>Central device managing multiple access points (APs) for tasks like RF management, security, and policies.</a:t>
            </a:r>
          </a:p>
          <a:p>
            <a:endParaRPr lang="en-US" sz="1200" dirty="0"/>
          </a:p>
          <a:p>
            <a:r>
              <a:rPr lang="en-US" sz="1600" dirty="0">
                <a:solidFill>
                  <a:srgbClr val="403CCF"/>
                </a:solidFill>
                <a:latin typeface="Libre Baskerville" pitchFamily="34" charset="0"/>
              </a:rPr>
              <a:t>Access Points (APs): </a:t>
            </a:r>
            <a:r>
              <a:rPr lang="en-US" sz="1200" dirty="0"/>
              <a:t>Devices providing wireless connectivity, either lightweight (controlled by WLC) or autonomous (functioning independently).</a:t>
            </a:r>
          </a:p>
          <a:p>
            <a:endParaRPr lang="en-US" sz="1200" dirty="0"/>
          </a:p>
          <a:p>
            <a:r>
              <a:rPr lang="en-US" sz="1600" dirty="0">
                <a:solidFill>
                  <a:srgbClr val="403CCF"/>
                </a:solidFill>
                <a:latin typeface="Libre Baskerville" pitchFamily="34" charset="0"/>
              </a:rPr>
              <a:t>Wireless Clients: </a:t>
            </a:r>
            <a:r>
              <a:rPr lang="en-US" sz="1200" dirty="0"/>
              <a:t>Devices that connect to the network, such as laptops and smartphones.</a:t>
            </a:r>
          </a:p>
          <a:p>
            <a:endParaRPr lang="en-US" sz="1200" dirty="0"/>
          </a:p>
          <a:p>
            <a:r>
              <a:rPr lang="en-US" sz="1600" dirty="0">
                <a:solidFill>
                  <a:srgbClr val="403CCF"/>
                </a:solidFill>
                <a:latin typeface="Libre Baskerville" pitchFamily="34" charset="0"/>
              </a:rPr>
              <a:t>Wireless Security:</a:t>
            </a:r>
            <a:r>
              <a:rPr lang="en-US" sz="1200" dirty="0"/>
              <a:t> Includes WPA2/WPA3, 802.1X, and access control methods.</a:t>
            </a:r>
          </a:p>
          <a:p>
            <a:endParaRPr lang="en-US" sz="1200" dirty="0"/>
          </a:p>
          <a:p>
            <a:r>
              <a:rPr lang="en-US" sz="1600" dirty="0">
                <a:solidFill>
                  <a:srgbClr val="403CCF"/>
                </a:solidFill>
                <a:latin typeface="Libre Baskerville" pitchFamily="34" charset="0"/>
              </a:rPr>
              <a:t>Prime Infrastructure (PI): </a:t>
            </a:r>
            <a:r>
              <a:rPr lang="en-US" sz="1200" dirty="0"/>
              <a:t>Platform for monitoring and managing wireless networks.</a:t>
            </a:r>
          </a:p>
          <a:p>
            <a:endParaRPr lang="en-US" sz="1200" dirty="0"/>
          </a:p>
          <a:p>
            <a:r>
              <a:rPr lang="en-US" sz="1600" dirty="0">
                <a:solidFill>
                  <a:srgbClr val="403CCF"/>
                </a:solidFill>
                <a:latin typeface="Libre Baskerville" pitchFamily="34" charset="0"/>
              </a:rPr>
              <a:t>FlexConnect:</a:t>
            </a:r>
            <a:r>
              <a:rPr lang="en-US" sz="1200" dirty="0"/>
              <a:t> Enables APs to operate locally in remote offices, improving performance.</a:t>
            </a:r>
          </a:p>
          <a:p>
            <a:endParaRPr lang="en-US" sz="1200" dirty="0"/>
          </a:p>
          <a:p>
            <a:r>
              <a:rPr lang="en-US" sz="1600" dirty="0">
                <a:solidFill>
                  <a:srgbClr val="403CCF"/>
                </a:solidFill>
                <a:latin typeface="Libre Baskerville" pitchFamily="34" charset="0"/>
              </a:rPr>
              <a:t>Cisco DNA Center: </a:t>
            </a:r>
            <a:r>
              <a:rPr lang="en-US" sz="1200" dirty="0"/>
              <a:t>Centralized management for both wired and wireless networks, ensuring automation, security, and monitoring.</a:t>
            </a:r>
          </a:p>
        </p:txBody>
      </p:sp>
    </p:spTree>
    <p:extLst>
      <p:ext uri="{BB962C8B-B14F-4D97-AF65-F5344CB8AC3E}">
        <p14:creationId xmlns:p14="http://schemas.microsoft.com/office/powerpoint/2010/main" val="374110535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96B5D-CBCC-6295-C7FC-65E430006A9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13C86A90-3DB7-02C6-2C3F-159FF484205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721A5DF0-5CEB-5DDA-41F8-40CCD56DF04A}"/>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2D1C354-9F40-5932-F2F6-237A4FD5678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6D64A3DD-B2B1-3CC2-5914-C68856367818}"/>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D7B10AC-C53C-CE94-E183-6F0414C8C2AD}"/>
              </a:ext>
            </a:extLst>
          </p:cNvPr>
          <p:cNvSpPr txBox="1"/>
          <p:nvPr/>
        </p:nvSpPr>
        <p:spPr>
          <a:xfrm>
            <a:off x="220279" y="87555"/>
            <a:ext cx="8703440" cy="520271"/>
          </a:xfrm>
          <a:prstGeom prst="rect">
            <a:avLst/>
          </a:prstGeom>
          <a:noFill/>
        </p:spPr>
        <p:txBody>
          <a:bodyPr wrap="square">
            <a:spAutoFit/>
          </a:bodyPr>
          <a:lstStyle/>
          <a:p>
            <a:r>
              <a:rPr lang="fr-FR" sz="2781" b="1" dirty="0">
                <a:solidFill>
                  <a:srgbClr val="403CCF"/>
                </a:solidFill>
                <a:latin typeface="Libre Baskerville" pitchFamily="34" charset="0"/>
              </a:rPr>
              <a:t>CISCO Wireless Architecture and AP Modes</a:t>
            </a:r>
            <a:endParaRPr lang="en-US" sz="2781"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2DDFF3FC-ACAB-4ACA-C4B5-F59E0DACFF00}"/>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75567D8C-A09E-20F5-6932-689AC1E47023}"/>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8" name="TextBox 7">
            <a:extLst>
              <a:ext uri="{FF2B5EF4-FFF2-40B4-BE49-F238E27FC236}">
                <a16:creationId xmlns:a16="http://schemas.microsoft.com/office/drawing/2014/main" id="{E4E7A683-FE74-5531-77E4-0D1ED6F5C0C3}"/>
              </a:ext>
            </a:extLst>
          </p:cNvPr>
          <p:cNvSpPr txBox="1"/>
          <p:nvPr/>
        </p:nvSpPr>
        <p:spPr>
          <a:xfrm>
            <a:off x="314086" y="654596"/>
            <a:ext cx="6361881" cy="338554"/>
          </a:xfrm>
          <a:prstGeom prst="rect">
            <a:avLst/>
          </a:prstGeom>
          <a:noFill/>
        </p:spPr>
        <p:txBody>
          <a:bodyPr wrap="square">
            <a:spAutoFit/>
          </a:bodyPr>
          <a:lstStyle/>
          <a:p>
            <a:r>
              <a:rPr lang="en-US" sz="1600" b="1" dirty="0">
                <a:solidFill>
                  <a:srgbClr val="403CCF"/>
                </a:solidFill>
                <a:latin typeface="Libre Baskerville" pitchFamily="34" charset="0"/>
              </a:rPr>
              <a:t>AP Modes:</a:t>
            </a:r>
          </a:p>
        </p:txBody>
      </p:sp>
      <p:graphicFrame>
        <p:nvGraphicFramePr>
          <p:cNvPr id="5" name="Table 4">
            <a:extLst>
              <a:ext uri="{FF2B5EF4-FFF2-40B4-BE49-F238E27FC236}">
                <a16:creationId xmlns:a16="http://schemas.microsoft.com/office/drawing/2014/main" id="{D74A47B3-089F-2371-2E14-B8EC221023C0}"/>
              </a:ext>
            </a:extLst>
          </p:cNvPr>
          <p:cNvGraphicFramePr>
            <a:graphicFrameLocks noGrp="1"/>
          </p:cNvGraphicFramePr>
          <p:nvPr>
            <p:extLst>
              <p:ext uri="{D42A27DB-BD31-4B8C-83A1-F6EECF244321}">
                <p14:modId xmlns:p14="http://schemas.microsoft.com/office/powerpoint/2010/main" val="606025883"/>
              </p:ext>
            </p:extLst>
          </p:nvPr>
        </p:nvGraphicFramePr>
        <p:xfrm>
          <a:off x="450850" y="1026390"/>
          <a:ext cx="6088352" cy="3997960"/>
        </p:xfrm>
        <a:graphic>
          <a:graphicData uri="http://schemas.openxmlformats.org/drawingml/2006/table">
            <a:tbl>
              <a:tblPr firstRow="1" bandRow="1">
                <a:tableStyleId>{17343FFC-C285-48B6-A5F1-531E15585DCF}</a:tableStyleId>
              </a:tblPr>
              <a:tblGrid>
                <a:gridCol w="1888066">
                  <a:extLst>
                    <a:ext uri="{9D8B030D-6E8A-4147-A177-3AD203B41FA5}">
                      <a16:colId xmlns:a16="http://schemas.microsoft.com/office/drawing/2014/main" val="2303401598"/>
                    </a:ext>
                  </a:extLst>
                </a:gridCol>
                <a:gridCol w="4200286">
                  <a:extLst>
                    <a:ext uri="{9D8B030D-6E8A-4147-A177-3AD203B41FA5}">
                      <a16:colId xmlns:a16="http://schemas.microsoft.com/office/drawing/2014/main" val="3044609430"/>
                    </a:ext>
                  </a:extLst>
                </a:gridCol>
              </a:tblGrid>
              <a:tr h="370840">
                <a:tc>
                  <a:txBody>
                    <a:bodyPr/>
                    <a:lstStyle/>
                    <a:p>
                      <a:r>
                        <a:rPr lang="en-US" b="1" dirty="0"/>
                        <a:t>Mode</a:t>
                      </a:r>
                      <a:endParaRPr lang="en-PK" b="1" dirty="0"/>
                    </a:p>
                  </a:txBody>
                  <a:tcPr/>
                </a:tc>
                <a:tc>
                  <a:txBody>
                    <a:bodyPr/>
                    <a:lstStyle/>
                    <a:p>
                      <a:r>
                        <a:rPr lang="en-US" b="1" dirty="0"/>
                        <a:t>Description</a:t>
                      </a:r>
                      <a:endParaRPr lang="en-PK" b="1" dirty="0"/>
                    </a:p>
                  </a:txBody>
                  <a:tcPr/>
                </a:tc>
                <a:extLst>
                  <a:ext uri="{0D108BD9-81ED-4DB2-BD59-A6C34878D82A}">
                    <a16:rowId xmlns:a16="http://schemas.microsoft.com/office/drawing/2014/main" val="778439688"/>
                  </a:ext>
                </a:extLst>
              </a:tr>
              <a:tr h="370840">
                <a:tc>
                  <a:txBody>
                    <a:bodyPr/>
                    <a:lstStyle/>
                    <a:p>
                      <a:r>
                        <a:rPr lang="en-US" dirty="0"/>
                        <a:t>Lightweight Mode</a:t>
                      </a:r>
                      <a:endParaRPr lang="en-PK" dirty="0"/>
                    </a:p>
                  </a:txBody>
                  <a:tcPr/>
                </a:tc>
                <a:tc>
                  <a:txBody>
                    <a:bodyPr/>
                    <a:lstStyle/>
                    <a:p>
                      <a:r>
                        <a:rPr lang="en-US" sz="1400" b="0" i="0" u="none" strike="noStrike" cap="none" dirty="0">
                          <a:solidFill>
                            <a:srgbClr val="000000"/>
                          </a:solidFill>
                          <a:latin typeface="Arial"/>
                          <a:cs typeface="Arial"/>
                          <a:sym typeface="Arial"/>
                        </a:rPr>
                        <a:t>APs managed </a:t>
                      </a:r>
                      <a:r>
                        <a:rPr lang="en-US" dirty="0"/>
                        <a:t>by WLC, suitable for large enterprise networks.</a:t>
                      </a:r>
                    </a:p>
                  </a:txBody>
                  <a:tcPr anchor="ctr"/>
                </a:tc>
                <a:extLst>
                  <a:ext uri="{0D108BD9-81ED-4DB2-BD59-A6C34878D82A}">
                    <a16:rowId xmlns:a16="http://schemas.microsoft.com/office/drawing/2014/main" val="3792896218"/>
                  </a:ext>
                </a:extLst>
              </a:tr>
              <a:tr h="37084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Autonomous Mode</a:t>
                      </a:r>
                    </a:p>
                  </a:txBody>
                  <a:tcPr anchor="ctr"/>
                </a:tc>
                <a:tc>
                  <a:txBody>
                    <a:bodyPr/>
                    <a:lstStyle/>
                    <a:p>
                      <a:r>
                        <a:rPr lang="en-US" dirty="0"/>
                        <a:t>APs operate independently, no reliance on WLC. Ideal for small networks.</a:t>
                      </a:r>
                    </a:p>
                  </a:txBody>
                  <a:tcPr anchor="ctr"/>
                </a:tc>
                <a:extLst>
                  <a:ext uri="{0D108BD9-81ED-4DB2-BD59-A6C34878D82A}">
                    <a16:rowId xmlns:a16="http://schemas.microsoft.com/office/drawing/2014/main" val="2206837704"/>
                  </a:ext>
                </a:extLst>
              </a:tr>
              <a:tr h="370840">
                <a:tc>
                  <a:txBody>
                    <a:bodyPr/>
                    <a:lstStyle/>
                    <a:p>
                      <a:r>
                        <a:rPr lang="en-US" sz="1400" b="0" i="0" u="none" strike="noStrike" cap="none" dirty="0">
                          <a:solidFill>
                            <a:srgbClr val="000000"/>
                          </a:solidFill>
                          <a:latin typeface="Arial"/>
                          <a:cs typeface="Arial"/>
                          <a:sym typeface="Arial"/>
                        </a:rPr>
                        <a:t>Mesh Mode</a:t>
                      </a:r>
                    </a:p>
                  </a:txBody>
                  <a:tcPr anchor="ctr"/>
                </a:tc>
                <a:tc>
                  <a:txBody>
                    <a:bodyPr/>
                    <a:lstStyle/>
                    <a:p>
                      <a:r>
                        <a:rPr lang="en-US" dirty="0"/>
                        <a:t>APs create a mesh network for extended coverage without wired backhaul.</a:t>
                      </a:r>
                    </a:p>
                  </a:txBody>
                  <a:tcPr anchor="ctr"/>
                </a:tc>
                <a:extLst>
                  <a:ext uri="{0D108BD9-81ED-4DB2-BD59-A6C34878D82A}">
                    <a16:rowId xmlns:a16="http://schemas.microsoft.com/office/drawing/2014/main" val="2679654878"/>
                  </a:ext>
                </a:extLst>
              </a:tr>
              <a:tr h="37084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Monitor Mode</a:t>
                      </a:r>
                    </a:p>
                  </a:txBody>
                  <a:tcPr anchor="ctr"/>
                </a:tc>
                <a:tc>
                  <a:txBody>
                    <a:bodyPr/>
                    <a:lstStyle/>
                    <a:p>
                      <a:r>
                        <a:rPr lang="en-US" dirty="0"/>
                        <a:t>APs listen for wireless traffic and interference; used for monitoring.</a:t>
                      </a:r>
                    </a:p>
                  </a:txBody>
                  <a:tcPr anchor="ctr"/>
                </a:tc>
                <a:extLst>
                  <a:ext uri="{0D108BD9-81ED-4DB2-BD59-A6C34878D82A}">
                    <a16:rowId xmlns:a16="http://schemas.microsoft.com/office/drawing/2014/main" val="1939593675"/>
                  </a:ext>
                </a:extLst>
              </a:tr>
              <a:tr h="37084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Sniffer Mode</a:t>
                      </a:r>
                    </a:p>
                  </a:txBody>
                  <a:tcPr anchor="ctr"/>
                </a:tc>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APs capture and analyze wireless network traffic for troubleshooting.</a:t>
                      </a:r>
                    </a:p>
                  </a:txBody>
                  <a:tcPr anchor="ctr"/>
                </a:tc>
                <a:extLst>
                  <a:ext uri="{0D108BD9-81ED-4DB2-BD59-A6C34878D82A}">
                    <a16:rowId xmlns:a16="http://schemas.microsoft.com/office/drawing/2014/main" val="3208776527"/>
                  </a:ext>
                </a:extLst>
              </a:tr>
              <a:tr h="37084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FlexConnect Mode</a:t>
                      </a:r>
                    </a:p>
                  </a:txBody>
                  <a:tcPr anchor="ctr"/>
                </a:tc>
                <a:tc>
                  <a:txBody>
                    <a:bodyPr/>
                    <a:lstStyle/>
                    <a:p>
                      <a:r>
                        <a:rPr lang="en-US" dirty="0"/>
                        <a:t>APs can handle some local traffic while still being centrally managed.</a:t>
                      </a:r>
                    </a:p>
                  </a:txBody>
                  <a:tcPr anchor="ctr"/>
                </a:tc>
                <a:extLst>
                  <a:ext uri="{0D108BD9-81ED-4DB2-BD59-A6C34878D82A}">
                    <a16:rowId xmlns:a16="http://schemas.microsoft.com/office/drawing/2014/main" val="4100340205"/>
                  </a:ext>
                </a:extLst>
              </a:tr>
              <a:tr h="370840">
                <a:tc>
                  <a:txBody>
                    <a:bodyPr/>
                    <a:lstStyle/>
                    <a:p>
                      <a:pPr marR="0" algn="l" rtl="0">
                        <a:lnSpc>
                          <a:spcPct val="100000"/>
                        </a:lnSpc>
                        <a:spcBef>
                          <a:spcPts val="0"/>
                        </a:spcBef>
                        <a:spcAft>
                          <a:spcPts val="0"/>
                        </a:spcAft>
                        <a:buClr>
                          <a:srgbClr val="000000"/>
                        </a:buClr>
                        <a:buFont typeface="Arial"/>
                      </a:pPr>
                      <a:r>
                        <a:rPr lang="en-US" sz="1400" b="0" i="0" u="none" strike="noStrike" cap="none" dirty="0">
                          <a:solidFill>
                            <a:srgbClr val="000000"/>
                          </a:solidFill>
                          <a:latin typeface="Arial"/>
                          <a:cs typeface="Arial"/>
                          <a:sym typeface="Arial"/>
                        </a:rPr>
                        <a:t>WGB Mode</a:t>
                      </a:r>
                    </a:p>
                  </a:txBody>
                  <a:tcPr anchor="ctr"/>
                </a:tc>
                <a:tc>
                  <a:txBody>
                    <a:bodyPr/>
                    <a:lstStyle/>
                    <a:p>
                      <a:r>
                        <a:rPr lang="en-US" dirty="0"/>
                        <a:t>APs bridge wireless and wired networks, extending coverage.</a:t>
                      </a:r>
                    </a:p>
                  </a:txBody>
                  <a:tcPr anchor="ctr"/>
                </a:tc>
                <a:extLst>
                  <a:ext uri="{0D108BD9-81ED-4DB2-BD59-A6C34878D82A}">
                    <a16:rowId xmlns:a16="http://schemas.microsoft.com/office/drawing/2014/main" val="2733621289"/>
                  </a:ext>
                </a:extLst>
              </a:tr>
            </a:tbl>
          </a:graphicData>
        </a:graphic>
      </p:graphicFrame>
    </p:spTree>
    <p:extLst>
      <p:ext uri="{BB962C8B-B14F-4D97-AF65-F5344CB8AC3E}">
        <p14:creationId xmlns:p14="http://schemas.microsoft.com/office/powerpoint/2010/main" val="152389287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1C44D-DAC2-1219-19AB-AE814A2044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45DDCC0-670E-00FC-AE40-7658C8B83A23}"/>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0C7FCF3E-B9F3-E624-029E-32CDC7DD5EA2}"/>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F3794DE7-A199-45F4-9BC1-7C3A2956A3B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C13B205E-5831-D33B-4492-48B31837D29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341A8D8B-B73E-F073-660E-F48F81CAE86D}"/>
              </a:ext>
            </a:extLst>
          </p:cNvPr>
          <p:cNvSpPr txBox="1"/>
          <p:nvPr/>
        </p:nvSpPr>
        <p:spPr>
          <a:xfrm>
            <a:off x="220279" y="87555"/>
            <a:ext cx="8703440" cy="520271"/>
          </a:xfrm>
          <a:prstGeom prst="rect">
            <a:avLst/>
          </a:prstGeom>
          <a:noFill/>
        </p:spPr>
        <p:txBody>
          <a:bodyPr wrap="square">
            <a:spAutoFit/>
          </a:bodyPr>
          <a:lstStyle/>
          <a:p>
            <a:r>
              <a:rPr lang="fr-FR" sz="2781" b="1" dirty="0">
                <a:solidFill>
                  <a:srgbClr val="403CCF"/>
                </a:solidFill>
                <a:latin typeface="Libre Baskerville" pitchFamily="34" charset="0"/>
              </a:rPr>
              <a:t>Some CISCO latest APs:</a:t>
            </a:r>
            <a:endParaRPr lang="en-US" sz="2781" b="1" dirty="0">
              <a:solidFill>
                <a:srgbClr val="403CCF"/>
              </a:solidFill>
              <a:latin typeface="Libre Baskerville" pitchFamily="34" charset="0"/>
            </a:endParaRPr>
          </a:p>
        </p:txBody>
      </p:sp>
      <p:sp>
        <p:nvSpPr>
          <p:cNvPr id="17" name="TextBox 16">
            <a:extLst>
              <a:ext uri="{FF2B5EF4-FFF2-40B4-BE49-F238E27FC236}">
                <a16:creationId xmlns:a16="http://schemas.microsoft.com/office/drawing/2014/main" id="{72380E8C-2A05-5186-324C-F1F447935C17}"/>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39296BB6-EA60-F0CC-8A89-3E9E1AC23291}"/>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graphicFrame>
        <p:nvGraphicFramePr>
          <p:cNvPr id="7" name="Table 6">
            <a:extLst>
              <a:ext uri="{FF2B5EF4-FFF2-40B4-BE49-F238E27FC236}">
                <a16:creationId xmlns:a16="http://schemas.microsoft.com/office/drawing/2014/main" id="{C892504B-5EB2-F83B-4DC4-827D139C4AFC}"/>
              </a:ext>
            </a:extLst>
          </p:cNvPr>
          <p:cNvGraphicFramePr>
            <a:graphicFrameLocks noGrp="1"/>
          </p:cNvGraphicFramePr>
          <p:nvPr>
            <p:extLst>
              <p:ext uri="{D42A27DB-BD31-4B8C-83A1-F6EECF244321}">
                <p14:modId xmlns:p14="http://schemas.microsoft.com/office/powerpoint/2010/main" val="3006541971"/>
              </p:ext>
            </p:extLst>
          </p:nvPr>
        </p:nvGraphicFramePr>
        <p:xfrm>
          <a:off x="692125" y="821694"/>
          <a:ext cx="6133281" cy="3368562"/>
        </p:xfrm>
        <a:graphic>
          <a:graphicData uri="http://schemas.openxmlformats.org/drawingml/2006/table">
            <a:tbl>
              <a:tblPr firstRow="1" bandRow="1">
                <a:tableStyleId>{17343FFC-C285-48B6-A5F1-531E15585DCF}</a:tableStyleId>
              </a:tblPr>
              <a:tblGrid>
                <a:gridCol w="1483279">
                  <a:extLst>
                    <a:ext uri="{9D8B030D-6E8A-4147-A177-3AD203B41FA5}">
                      <a16:colId xmlns:a16="http://schemas.microsoft.com/office/drawing/2014/main" val="728537645"/>
                    </a:ext>
                  </a:extLst>
                </a:gridCol>
                <a:gridCol w="1207903">
                  <a:extLst>
                    <a:ext uri="{9D8B030D-6E8A-4147-A177-3AD203B41FA5}">
                      <a16:colId xmlns:a16="http://schemas.microsoft.com/office/drawing/2014/main" val="3845937502"/>
                    </a:ext>
                  </a:extLst>
                </a:gridCol>
                <a:gridCol w="1257971">
                  <a:extLst>
                    <a:ext uri="{9D8B030D-6E8A-4147-A177-3AD203B41FA5}">
                      <a16:colId xmlns:a16="http://schemas.microsoft.com/office/drawing/2014/main" val="2685615442"/>
                    </a:ext>
                  </a:extLst>
                </a:gridCol>
                <a:gridCol w="2184128">
                  <a:extLst>
                    <a:ext uri="{9D8B030D-6E8A-4147-A177-3AD203B41FA5}">
                      <a16:colId xmlns:a16="http://schemas.microsoft.com/office/drawing/2014/main" val="4159672569"/>
                    </a:ext>
                  </a:extLst>
                </a:gridCol>
              </a:tblGrid>
              <a:tr h="230824">
                <a:tc>
                  <a:txBody>
                    <a:bodyPr/>
                    <a:lstStyle/>
                    <a:p>
                      <a:r>
                        <a:rPr lang="en-US" sz="1000" b="1" dirty="0"/>
                        <a:t>AP Type</a:t>
                      </a:r>
                      <a:endParaRPr lang="en-PK" sz="1000" b="1" dirty="0"/>
                    </a:p>
                  </a:txBody>
                  <a:tcPr/>
                </a:tc>
                <a:tc>
                  <a:txBody>
                    <a:bodyPr/>
                    <a:lstStyle/>
                    <a:p>
                      <a:pPr marR="0" algn="l" rtl="0">
                        <a:lnSpc>
                          <a:spcPct val="100000"/>
                        </a:lnSpc>
                        <a:spcBef>
                          <a:spcPts val="0"/>
                        </a:spcBef>
                        <a:spcAft>
                          <a:spcPts val="0"/>
                        </a:spcAft>
                        <a:buClr>
                          <a:srgbClr val="000000"/>
                        </a:buClr>
                        <a:buFont typeface="Arial"/>
                      </a:pPr>
                      <a:r>
                        <a:rPr lang="en-US" sz="1000" b="1" i="0" u="none" strike="noStrike" cap="none" dirty="0">
                          <a:solidFill>
                            <a:srgbClr val="000000"/>
                          </a:solidFill>
                          <a:latin typeface="Arial"/>
                          <a:cs typeface="Arial"/>
                          <a:sym typeface="Arial"/>
                        </a:rPr>
                        <a:t>Use Case</a:t>
                      </a:r>
                    </a:p>
                  </a:txBody>
                  <a:tcPr anchor="ctr"/>
                </a:tc>
                <a:tc>
                  <a:txBody>
                    <a:bodyPr/>
                    <a:lstStyle/>
                    <a:p>
                      <a:pPr marR="0" algn="l" rtl="0">
                        <a:lnSpc>
                          <a:spcPct val="100000"/>
                        </a:lnSpc>
                        <a:spcBef>
                          <a:spcPts val="0"/>
                        </a:spcBef>
                        <a:spcAft>
                          <a:spcPts val="0"/>
                        </a:spcAft>
                        <a:buClr>
                          <a:srgbClr val="000000"/>
                        </a:buClr>
                        <a:buFont typeface="Arial"/>
                      </a:pPr>
                      <a:r>
                        <a:rPr lang="en-US" sz="1000" b="1" i="0" u="none" strike="noStrike" cap="none" dirty="0">
                          <a:solidFill>
                            <a:srgbClr val="000000"/>
                          </a:solidFill>
                          <a:latin typeface="Arial"/>
                          <a:cs typeface="Arial"/>
                          <a:sym typeface="Arial"/>
                        </a:rPr>
                        <a:t>Antenna</a:t>
                      </a:r>
                    </a:p>
                  </a:txBody>
                  <a:tcPr anchor="ctr"/>
                </a:tc>
                <a:tc>
                  <a:txBody>
                    <a:bodyPr/>
                    <a:lstStyle/>
                    <a:p>
                      <a:pPr marR="0" algn="l" rtl="0">
                        <a:lnSpc>
                          <a:spcPct val="100000"/>
                        </a:lnSpc>
                        <a:spcBef>
                          <a:spcPts val="0"/>
                        </a:spcBef>
                        <a:spcAft>
                          <a:spcPts val="0"/>
                        </a:spcAft>
                        <a:buClr>
                          <a:srgbClr val="000000"/>
                        </a:buClr>
                        <a:buFont typeface="Arial"/>
                      </a:pPr>
                      <a:r>
                        <a:rPr lang="en-US" sz="1000" b="1" i="0" u="none" strike="noStrike" cap="none" dirty="0">
                          <a:solidFill>
                            <a:srgbClr val="000000"/>
                          </a:solidFill>
                          <a:latin typeface="Arial"/>
                          <a:cs typeface="Arial"/>
                          <a:sym typeface="Arial"/>
                        </a:rPr>
                        <a:t>Latest Models</a:t>
                      </a:r>
                    </a:p>
                  </a:txBody>
                  <a:tcPr anchor="ctr"/>
                </a:tc>
                <a:extLst>
                  <a:ext uri="{0D108BD9-81ED-4DB2-BD59-A6C34878D82A}">
                    <a16:rowId xmlns:a16="http://schemas.microsoft.com/office/drawing/2014/main" val="2276965619"/>
                  </a:ext>
                </a:extLst>
              </a:tr>
              <a:tr h="520918">
                <a:tc>
                  <a:txBody>
                    <a:bodyPr/>
                    <a:lstStyle/>
                    <a:p>
                      <a:r>
                        <a:rPr lang="en-US" sz="1000" b="0" i="0" u="none" strike="noStrike" cap="none" dirty="0">
                          <a:solidFill>
                            <a:srgbClr val="000000"/>
                          </a:solidFill>
                          <a:latin typeface="Arial"/>
                          <a:cs typeface="Arial"/>
                          <a:sym typeface="Arial"/>
                        </a:rPr>
                        <a:t>Catalyst Access Points</a:t>
                      </a:r>
                    </a:p>
                  </a:txBody>
                  <a:tcPr anchor="ctr"/>
                </a:tc>
                <a:tc>
                  <a:txBody>
                    <a:bodyPr/>
                    <a:lstStyle/>
                    <a:p>
                      <a:r>
                        <a:rPr lang="en-US" sz="1000" b="0" i="0" u="none" strike="noStrike" cap="none" dirty="0">
                          <a:solidFill>
                            <a:srgbClr val="000000"/>
                          </a:solidFill>
                          <a:latin typeface="Arial"/>
                          <a:cs typeface="Arial"/>
                          <a:sym typeface="Arial"/>
                        </a:rPr>
                        <a:t>High-performance</a:t>
                      </a:r>
                      <a:r>
                        <a:rPr lang="en-US" sz="1000" dirty="0"/>
                        <a:t>, enterprise environments</a:t>
                      </a:r>
                    </a:p>
                  </a:txBody>
                  <a:tcPr anchor="ctr"/>
                </a:tc>
                <a:tc>
                  <a:txBody>
                    <a:bodyPr/>
                    <a:lstStyle/>
                    <a:p>
                      <a:r>
                        <a:rPr lang="en-US" sz="1000" dirty="0"/>
                        <a:t>Internal or external antennas</a:t>
                      </a:r>
                    </a:p>
                  </a:txBody>
                  <a:tcPr anchor="ctr"/>
                </a:tc>
                <a:tc>
                  <a:txBody>
                    <a:bodyPr/>
                    <a:lstStyle/>
                    <a:p>
                      <a:r>
                        <a:rPr lang="en-US" sz="1000" dirty="0"/>
                        <a:t>Catalyst 9100 Series</a:t>
                      </a:r>
                    </a:p>
                  </a:txBody>
                  <a:tcPr anchor="ctr"/>
                </a:tc>
                <a:extLst>
                  <a:ext uri="{0D108BD9-81ED-4DB2-BD59-A6C34878D82A}">
                    <a16:rowId xmlns:a16="http://schemas.microsoft.com/office/drawing/2014/main" val="2787455132"/>
                  </a:ext>
                </a:extLst>
              </a:tr>
              <a:tr h="519353">
                <a:tc>
                  <a:txBody>
                    <a:bodyPr/>
                    <a:lstStyle/>
                    <a:p>
                      <a:pPr marR="0" algn="l" rtl="0">
                        <a:lnSpc>
                          <a:spcPct val="100000"/>
                        </a:lnSpc>
                        <a:spcBef>
                          <a:spcPts val="0"/>
                        </a:spcBef>
                        <a:spcAft>
                          <a:spcPts val="0"/>
                        </a:spcAft>
                        <a:buClr>
                          <a:srgbClr val="000000"/>
                        </a:buClr>
                        <a:buFont typeface="Arial"/>
                      </a:pPr>
                      <a:r>
                        <a:rPr lang="en-US" sz="1000" b="0" i="0" u="none" strike="noStrike" cap="none" dirty="0">
                          <a:solidFill>
                            <a:srgbClr val="000000"/>
                          </a:solidFill>
                          <a:latin typeface="Arial"/>
                          <a:cs typeface="Arial"/>
                          <a:sym typeface="Arial"/>
                        </a:rPr>
                        <a:t>Cloud-Managed Access Points</a:t>
                      </a:r>
                    </a:p>
                  </a:txBody>
                  <a:tcPr anchor="ctr"/>
                </a:tc>
                <a:tc>
                  <a:txBody>
                    <a:bodyPr/>
                    <a:lstStyle/>
                    <a:p>
                      <a:r>
                        <a:rPr lang="en-US" sz="1000" dirty="0"/>
                        <a:t>Small to medium businesses, cloud-based</a:t>
                      </a:r>
                    </a:p>
                  </a:txBody>
                  <a:tcPr anchor="ctr"/>
                </a:tc>
                <a:tc>
                  <a:txBody>
                    <a:bodyPr/>
                    <a:lstStyle/>
                    <a:p>
                      <a:r>
                        <a:rPr lang="en-US" sz="1000" dirty="0"/>
                        <a:t>Internal (some external options)</a:t>
                      </a:r>
                    </a:p>
                  </a:txBody>
                  <a:tcPr anchor="ctr"/>
                </a:tc>
                <a:tc>
                  <a:txBody>
                    <a:bodyPr/>
                    <a:lstStyle/>
                    <a:p>
                      <a:r>
                        <a:rPr lang="en-US" sz="1000" dirty="0"/>
                        <a:t>Meraki APs</a:t>
                      </a:r>
                    </a:p>
                  </a:txBody>
                  <a:tcPr anchor="ctr"/>
                </a:tc>
                <a:extLst>
                  <a:ext uri="{0D108BD9-81ED-4DB2-BD59-A6C34878D82A}">
                    <a16:rowId xmlns:a16="http://schemas.microsoft.com/office/drawing/2014/main" val="1235231881"/>
                  </a:ext>
                </a:extLst>
              </a:tr>
              <a:tr h="519353">
                <a:tc>
                  <a:txBody>
                    <a:bodyPr/>
                    <a:lstStyle/>
                    <a:p>
                      <a:pPr marR="0" algn="l" rtl="0">
                        <a:lnSpc>
                          <a:spcPct val="100000"/>
                        </a:lnSpc>
                        <a:spcBef>
                          <a:spcPts val="0"/>
                        </a:spcBef>
                        <a:spcAft>
                          <a:spcPts val="0"/>
                        </a:spcAft>
                        <a:buClr>
                          <a:srgbClr val="000000"/>
                        </a:buClr>
                        <a:buFont typeface="Arial"/>
                      </a:pPr>
                      <a:r>
                        <a:rPr lang="en-US" sz="1000" b="0" i="0" u="none" strike="noStrike" cap="none" dirty="0">
                          <a:solidFill>
                            <a:srgbClr val="000000"/>
                          </a:solidFill>
                          <a:latin typeface="Arial"/>
                          <a:cs typeface="Arial"/>
                          <a:sym typeface="Arial"/>
                        </a:rPr>
                        <a:t>Aironet Access Points</a:t>
                      </a:r>
                    </a:p>
                  </a:txBody>
                  <a:tcPr anchor="ctr"/>
                </a:tc>
                <a:tc>
                  <a:txBody>
                    <a:bodyPr/>
                    <a:lstStyle/>
                    <a:p>
                      <a:r>
                        <a:rPr lang="en-US" sz="1000" dirty="0"/>
                        <a:t>High-density enterprise environments</a:t>
                      </a:r>
                    </a:p>
                  </a:txBody>
                  <a:tcPr anchor="ctr"/>
                </a:tc>
                <a:tc>
                  <a:txBody>
                    <a:bodyPr/>
                    <a:lstStyle/>
                    <a:p>
                      <a:r>
                        <a:rPr lang="en-US" sz="1000" dirty="0"/>
                        <a:t>Internal &amp; external antennas</a:t>
                      </a:r>
                    </a:p>
                  </a:txBody>
                  <a:tcPr anchor="ctr"/>
                </a:tc>
                <a:tc>
                  <a:txBody>
                    <a:bodyPr/>
                    <a:lstStyle/>
                    <a:p>
                      <a:r>
                        <a:rPr lang="en-US" sz="1000" dirty="0"/>
                        <a:t>Aironet 1800, 2800, 3800 Series</a:t>
                      </a:r>
                    </a:p>
                  </a:txBody>
                  <a:tcPr anchor="ctr"/>
                </a:tc>
                <a:extLst>
                  <a:ext uri="{0D108BD9-81ED-4DB2-BD59-A6C34878D82A}">
                    <a16:rowId xmlns:a16="http://schemas.microsoft.com/office/drawing/2014/main" val="3520140132"/>
                  </a:ext>
                </a:extLst>
              </a:tr>
              <a:tr h="519353">
                <a:tc>
                  <a:txBody>
                    <a:bodyPr/>
                    <a:lstStyle/>
                    <a:p>
                      <a:pPr marR="0" algn="l" rtl="0">
                        <a:lnSpc>
                          <a:spcPct val="100000"/>
                        </a:lnSpc>
                        <a:spcBef>
                          <a:spcPts val="0"/>
                        </a:spcBef>
                        <a:spcAft>
                          <a:spcPts val="0"/>
                        </a:spcAft>
                        <a:buClr>
                          <a:srgbClr val="000000"/>
                        </a:buClr>
                        <a:buFont typeface="Arial"/>
                      </a:pPr>
                      <a:r>
                        <a:rPr lang="en-US" sz="1000" b="0" i="0" u="none" strike="noStrike" cap="none" dirty="0">
                          <a:solidFill>
                            <a:srgbClr val="000000"/>
                          </a:solidFill>
                          <a:latin typeface="Arial"/>
                          <a:cs typeface="Arial"/>
                          <a:sym typeface="Arial"/>
                        </a:rPr>
                        <a:t>Outdoor &amp; Industrial APs</a:t>
                      </a:r>
                    </a:p>
                  </a:txBody>
                  <a:tcPr anchor="ctr"/>
                </a:tc>
                <a:tc>
                  <a:txBody>
                    <a:bodyPr/>
                    <a:lstStyle/>
                    <a:p>
                      <a:r>
                        <a:rPr lang="en-US" sz="1000" dirty="0"/>
                        <a:t>Outdoor and harsh industrial environments</a:t>
                      </a:r>
                    </a:p>
                  </a:txBody>
                  <a:tcPr anchor="ctr"/>
                </a:tc>
                <a:tc>
                  <a:txBody>
                    <a:bodyPr/>
                    <a:lstStyle/>
                    <a:p>
                      <a:r>
                        <a:rPr lang="en-US" sz="1000" dirty="0"/>
                        <a:t>High-gain or omnidirectional antennas</a:t>
                      </a:r>
                    </a:p>
                  </a:txBody>
                  <a:tcPr anchor="ctr"/>
                </a:tc>
                <a:tc>
                  <a:txBody>
                    <a:bodyPr/>
                    <a:lstStyle/>
                    <a:p>
                      <a:r>
                        <a:rPr lang="en-US" sz="1000" dirty="0"/>
                        <a:t>Cisco Industrial APs</a:t>
                      </a:r>
                    </a:p>
                  </a:txBody>
                  <a:tcPr anchor="ctr"/>
                </a:tc>
                <a:extLst>
                  <a:ext uri="{0D108BD9-81ED-4DB2-BD59-A6C34878D82A}">
                    <a16:rowId xmlns:a16="http://schemas.microsoft.com/office/drawing/2014/main" val="1952797404"/>
                  </a:ext>
                </a:extLst>
              </a:tr>
              <a:tr h="777762">
                <a:tc>
                  <a:txBody>
                    <a:bodyPr/>
                    <a:lstStyle/>
                    <a:p>
                      <a:pPr marR="0" algn="l" rtl="0">
                        <a:lnSpc>
                          <a:spcPct val="100000"/>
                        </a:lnSpc>
                        <a:spcBef>
                          <a:spcPts val="0"/>
                        </a:spcBef>
                        <a:spcAft>
                          <a:spcPts val="0"/>
                        </a:spcAft>
                        <a:buClr>
                          <a:srgbClr val="000000"/>
                        </a:buClr>
                        <a:buFont typeface="Arial"/>
                      </a:pPr>
                      <a:r>
                        <a:rPr lang="en-US" sz="1000" b="0" i="0" u="none" strike="noStrike" cap="none" dirty="0">
                          <a:solidFill>
                            <a:srgbClr val="000000"/>
                          </a:solidFill>
                          <a:latin typeface="Arial"/>
                          <a:cs typeface="Arial"/>
                          <a:sym typeface="Arial"/>
                        </a:rPr>
                        <a:t>Small Business Access Points</a:t>
                      </a:r>
                    </a:p>
                  </a:txBody>
                  <a:tcPr anchor="ctr"/>
                </a:tc>
                <a:tc>
                  <a:txBody>
                    <a:bodyPr/>
                    <a:lstStyle/>
                    <a:p>
                      <a:r>
                        <a:rPr lang="en-US" sz="1000" dirty="0"/>
                        <a:t>Cost-effective for small businesses</a:t>
                      </a:r>
                    </a:p>
                  </a:txBody>
                  <a:tcPr anchor="ctr"/>
                </a:tc>
                <a:tc>
                  <a:txBody>
                    <a:bodyPr/>
                    <a:lstStyle/>
                    <a:p>
                      <a:r>
                        <a:rPr lang="en-US" sz="1000" dirty="0"/>
                        <a:t>Internal omnidirectional antennas</a:t>
                      </a:r>
                    </a:p>
                  </a:txBody>
                  <a:tcPr anchor="ctr"/>
                </a:tc>
                <a:tc>
                  <a:txBody>
                    <a:bodyPr/>
                    <a:lstStyle/>
                    <a:p>
                      <a:r>
                        <a:rPr lang="en-US" sz="1000" dirty="0"/>
                        <a:t>Business 100 and 200 Series</a:t>
                      </a:r>
                    </a:p>
                  </a:txBody>
                  <a:tcPr anchor="ctr"/>
                </a:tc>
                <a:extLst>
                  <a:ext uri="{0D108BD9-81ED-4DB2-BD59-A6C34878D82A}">
                    <a16:rowId xmlns:a16="http://schemas.microsoft.com/office/drawing/2014/main" val="1549806538"/>
                  </a:ext>
                </a:extLst>
              </a:tr>
            </a:tbl>
          </a:graphicData>
        </a:graphic>
      </p:graphicFrame>
    </p:spTree>
    <p:extLst>
      <p:ext uri="{BB962C8B-B14F-4D97-AF65-F5344CB8AC3E}">
        <p14:creationId xmlns:p14="http://schemas.microsoft.com/office/powerpoint/2010/main" val="134348949"/>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40C76F-2B57-D5F6-8C0E-EA58D66753C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E55B50ED-49FC-BA8E-6B86-608BB504C346}"/>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7C23CF4-0F8E-2ACD-DC8E-08F1BCB6DC7D}"/>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8C2662F-EA45-42E8-D391-C308347CA46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7D21EBB-6109-2870-2EED-0915C2CFEC11}"/>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C1DDDDC-23FB-B06C-6037-BD450D797AB5}"/>
              </a:ext>
            </a:extLst>
          </p:cNvPr>
          <p:cNvSpPr txBox="1"/>
          <p:nvPr/>
        </p:nvSpPr>
        <p:spPr>
          <a:xfrm>
            <a:off x="220279" y="87555"/>
            <a:ext cx="8703440" cy="707886"/>
          </a:xfrm>
          <a:prstGeom prst="rect">
            <a:avLst/>
          </a:prstGeom>
          <a:noFill/>
        </p:spPr>
        <p:txBody>
          <a:bodyPr wrap="square">
            <a:spAutoFit/>
          </a:bodyPr>
          <a:lstStyle/>
          <a:p>
            <a:r>
              <a:rPr lang="en-US" sz="2000" b="1" dirty="0">
                <a:solidFill>
                  <a:srgbClr val="403CCF"/>
                </a:solidFill>
                <a:latin typeface="Libre Baskerville" pitchFamily="34" charset="0"/>
              </a:rPr>
              <a:t>Connecting Smart Devices and Computers to the Network via Access Point:</a:t>
            </a:r>
          </a:p>
        </p:txBody>
      </p:sp>
      <p:sp>
        <p:nvSpPr>
          <p:cNvPr id="17" name="TextBox 16">
            <a:extLst>
              <a:ext uri="{FF2B5EF4-FFF2-40B4-BE49-F238E27FC236}">
                <a16:creationId xmlns:a16="http://schemas.microsoft.com/office/drawing/2014/main" id="{0D34E4A8-405A-5B3B-2896-4F3F005B37D8}"/>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DC84189E-2860-AF72-415F-51351E5F7AB4}"/>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pic>
        <p:nvPicPr>
          <p:cNvPr id="8" name="Picture 7">
            <a:extLst>
              <a:ext uri="{FF2B5EF4-FFF2-40B4-BE49-F238E27FC236}">
                <a16:creationId xmlns:a16="http://schemas.microsoft.com/office/drawing/2014/main" id="{7AB812FB-1043-AFDC-ABF1-50E3FB22F594}"/>
              </a:ext>
            </a:extLst>
          </p:cNvPr>
          <p:cNvPicPr>
            <a:picLocks noChangeAspect="1"/>
          </p:cNvPicPr>
          <p:nvPr/>
        </p:nvPicPr>
        <p:blipFill>
          <a:blip r:embed="rId3"/>
          <a:stretch>
            <a:fillRect/>
          </a:stretch>
        </p:blipFill>
        <p:spPr>
          <a:xfrm>
            <a:off x="0" y="1031107"/>
            <a:ext cx="9144000" cy="4024838"/>
          </a:xfrm>
          <a:prstGeom prst="rect">
            <a:avLst/>
          </a:prstGeom>
        </p:spPr>
      </p:pic>
    </p:spTree>
    <p:extLst>
      <p:ext uri="{BB962C8B-B14F-4D97-AF65-F5344CB8AC3E}">
        <p14:creationId xmlns:p14="http://schemas.microsoft.com/office/powerpoint/2010/main" val="134347222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89394-D93A-0510-5D1C-91E21D8AEE0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5CCE58-B0C1-112F-C5C0-008571537334}"/>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511B6B1E-E9B4-2773-C7C4-648E01A02E2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170B52A5-B6D7-A061-6C7E-D6B3D3FF8B4A}"/>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94A6094D-87A0-789A-E2AB-6228F70EA24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673FF216-9A09-08E7-6885-69138BCDE157}"/>
              </a:ext>
            </a:extLst>
          </p:cNvPr>
          <p:cNvSpPr txBox="1"/>
          <p:nvPr/>
        </p:nvSpPr>
        <p:spPr>
          <a:xfrm>
            <a:off x="220279" y="87555"/>
            <a:ext cx="8703440" cy="707886"/>
          </a:xfrm>
          <a:prstGeom prst="rect">
            <a:avLst/>
          </a:prstGeom>
          <a:noFill/>
        </p:spPr>
        <p:txBody>
          <a:bodyPr wrap="square">
            <a:spAutoFit/>
          </a:bodyPr>
          <a:lstStyle/>
          <a:p>
            <a:r>
              <a:rPr lang="en-US" sz="2000" b="1" dirty="0">
                <a:solidFill>
                  <a:srgbClr val="403CCF"/>
                </a:solidFill>
                <a:latin typeface="Libre Baskerville" pitchFamily="34" charset="0"/>
              </a:rPr>
              <a:t>Connecting Smart Devices and Computers to the Network via Access Point:</a:t>
            </a:r>
          </a:p>
        </p:txBody>
      </p:sp>
      <p:sp>
        <p:nvSpPr>
          <p:cNvPr id="17" name="TextBox 16">
            <a:extLst>
              <a:ext uri="{FF2B5EF4-FFF2-40B4-BE49-F238E27FC236}">
                <a16:creationId xmlns:a16="http://schemas.microsoft.com/office/drawing/2014/main" id="{B746FAB6-92E3-F9DA-6CCF-418E62C7A646}"/>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EC2DB354-CA40-6786-5DD8-1F2E7E4D76F0}"/>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pic>
        <p:nvPicPr>
          <p:cNvPr id="7" name="Picture 6">
            <a:extLst>
              <a:ext uri="{FF2B5EF4-FFF2-40B4-BE49-F238E27FC236}">
                <a16:creationId xmlns:a16="http://schemas.microsoft.com/office/drawing/2014/main" id="{D3231BE6-4841-A771-B9F1-891FFFB84473}"/>
              </a:ext>
            </a:extLst>
          </p:cNvPr>
          <p:cNvPicPr>
            <a:picLocks noChangeAspect="1"/>
          </p:cNvPicPr>
          <p:nvPr/>
        </p:nvPicPr>
        <p:blipFill>
          <a:blip r:embed="rId3"/>
          <a:stretch>
            <a:fillRect/>
          </a:stretch>
        </p:blipFill>
        <p:spPr>
          <a:xfrm>
            <a:off x="0" y="795442"/>
            <a:ext cx="9144000" cy="4348058"/>
          </a:xfrm>
          <a:prstGeom prst="rect">
            <a:avLst/>
          </a:prstGeom>
        </p:spPr>
      </p:pic>
    </p:spTree>
    <p:extLst>
      <p:ext uri="{BB962C8B-B14F-4D97-AF65-F5344CB8AC3E}">
        <p14:creationId xmlns:p14="http://schemas.microsoft.com/office/powerpoint/2010/main" val="30681817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D9ED03-E501-B8F4-1CF2-11E17319756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5092336-465E-7D16-2153-849013BC8EE7}"/>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227EE542-1D36-D980-5C81-7FE081000A6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300E6BD-EEEC-B3C4-91BE-FD4C5E98A841}"/>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18298721-76F3-5CF1-AB63-CD606267B43B}"/>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5FCE9B6C-6804-9648-A49A-4C6467AC9988}"/>
              </a:ext>
            </a:extLst>
          </p:cNvPr>
          <p:cNvSpPr txBox="1"/>
          <p:nvPr/>
        </p:nvSpPr>
        <p:spPr>
          <a:xfrm>
            <a:off x="220279" y="87555"/>
            <a:ext cx="8703440" cy="707886"/>
          </a:xfrm>
          <a:prstGeom prst="rect">
            <a:avLst/>
          </a:prstGeom>
          <a:noFill/>
        </p:spPr>
        <p:txBody>
          <a:bodyPr wrap="square">
            <a:spAutoFit/>
          </a:bodyPr>
          <a:lstStyle/>
          <a:p>
            <a:r>
              <a:rPr lang="en-US" sz="2000" b="1" dirty="0">
                <a:solidFill>
                  <a:srgbClr val="403CCF"/>
                </a:solidFill>
                <a:latin typeface="Libre Baskerville" pitchFamily="34" charset="0"/>
              </a:rPr>
              <a:t>Connecting Smart Devices and Computers to the Network via Access Point:</a:t>
            </a:r>
          </a:p>
        </p:txBody>
      </p:sp>
      <p:sp>
        <p:nvSpPr>
          <p:cNvPr id="17" name="TextBox 16">
            <a:extLst>
              <a:ext uri="{FF2B5EF4-FFF2-40B4-BE49-F238E27FC236}">
                <a16:creationId xmlns:a16="http://schemas.microsoft.com/office/drawing/2014/main" id="{6E8EE955-643D-2945-6C32-2E22DD3EDC2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DDA90069-E992-4520-2FE1-AFEEA8FD770C}"/>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FE6D36F9-7183-FFE1-ED7B-E246463A1303}"/>
              </a:ext>
            </a:extLst>
          </p:cNvPr>
          <p:cNvSpPr txBox="1"/>
          <p:nvPr/>
        </p:nvSpPr>
        <p:spPr>
          <a:xfrm>
            <a:off x="187464" y="847367"/>
            <a:ext cx="4572000" cy="1231106"/>
          </a:xfrm>
          <a:prstGeom prst="rect">
            <a:avLst/>
          </a:prstGeom>
          <a:noFill/>
        </p:spPr>
        <p:txBody>
          <a:bodyPr wrap="square">
            <a:spAutoFit/>
          </a:bodyPr>
          <a:lstStyle/>
          <a:p>
            <a:r>
              <a:rPr lang="en-US" b="1" dirty="0"/>
              <a:t>Router</a:t>
            </a:r>
          </a:p>
          <a:p>
            <a:pPr marL="171450" indent="-171450">
              <a:buFont typeface="Wingdings" panose="05000000000000000000" pitchFamily="2" charset="2"/>
              <a:buChar char="q"/>
            </a:pPr>
            <a:r>
              <a:rPr lang="en-PK" sz="1200" dirty="0"/>
              <a:t>router&gt; enable</a:t>
            </a:r>
          </a:p>
          <a:p>
            <a:pPr marL="171450" indent="-171450">
              <a:buFont typeface="Wingdings" panose="05000000000000000000" pitchFamily="2" charset="2"/>
              <a:buChar char="q"/>
            </a:pPr>
            <a:r>
              <a:rPr lang="en-PK" sz="1200" dirty="0"/>
              <a:t>router# config t</a:t>
            </a:r>
          </a:p>
          <a:p>
            <a:pPr marL="171450" indent="-171450">
              <a:buFont typeface="Wingdings" panose="05000000000000000000" pitchFamily="2" charset="2"/>
              <a:buChar char="q"/>
            </a:pPr>
            <a:r>
              <a:rPr lang="en-PK" sz="1200" dirty="0"/>
              <a:t>router(config)# interface fa0/1</a:t>
            </a:r>
          </a:p>
          <a:p>
            <a:pPr marL="171450" indent="-171450">
              <a:buFont typeface="Wingdings" panose="05000000000000000000" pitchFamily="2" charset="2"/>
              <a:buChar char="q"/>
            </a:pPr>
            <a:r>
              <a:rPr lang="en-PK" sz="1200" dirty="0"/>
              <a:t>router(config-if)# </a:t>
            </a:r>
            <a:r>
              <a:rPr lang="en-PK" sz="1200" dirty="0" err="1"/>
              <a:t>ip</a:t>
            </a:r>
            <a:r>
              <a:rPr lang="en-PK" sz="1200" dirty="0"/>
              <a:t> address 192.168.1.1 255.255.255.0</a:t>
            </a:r>
          </a:p>
          <a:p>
            <a:pPr marL="171450" indent="-171450">
              <a:buFont typeface="Wingdings" panose="05000000000000000000" pitchFamily="2" charset="2"/>
              <a:buChar char="q"/>
            </a:pPr>
            <a:r>
              <a:rPr lang="en-PK" sz="1200" dirty="0"/>
              <a:t>router(config-if)# no shutdown</a:t>
            </a:r>
            <a:endParaRPr lang="en-US" sz="1200" dirty="0"/>
          </a:p>
        </p:txBody>
      </p:sp>
      <p:sp>
        <p:nvSpPr>
          <p:cNvPr id="12" name="TextBox 11">
            <a:extLst>
              <a:ext uri="{FF2B5EF4-FFF2-40B4-BE49-F238E27FC236}">
                <a16:creationId xmlns:a16="http://schemas.microsoft.com/office/drawing/2014/main" id="{1B78B3A2-95FF-A608-B252-AB17759AC002}"/>
              </a:ext>
            </a:extLst>
          </p:cNvPr>
          <p:cNvSpPr txBox="1"/>
          <p:nvPr/>
        </p:nvSpPr>
        <p:spPr>
          <a:xfrm>
            <a:off x="172940" y="2349805"/>
            <a:ext cx="4572000" cy="492443"/>
          </a:xfrm>
          <a:prstGeom prst="rect">
            <a:avLst/>
          </a:prstGeom>
          <a:noFill/>
        </p:spPr>
        <p:txBody>
          <a:bodyPr wrap="square">
            <a:spAutoFit/>
          </a:bodyPr>
          <a:lstStyle/>
          <a:p>
            <a:r>
              <a:rPr lang="en-US" b="1" dirty="0"/>
              <a:t>DHCP Server</a:t>
            </a:r>
          </a:p>
          <a:p>
            <a:r>
              <a:rPr lang="en-US" sz="1200" dirty="0"/>
              <a:t>Will assign IPs to the devices </a:t>
            </a:r>
            <a:endParaRPr lang="en-PK" sz="1200" dirty="0"/>
          </a:p>
        </p:txBody>
      </p:sp>
      <p:sp>
        <p:nvSpPr>
          <p:cNvPr id="14" name="TextBox 13">
            <a:extLst>
              <a:ext uri="{FF2B5EF4-FFF2-40B4-BE49-F238E27FC236}">
                <a16:creationId xmlns:a16="http://schemas.microsoft.com/office/drawing/2014/main" id="{8A3E5747-B6CE-44DF-9804-F8DF330537DD}"/>
              </a:ext>
            </a:extLst>
          </p:cNvPr>
          <p:cNvSpPr txBox="1"/>
          <p:nvPr/>
        </p:nvSpPr>
        <p:spPr>
          <a:xfrm>
            <a:off x="220279" y="3217112"/>
            <a:ext cx="3974881" cy="1415772"/>
          </a:xfrm>
          <a:prstGeom prst="rect">
            <a:avLst/>
          </a:prstGeom>
          <a:noFill/>
        </p:spPr>
        <p:txBody>
          <a:bodyPr wrap="square">
            <a:spAutoFit/>
          </a:bodyPr>
          <a:lstStyle/>
          <a:p>
            <a:r>
              <a:rPr lang="en-US" b="1" dirty="0"/>
              <a:t>Access Point</a:t>
            </a:r>
          </a:p>
          <a:p>
            <a:pPr marL="171450" indent="-171450">
              <a:buFont typeface="Wingdings" panose="05000000000000000000" pitchFamily="2" charset="2"/>
              <a:buChar char="Ø"/>
            </a:pPr>
            <a:r>
              <a:rPr lang="en-US" sz="1200" dirty="0"/>
              <a:t>Click on the Access Point.</a:t>
            </a:r>
          </a:p>
          <a:p>
            <a:pPr marL="171450" indent="-171450">
              <a:buFont typeface="Wingdings" panose="05000000000000000000" pitchFamily="2" charset="2"/>
              <a:buChar char="Ø"/>
            </a:pPr>
            <a:r>
              <a:rPr lang="en-US" sz="1200" dirty="0"/>
              <a:t>Go to the Config tab.</a:t>
            </a:r>
          </a:p>
          <a:p>
            <a:pPr marL="171450" indent="-171450">
              <a:buFont typeface="Wingdings" panose="05000000000000000000" pitchFamily="2" charset="2"/>
              <a:buChar char="Ø"/>
            </a:pPr>
            <a:r>
              <a:rPr lang="en-US" sz="1200" dirty="0"/>
              <a:t>Select Port 1.</a:t>
            </a:r>
          </a:p>
          <a:p>
            <a:pPr marL="171450" indent="-171450">
              <a:buFont typeface="Wingdings" panose="05000000000000000000" pitchFamily="2" charset="2"/>
              <a:buChar char="Ø"/>
            </a:pPr>
            <a:r>
              <a:rPr lang="en-US" sz="1200" dirty="0"/>
              <a:t>Set the SSID name.</a:t>
            </a:r>
          </a:p>
          <a:p>
            <a:pPr marL="171450" indent="-171450">
              <a:buFont typeface="Wingdings" panose="05000000000000000000" pitchFamily="2" charset="2"/>
              <a:buChar char="Ø"/>
            </a:pPr>
            <a:r>
              <a:rPr lang="en-US" sz="1200" dirty="0"/>
              <a:t>Choose the Authentication method.</a:t>
            </a:r>
          </a:p>
          <a:p>
            <a:pPr marL="171450" indent="-171450">
              <a:buFont typeface="Wingdings" panose="05000000000000000000" pitchFamily="2" charset="2"/>
              <a:buChar char="Ø"/>
            </a:pPr>
            <a:r>
              <a:rPr lang="en-US" sz="1200" dirty="0"/>
              <a:t>Enter the desired password.</a:t>
            </a:r>
            <a:endParaRPr lang="en-PK" sz="1200" dirty="0"/>
          </a:p>
        </p:txBody>
      </p:sp>
      <p:sp>
        <p:nvSpPr>
          <p:cNvPr id="19" name="TextBox 18">
            <a:extLst>
              <a:ext uri="{FF2B5EF4-FFF2-40B4-BE49-F238E27FC236}">
                <a16:creationId xmlns:a16="http://schemas.microsoft.com/office/drawing/2014/main" id="{368C63E1-AF0F-2347-46A8-DA8FD46F9BCB}"/>
              </a:ext>
            </a:extLst>
          </p:cNvPr>
          <p:cNvSpPr txBox="1"/>
          <p:nvPr/>
        </p:nvSpPr>
        <p:spPr>
          <a:xfrm>
            <a:off x="4490583" y="746220"/>
            <a:ext cx="4640185" cy="1261884"/>
          </a:xfrm>
          <a:prstGeom prst="rect">
            <a:avLst/>
          </a:prstGeom>
          <a:noFill/>
        </p:spPr>
        <p:txBody>
          <a:bodyPr wrap="square">
            <a:spAutoFit/>
          </a:bodyPr>
          <a:lstStyle/>
          <a:p>
            <a:r>
              <a:rPr lang="en-US" b="1" dirty="0"/>
              <a:t>Smart Phone</a:t>
            </a:r>
          </a:p>
          <a:p>
            <a:pPr marL="171450" indent="-171450">
              <a:buFont typeface="Wingdings" panose="05000000000000000000" pitchFamily="2" charset="2"/>
              <a:buChar char="Ø"/>
            </a:pPr>
            <a:r>
              <a:rPr lang="en-US" sz="1200" dirty="0"/>
              <a:t>Click on the Smartphone.</a:t>
            </a:r>
          </a:p>
          <a:p>
            <a:pPr marL="171450" indent="-171450">
              <a:buFont typeface="Wingdings" panose="05000000000000000000" pitchFamily="2" charset="2"/>
              <a:buChar char="Ø"/>
            </a:pPr>
            <a:r>
              <a:rPr lang="en-US" sz="1200" dirty="0"/>
              <a:t>Go to the Config tab.</a:t>
            </a:r>
          </a:p>
          <a:p>
            <a:pPr marL="171450" indent="-171450">
              <a:buFont typeface="Wingdings" panose="05000000000000000000" pitchFamily="2" charset="2"/>
              <a:buChar char="Ø"/>
            </a:pPr>
            <a:r>
              <a:rPr lang="en-US" sz="1200" dirty="0"/>
              <a:t>Select Wireless0.</a:t>
            </a:r>
          </a:p>
          <a:p>
            <a:pPr marL="171450" indent="-171450">
              <a:buFont typeface="Wingdings" panose="05000000000000000000" pitchFamily="2" charset="2"/>
              <a:buChar char="Ø"/>
            </a:pPr>
            <a:r>
              <a:rPr lang="en-US" sz="1200" dirty="0"/>
              <a:t>In the SSID field, enter the SSID of the access point.</a:t>
            </a:r>
          </a:p>
          <a:p>
            <a:pPr marL="171450" indent="-171450">
              <a:buFont typeface="Wingdings" panose="05000000000000000000" pitchFamily="2" charset="2"/>
              <a:buChar char="Ø"/>
            </a:pPr>
            <a:r>
              <a:rPr lang="en-US" sz="1200" dirty="0"/>
              <a:t>In the Authentication field, enter the Wi-Fi password</a:t>
            </a:r>
            <a:r>
              <a:rPr lang="en-US" dirty="0"/>
              <a:t>.</a:t>
            </a:r>
            <a:endParaRPr lang="en-PK" dirty="0"/>
          </a:p>
        </p:txBody>
      </p:sp>
      <p:sp>
        <p:nvSpPr>
          <p:cNvPr id="21" name="TextBox 20">
            <a:extLst>
              <a:ext uri="{FF2B5EF4-FFF2-40B4-BE49-F238E27FC236}">
                <a16:creationId xmlns:a16="http://schemas.microsoft.com/office/drawing/2014/main" id="{2F133FC7-FBF8-C5D8-4022-5F43F05CB051}"/>
              </a:ext>
            </a:extLst>
          </p:cNvPr>
          <p:cNvSpPr txBox="1"/>
          <p:nvPr/>
        </p:nvSpPr>
        <p:spPr>
          <a:xfrm>
            <a:off x="4518339" y="2310851"/>
            <a:ext cx="4572000" cy="2523768"/>
          </a:xfrm>
          <a:prstGeom prst="rect">
            <a:avLst/>
          </a:prstGeom>
          <a:noFill/>
        </p:spPr>
        <p:txBody>
          <a:bodyPr wrap="square">
            <a:spAutoFit/>
          </a:bodyPr>
          <a:lstStyle/>
          <a:p>
            <a:r>
              <a:rPr lang="en-US" b="1" dirty="0"/>
              <a:t>Laptop Configuration</a:t>
            </a:r>
          </a:p>
          <a:p>
            <a:pPr marL="171450" indent="-171450">
              <a:buFont typeface="Wingdings" panose="05000000000000000000" pitchFamily="2" charset="2"/>
              <a:buChar char="Ø"/>
            </a:pPr>
            <a:r>
              <a:rPr lang="en-US" sz="1200" dirty="0"/>
              <a:t>Click on the Laptop.</a:t>
            </a:r>
          </a:p>
          <a:p>
            <a:pPr marL="171450" indent="-171450">
              <a:buFont typeface="Wingdings" panose="05000000000000000000" pitchFamily="2" charset="2"/>
              <a:buChar char="Ø"/>
            </a:pPr>
            <a:r>
              <a:rPr lang="en-US" sz="1200" dirty="0"/>
              <a:t>Go to the Physical tab.</a:t>
            </a:r>
          </a:p>
          <a:p>
            <a:pPr marL="171450" indent="-171450">
              <a:buFont typeface="Wingdings" panose="05000000000000000000" pitchFamily="2" charset="2"/>
              <a:buChar char="Ø"/>
            </a:pPr>
            <a:r>
              <a:rPr lang="en-US" sz="1200" dirty="0"/>
              <a:t>Turn off the laptop.</a:t>
            </a:r>
          </a:p>
          <a:p>
            <a:pPr marL="171450" indent="-171450">
              <a:buFont typeface="Wingdings" panose="05000000000000000000" pitchFamily="2" charset="2"/>
              <a:buChar char="Ø"/>
            </a:pPr>
            <a:r>
              <a:rPr lang="en-US" sz="1200" dirty="0"/>
              <a:t>Remove the existing module.</a:t>
            </a:r>
          </a:p>
          <a:p>
            <a:pPr marL="171450" indent="-171450">
              <a:buFont typeface="Wingdings" panose="05000000000000000000" pitchFamily="2" charset="2"/>
              <a:buChar char="Ø"/>
            </a:pPr>
            <a:r>
              <a:rPr lang="en-US" sz="1200" dirty="0"/>
              <a:t>Add the Wi-Fi module "WPC300".</a:t>
            </a:r>
          </a:p>
          <a:p>
            <a:pPr marL="171450" indent="-171450">
              <a:buFont typeface="Wingdings" panose="05000000000000000000" pitchFamily="2" charset="2"/>
              <a:buChar char="Ø"/>
            </a:pPr>
            <a:r>
              <a:rPr lang="en-US" sz="1200" dirty="0"/>
              <a:t>Turn on the laptop.</a:t>
            </a:r>
          </a:p>
          <a:p>
            <a:pPr marL="171450" indent="-171450">
              <a:buFont typeface="Wingdings" panose="05000000000000000000" pitchFamily="2" charset="2"/>
              <a:buChar char="Ø"/>
            </a:pPr>
            <a:r>
              <a:rPr lang="en-US" sz="1200" dirty="0"/>
              <a:t>Click on the Desktop tab.</a:t>
            </a:r>
          </a:p>
          <a:p>
            <a:pPr marL="171450" indent="-171450">
              <a:buFont typeface="Wingdings" panose="05000000000000000000" pitchFamily="2" charset="2"/>
              <a:buChar char="Ø"/>
            </a:pPr>
            <a:r>
              <a:rPr lang="en-US" sz="1200" dirty="0"/>
              <a:t>Select PC Wireless.</a:t>
            </a:r>
          </a:p>
          <a:p>
            <a:pPr marL="171450" indent="-171450">
              <a:buFont typeface="Wingdings" panose="05000000000000000000" pitchFamily="2" charset="2"/>
              <a:buChar char="Ø"/>
            </a:pPr>
            <a:r>
              <a:rPr lang="en-US" sz="1200" dirty="0"/>
              <a:t>Click on Connect.</a:t>
            </a:r>
          </a:p>
          <a:p>
            <a:pPr marL="171450" indent="-171450">
              <a:buFont typeface="Wingdings" panose="05000000000000000000" pitchFamily="2" charset="2"/>
              <a:buChar char="Ø"/>
            </a:pPr>
            <a:r>
              <a:rPr lang="en-US" sz="1200" dirty="0"/>
              <a:t>Click Refresh to scan for available networks.</a:t>
            </a:r>
          </a:p>
          <a:p>
            <a:pPr marL="171450" indent="-171450">
              <a:buFont typeface="Wingdings" panose="05000000000000000000" pitchFamily="2" charset="2"/>
              <a:buChar char="Ø"/>
            </a:pPr>
            <a:r>
              <a:rPr lang="en-US" sz="1200" dirty="0"/>
              <a:t>Select the SSID of the Access Point.</a:t>
            </a:r>
          </a:p>
          <a:p>
            <a:pPr marL="171450" indent="-171450">
              <a:buFont typeface="Wingdings" panose="05000000000000000000" pitchFamily="2" charset="2"/>
              <a:buChar char="Ø"/>
            </a:pPr>
            <a:r>
              <a:rPr lang="en-US" sz="1200" dirty="0"/>
              <a:t>Enter the password to connect to the network.</a:t>
            </a:r>
            <a:endParaRPr lang="en-PK" sz="1200" dirty="0"/>
          </a:p>
        </p:txBody>
      </p:sp>
    </p:spTree>
    <p:extLst>
      <p:ext uri="{BB962C8B-B14F-4D97-AF65-F5344CB8AC3E}">
        <p14:creationId xmlns:p14="http://schemas.microsoft.com/office/powerpoint/2010/main" val="1451487248"/>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018F5-9FC8-0965-2101-AB646C684DA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F5B8FB-79C2-4624-BCD9-C1EF7D7A39B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14298D29-5D4C-C3F0-7363-3EE8E8C812B9}"/>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4F00C67-A554-9122-FBD4-07DF6D869949}"/>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3019522F-5C47-F456-A504-3A262B6D5B66}"/>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7511A68D-8C80-856D-39A4-6E39D2C60AA1}"/>
              </a:ext>
            </a:extLst>
          </p:cNvPr>
          <p:cNvSpPr txBox="1"/>
          <p:nvPr/>
        </p:nvSpPr>
        <p:spPr>
          <a:xfrm>
            <a:off x="220279" y="87555"/>
            <a:ext cx="8703440" cy="400110"/>
          </a:xfrm>
          <a:prstGeom prst="rect">
            <a:avLst/>
          </a:prstGeom>
          <a:noFill/>
        </p:spPr>
        <p:txBody>
          <a:bodyPr wrap="square">
            <a:spAutoFit/>
          </a:bodyPr>
          <a:lstStyle/>
          <a:p>
            <a:r>
              <a:rPr lang="en-US" sz="2000" b="1" dirty="0">
                <a:solidFill>
                  <a:srgbClr val="403CCF"/>
                </a:solidFill>
                <a:latin typeface="Libre Baskerville" pitchFamily="34" charset="0"/>
              </a:rPr>
              <a:t>Configuration of Wireless LAN Controller and AP Using GUI</a:t>
            </a:r>
          </a:p>
        </p:txBody>
      </p:sp>
      <p:sp>
        <p:nvSpPr>
          <p:cNvPr id="17" name="TextBox 16">
            <a:extLst>
              <a:ext uri="{FF2B5EF4-FFF2-40B4-BE49-F238E27FC236}">
                <a16:creationId xmlns:a16="http://schemas.microsoft.com/office/drawing/2014/main" id="{405B24DE-FC0C-0AC3-42DA-04697B98DC8A}"/>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8233C2F0-F18E-9253-BF3F-F4668D9137D8}"/>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pic>
        <p:nvPicPr>
          <p:cNvPr id="8" name="Picture 7">
            <a:extLst>
              <a:ext uri="{FF2B5EF4-FFF2-40B4-BE49-F238E27FC236}">
                <a16:creationId xmlns:a16="http://schemas.microsoft.com/office/drawing/2014/main" id="{117D428D-CB83-D201-4126-F85093614C3C}"/>
              </a:ext>
            </a:extLst>
          </p:cNvPr>
          <p:cNvPicPr>
            <a:picLocks noChangeAspect="1"/>
          </p:cNvPicPr>
          <p:nvPr/>
        </p:nvPicPr>
        <p:blipFill>
          <a:blip r:embed="rId3"/>
          <a:stretch>
            <a:fillRect/>
          </a:stretch>
        </p:blipFill>
        <p:spPr>
          <a:xfrm>
            <a:off x="0" y="487664"/>
            <a:ext cx="9144000" cy="4655836"/>
          </a:xfrm>
          <a:prstGeom prst="rect">
            <a:avLst/>
          </a:prstGeom>
        </p:spPr>
      </p:pic>
    </p:spTree>
    <p:extLst>
      <p:ext uri="{BB962C8B-B14F-4D97-AF65-F5344CB8AC3E}">
        <p14:creationId xmlns:p14="http://schemas.microsoft.com/office/powerpoint/2010/main" val="1336738775"/>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5E4DB-E097-351D-2B16-7D2FAAAE1CF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C9DC0E-28EB-346A-4052-21814F47DE9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908F7463-9844-D1AB-AB4E-1D9A60F29485}"/>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34F394AC-3599-BFAF-6251-E9D12CA8D33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581C0934-B239-5767-0D3E-51327D63CF43}"/>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AEAE5214-EC7C-6A0D-A63D-A0ADFB85C9F7}"/>
              </a:ext>
            </a:extLst>
          </p:cNvPr>
          <p:cNvSpPr txBox="1"/>
          <p:nvPr/>
        </p:nvSpPr>
        <p:spPr>
          <a:xfrm>
            <a:off x="220279" y="87555"/>
            <a:ext cx="8703440" cy="400110"/>
          </a:xfrm>
          <a:prstGeom prst="rect">
            <a:avLst/>
          </a:prstGeom>
          <a:noFill/>
        </p:spPr>
        <p:txBody>
          <a:bodyPr wrap="square">
            <a:spAutoFit/>
          </a:bodyPr>
          <a:lstStyle/>
          <a:p>
            <a:r>
              <a:rPr lang="en-US" sz="2000" b="1" dirty="0">
                <a:solidFill>
                  <a:srgbClr val="403CCF"/>
                </a:solidFill>
                <a:latin typeface="Libre Baskerville" pitchFamily="34" charset="0"/>
              </a:rPr>
              <a:t>Configuration of Wireless LAN Controller and AP Using GUI</a:t>
            </a:r>
          </a:p>
        </p:txBody>
      </p:sp>
      <p:sp>
        <p:nvSpPr>
          <p:cNvPr id="17" name="TextBox 16">
            <a:extLst>
              <a:ext uri="{FF2B5EF4-FFF2-40B4-BE49-F238E27FC236}">
                <a16:creationId xmlns:a16="http://schemas.microsoft.com/office/drawing/2014/main" id="{A318F8A6-9594-47CD-3DE4-2D46BEF6398C}"/>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28651AA0-7828-E4B1-30FE-286ED178CC5A}"/>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6ABB8FF4-110E-27A3-9CFD-0DC6A83DC20F}"/>
              </a:ext>
            </a:extLst>
          </p:cNvPr>
          <p:cNvSpPr txBox="1"/>
          <p:nvPr/>
        </p:nvSpPr>
        <p:spPr>
          <a:xfrm>
            <a:off x="249618" y="636579"/>
            <a:ext cx="4572000" cy="1308050"/>
          </a:xfrm>
          <a:prstGeom prst="rect">
            <a:avLst/>
          </a:prstGeom>
          <a:noFill/>
        </p:spPr>
        <p:txBody>
          <a:bodyPr wrap="square">
            <a:spAutoFit/>
          </a:bodyPr>
          <a:lstStyle/>
          <a:p>
            <a:r>
              <a:rPr lang="en-US" sz="1600" b="1" dirty="0">
                <a:solidFill>
                  <a:srgbClr val="403CCF"/>
                </a:solidFill>
                <a:latin typeface="Libre Baskerville" pitchFamily="34" charset="0"/>
              </a:rPr>
              <a:t>First Step: </a:t>
            </a:r>
          </a:p>
          <a:p>
            <a:r>
              <a:rPr lang="en-US" sz="900" dirty="0"/>
              <a:t>You need:</a:t>
            </a:r>
          </a:p>
          <a:p>
            <a:pPr marL="171450" indent="-171450">
              <a:buFont typeface="Wingdings" panose="05000000000000000000" pitchFamily="2" charset="2"/>
              <a:buChar char="Ø"/>
            </a:pPr>
            <a:r>
              <a:rPr lang="en-US" sz="900" dirty="0"/>
              <a:t>WLC</a:t>
            </a:r>
          </a:p>
          <a:p>
            <a:pPr marL="171450" indent="-171450">
              <a:buFont typeface="Wingdings" panose="05000000000000000000" pitchFamily="2" charset="2"/>
              <a:buChar char="Ø"/>
            </a:pPr>
            <a:r>
              <a:rPr lang="en-US" sz="900" dirty="0"/>
              <a:t>APs</a:t>
            </a:r>
          </a:p>
          <a:p>
            <a:pPr marL="171450" indent="-171450">
              <a:buFont typeface="Wingdings" panose="05000000000000000000" pitchFamily="2" charset="2"/>
              <a:buChar char="Ø"/>
            </a:pPr>
            <a:r>
              <a:rPr lang="en-US" sz="900" dirty="0"/>
              <a:t>DHCP Server for IP assignment</a:t>
            </a:r>
          </a:p>
          <a:p>
            <a:pPr marL="171450" indent="-171450">
              <a:buFont typeface="Wingdings" panose="05000000000000000000" pitchFamily="2" charset="2"/>
              <a:buChar char="Ø"/>
            </a:pPr>
            <a:r>
              <a:rPr lang="en-US" sz="900" dirty="0"/>
              <a:t>Switch for centralized network</a:t>
            </a:r>
          </a:p>
          <a:p>
            <a:pPr marL="171450" indent="-171450">
              <a:buFont typeface="Wingdings" panose="05000000000000000000" pitchFamily="2" charset="2"/>
              <a:buChar char="Ø"/>
            </a:pPr>
            <a:r>
              <a:rPr lang="en-US" sz="900" dirty="0"/>
              <a:t>Computer for management</a:t>
            </a:r>
          </a:p>
          <a:p>
            <a:pPr marL="171450" indent="-171450">
              <a:buFont typeface="Wingdings" panose="05000000000000000000" pitchFamily="2" charset="2"/>
              <a:buChar char="Ø"/>
            </a:pPr>
            <a:r>
              <a:rPr lang="en-US" sz="900" dirty="0"/>
              <a:t>End devices connected to the APs</a:t>
            </a:r>
          </a:p>
        </p:txBody>
      </p:sp>
      <p:sp>
        <p:nvSpPr>
          <p:cNvPr id="14" name="TextBox 13">
            <a:extLst>
              <a:ext uri="{FF2B5EF4-FFF2-40B4-BE49-F238E27FC236}">
                <a16:creationId xmlns:a16="http://schemas.microsoft.com/office/drawing/2014/main" id="{51914153-0374-526A-0053-D6AC0BAE273B}"/>
              </a:ext>
            </a:extLst>
          </p:cNvPr>
          <p:cNvSpPr txBox="1"/>
          <p:nvPr/>
        </p:nvSpPr>
        <p:spPr>
          <a:xfrm>
            <a:off x="220279" y="1977869"/>
            <a:ext cx="3081721" cy="3108543"/>
          </a:xfrm>
          <a:prstGeom prst="rect">
            <a:avLst/>
          </a:prstGeom>
          <a:noFill/>
        </p:spPr>
        <p:txBody>
          <a:bodyPr wrap="square">
            <a:spAutoFit/>
          </a:bodyPr>
          <a:lstStyle/>
          <a:p>
            <a:r>
              <a:rPr lang="en-US" sz="1600" b="1" dirty="0">
                <a:solidFill>
                  <a:srgbClr val="403CCF"/>
                </a:solidFill>
                <a:latin typeface="Libre Baskerville" pitchFamily="34" charset="0"/>
              </a:rPr>
              <a:t>Second Step:</a:t>
            </a:r>
          </a:p>
          <a:p>
            <a:pPr marL="171450" indent="-171450">
              <a:buFont typeface="Wingdings" panose="05000000000000000000" pitchFamily="2" charset="2"/>
              <a:buChar char="Ø"/>
            </a:pPr>
            <a:r>
              <a:rPr lang="en-US" sz="900" dirty="0"/>
              <a:t>Click on the WLC.</a:t>
            </a:r>
          </a:p>
          <a:p>
            <a:pPr marL="171450" indent="-171450">
              <a:buFont typeface="Wingdings" panose="05000000000000000000" pitchFamily="2" charset="2"/>
              <a:buChar char="Ø"/>
            </a:pPr>
            <a:r>
              <a:rPr lang="en-US" sz="900" dirty="0"/>
              <a:t>Click on “Config” in the menu.</a:t>
            </a:r>
          </a:p>
          <a:p>
            <a:pPr marL="171450" indent="-171450">
              <a:buFont typeface="Wingdings" panose="05000000000000000000" pitchFamily="2" charset="2"/>
              <a:buChar char="Ø"/>
            </a:pPr>
            <a:r>
              <a:rPr lang="en-US" sz="900" dirty="0"/>
              <a:t>Click on “Management” and assign the IPs:</a:t>
            </a:r>
          </a:p>
          <a:p>
            <a:r>
              <a:rPr lang="en-US" sz="900" dirty="0"/>
              <a:t>	IP: 192.168.20.10</a:t>
            </a:r>
          </a:p>
          <a:p>
            <a:r>
              <a:rPr lang="en-US" sz="900" dirty="0"/>
              <a:t>	Subnet Mask: 255.255.255.0</a:t>
            </a:r>
          </a:p>
          <a:p>
            <a:r>
              <a:rPr lang="en-US" sz="900" dirty="0"/>
              <a:t>	Gateway: 192.168.20.1</a:t>
            </a:r>
          </a:p>
          <a:p>
            <a:r>
              <a:rPr lang="en-US" sz="900" dirty="0"/>
              <a:t>	DNS: 192.168.20.1</a:t>
            </a:r>
          </a:p>
          <a:p>
            <a:pPr marL="171450" indent="-171450">
              <a:buFont typeface="Wingdings" panose="05000000000000000000" pitchFamily="2" charset="2"/>
              <a:buChar char="Ø"/>
            </a:pPr>
            <a:r>
              <a:rPr lang="en-US" sz="900" dirty="0"/>
              <a:t>Click on the computer.  </a:t>
            </a:r>
          </a:p>
          <a:p>
            <a:pPr marL="457200" lvl="1"/>
            <a:r>
              <a:rPr lang="en-US" sz="900" dirty="0"/>
              <a:t>         Assign the IPs:</a:t>
            </a:r>
          </a:p>
          <a:p>
            <a:pPr marL="457200" lvl="1"/>
            <a:r>
              <a:rPr lang="en-US" sz="900" dirty="0"/>
              <a:t>	IP: 192.168.20.7</a:t>
            </a:r>
          </a:p>
          <a:p>
            <a:pPr marL="457200" lvl="1"/>
            <a:r>
              <a:rPr lang="en-US" sz="900" dirty="0"/>
              <a:t>	Subnet Mask: 255.255.255.0</a:t>
            </a:r>
          </a:p>
          <a:p>
            <a:pPr marL="457200" lvl="1"/>
            <a:r>
              <a:rPr lang="en-US" sz="900" dirty="0"/>
              <a:t>	Gateway: 192.168.20.1</a:t>
            </a:r>
          </a:p>
          <a:p>
            <a:pPr marL="457200" lvl="1"/>
            <a:r>
              <a:rPr lang="en-US" sz="900" dirty="0"/>
              <a:t>	DNS: 192.168.20.1</a:t>
            </a:r>
          </a:p>
          <a:p>
            <a:pPr marL="742950" lvl="1" indent="-285750">
              <a:buFont typeface="Wingdings" panose="05000000000000000000" pitchFamily="2" charset="2"/>
              <a:buChar char="v"/>
            </a:pPr>
            <a:endParaRPr lang="en-US" sz="900" dirty="0"/>
          </a:p>
          <a:p>
            <a:pPr marL="171450" indent="-171450">
              <a:buFont typeface="Wingdings" panose="05000000000000000000" pitchFamily="2" charset="2"/>
              <a:buChar char="Ø"/>
            </a:pPr>
            <a:r>
              <a:rPr lang="en-US" sz="900" dirty="0"/>
              <a:t>Click on the DHCP Server.</a:t>
            </a:r>
          </a:p>
          <a:p>
            <a:pPr lvl="4"/>
            <a:r>
              <a:rPr lang="en-US" sz="900" dirty="0"/>
              <a:t>    	Create an IP Pool:</a:t>
            </a:r>
          </a:p>
          <a:p>
            <a:pPr marL="457200" lvl="1"/>
            <a:r>
              <a:rPr lang="en-US" sz="900" dirty="0"/>
              <a:t>	Gateway: 192.168.20.1</a:t>
            </a:r>
          </a:p>
          <a:p>
            <a:pPr marL="457200" lvl="1"/>
            <a:r>
              <a:rPr lang="en-US" sz="900" dirty="0"/>
              <a:t>	DNS: 192.168.20.1</a:t>
            </a:r>
          </a:p>
          <a:p>
            <a:pPr marL="457200" lvl="1"/>
            <a:r>
              <a:rPr lang="en-US" sz="900" dirty="0"/>
              <a:t>	Start IP: 192.168.20.101</a:t>
            </a:r>
          </a:p>
          <a:p>
            <a:pPr marL="457200" lvl="1"/>
            <a:r>
              <a:rPr lang="en-US" sz="900" dirty="0"/>
              <a:t>	WLC Address: 192.168.20.1</a:t>
            </a:r>
          </a:p>
        </p:txBody>
      </p:sp>
      <p:sp>
        <p:nvSpPr>
          <p:cNvPr id="16" name="TextBox 15">
            <a:extLst>
              <a:ext uri="{FF2B5EF4-FFF2-40B4-BE49-F238E27FC236}">
                <a16:creationId xmlns:a16="http://schemas.microsoft.com/office/drawing/2014/main" id="{BC849E52-5C69-A009-50AF-5BFB4D278D6C}"/>
              </a:ext>
            </a:extLst>
          </p:cNvPr>
          <p:cNvSpPr txBox="1"/>
          <p:nvPr/>
        </p:nvSpPr>
        <p:spPr>
          <a:xfrm>
            <a:off x="3847742" y="591168"/>
            <a:ext cx="4756994" cy="1031051"/>
          </a:xfrm>
          <a:prstGeom prst="rect">
            <a:avLst/>
          </a:prstGeom>
          <a:noFill/>
        </p:spPr>
        <p:txBody>
          <a:bodyPr wrap="square">
            <a:spAutoFit/>
          </a:bodyPr>
          <a:lstStyle/>
          <a:p>
            <a:r>
              <a:rPr lang="en-US" sz="1600" b="1" dirty="0">
                <a:solidFill>
                  <a:srgbClr val="403CCF"/>
                </a:solidFill>
                <a:latin typeface="Libre Baskerville" pitchFamily="34" charset="0"/>
              </a:rPr>
              <a:t>Third Step:</a:t>
            </a:r>
          </a:p>
          <a:p>
            <a:pPr marL="171450" indent="-171450">
              <a:buFont typeface="Wingdings" panose="05000000000000000000" pitchFamily="2" charset="2"/>
              <a:buChar char="Ø"/>
            </a:pPr>
            <a:r>
              <a:rPr lang="en-US" sz="900" dirty="0"/>
              <a:t>Click on the AP.</a:t>
            </a:r>
          </a:p>
          <a:p>
            <a:pPr lvl="2"/>
            <a:r>
              <a:rPr lang="en-US" sz="900" dirty="0"/>
              <a:t>	Click on “Physical” in the menu.</a:t>
            </a:r>
          </a:p>
          <a:p>
            <a:r>
              <a:rPr lang="en-US" sz="900" dirty="0"/>
              <a:t>	Drag the Access Point Power Adapter towards the AP to turn it on.</a:t>
            </a:r>
          </a:p>
          <a:p>
            <a:r>
              <a:rPr lang="en-US" sz="900" dirty="0"/>
              <a:t>	Click on “Config” in the menu.</a:t>
            </a:r>
          </a:p>
          <a:p>
            <a:r>
              <a:rPr lang="en-US" sz="900" dirty="0"/>
              <a:t>	Click on “Settings” and select DHCP.</a:t>
            </a:r>
          </a:p>
        </p:txBody>
      </p:sp>
      <p:sp>
        <p:nvSpPr>
          <p:cNvPr id="21" name="TextBox 20">
            <a:extLst>
              <a:ext uri="{FF2B5EF4-FFF2-40B4-BE49-F238E27FC236}">
                <a16:creationId xmlns:a16="http://schemas.microsoft.com/office/drawing/2014/main" id="{4C03A0E6-ADEE-B912-301D-5BB433768868}"/>
              </a:ext>
            </a:extLst>
          </p:cNvPr>
          <p:cNvSpPr txBox="1"/>
          <p:nvPr/>
        </p:nvSpPr>
        <p:spPr>
          <a:xfrm>
            <a:off x="3847742" y="2072672"/>
            <a:ext cx="5527928" cy="846386"/>
          </a:xfrm>
          <a:prstGeom prst="rect">
            <a:avLst/>
          </a:prstGeom>
          <a:noFill/>
        </p:spPr>
        <p:txBody>
          <a:bodyPr wrap="square">
            <a:spAutoFit/>
          </a:bodyPr>
          <a:lstStyle/>
          <a:p>
            <a:r>
              <a:rPr lang="en-US" sz="1600" b="1" dirty="0">
                <a:solidFill>
                  <a:srgbClr val="403CCF"/>
                </a:solidFill>
                <a:latin typeface="Libre Baskerville" pitchFamily="34" charset="0"/>
              </a:rPr>
              <a:t>Now:</a:t>
            </a:r>
          </a:p>
          <a:p>
            <a:pPr marL="171450" indent="-171450">
              <a:buFont typeface="Wingdings" panose="05000000000000000000" pitchFamily="2" charset="2"/>
              <a:buChar char="Ø"/>
            </a:pPr>
            <a:r>
              <a:rPr lang="en-US" sz="1100" dirty="0"/>
              <a:t>Click on the PC again.</a:t>
            </a:r>
          </a:p>
          <a:p>
            <a:r>
              <a:rPr lang="en-US" sz="1100" dirty="0"/>
              <a:t>	Click on “Web Browser.”</a:t>
            </a:r>
          </a:p>
          <a:p>
            <a:r>
              <a:rPr lang="en-US" sz="1100" dirty="0"/>
              <a:t>	In the URL field, type: </a:t>
            </a:r>
            <a:r>
              <a:rPr lang="en-US" sz="1100" dirty="0">
                <a:hlinkClick r:id="rId3">
                  <a:extLst>
                    <a:ext uri="{A12FA001-AC4F-418D-AE19-62706E023703}">
                      <ahyp:hlinkClr xmlns:ahyp="http://schemas.microsoft.com/office/drawing/2018/hyperlinkcolor" val="tx"/>
                    </a:ext>
                  </a:extLst>
                </a:hlinkClick>
              </a:rPr>
              <a:t>https://192.168.20.10</a:t>
            </a:r>
            <a:r>
              <a:rPr lang="en-US" sz="1100" dirty="0"/>
              <a:t> (this time using HTTPS).</a:t>
            </a:r>
          </a:p>
        </p:txBody>
      </p:sp>
    </p:spTree>
    <p:extLst>
      <p:ext uri="{BB962C8B-B14F-4D97-AF65-F5344CB8AC3E}">
        <p14:creationId xmlns:p14="http://schemas.microsoft.com/office/powerpoint/2010/main" val="219173044"/>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B4CDC7-F30C-6686-C9E2-8D676B48AE2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4439A02-32D8-CE88-EE4C-ABED2FADD8F9}"/>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D730FD52-D58C-36DC-78A4-C4234CCC350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7A26A5A2-423A-6223-6E48-1EF2CBDC65B4}"/>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B26B9FAC-173E-4AE6-8BC6-C731F9DA0742}"/>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C9008A40-9CBC-5BC9-7FDF-C59537FE3912}"/>
              </a:ext>
            </a:extLst>
          </p:cNvPr>
          <p:cNvSpPr txBox="1"/>
          <p:nvPr/>
        </p:nvSpPr>
        <p:spPr>
          <a:xfrm>
            <a:off x="220279" y="87555"/>
            <a:ext cx="8703440" cy="400110"/>
          </a:xfrm>
          <a:prstGeom prst="rect">
            <a:avLst/>
          </a:prstGeom>
          <a:noFill/>
        </p:spPr>
        <p:txBody>
          <a:bodyPr wrap="square">
            <a:spAutoFit/>
          </a:bodyPr>
          <a:lstStyle/>
          <a:p>
            <a:r>
              <a:rPr lang="en-US" sz="2000" b="1" dirty="0">
                <a:solidFill>
                  <a:srgbClr val="403CCF"/>
                </a:solidFill>
                <a:latin typeface="Libre Baskerville" pitchFamily="34" charset="0"/>
              </a:rPr>
              <a:t>Configuration of Wireless LAN Controller and AP Using GUI</a:t>
            </a:r>
          </a:p>
        </p:txBody>
      </p:sp>
      <p:sp>
        <p:nvSpPr>
          <p:cNvPr id="17" name="TextBox 16">
            <a:extLst>
              <a:ext uri="{FF2B5EF4-FFF2-40B4-BE49-F238E27FC236}">
                <a16:creationId xmlns:a16="http://schemas.microsoft.com/office/drawing/2014/main" id="{1C059450-4232-3C6D-9383-FCF193866E5A}"/>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CC3CED20-82D5-7AC5-56B2-88B4D6B65C9D}"/>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21" name="TextBox 20">
            <a:extLst>
              <a:ext uri="{FF2B5EF4-FFF2-40B4-BE49-F238E27FC236}">
                <a16:creationId xmlns:a16="http://schemas.microsoft.com/office/drawing/2014/main" id="{38BCFD3F-B1F6-E10A-E6EC-55DE8E8C7381}"/>
              </a:ext>
            </a:extLst>
          </p:cNvPr>
          <p:cNvSpPr txBox="1"/>
          <p:nvPr/>
        </p:nvSpPr>
        <p:spPr>
          <a:xfrm>
            <a:off x="267176" y="624900"/>
            <a:ext cx="5477127" cy="1015663"/>
          </a:xfrm>
          <a:prstGeom prst="rect">
            <a:avLst/>
          </a:prstGeom>
          <a:noFill/>
        </p:spPr>
        <p:txBody>
          <a:bodyPr wrap="square">
            <a:spAutoFit/>
          </a:bodyPr>
          <a:lstStyle/>
          <a:p>
            <a:r>
              <a:rPr lang="en-US" sz="1600" b="1" dirty="0">
                <a:solidFill>
                  <a:srgbClr val="403CCF"/>
                </a:solidFill>
                <a:latin typeface="Libre Baskerville" pitchFamily="34" charset="0"/>
              </a:rPr>
              <a:t>Now:</a:t>
            </a:r>
          </a:p>
          <a:p>
            <a:pPr marL="171450" indent="-171450">
              <a:buFont typeface="Wingdings" panose="05000000000000000000" pitchFamily="2" charset="2"/>
              <a:buChar char="Ø"/>
            </a:pPr>
            <a:r>
              <a:rPr lang="en-US" sz="1100" dirty="0"/>
              <a:t>Click on the PC again.</a:t>
            </a:r>
          </a:p>
          <a:p>
            <a:r>
              <a:rPr lang="en-US" sz="1100" dirty="0"/>
              <a:t>	Click on “Web Browser.”</a:t>
            </a:r>
          </a:p>
          <a:p>
            <a:r>
              <a:rPr lang="en-US" sz="1100" dirty="0"/>
              <a:t>	In the URL field, type: </a:t>
            </a:r>
            <a:r>
              <a:rPr lang="en-US" sz="1100" dirty="0">
                <a:hlinkClick r:id="rId3">
                  <a:extLst>
                    <a:ext uri="{A12FA001-AC4F-418D-AE19-62706E023703}">
                      <ahyp:hlinkClr xmlns:ahyp="http://schemas.microsoft.com/office/drawing/2018/hyperlinkcolor" val="tx"/>
                    </a:ext>
                  </a:extLst>
                </a:hlinkClick>
              </a:rPr>
              <a:t>https://192.168.20.10</a:t>
            </a:r>
            <a:r>
              <a:rPr lang="en-US" sz="1100" dirty="0"/>
              <a:t> (this time using HTTPS)</a:t>
            </a:r>
          </a:p>
          <a:p>
            <a:pPr marL="171450" indent="-171450">
              <a:buFont typeface="Wingdings" panose="05000000000000000000" pitchFamily="2" charset="2"/>
              <a:buChar char="Ø"/>
            </a:pPr>
            <a:r>
              <a:rPr lang="en-US" sz="1100" dirty="0"/>
              <a:t>Enter the details and click "Next.“.</a:t>
            </a:r>
          </a:p>
        </p:txBody>
      </p:sp>
      <p:pic>
        <p:nvPicPr>
          <p:cNvPr id="8" name="Picture 7">
            <a:extLst>
              <a:ext uri="{FF2B5EF4-FFF2-40B4-BE49-F238E27FC236}">
                <a16:creationId xmlns:a16="http://schemas.microsoft.com/office/drawing/2014/main" id="{22C97B92-6936-4E87-693E-7D4883A369A7}"/>
              </a:ext>
            </a:extLst>
          </p:cNvPr>
          <p:cNvPicPr>
            <a:picLocks noChangeAspect="1"/>
          </p:cNvPicPr>
          <p:nvPr/>
        </p:nvPicPr>
        <p:blipFill>
          <a:blip r:embed="rId4"/>
          <a:stretch>
            <a:fillRect/>
          </a:stretch>
        </p:blipFill>
        <p:spPr>
          <a:xfrm>
            <a:off x="3310467" y="1448163"/>
            <a:ext cx="5833533" cy="3695337"/>
          </a:xfrm>
          <a:prstGeom prst="rect">
            <a:avLst/>
          </a:prstGeom>
        </p:spPr>
      </p:pic>
    </p:spTree>
    <p:extLst>
      <p:ext uri="{BB962C8B-B14F-4D97-AF65-F5344CB8AC3E}">
        <p14:creationId xmlns:p14="http://schemas.microsoft.com/office/powerpoint/2010/main" val="189505754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87B2A8-D7F0-6087-6D12-A619BF10BD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99355D3-A98F-8C3C-6A09-DF8C15BF3445}"/>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AECB1FD0-B5B3-E14D-F603-4F49B8F9ECC4}"/>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D4C3DECB-9E51-E172-B88D-6FC244D829B6}"/>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0B07A2C7-21F6-DC0D-80B8-95C22AE80BCE}"/>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DF4859E9-470A-3650-2BED-D38035DA32AD}"/>
              </a:ext>
            </a:extLst>
          </p:cNvPr>
          <p:cNvSpPr txBox="1"/>
          <p:nvPr/>
        </p:nvSpPr>
        <p:spPr>
          <a:xfrm>
            <a:off x="220279" y="87555"/>
            <a:ext cx="8703440" cy="400110"/>
          </a:xfrm>
          <a:prstGeom prst="rect">
            <a:avLst/>
          </a:prstGeom>
          <a:noFill/>
        </p:spPr>
        <p:txBody>
          <a:bodyPr wrap="square">
            <a:spAutoFit/>
          </a:bodyPr>
          <a:lstStyle/>
          <a:p>
            <a:r>
              <a:rPr lang="en-US" sz="2000" b="1" dirty="0">
                <a:solidFill>
                  <a:srgbClr val="403CCF"/>
                </a:solidFill>
                <a:latin typeface="Libre Baskerville" pitchFamily="34" charset="0"/>
              </a:rPr>
              <a:t>Configuration of Wireless LAN Controller and AP Using GUI</a:t>
            </a:r>
          </a:p>
        </p:txBody>
      </p:sp>
      <p:sp>
        <p:nvSpPr>
          <p:cNvPr id="17" name="TextBox 16">
            <a:extLst>
              <a:ext uri="{FF2B5EF4-FFF2-40B4-BE49-F238E27FC236}">
                <a16:creationId xmlns:a16="http://schemas.microsoft.com/office/drawing/2014/main" id="{F3AA940C-8262-4FBA-D835-94B9DD6FCAB2}"/>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AE07EB11-C232-E786-934D-B58B8887B3BB}"/>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83AF0386-5C13-B220-3D1C-130356F9B49B}"/>
              </a:ext>
            </a:extLst>
          </p:cNvPr>
          <p:cNvSpPr txBox="1"/>
          <p:nvPr/>
        </p:nvSpPr>
        <p:spPr>
          <a:xfrm>
            <a:off x="220279" y="587854"/>
            <a:ext cx="4572000" cy="261610"/>
          </a:xfrm>
          <a:prstGeom prst="rect">
            <a:avLst/>
          </a:prstGeom>
          <a:noFill/>
        </p:spPr>
        <p:txBody>
          <a:bodyPr wrap="square">
            <a:spAutoFit/>
          </a:bodyPr>
          <a:lstStyle/>
          <a:p>
            <a:r>
              <a:rPr lang="en-US" sz="1100" dirty="0"/>
              <a:t>Enter the details and click "Next.“</a:t>
            </a:r>
          </a:p>
        </p:txBody>
      </p:sp>
      <p:pic>
        <p:nvPicPr>
          <p:cNvPr id="12" name="Picture 11">
            <a:extLst>
              <a:ext uri="{FF2B5EF4-FFF2-40B4-BE49-F238E27FC236}">
                <a16:creationId xmlns:a16="http://schemas.microsoft.com/office/drawing/2014/main" id="{776D58D1-CA20-91A6-514F-1F5F1C7B1E87}"/>
              </a:ext>
            </a:extLst>
          </p:cNvPr>
          <p:cNvPicPr>
            <a:picLocks noChangeAspect="1"/>
          </p:cNvPicPr>
          <p:nvPr/>
        </p:nvPicPr>
        <p:blipFill>
          <a:blip r:embed="rId3"/>
          <a:stretch>
            <a:fillRect/>
          </a:stretch>
        </p:blipFill>
        <p:spPr>
          <a:xfrm>
            <a:off x="1094107" y="1044762"/>
            <a:ext cx="8049893" cy="4098738"/>
          </a:xfrm>
          <a:prstGeom prst="rect">
            <a:avLst/>
          </a:prstGeom>
        </p:spPr>
      </p:pic>
    </p:spTree>
    <p:extLst>
      <p:ext uri="{BB962C8B-B14F-4D97-AF65-F5344CB8AC3E}">
        <p14:creationId xmlns:p14="http://schemas.microsoft.com/office/powerpoint/2010/main" val="664215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24414A-CB69-FB9C-214E-2C4FB9B6AF8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3B7AF97-25D3-5FD3-3BC2-AECD7DA1E1FA}"/>
              </a:ext>
            </a:extLst>
          </p:cNvPr>
          <p:cNvSpPr/>
          <p:nvPr/>
        </p:nvSpPr>
        <p:spPr>
          <a:xfrm>
            <a:off x="496119" y="1587475"/>
            <a:ext cx="7955756" cy="442987"/>
          </a:xfrm>
          <a:prstGeom prst="rect">
            <a:avLst/>
          </a:prstGeom>
          <a:noFill/>
          <a:ln/>
        </p:spPr>
        <p:txBody>
          <a:bodyPr wrap="none" lIns="0" tIns="0" rIns="0" bIns="0" rtlCol="0" anchor="t"/>
          <a:lstStyle/>
          <a:p>
            <a:pPr>
              <a:lnSpc>
                <a:spcPts val="3469"/>
              </a:lnSpc>
            </a:pPr>
            <a:endParaRPr lang="en-US" sz="2781" dirty="0"/>
          </a:p>
        </p:txBody>
      </p:sp>
      <p:sp>
        <p:nvSpPr>
          <p:cNvPr id="3" name="Text 1">
            <a:extLst>
              <a:ext uri="{FF2B5EF4-FFF2-40B4-BE49-F238E27FC236}">
                <a16:creationId xmlns:a16="http://schemas.microsoft.com/office/drawing/2014/main" id="{CC4F1E6B-3B62-2AF0-FAA9-1C4C7C25011C}"/>
              </a:ext>
            </a:extLst>
          </p:cNvPr>
          <p:cNvSpPr/>
          <p:nvPr/>
        </p:nvSpPr>
        <p:spPr>
          <a:xfrm>
            <a:off x="381819" y="415123"/>
            <a:ext cx="1963415" cy="221456"/>
          </a:xfrm>
          <a:prstGeom prst="rect">
            <a:avLst/>
          </a:prstGeom>
          <a:noFill/>
          <a:ln/>
        </p:spPr>
        <p:txBody>
          <a:bodyPr wrap="none" lIns="0" tIns="0" rIns="0" bIns="0" rtlCol="0" anchor="t"/>
          <a:lstStyle/>
          <a:p>
            <a:pPr>
              <a:lnSpc>
                <a:spcPts val="1719"/>
              </a:lnSpc>
            </a:pPr>
            <a:endParaRPr lang="en-US" sz="1375" dirty="0"/>
          </a:p>
        </p:txBody>
      </p:sp>
      <p:sp>
        <p:nvSpPr>
          <p:cNvPr id="4" name="Text 2">
            <a:extLst>
              <a:ext uri="{FF2B5EF4-FFF2-40B4-BE49-F238E27FC236}">
                <a16:creationId xmlns:a16="http://schemas.microsoft.com/office/drawing/2014/main" id="{BB4F7079-D706-E276-6650-64D8108218F3}"/>
              </a:ext>
            </a:extLst>
          </p:cNvPr>
          <p:cNvSpPr/>
          <p:nvPr/>
        </p:nvSpPr>
        <p:spPr>
          <a:xfrm>
            <a:off x="496119" y="2748037"/>
            <a:ext cx="3902943" cy="680443"/>
          </a:xfrm>
          <a:prstGeom prst="rect">
            <a:avLst/>
          </a:prstGeom>
          <a:noFill/>
          <a:ln/>
        </p:spPr>
        <p:txBody>
          <a:bodyPr wrap="square" lIns="0" tIns="0" rIns="0" bIns="0" rtlCol="0" anchor="t"/>
          <a:lstStyle/>
          <a:p>
            <a:pPr>
              <a:lnSpc>
                <a:spcPts val="1781"/>
              </a:lnSpc>
            </a:pPr>
            <a:endParaRPr lang="en-US" sz="1094" dirty="0"/>
          </a:p>
        </p:txBody>
      </p:sp>
      <p:sp>
        <p:nvSpPr>
          <p:cNvPr id="9" name="TextBox 8">
            <a:extLst>
              <a:ext uri="{FF2B5EF4-FFF2-40B4-BE49-F238E27FC236}">
                <a16:creationId xmlns:a16="http://schemas.microsoft.com/office/drawing/2014/main" id="{28695449-B949-E8B8-9F6F-FE0D0134819A}"/>
              </a:ext>
            </a:extLst>
          </p:cNvPr>
          <p:cNvSpPr txBox="1"/>
          <p:nvPr/>
        </p:nvSpPr>
        <p:spPr>
          <a:xfrm>
            <a:off x="6189133" y="798637"/>
            <a:ext cx="2954867" cy="338554"/>
          </a:xfrm>
          <a:prstGeom prst="rect">
            <a:avLst/>
          </a:prstGeom>
          <a:noFill/>
        </p:spPr>
        <p:txBody>
          <a:bodyPr wrap="square">
            <a:spAutoFit/>
          </a:bodyPr>
          <a:lstStyle/>
          <a:p>
            <a:r>
              <a:rPr lang="en-US" sz="1600" b="1" u="sng" dirty="0">
                <a:solidFill>
                  <a:srgbClr val="403CCF"/>
                </a:solidFill>
                <a:latin typeface="Libre Baskerville" pitchFamily="34" charset="0"/>
              </a:rPr>
              <a:t> </a:t>
            </a:r>
          </a:p>
        </p:txBody>
      </p:sp>
      <p:sp>
        <p:nvSpPr>
          <p:cNvPr id="10" name="TextBox 9">
            <a:extLst>
              <a:ext uri="{FF2B5EF4-FFF2-40B4-BE49-F238E27FC236}">
                <a16:creationId xmlns:a16="http://schemas.microsoft.com/office/drawing/2014/main" id="{0EB9BEAD-40EB-734C-3B7D-03EDDC0FCA34}"/>
              </a:ext>
            </a:extLst>
          </p:cNvPr>
          <p:cNvSpPr txBox="1"/>
          <p:nvPr/>
        </p:nvSpPr>
        <p:spPr>
          <a:xfrm>
            <a:off x="220279" y="87555"/>
            <a:ext cx="8703440" cy="400110"/>
          </a:xfrm>
          <a:prstGeom prst="rect">
            <a:avLst/>
          </a:prstGeom>
          <a:noFill/>
        </p:spPr>
        <p:txBody>
          <a:bodyPr wrap="square">
            <a:spAutoFit/>
          </a:bodyPr>
          <a:lstStyle/>
          <a:p>
            <a:r>
              <a:rPr lang="en-US" sz="2000" b="1" dirty="0">
                <a:solidFill>
                  <a:srgbClr val="403CCF"/>
                </a:solidFill>
                <a:latin typeface="Libre Baskerville" pitchFamily="34" charset="0"/>
              </a:rPr>
              <a:t>Configuration of Wireless LAN Controller and AP Using GUI</a:t>
            </a:r>
          </a:p>
        </p:txBody>
      </p:sp>
      <p:sp>
        <p:nvSpPr>
          <p:cNvPr id="17" name="TextBox 16">
            <a:extLst>
              <a:ext uri="{FF2B5EF4-FFF2-40B4-BE49-F238E27FC236}">
                <a16:creationId xmlns:a16="http://schemas.microsoft.com/office/drawing/2014/main" id="{952DBC9B-020A-512D-5B46-85BFB01B4FEF}"/>
              </a:ext>
            </a:extLst>
          </p:cNvPr>
          <p:cNvSpPr txBox="1"/>
          <p:nvPr/>
        </p:nvSpPr>
        <p:spPr>
          <a:xfrm>
            <a:off x="5808133" y="831877"/>
            <a:ext cx="3225800" cy="523220"/>
          </a:xfrm>
          <a:prstGeom prst="rect">
            <a:avLst/>
          </a:prstGeom>
          <a:noFill/>
        </p:spPr>
        <p:txBody>
          <a:bodyPr wrap="square">
            <a:spAutoFit/>
          </a:bodyPr>
          <a:lstStyle/>
          <a:p>
            <a:endParaRPr lang="en-US" b="1" dirty="0"/>
          </a:p>
          <a:p>
            <a:endParaRPr lang="en-PK" dirty="0"/>
          </a:p>
        </p:txBody>
      </p:sp>
      <p:sp>
        <p:nvSpPr>
          <p:cNvPr id="6" name="TextBox 5">
            <a:extLst>
              <a:ext uri="{FF2B5EF4-FFF2-40B4-BE49-F238E27FC236}">
                <a16:creationId xmlns:a16="http://schemas.microsoft.com/office/drawing/2014/main" id="{6DDBC5E6-98D3-3D1E-ABCB-129C5573C043}"/>
              </a:ext>
            </a:extLst>
          </p:cNvPr>
          <p:cNvSpPr txBox="1"/>
          <p:nvPr/>
        </p:nvSpPr>
        <p:spPr>
          <a:xfrm>
            <a:off x="220279" y="831877"/>
            <a:ext cx="8703439" cy="523220"/>
          </a:xfrm>
          <a:prstGeom prst="rect">
            <a:avLst/>
          </a:prstGeom>
          <a:noFill/>
        </p:spPr>
        <p:txBody>
          <a:bodyPr wrap="square">
            <a:spAutoFit/>
          </a:bodyPr>
          <a:lstStyle/>
          <a:p>
            <a:endParaRPr lang="en-US" dirty="0"/>
          </a:p>
          <a:p>
            <a:pPr algn="just"/>
            <a:endParaRPr lang="en-PK" dirty="0"/>
          </a:p>
        </p:txBody>
      </p:sp>
      <p:sp>
        <p:nvSpPr>
          <p:cNvPr id="7" name="TextBox 6">
            <a:extLst>
              <a:ext uri="{FF2B5EF4-FFF2-40B4-BE49-F238E27FC236}">
                <a16:creationId xmlns:a16="http://schemas.microsoft.com/office/drawing/2014/main" id="{BAF05BDB-0DED-501C-CDE7-FE49D4F47903}"/>
              </a:ext>
            </a:extLst>
          </p:cNvPr>
          <p:cNvSpPr txBox="1"/>
          <p:nvPr/>
        </p:nvSpPr>
        <p:spPr>
          <a:xfrm>
            <a:off x="220279" y="587854"/>
            <a:ext cx="4572000" cy="261610"/>
          </a:xfrm>
          <a:prstGeom prst="rect">
            <a:avLst/>
          </a:prstGeom>
          <a:noFill/>
        </p:spPr>
        <p:txBody>
          <a:bodyPr wrap="square">
            <a:spAutoFit/>
          </a:bodyPr>
          <a:lstStyle/>
          <a:p>
            <a:r>
              <a:rPr lang="en-US" sz="1100" dirty="0"/>
              <a:t>Click "Next" again, and then click "Apply."</a:t>
            </a:r>
          </a:p>
        </p:txBody>
      </p:sp>
      <p:pic>
        <p:nvPicPr>
          <p:cNvPr id="8" name="Picture 7">
            <a:extLst>
              <a:ext uri="{FF2B5EF4-FFF2-40B4-BE49-F238E27FC236}">
                <a16:creationId xmlns:a16="http://schemas.microsoft.com/office/drawing/2014/main" id="{74613F9F-FFCB-5AEC-1547-5BB963A47E5C}"/>
              </a:ext>
            </a:extLst>
          </p:cNvPr>
          <p:cNvPicPr>
            <a:picLocks noChangeAspect="1"/>
          </p:cNvPicPr>
          <p:nvPr/>
        </p:nvPicPr>
        <p:blipFill>
          <a:blip r:embed="rId3"/>
          <a:stretch>
            <a:fillRect/>
          </a:stretch>
        </p:blipFill>
        <p:spPr>
          <a:xfrm>
            <a:off x="2505075" y="980271"/>
            <a:ext cx="6638925" cy="4162709"/>
          </a:xfrm>
          <a:prstGeom prst="rect">
            <a:avLst/>
          </a:prstGeom>
        </p:spPr>
      </p:pic>
    </p:spTree>
    <p:extLst>
      <p:ext uri="{BB962C8B-B14F-4D97-AF65-F5344CB8AC3E}">
        <p14:creationId xmlns:p14="http://schemas.microsoft.com/office/powerpoint/2010/main" val="974290722"/>
      </p:ext>
    </p:extLst>
  </p:cSld>
  <p:clrMapOvr>
    <a:masterClrMapping/>
  </p:clrMapOvr>
</p:sld>
</file>

<file path=ppt/theme/theme1.xml><?xml version="1.0" encoding="utf-8"?>
<a:theme xmlns:a="http://schemas.openxmlformats.org/drawingml/2006/main" name="Computer Networking Project Proposal by Slidesgo">
  <a:themeElements>
    <a:clrScheme name="Simple Light">
      <a:dk1>
        <a:srgbClr val="FFFFFF"/>
      </a:dk1>
      <a:lt1>
        <a:srgbClr val="000000"/>
      </a:lt1>
      <a:dk2>
        <a:srgbClr val="171717"/>
      </a:dk2>
      <a:lt2>
        <a:srgbClr val="434343"/>
      </a:lt2>
      <a:accent1>
        <a:srgbClr val="CCCCCC"/>
      </a:accent1>
      <a:accent2>
        <a:srgbClr val="11C7D7"/>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6977</TotalTime>
  <Words>10496</Words>
  <Application>Microsoft Office PowerPoint</Application>
  <PresentationFormat>On-screen Show (16:9)</PresentationFormat>
  <Paragraphs>1993</Paragraphs>
  <Slides>101</Slides>
  <Notes>53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101</vt:i4>
      </vt:variant>
    </vt:vector>
  </HeadingPairs>
  <TitlesOfParts>
    <vt:vector size="110" baseType="lpstr">
      <vt:lpstr>Wingdings</vt:lpstr>
      <vt:lpstr>Encode Sans Condensed</vt:lpstr>
      <vt:lpstr>Doppio One</vt:lpstr>
      <vt:lpstr>Arial</vt:lpstr>
      <vt:lpstr>Georama</vt:lpstr>
      <vt:lpstr>Red Hat Display</vt:lpstr>
      <vt:lpstr>Libre Baskerville</vt:lpstr>
      <vt:lpstr>Encode Sans</vt:lpstr>
      <vt:lpstr>Computer Networking Project Proposal by Slidesgo</vt:lpstr>
      <vt:lpstr>Computer Networking CCNA 200-301</vt:lpstr>
      <vt:lpstr>Course Outline</vt:lpstr>
      <vt:lpstr>Course Outline</vt:lpstr>
      <vt:lpstr>Course Outline</vt:lpstr>
      <vt:lpstr>Module 2 Basic Configuration of Router and Lan Switching</vt:lpstr>
      <vt:lpstr>How to Connect a Router/Switch with a PC/Laptop</vt:lpstr>
      <vt:lpstr>How to Connect a Router/Switch with a PC/Laptop</vt:lpstr>
      <vt:lpstr>How to Connect a Router/Switch with a PC/Laptop</vt:lpstr>
      <vt:lpstr>How to Connect a Router/Switch with a PC/Laptop</vt:lpstr>
      <vt:lpstr>Modes of Routers </vt:lpstr>
      <vt:lpstr>Some Basic Configuration </vt:lpstr>
      <vt:lpstr>Some Basic Configuration </vt:lpstr>
      <vt:lpstr>Some Basic Configuration </vt:lpstr>
      <vt:lpstr>Some Basic Configuration </vt:lpstr>
      <vt:lpstr>Some Basic Configuration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Assign IP to Router Interface </vt:lpstr>
      <vt:lpstr>PowerPoint Presentation</vt:lpstr>
      <vt:lpstr>Steps to View Files on the TFTP Server in Packet Tracer</vt:lpstr>
      <vt:lpstr>Backup of Cisco Router Configuration </vt:lpstr>
      <vt:lpstr>Backing Up Configuration to a Local File via Terminal (Text File)</vt:lpstr>
      <vt:lpstr>Point-to-Point Connectivity (Router to Router)</vt:lpstr>
      <vt:lpstr>Telnet</vt:lpstr>
      <vt:lpstr>PowerPoint Presentation</vt:lpstr>
      <vt:lpstr>PowerPoint Presentation</vt:lpstr>
      <vt:lpstr>PowerPoint Presentation</vt:lpstr>
      <vt:lpstr>PowerPoint Presentation</vt:lpstr>
      <vt:lpstr>PowerPoint Presentation</vt:lpstr>
      <vt:lpstr>PowerPoint Presentation</vt:lpstr>
      <vt:lpstr>Configure and Verify Layer 2 Discovery Protocols (CDP and LLDP)</vt:lpstr>
      <vt:lpstr>CDP</vt:lpstr>
      <vt:lpstr>CDP</vt:lpstr>
      <vt:lpstr>CDP</vt:lpstr>
      <vt:lpstr>LLDP</vt:lpstr>
      <vt:lpstr>How to enable CDP and LLDP on Specific Interface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Networking CCNA 200-301</dc:title>
  <cp:lastModifiedBy>Sana Ullah</cp:lastModifiedBy>
  <cp:revision>532</cp:revision>
  <dcterms:modified xsi:type="dcterms:W3CDTF">2025-10-17T10:20:56Z</dcterms:modified>
</cp:coreProperties>
</file>